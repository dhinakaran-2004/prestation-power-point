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xml" ContentType="application/inkml+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55"/>
  </p:notesMasterIdLst>
  <p:sldIdLst>
    <p:sldId id="256" r:id="rId2"/>
    <p:sldId id="259" r:id="rId3"/>
    <p:sldId id="257" r:id="rId4"/>
    <p:sldId id="430" r:id="rId5"/>
    <p:sldId id="285" r:id="rId6"/>
    <p:sldId id="431" r:id="rId7"/>
    <p:sldId id="284" r:id="rId8"/>
    <p:sldId id="281" r:id="rId9"/>
    <p:sldId id="287" r:id="rId10"/>
    <p:sldId id="263" r:id="rId11"/>
    <p:sldId id="414" r:id="rId12"/>
    <p:sldId id="440" r:id="rId13"/>
    <p:sldId id="439" r:id="rId14"/>
    <p:sldId id="348" r:id="rId15"/>
    <p:sldId id="413" r:id="rId16"/>
    <p:sldId id="645" r:id="rId17"/>
    <p:sldId id="415" r:id="rId18"/>
    <p:sldId id="646" r:id="rId19"/>
    <p:sldId id="422" r:id="rId20"/>
    <p:sldId id="647" r:id="rId21"/>
    <p:sldId id="424" r:id="rId22"/>
    <p:sldId id="648" r:id="rId23"/>
    <p:sldId id="420" r:id="rId24"/>
    <p:sldId id="649" r:id="rId25"/>
    <p:sldId id="542" r:id="rId26"/>
    <p:sldId id="545" r:id="rId27"/>
    <p:sldId id="546" r:id="rId28"/>
    <p:sldId id="553" r:id="rId29"/>
    <p:sldId id="637" r:id="rId30"/>
    <p:sldId id="638" r:id="rId31"/>
    <p:sldId id="639" r:id="rId32"/>
    <p:sldId id="640" r:id="rId33"/>
    <p:sldId id="641" r:id="rId34"/>
    <p:sldId id="642" r:id="rId35"/>
    <p:sldId id="643" r:id="rId36"/>
    <p:sldId id="644" r:id="rId37"/>
    <p:sldId id="544" r:id="rId38"/>
    <p:sldId id="547" r:id="rId39"/>
    <p:sldId id="549" r:id="rId40"/>
    <p:sldId id="550" r:id="rId41"/>
    <p:sldId id="551" r:id="rId42"/>
    <p:sldId id="552" r:id="rId43"/>
    <p:sldId id="650" r:id="rId44"/>
    <p:sldId id="651" r:id="rId45"/>
    <p:sldId id="652" r:id="rId46"/>
    <p:sldId id="653" r:id="rId47"/>
    <p:sldId id="654" r:id="rId48"/>
    <p:sldId id="554" r:id="rId49"/>
    <p:sldId id="556" r:id="rId50"/>
    <p:sldId id="543" r:id="rId51"/>
    <p:sldId id="496" r:id="rId52"/>
    <p:sldId id="495" r:id="rId53"/>
    <p:sldId id="548" r:id="rId54"/>
    <p:sldId id="258" r:id="rId55"/>
    <p:sldId id="497" r:id="rId56"/>
    <p:sldId id="498" r:id="rId57"/>
    <p:sldId id="513" r:id="rId58"/>
    <p:sldId id="499" r:id="rId59"/>
    <p:sldId id="501" r:id="rId60"/>
    <p:sldId id="500" r:id="rId61"/>
    <p:sldId id="502" r:id="rId62"/>
    <p:sldId id="503" r:id="rId63"/>
    <p:sldId id="505" r:id="rId64"/>
    <p:sldId id="504" r:id="rId65"/>
    <p:sldId id="506" r:id="rId66"/>
    <p:sldId id="507" r:id="rId67"/>
    <p:sldId id="508" r:id="rId68"/>
    <p:sldId id="509" r:id="rId69"/>
    <p:sldId id="510" r:id="rId70"/>
    <p:sldId id="511" r:id="rId71"/>
    <p:sldId id="512" r:id="rId72"/>
    <p:sldId id="555" r:id="rId73"/>
    <p:sldId id="514" r:id="rId74"/>
    <p:sldId id="656" r:id="rId75"/>
    <p:sldId id="660" r:id="rId76"/>
    <p:sldId id="657" r:id="rId77"/>
    <p:sldId id="658" r:id="rId78"/>
    <p:sldId id="659" r:id="rId79"/>
    <p:sldId id="662" r:id="rId80"/>
    <p:sldId id="661" r:id="rId81"/>
    <p:sldId id="663" r:id="rId82"/>
    <p:sldId id="655" r:id="rId83"/>
    <p:sldId id="515" r:id="rId84"/>
    <p:sldId id="516" r:id="rId85"/>
    <p:sldId id="518" r:id="rId86"/>
    <p:sldId id="519" r:id="rId87"/>
    <p:sldId id="517" r:id="rId88"/>
    <p:sldId id="520" r:id="rId89"/>
    <p:sldId id="521" r:id="rId90"/>
    <p:sldId id="522" r:id="rId91"/>
    <p:sldId id="524" r:id="rId92"/>
    <p:sldId id="525" r:id="rId93"/>
    <p:sldId id="526" r:id="rId94"/>
    <p:sldId id="527" r:id="rId95"/>
    <p:sldId id="557" r:id="rId96"/>
    <p:sldId id="528" r:id="rId97"/>
    <p:sldId id="529" r:id="rId98"/>
    <p:sldId id="531" r:id="rId99"/>
    <p:sldId id="532" r:id="rId100"/>
    <p:sldId id="533" r:id="rId101"/>
    <p:sldId id="534" r:id="rId102"/>
    <p:sldId id="535" r:id="rId103"/>
    <p:sldId id="536" r:id="rId104"/>
    <p:sldId id="537" r:id="rId105"/>
    <p:sldId id="538" r:id="rId106"/>
    <p:sldId id="539" r:id="rId107"/>
    <p:sldId id="540" r:id="rId108"/>
    <p:sldId id="541" r:id="rId109"/>
    <p:sldId id="665" r:id="rId110"/>
    <p:sldId id="666" r:id="rId111"/>
    <p:sldId id="667" r:id="rId112"/>
    <p:sldId id="668" r:id="rId113"/>
    <p:sldId id="669" r:id="rId114"/>
    <p:sldId id="670" r:id="rId115"/>
    <p:sldId id="664" r:id="rId116"/>
    <p:sldId id="558" r:id="rId117"/>
    <p:sldId id="560" r:id="rId118"/>
    <p:sldId id="559" r:id="rId119"/>
    <p:sldId id="488" r:id="rId120"/>
    <p:sldId id="487" r:id="rId121"/>
    <p:sldId id="561" r:id="rId122"/>
    <p:sldId id="671" r:id="rId123"/>
    <p:sldId id="672" r:id="rId124"/>
    <p:sldId id="673" r:id="rId125"/>
    <p:sldId id="562" r:id="rId126"/>
    <p:sldId id="674" r:id="rId127"/>
    <p:sldId id="675" r:id="rId128"/>
    <p:sldId id="624" r:id="rId129"/>
    <p:sldId id="564" r:id="rId130"/>
    <p:sldId id="468" r:id="rId131"/>
    <p:sldId id="277" r:id="rId132"/>
    <p:sldId id="458" r:id="rId133"/>
    <p:sldId id="676" r:id="rId134"/>
    <p:sldId id="677" r:id="rId135"/>
    <p:sldId id="678" r:id="rId136"/>
    <p:sldId id="679" r:id="rId137"/>
    <p:sldId id="289" r:id="rId138"/>
    <p:sldId id="459" r:id="rId139"/>
    <p:sldId id="460" r:id="rId140"/>
    <p:sldId id="461" r:id="rId141"/>
    <p:sldId id="462" r:id="rId142"/>
    <p:sldId id="266" r:id="rId143"/>
    <p:sldId id="463" r:id="rId144"/>
    <p:sldId id="680" r:id="rId145"/>
    <p:sldId id="681" r:id="rId146"/>
    <p:sldId id="682" r:id="rId147"/>
    <p:sldId id="566" r:id="rId148"/>
    <p:sldId id="279" r:id="rId149"/>
    <p:sldId id="464" r:id="rId150"/>
    <p:sldId id="689" r:id="rId151"/>
    <p:sldId id="690" r:id="rId152"/>
    <p:sldId id="691" r:id="rId153"/>
    <p:sldId id="684" r:id="rId154"/>
    <p:sldId id="683" r:id="rId155"/>
    <p:sldId id="686" r:id="rId156"/>
    <p:sldId id="685" r:id="rId157"/>
    <p:sldId id="687" r:id="rId158"/>
    <p:sldId id="688" r:id="rId159"/>
    <p:sldId id="280" r:id="rId160"/>
    <p:sldId id="465" r:id="rId161"/>
    <p:sldId id="467" r:id="rId162"/>
    <p:sldId id="272" r:id="rId163"/>
    <p:sldId id="466" r:id="rId164"/>
    <p:sldId id="275" r:id="rId165"/>
    <p:sldId id="290" r:id="rId166"/>
    <p:sldId id="288" r:id="rId167"/>
    <p:sldId id="567" r:id="rId168"/>
    <p:sldId id="474" r:id="rId169"/>
    <p:sldId id="563" r:id="rId170"/>
    <p:sldId id="568" r:id="rId171"/>
    <p:sldId id="569" r:id="rId172"/>
    <p:sldId id="570" r:id="rId173"/>
    <p:sldId id="571" r:id="rId174"/>
    <p:sldId id="572" r:id="rId175"/>
    <p:sldId id="692" r:id="rId176"/>
    <p:sldId id="693" r:id="rId177"/>
    <p:sldId id="694" r:id="rId178"/>
    <p:sldId id="695" r:id="rId179"/>
    <p:sldId id="696" r:id="rId180"/>
    <p:sldId id="697" r:id="rId181"/>
    <p:sldId id="698" r:id="rId182"/>
    <p:sldId id="573" r:id="rId183"/>
    <p:sldId id="574" r:id="rId184"/>
    <p:sldId id="437" r:id="rId185"/>
    <p:sldId id="446" r:id="rId186"/>
    <p:sldId id="443" r:id="rId187"/>
    <p:sldId id="444" r:id="rId188"/>
    <p:sldId id="447" r:id="rId189"/>
    <p:sldId id="449" r:id="rId190"/>
    <p:sldId id="274" r:id="rId191"/>
    <p:sldId id="699" r:id="rId192"/>
    <p:sldId id="435" r:id="rId193"/>
    <p:sldId id="469" r:id="rId194"/>
    <p:sldId id="354" r:id="rId195"/>
    <p:sldId id="355" r:id="rId196"/>
    <p:sldId id="356" r:id="rId197"/>
    <p:sldId id="357" r:id="rId198"/>
    <p:sldId id="358" r:id="rId199"/>
    <p:sldId id="353" r:id="rId200"/>
    <p:sldId id="471" r:id="rId201"/>
    <p:sldId id="576" r:id="rId202"/>
    <p:sldId id="313" r:id="rId203"/>
    <p:sldId id="360" r:id="rId204"/>
    <p:sldId id="362" r:id="rId205"/>
    <p:sldId id="361" r:id="rId206"/>
    <p:sldId id="369" r:id="rId207"/>
    <p:sldId id="377" r:id="rId208"/>
    <p:sldId id="379" r:id="rId209"/>
    <p:sldId id="363" r:id="rId210"/>
    <p:sldId id="365" r:id="rId211"/>
    <p:sldId id="370" r:id="rId212"/>
    <p:sldId id="371" r:id="rId213"/>
    <p:sldId id="364" r:id="rId214"/>
    <p:sldId id="366" r:id="rId215"/>
    <p:sldId id="367" r:id="rId216"/>
    <p:sldId id="368" r:id="rId217"/>
    <p:sldId id="392" r:id="rId218"/>
    <p:sldId id="391" r:id="rId219"/>
    <p:sldId id="394" r:id="rId220"/>
    <p:sldId id="317" r:id="rId221"/>
    <p:sldId id="578" r:id="rId222"/>
    <p:sldId id="328" r:id="rId223"/>
    <p:sldId id="383" r:id="rId224"/>
    <p:sldId id="384" r:id="rId225"/>
    <p:sldId id="700" r:id="rId226"/>
    <p:sldId id="701" r:id="rId227"/>
    <p:sldId id="702" r:id="rId228"/>
    <p:sldId id="703" r:id="rId229"/>
    <p:sldId id="704" r:id="rId230"/>
    <p:sldId id="705" r:id="rId231"/>
    <p:sldId id="706" r:id="rId232"/>
    <p:sldId id="707" r:id="rId233"/>
    <p:sldId id="708" r:id="rId234"/>
    <p:sldId id="385" r:id="rId235"/>
    <p:sldId id="393" r:id="rId236"/>
    <p:sldId id="580" r:id="rId237"/>
    <p:sldId id="329" r:id="rId238"/>
    <p:sldId id="386" r:id="rId239"/>
    <p:sldId id="330" r:id="rId240"/>
    <p:sldId id="387" r:id="rId241"/>
    <p:sldId id="710" r:id="rId242"/>
    <p:sldId id="709" r:id="rId243"/>
    <p:sldId id="711" r:id="rId244"/>
    <p:sldId id="712" r:id="rId245"/>
    <p:sldId id="713" r:id="rId246"/>
    <p:sldId id="714" r:id="rId247"/>
    <p:sldId id="715" r:id="rId248"/>
    <p:sldId id="716" r:id="rId249"/>
    <p:sldId id="582" r:id="rId250"/>
    <p:sldId id="584" r:id="rId251"/>
    <p:sldId id="585" r:id="rId252"/>
    <p:sldId id="581" r:id="rId253"/>
    <p:sldId id="586" r:id="rId254"/>
    <p:sldId id="717" r:id="rId255"/>
    <p:sldId id="395" r:id="rId256"/>
    <p:sldId id="396" r:id="rId257"/>
    <p:sldId id="583" r:id="rId258"/>
    <p:sldId id="378" r:id="rId259"/>
    <p:sldId id="587" r:id="rId260"/>
    <p:sldId id="588" r:id="rId261"/>
    <p:sldId id="589" r:id="rId262"/>
    <p:sldId id="590" r:id="rId263"/>
    <p:sldId id="591" r:id="rId264"/>
    <p:sldId id="592" r:id="rId265"/>
    <p:sldId id="594" r:id="rId266"/>
    <p:sldId id="595" r:id="rId267"/>
    <p:sldId id="596" r:id="rId268"/>
    <p:sldId id="597" r:id="rId269"/>
    <p:sldId id="739" r:id="rId270"/>
    <p:sldId id="740" r:id="rId271"/>
    <p:sldId id="741" r:id="rId272"/>
    <p:sldId id="742" r:id="rId273"/>
    <p:sldId id="743" r:id="rId274"/>
    <p:sldId id="744" r:id="rId275"/>
    <p:sldId id="745" r:id="rId276"/>
    <p:sldId id="746" r:id="rId277"/>
    <p:sldId id="747" r:id="rId278"/>
    <p:sldId id="748" r:id="rId279"/>
    <p:sldId id="718" r:id="rId280"/>
    <p:sldId id="598" r:id="rId281"/>
    <p:sldId id="380" r:id="rId282"/>
    <p:sldId id="600" r:id="rId283"/>
    <p:sldId id="601" r:id="rId284"/>
    <p:sldId id="602" r:id="rId285"/>
    <p:sldId id="603" r:id="rId286"/>
    <p:sldId id="604" r:id="rId287"/>
    <p:sldId id="605" r:id="rId288"/>
    <p:sldId id="606" r:id="rId289"/>
    <p:sldId id="607" r:id="rId290"/>
    <p:sldId id="617" r:id="rId291"/>
    <p:sldId id="618" r:id="rId292"/>
    <p:sldId id="619" r:id="rId293"/>
    <p:sldId id="620" r:id="rId294"/>
    <p:sldId id="622" r:id="rId295"/>
    <p:sldId id="623" r:id="rId296"/>
    <p:sldId id="382" r:id="rId297"/>
    <p:sldId id="599" r:id="rId298"/>
    <p:sldId id="381" r:id="rId299"/>
    <p:sldId id="630" r:id="rId300"/>
    <p:sldId id="631" r:id="rId301"/>
    <p:sldId id="632" r:id="rId302"/>
    <p:sldId id="633" r:id="rId303"/>
    <p:sldId id="634" r:id="rId304"/>
    <p:sldId id="635" r:id="rId305"/>
    <p:sldId id="636" r:id="rId306"/>
    <p:sldId id="629" r:id="rId307"/>
    <p:sldId id="733" r:id="rId308"/>
    <p:sldId id="734" r:id="rId309"/>
    <p:sldId id="735" r:id="rId310"/>
    <p:sldId id="736" r:id="rId311"/>
    <p:sldId id="738" r:id="rId312"/>
    <p:sldId id="720" r:id="rId313"/>
    <p:sldId id="608" r:id="rId314"/>
    <p:sldId id="721" r:id="rId315"/>
    <p:sldId id="609" r:id="rId316"/>
    <p:sldId id="723" r:id="rId317"/>
    <p:sldId id="724" r:id="rId318"/>
    <p:sldId id="725" r:id="rId319"/>
    <p:sldId id="726" r:id="rId320"/>
    <p:sldId id="728" r:id="rId321"/>
    <p:sldId id="729" r:id="rId322"/>
    <p:sldId id="730" r:id="rId323"/>
    <p:sldId id="731" r:id="rId324"/>
    <p:sldId id="732" r:id="rId325"/>
    <p:sldId id="719" r:id="rId326"/>
    <p:sldId id="722" r:id="rId327"/>
    <p:sldId id="610" r:id="rId328"/>
    <p:sldId id="611" r:id="rId329"/>
    <p:sldId id="612" r:id="rId330"/>
    <p:sldId id="613" r:id="rId331"/>
    <p:sldId id="749" r:id="rId332"/>
    <p:sldId id="614" r:id="rId333"/>
    <p:sldId id="615" r:id="rId334"/>
    <p:sldId id="616" r:id="rId335"/>
    <p:sldId id="625" r:id="rId336"/>
    <p:sldId id="626" r:id="rId337"/>
    <p:sldId id="627" r:id="rId338"/>
    <p:sldId id="628" r:id="rId339"/>
    <p:sldId id="750" r:id="rId340"/>
    <p:sldId id="751" r:id="rId341"/>
    <p:sldId id="752" r:id="rId342"/>
    <p:sldId id="753" r:id="rId343"/>
    <p:sldId id="754" r:id="rId344"/>
    <p:sldId id="755" r:id="rId345"/>
    <p:sldId id="756" r:id="rId346"/>
    <p:sldId id="757" r:id="rId347"/>
    <p:sldId id="758" r:id="rId348"/>
    <p:sldId id="760" r:id="rId349"/>
    <p:sldId id="759" r:id="rId350"/>
    <p:sldId id="761" r:id="rId351"/>
    <p:sldId id="727" r:id="rId352"/>
    <p:sldId id="321" r:id="rId353"/>
    <p:sldId id="339" r:id="rId3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88889" autoAdjust="0"/>
  </p:normalViewPr>
  <p:slideViewPr>
    <p:cSldViewPr snapToGrid="0">
      <p:cViewPr varScale="1">
        <p:scale>
          <a:sx n="65" d="100"/>
          <a:sy n="65" d="100"/>
        </p:scale>
        <p:origin x="91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viewProps" Target="viewProps.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tableStyles" Target="tableStyles.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notesMaster" Target="notesMasters/notesMaster1.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presProps" Target="presProps.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theme" Target="theme/theme1.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s>
</file>

<file path=ppt/diagrams/_rels/data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svg"/><Relationship Id="rId1" Type="http://schemas.openxmlformats.org/officeDocument/2006/relationships/image" Target="../media/image1.png"/><Relationship Id="rId6" Type="http://schemas.openxmlformats.org/officeDocument/2006/relationships/image" Target="../media/image9.svg"/><Relationship Id="rId5" Type="http://schemas.openxmlformats.org/officeDocument/2006/relationships/image" Target="../media/image3.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12.svg"/><Relationship Id="rId1" Type="http://schemas.openxmlformats.org/officeDocument/2006/relationships/image" Target="../media/image5.png"/><Relationship Id="rId6" Type="http://schemas.openxmlformats.org/officeDocument/2006/relationships/image" Target="../media/image16.svg"/><Relationship Id="rId5" Type="http://schemas.openxmlformats.org/officeDocument/2006/relationships/image" Target="../media/image7.pn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svg"/><Relationship Id="rId1" Type="http://schemas.openxmlformats.org/officeDocument/2006/relationships/image" Target="../media/image9.png"/><Relationship Id="rId6" Type="http://schemas.openxmlformats.org/officeDocument/2006/relationships/image" Target="../media/image24.svg"/><Relationship Id="rId5" Type="http://schemas.openxmlformats.org/officeDocument/2006/relationships/image" Target="../media/image11.png"/><Relationship Id="rId4" Type="http://schemas.openxmlformats.org/officeDocument/2006/relationships/image" Target="../media/image22.svg"/></Relationships>
</file>

<file path=ppt/diagrams/_rels/data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image" Target="../media/image26.svg"/><Relationship Id="rId1" Type="http://schemas.openxmlformats.org/officeDocument/2006/relationships/image" Target="../media/image12.png"/><Relationship Id="rId6" Type="http://schemas.openxmlformats.org/officeDocument/2006/relationships/image" Target="../media/image29.svg"/><Relationship Id="rId5" Type="http://schemas.openxmlformats.org/officeDocument/2006/relationships/image" Target="../media/image9.png"/><Relationship Id="rId4" Type="http://schemas.openxmlformats.org/officeDocument/2006/relationships/image" Target="../media/image28.svg"/></Relationships>
</file>

<file path=ppt/diagrams/_rels/data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68.svg"/><Relationship Id="rId1" Type="http://schemas.openxmlformats.org/officeDocument/2006/relationships/image" Target="../media/image138.png"/><Relationship Id="rId6" Type="http://schemas.openxmlformats.org/officeDocument/2006/relationships/image" Target="../media/image172.svg"/><Relationship Id="rId5" Type="http://schemas.openxmlformats.org/officeDocument/2006/relationships/image" Target="../media/image140.png"/><Relationship Id="rId4" Type="http://schemas.openxmlformats.org/officeDocument/2006/relationships/image" Target="../media/image170.svg"/></Relationships>
</file>

<file path=ppt/diagrams/_rels/data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74.svg"/><Relationship Id="rId1" Type="http://schemas.openxmlformats.org/officeDocument/2006/relationships/image" Target="../media/image141.png"/><Relationship Id="rId6" Type="http://schemas.openxmlformats.org/officeDocument/2006/relationships/image" Target="../media/image178.svg"/><Relationship Id="rId5" Type="http://schemas.openxmlformats.org/officeDocument/2006/relationships/image" Target="../media/image143.png"/><Relationship Id="rId4" Type="http://schemas.openxmlformats.org/officeDocument/2006/relationships/image" Target="../media/image176.svg"/></Relationships>
</file>

<file path=ppt/diagrams/_rels/data7.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213.svg"/><Relationship Id="rId1" Type="http://schemas.openxmlformats.org/officeDocument/2006/relationships/image" Target="../media/image177.png"/><Relationship Id="rId6" Type="http://schemas.openxmlformats.org/officeDocument/2006/relationships/image" Target="../media/image7.svg"/><Relationship Id="rId5" Type="http://schemas.openxmlformats.org/officeDocument/2006/relationships/image" Target="../media/image2.png"/><Relationship Id="rId4" Type="http://schemas.openxmlformats.org/officeDocument/2006/relationships/image" Target="../media/image215.svg"/></Relationships>
</file>

<file path=ppt/diagrams/_rels/data8.xml.rels><?xml version="1.0" encoding="UTF-8" standalone="yes"?>
<Relationships xmlns="http://schemas.openxmlformats.org/package/2006/relationships"><Relationship Id="rId8" Type="http://schemas.openxmlformats.org/officeDocument/2006/relationships/image" Target="../media/image223.svg"/><Relationship Id="rId3" Type="http://schemas.openxmlformats.org/officeDocument/2006/relationships/image" Target="../media/image181.png"/><Relationship Id="rId7" Type="http://schemas.openxmlformats.org/officeDocument/2006/relationships/image" Target="../media/image138.png"/><Relationship Id="rId2" Type="http://schemas.openxmlformats.org/officeDocument/2006/relationships/image" Target="../media/image218.svg"/><Relationship Id="rId1" Type="http://schemas.openxmlformats.org/officeDocument/2006/relationships/image" Target="../media/image139.png"/><Relationship Id="rId6" Type="http://schemas.openxmlformats.org/officeDocument/2006/relationships/image" Target="../media/image222.svg"/><Relationship Id="rId5" Type="http://schemas.openxmlformats.org/officeDocument/2006/relationships/image" Target="../media/image182.png"/><Relationship Id="rId4" Type="http://schemas.openxmlformats.org/officeDocument/2006/relationships/image" Target="../media/image220.svg"/></Relationships>
</file>

<file path=ppt/diagrams/_rels/data9.xml.rels><?xml version="1.0" encoding="UTF-8" standalone="yes"?>
<Relationships xmlns="http://schemas.openxmlformats.org/package/2006/relationships"><Relationship Id="rId8" Type="http://schemas.openxmlformats.org/officeDocument/2006/relationships/image" Target="../media/image231.svg"/><Relationship Id="rId3" Type="http://schemas.openxmlformats.org/officeDocument/2006/relationships/image" Target="../media/image184.png"/><Relationship Id="rId7" Type="http://schemas.openxmlformats.org/officeDocument/2006/relationships/image" Target="../media/image186.png"/><Relationship Id="rId2" Type="http://schemas.openxmlformats.org/officeDocument/2006/relationships/image" Target="../media/image225.svg"/><Relationship Id="rId1" Type="http://schemas.openxmlformats.org/officeDocument/2006/relationships/image" Target="../media/image183.png"/><Relationship Id="rId6" Type="http://schemas.openxmlformats.org/officeDocument/2006/relationships/image" Target="../media/image229.svg"/><Relationship Id="rId5" Type="http://schemas.openxmlformats.org/officeDocument/2006/relationships/image" Target="../media/image185.png"/><Relationship Id="rId4" Type="http://schemas.openxmlformats.org/officeDocument/2006/relationships/image" Target="../media/image22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svg"/><Relationship Id="rId1" Type="http://schemas.openxmlformats.org/officeDocument/2006/relationships/image" Target="../media/image1.png"/><Relationship Id="rId6" Type="http://schemas.openxmlformats.org/officeDocument/2006/relationships/image" Target="../media/image9.svg"/><Relationship Id="rId5" Type="http://schemas.openxmlformats.org/officeDocument/2006/relationships/image" Target="../media/image3.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12.svg"/><Relationship Id="rId1" Type="http://schemas.openxmlformats.org/officeDocument/2006/relationships/image" Target="../media/image5.png"/><Relationship Id="rId6" Type="http://schemas.openxmlformats.org/officeDocument/2006/relationships/image" Target="../media/image16.svg"/><Relationship Id="rId5" Type="http://schemas.openxmlformats.org/officeDocument/2006/relationships/image" Target="../media/image7.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svg"/><Relationship Id="rId1" Type="http://schemas.openxmlformats.org/officeDocument/2006/relationships/image" Target="../media/image9.png"/><Relationship Id="rId6" Type="http://schemas.openxmlformats.org/officeDocument/2006/relationships/image" Target="../media/image24.svg"/><Relationship Id="rId5" Type="http://schemas.openxmlformats.org/officeDocument/2006/relationships/image" Target="../media/image11.png"/><Relationship Id="rId4" Type="http://schemas.openxmlformats.org/officeDocument/2006/relationships/image" Target="../media/image2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image" Target="../media/image26.svg"/><Relationship Id="rId1" Type="http://schemas.openxmlformats.org/officeDocument/2006/relationships/image" Target="../media/image12.png"/><Relationship Id="rId6" Type="http://schemas.openxmlformats.org/officeDocument/2006/relationships/image" Target="../media/image29.svg"/><Relationship Id="rId5" Type="http://schemas.openxmlformats.org/officeDocument/2006/relationships/image" Target="../media/image9.png"/><Relationship Id="rId4" Type="http://schemas.openxmlformats.org/officeDocument/2006/relationships/image" Target="../media/image2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68.svg"/><Relationship Id="rId1" Type="http://schemas.openxmlformats.org/officeDocument/2006/relationships/image" Target="../media/image138.png"/><Relationship Id="rId6" Type="http://schemas.openxmlformats.org/officeDocument/2006/relationships/image" Target="../media/image172.svg"/><Relationship Id="rId5" Type="http://schemas.openxmlformats.org/officeDocument/2006/relationships/image" Target="../media/image140.png"/><Relationship Id="rId4" Type="http://schemas.openxmlformats.org/officeDocument/2006/relationships/image" Target="../media/image17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74.svg"/><Relationship Id="rId1" Type="http://schemas.openxmlformats.org/officeDocument/2006/relationships/image" Target="../media/image141.png"/><Relationship Id="rId6" Type="http://schemas.openxmlformats.org/officeDocument/2006/relationships/image" Target="../media/image178.svg"/><Relationship Id="rId5" Type="http://schemas.openxmlformats.org/officeDocument/2006/relationships/image" Target="../media/image143.png"/><Relationship Id="rId4" Type="http://schemas.openxmlformats.org/officeDocument/2006/relationships/image" Target="../media/image17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213.svg"/><Relationship Id="rId1" Type="http://schemas.openxmlformats.org/officeDocument/2006/relationships/image" Target="../media/image177.png"/><Relationship Id="rId6" Type="http://schemas.openxmlformats.org/officeDocument/2006/relationships/image" Target="../media/image7.svg"/><Relationship Id="rId5" Type="http://schemas.openxmlformats.org/officeDocument/2006/relationships/image" Target="../media/image2.png"/><Relationship Id="rId4" Type="http://schemas.openxmlformats.org/officeDocument/2006/relationships/image" Target="../media/image215.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23.svg"/><Relationship Id="rId3" Type="http://schemas.openxmlformats.org/officeDocument/2006/relationships/image" Target="../media/image181.png"/><Relationship Id="rId7" Type="http://schemas.openxmlformats.org/officeDocument/2006/relationships/image" Target="../media/image138.png"/><Relationship Id="rId2" Type="http://schemas.openxmlformats.org/officeDocument/2006/relationships/image" Target="../media/image218.svg"/><Relationship Id="rId1" Type="http://schemas.openxmlformats.org/officeDocument/2006/relationships/image" Target="../media/image139.png"/><Relationship Id="rId6" Type="http://schemas.openxmlformats.org/officeDocument/2006/relationships/image" Target="../media/image222.svg"/><Relationship Id="rId5" Type="http://schemas.openxmlformats.org/officeDocument/2006/relationships/image" Target="../media/image182.png"/><Relationship Id="rId4" Type="http://schemas.openxmlformats.org/officeDocument/2006/relationships/image" Target="../media/image220.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31.svg"/><Relationship Id="rId3" Type="http://schemas.openxmlformats.org/officeDocument/2006/relationships/image" Target="../media/image184.png"/><Relationship Id="rId7" Type="http://schemas.openxmlformats.org/officeDocument/2006/relationships/image" Target="../media/image186.png"/><Relationship Id="rId2" Type="http://schemas.openxmlformats.org/officeDocument/2006/relationships/image" Target="../media/image225.svg"/><Relationship Id="rId1" Type="http://schemas.openxmlformats.org/officeDocument/2006/relationships/image" Target="../media/image183.png"/><Relationship Id="rId6" Type="http://schemas.openxmlformats.org/officeDocument/2006/relationships/image" Target="../media/image229.svg"/><Relationship Id="rId5" Type="http://schemas.openxmlformats.org/officeDocument/2006/relationships/image" Target="../media/image185.png"/><Relationship Id="rId4" Type="http://schemas.openxmlformats.org/officeDocument/2006/relationships/image" Target="../media/image227.sv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6779806-9730-4069-844E-2688CBD1A4E5}" type="doc">
      <dgm:prSet loTypeId="urn:microsoft.com/office/officeart/2018/5/layout/IconLeafLabelList" loCatId="icon" qsTypeId="urn:microsoft.com/office/officeart/2005/8/quickstyle/simple1" qsCatId="simple" csTypeId="urn:microsoft.com/office/officeart/2018/5/colors/Iconchunking_neutralbg_accent5_2" csCatId="accent5" phldr="1"/>
      <dgm:spPr/>
      <dgm:t>
        <a:bodyPr/>
        <a:lstStyle/>
        <a:p>
          <a:endParaRPr lang="en-US"/>
        </a:p>
      </dgm:t>
    </dgm:pt>
    <dgm:pt modelId="{CEFEE7D4-ED2C-4452-AF20-38F0837AEB92}">
      <dgm:prSet/>
      <dgm:spPr/>
      <dgm:t>
        <a:bodyPr/>
        <a:lstStyle/>
        <a:p>
          <a:pPr>
            <a:lnSpc>
              <a:spcPct val="100000"/>
            </a:lnSpc>
            <a:defRPr cap="all"/>
          </a:pPr>
          <a:r>
            <a:rPr lang="en-US" dirty="0">
              <a:latin typeface="Bookman Old Style"/>
              <a:ea typeface="SimSun"/>
            </a:rPr>
            <a:t>How to make informed decisions?</a:t>
          </a:r>
          <a:endParaRPr lang="en-US" dirty="0">
            <a:latin typeface="Bookman Old Style"/>
          </a:endParaRPr>
        </a:p>
      </dgm:t>
    </dgm:pt>
    <dgm:pt modelId="{28FEFC1C-50B9-439F-A93E-002D7FE6F493}" type="parTrans" cxnId="{D1AA0D0A-241B-4FE4-9F95-D841D6E4A326}">
      <dgm:prSet/>
      <dgm:spPr/>
      <dgm:t>
        <a:bodyPr/>
        <a:lstStyle/>
        <a:p>
          <a:endParaRPr lang="en-US"/>
        </a:p>
      </dgm:t>
    </dgm:pt>
    <dgm:pt modelId="{DA559B9D-2243-4B93-8934-0F76CC7894D7}" type="sibTrans" cxnId="{D1AA0D0A-241B-4FE4-9F95-D841D6E4A326}">
      <dgm:prSet/>
      <dgm:spPr/>
      <dgm:t>
        <a:bodyPr/>
        <a:lstStyle/>
        <a:p>
          <a:endParaRPr lang="en-US"/>
        </a:p>
      </dgm:t>
    </dgm:pt>
    <dgm:pt modelId="{A7A29BFC-BC74-4272-A3E3-678F03FF2BD0}">
      <dgm:prSet phldr="0"/>
      <dgm:spPr/>
      <dgm:t>
        <a:bodyPr/>
        <a:lstStyle/>
        <a:p>
          <a:pPr>
            <a:lnSpc>
              <a:spcPct val="100000"/>
            </a:lnSpc>
            <a:defRPr cap="all"/>
          </a:pPr>
          <a:r>
            <a:rPr lang="en-US" dirty="0">
              <a:latin typeface="Bookman Old Style"/>
              <a:ea typeface="SimSun"/>
            </a:rPr>
            <a:t>Raw Data is the New Oil </a:t>
          </a:r>
          <a:endParaRPr lang="en-US" dirty="0">
            <a:latin typeface="Bookman Old Style"/>
          </a:endParaRPr>
        </a:p>
      </dgm:t>
    </dgm:pt>
    <dgm:pt modelId="{B2BEDCEF-4F3F-4C23-B21E-7ED56BFEAC58}" type="parTrans" cxnId="{006C61A5-FD35-4B01-AE41-48A07B7BDE6A}">
      <dgm:prSet/>
      <dgm:spPr/>
      <dgm:t>
        <a:bodyPr/>
        <a:lstStyle/>
        <a:p>
          <a:endParaRPr lang="en-US"/>
        </a:p>
      </dgm:t>
    </dgm:pt>
    <dgm:pt modelId="{2520B6B6-E0FC-4D21-938C-AC067CD9E155}" type="sibTrans" cxnId="{006C61A5-FD35-4B01-AE41-48A07B7BDE6A}">
      <dgm:prSet/>
      <dgm:spPr/>
      <dgm:t>
        <a:bodyPr/>
        <a:lstStyle/>
        <a:p>
          <a:endParaRPr lang="en-US"/>
        </a:p>
      </dgm:t>
    </dgm:pt>
    <dgm:pt modelId="{1F8675D4-2B79-48A4-AD06-618F7B3A916C}">
      <dgm:prSet/>
      <dgm:spPr/>
      <dgm:t>
        <a:bodyPr/>
        <a:lstStyle/>
        <a:p>
          <a:pPr>
            <a:lnSpc>
              <a:spcPct val="100000"/>
            </a:lnSpc>
            <a:defRPr cap="all"/>
          </a:pPr>
          <a:r>
            <a:rPr lang="en-US" dirty="0">
              <a:latin typeface="Bookman Old Style"/>
            </a:rPr>
            <a:t>Example</a:t>
          </a:r>
          <a:r>
            <a:rPr lang="en-US" dirty="0">
              <a:latin typeface="Bookman Old Style"/>
              <a:ea typeface="SimSun"/>
            </a:rPr>
            <a:t> – Can you mention one place you used Data Driven Decision Making in everyday life?</a:t>
          </a:r>
          <a:endParaRPr lang="en-US" dirty="0">
            <a:latin typeface="Bookman Old Style"/>
          </a:endParaRPr>
        </a:p>
      </dgm:t>
    </dgm:pt>
    <dgm:pt modelId="{6E1E7288-199C-4E87-8ACE-F2C0A119B465}" type="parTrans" cxnId="{8F4636E3-275B-4B00-B675-A5A2E7923CD3}">
      <dgm:prSet/>
      <dgm:spPr/>
      <dgm:t>
        <a:bodyPr/>
        <a:lstStyle/>
        <a:p>
          <a:endParaRPr lang="en-US"/>
        </a:p>
      </dgm:t>
    </dgm:pt>
    <dgm:pt modelId="{8712C86E-A5BF-4325-A4E7-824E98014467}" type="sibTrans" cxnId="{8F4636E3-275B-4B00-B675-A5A2E7923CD3}">
      <dgm:prSet/>
      <dgm:spPr/>
      <dgm:t>
        <a:bodyPr/>
        <a:lstStyle/>
        <a:p>
          <a:endParaRPr lang="en-US"/>
        </a:p>
      </dgm:t>
    </dgm:pt>
    <dgm:pt modelId="{1B59846C-6FFC-4676-8276-90CF856DBCE7}" type="pres">
      <dgm:prSet presAssocID="{26779806-9730-4069-844E-2688CBD1A4E5}" presName="root" presStyleCnt="0">
        <dgm:presLayoutVars>
          <dgm:dir/>
          <dgm:resizeHandles val="exact"/>
        </dgm:presLayoutVars>
      </dgm:prSet>
      <dgm:spPr/>
      <dgm:t>
        <a:bodyPr/>
        <a:lstStyle/>
        <a:p>
          <a:endParaRPr lang="en-US"/>
        </a:p>
      </dgm:t>
    </dgm:pt>
    <dgm:pt modelId="{614D0262-3AA8-4A60-8175-E5089C69F73A}" type="pres">
      <dgm:prSet presAssocID="{CEFEE7D4-ED2C-4452-AF20-38F0837AEB92}" presName="compNode" presStyleCnt="0"/>
      <dgm:spPr/>
    </dgm:pt>
    <dgm:pt modelId="{D9E9F963-67F5-4932-9AB5-2900C531DDDD}" type="pres">
      <dgm:prSet presAssocID="{CEFEE7D4-ED2C-4452-AF20-38F0837AEB92}" presName="iconBgRect" presStyleLbl="bgShp" presStyleIdx="0" presStyleCnt="3"/>
      <dgm:spPr>
        <a:prstGeom prst="round2DiagRect">
          <a:avLst>
            <a:gd name="adj1" fmla="val 29727"/>
            <a:gd name="adj2" fmla="val 0"/>
          </a:avLst>
        </a:prstGeom>
      </dgm:spPr>
    </dgm:pt>
    <dgm:pt modelId="{1D1E7328-1FF7-4E7B-8AB6-7FAF5A381412}" type="pres">
      <dgm:prSet presAssocID="{CEFEE7D4-ED2C-4452-AF20-38F0837AEB9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id="0" name="" descr="Head with Gears"/>
        </a:ext>
      </dgm:extLst>
    </dgm:pt>
    <dgm:pt modelId="{4436C8C8-B71A-4E0B-8080-1C315F59C85A}" type="pres">
      <dgm:prSet presAssocID="{CEFEE7D4-ED2C-4452-AF20-38F0837AEB92}" presName="spaceRect" presStyleCnt="0"/>
      <dgm:spPr/>
    </dgm:pt>
    <dgm:pt modelId="{A2AF40A4-417A-401F-B27F-C292A2537BAC}" type="pres">
      <dgm:prSet presAssocID="{CEFEE7D4-ED2C-4452-AF20-38F0837AEB92}" presName="textRect" presStyleLbl="revTx" presStyleIdx="0" presStyleCnt="3">
        <dgm:presLayoutVars>
          <dgm:chMax val="1"/>
          <dgm:chPref val="1"/>
        </dgm:presLayoutVars>
      </dgm:prSet>
      <dgm:spPr/>
      <dgm:t>
        <a:bodyPr/>
        <a:lstStyle/>
        <a:p>
          <a:endParaRPr lang="en-US"/>
        </a:p>
      </dgm:t>
    </dgm:pt>
    <dgm:pt modelId="{D4A7B80E-46C5-43DC-9F8E-1E2FB022076B}" type="pres">
      <dgm:prSet presAssocID="{DA559B9D-2243-4B93-8934-0F76CC7894D7}" presName="sibTrans" presStyleCnt="0"/>
      <dgm:spPr/>
    </dgm:pt>
    <dgm:pt modelId="{50BA742F-6044-44CA-BC1B-BBDB80096865}" type="pres">
      <dgm:prSet presAssocID="{A7A29BFC-BC74-4272-A3E3-678F03FF2BD0}" presName="compNode" presStyleCnt="0"/>
      <dgm:spPr/>
    </dgm:pt>
    <dgm:pt modelId="{A0DCE3B3-6F97-40FC-883A-671EA680F435}" type="pres">
      <dgm:prSet presAssocID="{A7A29BFC-BC74-4272-A3E3-678F03FF2BD0}" presName="iconBgRect" presStyleLbl="bgShp" presStyleIdx="1" presStyleCnt="3"/>
      <dgm:spPr>
        <a:prstGeom prst="round2DiagRect">
          <a:avLst>
            <a:gd name="adj1" fmla="val 29727"/>
            <a:gd name="adj2" fmla="val 0"/>
          </a:avLst>
        </a:prstGeom>
      </dgm:spPr>
    </dgm:pt>
    <dgm:pt modelId="{5FA6D9CF-36A6-4D27-BD62-3D53F7A9F049}" type="pres">
      <dgm:prSet presAssocID="{A7A29BFC-BC74-4272-A3E3-678F03FF2BD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id="0" name="" descr="Database"/>
        </a:ext>
      </dgm:extLst>
    </dgm:pt>
    <dgm:pt modelId="{CB9E66D9-BF7D-4331-8CC5-6C4DC4123C7D}" type="pres">
      <dgm:prSet presAssocID="{A7A29BFC-BC74-4272-A3E3-678F03FF2BD0}" presName="spaceRect" presStyleCnt="0"/>
      <dgm:spPr/>
    </dgm:pt>
    <dgm:pt modelId="{014DE637-1634-480E-A60C-E4C1F1F16898}" type="pres">
      <dgm:prSet presAssocID="{A7A29BFC-BC74-4272-A3E3-678F03FF2BD0}" presName="textRect" presStyleLbl="revTx" presStyleIdx="1" presStyleCnt="3">
        <dgm:presLayoutVars>
          <dgm:chMax val="1"/>
          <dgm:chPref val="1"/>
        </dgm:presLayoutVars>
      </dgm:prSet>
      <dgm:spPr/>
      <dgm:t>
        <a:bodyPr/>
        <a:lstStyle/>
        <a:p>
          <a:endParaRPr lang="en-US"/>
        </a:p>
      </dgm:t>
    </dgm:pt>
    <dgm:pt modelId="{D46DB812-0B9F-4721-B582-92432E602ED5}" type="pres">
      <dgm:prSet presAssocID="{2520B6B6-E0FC-4D21-938C-AC067CD9E155}" presName="sibTrans" presStyleCnt="0"/>
      <dgm:spPr/>
    </dgm:pt>
    <dgm:pt modelId="{FE2EB89C-950A-4C35-BF58-C47B21156817}" type="pres">
      <dgm:prSet presAssocID="{1F8675D4-2B79-48A4-AD06-618F7B3A916C}" presName="compNode" presStyleCnt="0"/>
      <dgm:spPr/>
    </dgm:pt>
    <dgm:pt modelId="{31A0DFF0-2055-4897-9CA7-C99A2DDC6787}" type="pres">
      <dgm:prSet presAssocID="{1F8675D4-2B79-48A4-AD06-618F7B3A916C}" presName="iconBgRect" presStyleLbl="bgShp" presStyleIdx="2" presStyleCnt="3"/>
      <dgm:spPr>
        <a:prstGeom prst="round2DiagRect">
          <a:avLst>
            <a:gd name="adj1" fmla="val 29727"/>
            <a:gd name="adj2" fmla="val 0"/>
          </a:avLst>
        </a:prstGeom>
      </dgm:spPr>
    </dgm:pt>
    <dgm:pt modelId="{2A87CB75-8DB4-4693-AFE1-F30A0B93AC6F}" type="pres">
      <dgm:prSet presAssocID="{1F8675D4-2B79-48A4-AD06-618F7B3A916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extLst>
        <a:ext uri="{E40237B7-FDA0-4F09-8148-C483321AD2D9}">
          <dgm14:cNvPr xmlns:dgm14="http://schemas.microsoft.com/office/drawing/2010/diagram" id="0" name="" descr="Person with Idea"/>
        </a:ext>
      </dgm:extLst>
    </dgm:pt>
    <dgm:pt modelId="{9EFBA09A-81F6-4418-B295-21ECFAD736A7}" type="pres">
      <dgm:prSet presAssocID="{1F8675D4-2B79-48A4-AD06-618F7B3A916C}" presName="spaceRect" presStyleCnt="0"/>
      <dgm:spPr/>
    </dgm:pt>
    <dgm:pt modelId="{212F20C4-46DF-4CF5-9F5A-1213DF1E31A2}" type="pres">
      <dgm:prSet presAssocID="{1F8675D4-2B79-48A4-AD06-618F7B3A916C}" presName="textRect" presStyleLbl="revTx" presStyleIdx="2" presStyleCnt="3">
        <dgm:presLayoutVars>
          <dgm:chMax val="1"/>
          <dgm:chPref val="1"/>
        </dgm:presLayoutVars>
      </dgm:prSet>
      <dgm:spPr/>
      <dgm:t>
        <a:bodyPr/>
        <a:lstStyle/>
        <a:p>
          <a:endParaRPr lang="en-US"/>
        </a:p>
      </dgm:t>
    </dgm:pt>
  </dgm:ptLst>
  <dgm:cxnLst>
    <dgm:cxn modelId="{31CE5702-D242-448D-B112-A3854E2221EA}" type="presOf" srcId="{CEFEE7D4-ED2C-4452-AF20-38F0837AEB92}" destId="{A2AF40A4-417A-401F-B27F-C292A2537BAC}" srcOrd="0" destOrd="0" presId="urn:microsoft.com/office/officeart/2018/5/layout/IconLeafLabelList"/>
    <dgm:cxn modelId="{78D7F72D-352F-4D43-B109-6B5C0575D35E}" type="presOf" srcId="{A7A29BFC-BC74-4272-A3E3-678F03FF2BD0}" destId="{014DE637-1634-480E-A60C-E4C1F1F16898}" srcOrd="0" destOrd="0" presId="urn:microsoft.com/office/officeart/2018/5/layout/IconLeafLabelList"/>
    <dgm:cxn modelId="{6F8058DA-F3AC-44AB-9D80-AE6192E37D64}" type="presOf" srcId="{26779806-9730-4069-844E-2688CBD1A4E5}" destId="{1B59846C-6FFC-4676-8276-90CF856DBCE7}" srcOrd="0" destOrd="0" presId="urn:microsoft.com/office/officeart/2018/5/layout/IconLeafLabelList"/>
    <dgm:cxn modelId="{006C61A5-FD35-4B01-AE41-48A07B7BDE6A}" srcId="{26779806-9730-4069-844E-2688CBD1A4E5}" destId="{A7A29BFC-BC74-4272-A3E3-678F03FF2BD0}" srcOrd="1" destOrd="0" parTransId="{B2BEDCEF-4F3F-4C23-B21E-7ED56BFEAC58}" sibTransId="{2520B6B6-E0FC-4D21-938C-AC067CD9E155}"/>
    <dgm:cxn modelId="{44E9041F-8DCF-4CCA-A7AB-5E52FFBC577C}" type="presOf" srcId="{1F8675D4-2B79-48A4-AD06-618F7B3A916C}" destId="{212F20C4-46DF-4CF5-9F5A-1213DF1E31A2}" srcOrd="0" destOrd="0" presId="urn:microsoft.com/office/officeart/2018/5/layout/IconLeafLabelList"/>
    <dgm:cxn modelId="{D1AA0D0A-241B-4FE4-9F95-D841D6E4A326}" srcId="{26779806-9730-4069-844E-2688CBD1A4E5}" destId="{CEFEE7D4-ED2C-4452-AF20-38F0837AEB92}" srcOrd="0" destOrd="0" parTransId="{28FEFC1C-50B9-439F-A93E-002D7FE6F493}" sibTransId="{DA559B9D-2243-4B93-8934-0F76CC7894D7}"/>
    <dgm:cxn modelId="{8F4636E3-275B-4B00-B675-A5A2E7923CD3}" srcId="{26779806-9730-4069-844E-2688CBD1A4E5}" destId="{1F8675D4-2B79-48A4-AD06-618F7B3A916C}" srcOrd="2" destOrd="0" parTransId="{6E1E7288-199C-4E87-8ACE-F2C0A119B465}" sibTransId="{8712C86E-A5BF-4325-A4E7-824E98014467}"/>
    <dgm:cxn modelId="{B89EEA71-E2E3-4463-B87A-B1B3D090EE54}" type="presParOf" srcId="{1B59846C-6FFC-4676-8276-90CF856DBCE7}" destId="{614D0262-3AA8-4A60-8175-E5089C69F73A}" srcOrd="0" destOrd="0" presId="urn:microsoft.com/office/officeart/2018/5/layout/IconLeafLabelList"/>
    <dgm:cxn modelId="{BAD58A78-F5B5-4DF9-9A13-442383A6F9E4}" type="presParOf" srcId="{614D0262-3AA8-4A60-8175-E5089C69F73A}" destId="{D9E9F963-67F5-4932-9AB5-2900C531DDDD}" srcOrd="0" destOrd="0" presId="urn:microsoft.com/office/officeart/2018/5/layout/IconLeafLabelList"/>
    <dgm:cxn modelId="{6DC66CD9-FDB6-4065-8B34-6E19D9B4730F}" type="presParOf" srcId="{614D0262-3AA8-4A60-8175-E5089C69F73A}" destId="{1D1E7328-1FF7-4E7B-8AB6-7FAF5A381412}" srcOrd="1" destOrd="0" presId="urn:microsoft.com/office/officeart/2018/5/layout/IconLeafLabelList"/>
    <dgm:cxn modelId="{B68F56AC-459C-4EB9-A2C3-99A249698246}" type="presParOf" srcId="{614D0262-3AA8-4A60-8175-E5089C69F73A}" destId="{4436C8C8-B71A-4E0B-8080-1C315F59C85A}" srcOrd="2" destOrd="0" presId="urn:microsoft.com/office/officeart/2018/5/layout/IconLeafLabelList"/>
    <dgm:cxn modelId="{99DFAC47-D5F9-4D60-9390-68F7B77A3E97}" type="presParOf" srcId="{614D0262-3AA8-4A60-8175-E5089C69F73A}" destId="{A2AF40A4-417A-401F-B27F-C292A2537BAC}" srcOrd="3" destOrd="0" presId="urn:microsoft.com/office/officeart/2018/5/layout/IconLeafLabelList"/>
    <dgm:cxn modelId="{A1453A5A-9FC3-4139-89B1-2501C669369A}" type="presParOf" srcId="{1B59846C-6FFC-4676-8276-90CF856DBCE7}" destId="{D4A7B80E-46C5-43DC-9F8E-1E2FB022076B}" srcOrd="1" destOrd="0" presId="urn:microsoft.com/office/officeart/2018/5/layout/IconLeafLabelList"/>
    <dgm:cxn modelId="{84D1817B-7480-463E-BE64-301A601D8FEE}" type="presParOf" srcId="{1B59846C-6FFC-4676-8276-90CF856DBCE7}" destId="{50BA742F-6044-44CA-BC1B-BBDB80096865}" srcOrd="2" destOrd="0" presId="urn:microsoft.com/office/officeart/2018/5/layout/IconLeafLabelList"/>
    <dgm:cxn modelId="{81EF8264-1A7F-41B0-AE91-3CA8CACF2A71}" type="presParOf" srcId="{50BA742F-6044-44CA-BC1B-BBDB80096865}" destId="{A0DCE3B3-6F97-40FC-883A-671EA680F435}" srcOrd="0" destOrd="0" presId="urn:microsoft.com/office/officeart/2018/5/layout/IconLeafLabelList"/>
    <dgm:cxn modelId="{F2EAA195-5967-44F0-86F5-556EABF31984}" type="presParOf" srcId="{50BA742F-6044-44CA-BC1B-BBDB80096865}" destId="{5FA6D9CF-36A6-4D27-BD62-3D53F7A9F049}" srcOrd="1" destOrd="0" presId="urn:microsoft.com/office/officeart/2018/5/layout/IconLeafLabelList"/>
    <dgm:cxn modelId="{50BD1B2C-5AE7-426E-8694-D925FBC88D0D}" type="presParOf" srcId="{50BA742F-6044-44CA-BC1B-BBDB80096865}" destId="{CB9E66D9-BF7D-4331-8CC5-6C4DC4123C7D}" srcOrd="2" destOrd="0" presId="urn:microsoft.com/office/officeart/2018/5/layout/IconLeafLabelList"/>
    <dgm:cxn modelId="{DA22450F-7691-46B6-AC68-943713435CE9}" type="presParOf" srcId="{50BA742F-6044-44CA-BC1B-BBDB80096865}" destId="{014DE637-1634-480E-A60C-E4C1F1F16898}" srcOrd="3" destOrd="0" presId="urn:microsoft.com/office/officeart/2018/5/layout/IconLeafLabelList"/>
    <dgm:cxn modelId="{1A4C4456-5688-4A1F-BE80-B2F8A4EE8002}" type="presParOf" srcId="{1B59846C-6FFC-4676-8276-90CF856DBCE7}" destId="{D46DB812-0B9F-4721-B582-92432E602ED5}" srcOrd="3" destOrd="0" presId="urn:microsoft.com/office/officeart/2018/5/layout/IconLeafLabelList"/>
    <dgm:cxn modelId="{424245AF-7FCE-4648-9914-04EE2BE768A9}" type="presParOf" srcId="{1B59846C-6FFC-4676-8276-90CF856DBCE7}" destId="{FE2EB89C-950A-4C35-BF58-C47B21156817}" srcOrd="4" destOrd="0" presId="urn:microsoft.com/office/officeart/2018/5/layout/IconLeafLabelList"/>
    <dgm:cxn modelId="{83FC8100-E0EB-4714-BD36-EC1CDC0BFF85}" type="presParOf" srcId="{FE2EB89C-950A-4C35-BF58-C47B21156817}" destId="{31A0DFF0-2055-4897-9CA7-C99A2DDC6787}" srcOrd="0" destOrd="0" presId="urn:microsoft.com/office/officeart/2018/5/layout/IconLeafLabelList"/>
    <dgm:cxn modelId="{AC71686B-01D1-4962-86EC-895C826FFD27}" type="presParOf" srcId="{FE2EB89C-950A-4C35-BF58-C47B21156817}" destId="{2A87CB75-8DB4-4693-AFE1-F30A0B93AC6F}" srcOrd="1" destOrd="0" presId="urn:microsoft.com/office/officeart/2018/5/layout/IconLeafLabelList"/>
    <dgm:cxn modelId="{385D61D6-1974-4FA4-BD51-558A21AD1867}" type="presParOf" srcId="{FE2EB89C-950A-4C35-BF58-C47B21156817}" destId="{9EFBA09A-81F6-4418-B295-21ECFAD736A7}" srcOrd="2" destOrd="0" presId="urn:microsoft.com/office/officeart/2018/5/layout/IconLeafLabelList"/>
    <dgm:cxn modelId="{D8419C94-9C54-47E3-89AD-CD679B023859}" type="presParOf" srcId="{FE2EB89C-950A-4C35-BF58-C47B21156817}" destId="{212F20C4-46DF-4CF5-9F5A-1213DF1E31A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FB1D8E-0FD7-4C24-AAD1-12B4A36B34E7}"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19127F4-A2E7-4952-9BC0-4B67284E6AA0}">
      <dgm:prSet/>
      <dgm:spPr/>
      <dgm:t>
        <a:bodyPr/>
        <a:lstStyle/>
        <a:p>
          <a:pPr>
            <a:lnSpc>
              <a:spcPct val="100000"/>
            </a:lnSpc>
          </a:pPr>
          <a:r>
            <a:rPr lang="en-US" dirty="0">
              <a:latin typeface="Bookman Old Style"/>
            </a:rPr>
            <a:t>Data is also crucial in a professional sense. </a:t>
          </a:r>
        </a:p>
      </dgm:t>
    </dgm:pt>
    <dgm:pt modelId="{C0D0B240-BB4D-4D46-9275-A0C32ADD7303}" type="parTrans" cxnId="{201F2FBA-ED06-45CF-A184-57B81ED4FBB6}">
      <dgm:prSet/>
      <dgm:spPr/>
      <dgm:t>
        <a:bodyPr/>
        <a:lstStyle/>
        <a:p>
          <a:endParaRPr lang="en-US"/>
        </a:p>
      </dgm:t>
    </dgm:pt>
    <dgm:pt modelId="{795FA66B-E70C-4A07-9C33-37AEBCEAEA1B}" type="sibTrans" cxnId="{201F2FBA-ED06-45CF-A184-57B81ED4FBB6}">
      <dgm:prSet/>
      <dgm:spPr/>
      <dgm:t>
        <a:bodyPr/>
        <a:lstStyle/>
        <a:p>
          <a:endParaRPr lang="en-US"/>
        </a:p>
      </dgm:t>
    </dgm:pt>
    <dgm:pt modelId="{58538C5B-7712-4026-9249-0C9C4FC5D30F}">
      <dgm:prSet/>
      <dgm:spPr/>
      <dgm:t>
        <a:bodyPr/>
        <a:lstStyle/>
        <a:p>
          <a:pPr>
            <a:lnSpc>
              <a:spcPct val="100000"/>
            </a:lnSpc>
          </a:pPr>
          <a:r>
            <a:rPr lang="en-US" dirty="0">
              <a:latin typeface="Bookman Old Style"/>
            </a:rPr>
            <a:t>Organizations that use data to drive business strategies often find that they are more confident, proactive, and financially savvy. </a:t>
          </a:r>
        </a:p>
      </dgm:t>
    </dgm:pt>
    <dgm:pt modelId="{F6C2A168-3093-40C6-A8ED-07F06C5723F1}" type="parTrans" cxnId="{15F41A39-263D-426F-992B-1EC2EEFF258D}">
      <dgm:prSet/>
      <dgm:spPr/>
      <dgm:t>
        <a:bodyPr/>
        <a:lstStyle/>
        <a:p>
          <a:endParaRPr lang="en-US"/>
        </a:p>
      </dgm:t>
    </dgm:pt>
    <dgm:pt modelId="{CBC89443-C2E6-479F-8C59-B484C4734BB9}" type="sibTrans" cxnId="{15F41A39-263D-426F-992B-1EC2EEFF258D}">
      <dgm:prSet/>
      <dgm:spPr/>
      <dgm:t>
        <a:bodyPr/>
        <a:lstStyle/>
        <a:p>
          <a:endParaRPr lang="en-US"/>
        </a:p>
      </dgm:t>
    </dgm:pt>
    <dgm:pt modelId="{1B4018A5-44C3-441F-A0CE-AF690A331A80}">
      <dgm:prSet/>
      <dgm:spPr/>
      <dgm:t>
        <a:bodyPr/>
        <a:lstStyle/>
        <a:p>
          <a:pPr>
            <a:lnSpc>
              <a:spcPct val="100000"/>
            </a:lnSpc>
          </a:pPr>
          <a:r>
            <a:rPr lang="en-US" dirty="0">
              <a:latin typeface="Bookman Old Style"/>
            </a:rPr>
            <a:t>As a result, data analytics is important across many industries. </a:t>
          </a:r>
        </a:p>
      </dgm:t>
    </dgm:pt>
    <dgm:pt modelId="{574742EE-FE71-46F3-99C4-EA0E87D4AED1}" type="parTrans" cxnId="{78220F42-32D4-4A6E-BDF5-81D071152822}">
      <dgm:prSet/>
      <dgm:spPr/>
      <dgm:t>
        <a:bodyPr/>
        <a:lstStyle/>
        <a:p>
          <a:endParaRPr lang="en-US"/>
        </a:p>
      </dgm:t>
    </dgm:pt>
    <dgm:pt modelId="{0F9EDD78-D714-4EC4-8A48-9B4728E92141}" type="sibTrans" cxnId="{78220F42-32D4-4A6E-BDF5-81D071152822}">
      <dgm:prSet/>
      <dgm:spPr/>
      <dgm:t>
        <a:bodyPr/>
        <a:lstStyle/>
        <a:p>
          <a:endParaRPr lang="en-US"/>
        </a:p>
      </dgm:t>
    </dgm:pt>
    <dgm:pt modelId="{9CBE3AF4-B721-48ED-AC8B-7090BD7805FA}">
      <dgm:prSet/>
      <dgm:spPr/>
      <dgm:t>
        <a:bodyPr/>
        <a:lstStyle/>
        <a:p>
          <a:pPr>
            <a:lnSpc>
              <a:spcPct val="100000"/>
            </a:lnSpc>
          </a:pPr>
          <a:r>
            <a:rPr lang="en-US" dirty="0">
              <a:latin typeface="Bookman Old Style"/>
            </a:rPr>
            <a:t>A sneaker manufacturer might look at sales data to determine which designs to continue and which to retire, or a health care administrator may look at inventory data to determine the medical supplies they should order.</a:t>
          </a:r>
        </a:p>
      </dgm:t>
    </dgm:pt>
    <dgm:pt modelId="{86E4A291-BB0F-47FE-B12F-6EDB30403F1D}" type="parTrans" cxnId="{7977C26E-B746-4B89-BB7D-A9F23D2263D9}">
      <dgm:prSet/>
      <dgm:spPr/>
      <dgm:t>
        <a:bodyPr/>
        <a:lstStyle/>
        <a:p>
          <a:endParaRPr lang="en-US"/>
        </a:p>
      </dgm:t>
    </dgm:pt>
    <dgm:pt modelId="{9982D954-71AD-43DB-97E0-C8651D026581}" type="sibTrans" cxnId="{7977C26E-B746-4B89-BB7D-A9F23D2263D9}">
      <dgm:prSet/>
      <dgm:spPr/>
      <dgm:t>
        <a:bodyPr/>
        <a:lstStyle/>
        <a:p>
          <a:endParaRPr lang="en-US"/>
        </a:p>
      </dgm:t>
    </dgm:pt>
    <dgm:pt modelId="{CB833AD1-04BF-49A8-82B6-0F44FF0F4BD2}" type="pres">
      <dgm:prSet presAssocID="{0CFB1D8E-0FD7-4C24-AAD1-12B4A36B34E7}" presName="root" presStyleCnt="0">
        <dgm:presLayoutVars>
          <dgm:dir/>
          <dgm:resizeHandles val="exact"/>
        </dgm:presLayoutVars>
      </dgm:prSet>
      <dgm:spPr/>
      <dgm:t>
        <a:bodyPr/>
        <a:lstStyle/>
        <a:p>
          <a:endParaRPr lang="en-US"/>
        </a:p>
      </dgm:t>
    </dgm:pt>
    <dgm:pt modelId="{6816B76D-0512-4B55-A579-74627DE4DF88}" type="pres">
      <dgm:prSet presAssocID="{119127F4-A2E7-4952-9BC0-4B67284E6AA0}" presName="compNode" presStyleCnt="0"/>
      <dgm:spPr/>
    </dgm:pt>
    <dgm:pt modelId="{385C7C70-8032-428C-B5D1-33851CF164D5}" type="pres">
      <dgm:prSet presAssocID="{119127F4-A2E7-4952-9BC0-4B67284E6AA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id="0" name="" descr="Programmer"/>
        </a:ext>
      </dgm:extLst>
    </dgm:pt>
    <dgm:pt modelId="{C249F29D-0556-46DD-A1F4-AE7CB63C1DB7}" type="pres">
      <dgm:prSet presAssocID="{119127F4-A2E7-4952-9BC0-4B67284E6AA0}" presName="spaceRect" presStyleCnt="0"/>
      <dgm:spPr/>
    </dgm:pt>
    <dgm:pt modelId="{7981C116-A32F-4BAA-88DD-66F7E17C1227}" type="pres">
      <dgm:prSet presAssocID="{119127F4-A2E7-4952-9BC0-4B67284E6AA0}" presName="textRect" presStyleLbl="revTx" presStyleIdx="0" presStyleCnt="4">
        <dgm:presLayoutVars>
          <dgm:chMax val="1"/>
          <dgm:chPref val="1"/>
        </dgm:presLayoutVars>
      </dgm:prSet>
      <dgm:spPr/>
      <dgm:t>
        <a:bodyPr/>
        <a:lstStyle/>
        <a:p>
          <a:endParaRPr lang="en-US"/>
        </a:p>
      </dgm:t>
    </dgm:pt>
    <dgm:pt modelId="{2754CCEE-DBD3-44AD-B6BF-7859F6FA05CF}" type="pres">
      <dgm:prSet presAssocID="{795FA66B-E70C-4A07-9C33-37AEBCEAEA1B}" presName="sibTrans" presStyleCnt="0"/>
      <dgm:spPr/>
    </dgm:pt>
    <dgm:pt modelId="{ADE75821-FB2B-4AD4-AC62-D420162779E6}" type="pres">
      <dgm:prSet presAssocID="{58538C5B-7712-4026-9249-0C9C4FC5D30F}" presName="compNode" presStyleCnt="0"/>
      <dgm:spPr/>
    </dgm:pt>
    <dgm:pt modelId="{5545D409-2EE8-4CA4-8140-0456DEC8FEFF}" type="pres">
      <dgm:prSet presAssocID="{58538C5B-7712-4026-9249-0C9C4FC5D30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id="0" name="" descr="Upward trend"/>
        </a:ext>
      </dgm:extLst>
    </dgm:pt>
    <dgm:pt modelId="{F3ACBCDF-84DB-4CB8-98BD-6DA6AADD89F1}" type="pres">
      <dgm:prSet presAssocID="{58538C5B-7712-4026-9249-0C9C4FC5D30F}" presName="spaceRect" presStyleCnt="0"/>
      <dgm:spPr/>
    </dgm:pt>
    <dgm:pt modelId="{7881E6AA-D16F-4AEF-9F97-6666FAF24596}" type="pres">
      <dgm:prSet presAssocID="{58538C5B-7712-4026-9249-0C9C4FC5D30F}" presName="textRect" presStyleLbl="revTx" presStyleIdx="1" presStyleCnt="4">
        <dgm:presLayoutVars>
          <dgm:chMax val="1"/>
          <dgm:chPref val="1"/>
        </dgm:presLayoutVars>
      </dgm:prSet>
      <dgm:spPr/>
      <dgm:t>
        <a:bodyPr/>
        <a:lstStyle/>
        <a:p>
          <a:endParaRPr lang="en-US"/>
        </a:p>
      </dgm:t>
    </dgm:pt>
    <dgm:pt modelId="{D5DF469F-F7F8-490D-8A5D-749DAD160EB6}" type="pres">
      <dgm:prSet presAssocID="{CBC89443-C2E6-479F-8C59-B484C4734BB9}" presName="sibTrans" presStyleCnt="0"/>
      <dgm:spPr/>
    </dgm:pt>
    <dgm:pt modelId="{D2A40F67-5460-4959-818E-9B5DACF9882E}" type="pres">
      <dgm:prSet presAssocID="{1B4018A5-44C3-441F-A0CE-AF690A331A80}" presName="compNode" presStyleCnt="0"/>
      <dgm:spPr/>
    </dgm:pt>
    <dgm:pt modelId="{2CD96847-C7AC-4B0F-BA0A-A35D62135AD5}" type="pres">
      <dgm:prSet presAssocID="{1B4018A5-44C3-441F-A0CE-AF690A331A8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extLst>
        <a:ext uri="{E40237B7-FDA0-4F09-8148-C483321AD2D9}">
          <dgm14:cNvPr xmlns:dgm14="http://schemas.microsoft.com/office/drawing/2010/diagram" id="0" name="" descr="Statistics"/>
        </a:ext>
      </dgm:extLst>
    </dgm:pt>
    <dgm:pt modelId="{9A2655FE-FBEA-4DEB-97C4-7553BCB2A858}" type="pres">
      <dgm:prSet presAssocID="{1B4018A5-44C3-441F-A0CE-AF690A331A80}" presName="spaceRect" presStyleCnt="0"/>
      <dgm:spPr/>
    </dgm:pt>
    <dgm:pt modelId="{3FEB8452-0270-484D-ACD2-E56A41DF8BEF}" type="pres">
      <dgm:prSet presAssocID="{1B4018A5-44C3-441F-A0CE-AF690A331A80}" presName="textRect" presStyleLbl="revTx" presStyleIdx="2" presStyleCnt="4">
        <dgm:presLayoutVars>
          <dgm:chMax val="1"/>
          <dgm:chPref val="1"/>
        </dgm:presLayoutVars>
      </dgm:prSet>
      <dgm:spPr/>
      <dgm:t>
        <a:bodyPr/>
        <a:lstStyle/>
        <a:p>
          <a:endParaRPr lang="en-US"/>
        </a:p>
      </dgm:t>
    </dgm:pt>
    <dgm:pt modelId="{F484CD6B-1208-43ED-9A22-AC6189DAE7A0}" type="pres">
      <dgm:prSet presAssocID="{0F9EDD78-D714-4EC4-8A48-9B4728E92141}" presName="sibTrans" presStyleCnt="0"/>
      <dgm:spPr/>
    </dgm:pt>
    <dgm:pt modelId="{56AF1CFB-39EC-4BC6-A63D-369863AF0204}" type="pres">
      <dgm:prSet presAssocID="{9CBE3AF4-B721-48ED-AC8B-7090BD7805FA}" presName="compNode" presStyleCnt="0"/>
      <dgm:spPr/>
    </dgm:pt>
    <dgm:pt modelId="{9F181C4D-4AF0-44EC-BA23-5233C1348168}" type="pres">
      <dgm:prSet presAssocID="{9CBE3AF4-B721-48ED-AC8B-7090BD7805F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dgm:spPr>
      <dgm:extLst>
        <a:ext uri="{E40237B7-FDA0-4F09-8148-C483321AD2D9}">
          <dgm14:cNvPr xmlns:dgm14="http://schemas.microsoft.com/office/drawing/2010/diagram" id="0" name="" descr="Dollar"/>
        </a:ext>
      </dgm:extLst>
    </dgm:pt>
    <dgm:pt modelId="{7FB8F7F5-40DD-4E7D-97A1-A6674BE0E8E2}" type="pres">
      <dgm:prSet presAssocID="{9CBE3AF4-B721-48ED-AC8B-7090BD7805FA}" presName="spaceRect" presStyleCnt="0"/>
      <dgm:spPr/>
    </dgm:pt>
    <dgm:pt modelId="{80F08D55-4AD7-43AA-8DC7-CF73D34927F1}" type="pres">
      <dgm:prSet presAssocID="{9CBE3AF4-B721-48ED-AC8B-7090BD7805FA}" presName="textRect" presStyleLbl="revTx" presStyleIdx="3" presStyleCnt="4">
        <dgm:presLayoutVars>
          <dgm:chMax val="1"/>
          <dgm:chPref val="1"/>
        </dgm:presLayoutVars>
      </dgm:prSet>
      <dgm:spPr/>
      <dgm:t>
        <a:bodyPr/>
        <a:lstStyle/>
        <a:p>
          <a:endParaRPr lang="en-US"/>
        </a:p>
      </dgm:t>
    </dgm:pt>
  </dgm:ptLst>
  <dgm:cxnLst>
    <dgm:cxn modelId="{201F2FBA-ED06-45CF-A184-57B81ED4FBB6}" srcId="{0CFB1D8E-0FD7-4C24-AAD1-12B4A36B34E7}" destId="{119127F4-A2E7-4952-9BC0-4B67284E6AA0}" srcOrd="0" destOrd="0" parTransId="{C0D0B240-BB4D-4D46-9275-A0C32ADD7303}" sibTransId="{795FA66B-E70C-4A07-9C33-37AEBCEAEA1B}"/>
    <dgm:cxn modelId="{7977C26E-B746-4B89-BB7D-A9F23D2263D9}" srcId="{0CFB1D8E-0FD7-4C24-AAD1-12B4A36B34E7}" destId="{9CBE3AF4-B721-48ED-AC8B-7090BD7805FA}" srcOrd="3" destOrd="0" parTransId="{86E4A291-BB0F-47FE-B12F-6EDB30403F1D}" sibTransId="{9982D954-71AD-43DB-97E0-C8651D026581}"/>
    <dgm:cxn modelId="{0BC64534-6DA3-4606-9C7D-9DE96EDD24AA}" type="presOf" srcId="{58538C5B-7712-4026-9249-0C9C4FC5D30F}" destId="{7881E6AA-D16F-4AEF-9F97-6666FAF24596}" srcOrd="0" destOrd="0" presId="urn:microsoft.com/office/officeart/2018/2/layout/IconLabelList"/>
    <dgm:cxn modelId="{806749AE-B825-4501-9306-1EF781D97509}" type="presOf" srcId="{0CFB1D8E-0FD7-4C24-AAD1-12B4A36B34E7}" destId="{CB833AD1-04BF-49A8-82B6-0F44FF0F4BD2}" srcOrd="0" destOrd="0" presId="urn:microsoft.com/office/officeart/2018/2/layout/IconLabelList"/>
    <dgm:cxn modelId="{C57FF241-8C5A-4CB0-900D-2B66B4FA8528}" type="presOf" srcId="{119127F4-A2E7-4952-9BC0-4B67284E6AA0}" destId="{7981C116-A32F-4BAA-88DD-66F7E17C1227}" srcOrd="0" destOrd="0" presId="urn:microsoft.com/office/officeart/2018/2/layout/IconLabelList"/>
    <dgm:cxn modelId="{AC8E67DB-E9DA-435D-A113-D675A5B77A37}" type="presOf" srcId="{1B4018A5-44C3-441F-A0CE-AF690A331A80}" destId="{3FEB8452-0270-484D-ACD2-E56A41DF8BEF}" srcOrd="0" destOrd="0" presId="urn:microsoft.com/office/officeart/2018/2/layout/IconLabelList"/>
    <dgm:cxn modelId="{D929886A-5DF6-464D-9882-D97F735BA3EE}" type="presOf" srcId="{9CBE3AF4-B721-48ED-AC8B-7090BD7805FA}" destId="{80F08D55-4AD7-43AA-8DC7-CF73D34927F1}" srcOrd="0" destOrd="0" presId="urn:microsoft.com/office/officeart/2018/2/layout/IconLabelList"/>
    <dgm:cxn modelId="{78220F42-32D4-4A6E-BDF5-81D071152822}" srcId="{0CFB1D8E-0FD7-4C24-AAD1-12B4A36B34E7}" destId="{1B4018A5-44C3-441F-A0CE-AF690A331A80}" srcOrd="2" destOrd="0" parTransId="{574742EE-FE71-46F3-99C4-EA0E87D4AED1}" sibTransId="{0F9EDD78-D714-4EC4-8A48-9B4728E92141}"/>
    <dgm:cxn modelId="{15F41A39-263D-426F-992B-1EC2EEFF258D}" srcId="{0CFB1D8E-0FD7-4C24-AAD1-12B4A36B34E7}" destId="{58538C5B-7712-4026-9249-0C9C4FC5D30F}" srcOrd="1" destOrd="0" parTransId="{F6C2A168-3093-40C6-A8ED-07F06C5723F1}" sibTransId="{CBC89443-C2E6-479F-8C59-B484C4734BB9}"/>
    <dgm:cxn modelId="{1EAD1B7B-24C3-459A-9215-9CD69875598C}" type="presParOf" srcId="{CB833AD1-04BF-49A8-82B6-0F44FF0F4BD2}" destId="{6816B76D-0512-4B55-A579-74627DE4DF88}" srcOrd="0" destOrd="0" presId="urn:microsoft.com/office/officeart/2018/2/layout/IconLabelList"/>
    <dgm:cxn modelId="{1F36BEC2-2232-47D7-B988-50671386E233}" type="presParOf" srcId="{6816B76D-0512-4B55-A579-74627DE4DF88}" destId="{385C7C70-8032-428C-B5D1-33851CF164D5}" srcOrd="0" destOrd="0" presId="urn:microsoft.com/office/officeart/2018/2/layout/IconLabelList"/>
    <dgm:cxn modelId="{7A290B04-7234-49CC-AF5E-93AE4C8F1ACD}" type="presParOf" srcId="{6816B76D-0512-4B55-A579-74627DE4DF88}" destId="{C249F29D-0556-46DD-A1F4-AE7CB63C1DB7}" srcOrd="1" destOrd="0" presId="urn:microsoft.com/office/officeart/2018/2/layout/IconLabelList"/>
    <dgm:cxn modelId="{7C17A412-46DE-4DD0-800A-9EBA13E1694B}" type="presParOf" srcId="{6816B76D-0512-4B55-A579-74627DE4DF88}" destId="{7981C116-A32F-4BAA-88DD-66F7E17C1227}" srcOrd="2" destOrd="0" presId="urn:microsoft.com/office/officeart/2018/2/layout/IconLabelList"/>
    <dgm:cxn modelId="{DAF90C41-6068-421C-B6D8-52889F0B2732}" type="presParOf" srcId="{CB833AD1-04BF-49A8-82B6-0F44FF0F4BD2}" destId="{2754CCEE-DBD3-44AD-B6BF-7859F6FA05CF}" srcOrd="1" destOrd="0" presId="urn:microsoft.com/office/officeart/2018/2/layout/IconLabelList"/>
    <dgm:cxn modelId="{85A9A7CA-BFFE-4130-8D37-CCA63F37A194}" type="presParOf" srcId="{CB833AD1-04BF-49A8-82B6-0F44FF0F4BD2}" destId="{ADE75821-FB2B-4AD4-AC62-D420162779E6}" srcOrd="2" destOrd="0" presId="urn:microsoft.com/office/officeart/2018/2/layout/IconLabelList"/>
    <dgm:cxn modelId="{B336B2BF-8D79-404D-880A-7425C2D9162A}" type="presParOf" srcId="{ADE75821-FB2B-4AD4-AC62-D420162779E6}" destId="{5545D409-2EE8-4CA4-8140-0456DEC8FEFF}" srcOrd="0" destOrd="0" presId="urn:microsoft.com/office/officeart/2018/2/layout/IconLabelList"/>
    <dgm:cxn modelId="{9D668CB2-C9FB-4493-9F1C-0BB1545E1E29}" type="presParOf" srcId="{ADE75821-FB2B-4AD4-AC62-D420162779E6}" destId="{F3ACBCDF-84DB-4CB8-98BD-6DA6AADD89F1}" srcOrd="1" destOrd="0" presId="urn:microsoft.com/office/officeart/2018/2/layout/IconLabelList"/>
    <dgm:cxn modelId="{7AC5A391-3227-4E8C-B3DA-0009AFE6FC11}" type="presParOf" srcId="{ADE75821-FB2B-4AD4-AC62-D420162779E6}" destId="{7881E6AA-D16F-4AEF-9F97-6666FAF24596}" srcOrd="2" destOrd="0" presId="urn:microsoft.com/office/officeart/2018/2/layout/IconLabelList"/>
    <dgm:cxn modelId="{91C8BDD9-DF0D-4804-8291-311890E8F5F6}" type="presParOf" srcId="{CB833AD1-04BF-49A8-82B6-0F44FF0F4BD2}" destId="{D5DF469F-F7F8-490D-8A5D-749DAD160EB6}" srcOrd="3" destOrd="0" presId="urn:microsoft.com/office/officeart/2018/2/layout/IconLabelList"/>
    <dgm:cxn modelId="{0974D4B1-E923-488B-B520-57EE55DA70B2}" type="presParOf" srcId="{CB833AD1-04BF-49A8-82B6-0F44FF0F4BD2}" destId="{D2A40F67-5460-4959-818E-9B5DACF9882E}" srcOrd="4" destOrd="0" presId="urn:microsoft.com/office/officeart/2018/2/layout/IconLabelList"/>
    <dgm:cxn modelId="{DA396A31-57E8-4BBE-AE8A-372968CE30E5}" type="presParOf" srcId="{D2A40F67-5460-4959-818E-9B5DACF9882E}" destId="{2CD96847-C7AC-4B0F-BA0A-A35D62135AD5}" srcOrd="0" destOrd="0" presId="urn:microsoft.com/office/officeart/2018/2/layout/IconLabelList"/>
    <dgm:cxn modelId="{2BFC16E4-C463-4CD5-A101-163AF98D9DAD}" type="presParOf" srcId="{D2A40F67-5460-4959-818E-9B5DACF9882E}" destId="{9A2655FE-FBEA-4DEB-97C4-7553BCB2A858}" srcOrd="1" destOrd="0" presId="urn:microsoft.com/office/officeart/2018/2/layout/IconLabelList"/>
    <dgm:cxn modelId="{1DB518B6-E4C4-4AD0-AE97-5F6B521E9F5C}" type="presParOf" srcId="{D2A40F67-5460-4959-818E-9B5DACF9882E}" destId="{3FEB8452-0270-484D-ACD2-E56A41DF8BEF}" srcOrd="2" destOrd="0" presId="urn:microsoft.com/office/officeart/2018/2/layout/IconLabelList"/>
    <dgm:cxn modelId="{75C4199C-EFDE-4D00-809D-7BF5E882AAC1}" type="presParOf" srcId="{CB833AD1-04BF-49A8-82B6-0F44FF0F4BD2}" destId="{F484CD6B-1208-43ED-9A22-AC6189DAE7A0}" srcOrd="5" destOrd="0" presId="urn:microsoft.com/office/officeart/2018/2/layout/IconLabelList"/>
    <dgm:cxn modelId="{DE835E75-C41E-4392-873F-9358D9F80073}" type="presParOf" srcId="{CB833AD1-04BF-49A8-82B6-0F44FF0F4BD2}" destId="{56AF1CFB-39EC-4BC6-A63D-369863AF0204}" srcOrd="6" destOrd="0" presId="urn:microsoft.com/office/officeart/2018/2/layout/IconLabelList"/>
    <dgm:cxn modelId="{0FF1CA1A-3AB2-45E4-B12B-A233043BFEE4}" type="presParOf" srcId="{56AF1CFB-39EC-4BC6-A63D-369863AF0204}" destId="{9F181C4D-4AF0-44EC-BA23-5233C1348168}" srcOrd="0" destOrd="0" presId="urn:microsoft.com/office/officeart/2018/2/layout/IconLabelList"/>
    <dgm:cxn modelId="{181983B8-F090-4496-99EA-820773FFED40}" type="presParOf" srcId="{56AF1CFB-39EC-4BC6-A63D-369863AF0204}" destId="{7FB8F7F5-40DD-4E7D-97A1-A6674BE0E8E2}" srcOrd="1" destOrd="0" presId="urn:microsoft.com/office/officeart/2018/2/layout/IconLabelList"/>
    <dgm:cxn modelId="{709BF009-EF36-4990-A615-A188FC46109F}" type="presParOf" srcId="{56AF1CFB-39EC-4BC6-A63D-369863AF0204}" destId="{80F08D55-4AD7-43AA-8DC7-CF73D34927F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779806-9730-4069-844E-2688CBD1A4E5}" type="doc">
      <dgm:prSet loTypeId="urn:microsoft.com/office/officeart/2018/2/layout/IconVerticalSolidList" loCatId="icon" qsTypeId="urn:microsoft.com/office/officeart/2005/8/quickstyle/simple1" qsCatId="simple" csTypeId="urn:microsoft.com/office/officeart/2018/5/colors/Iconchunking_neutralbg_accent2_2" csCatId="accent2" phldr="1"/>
      <dgm:spPr/>
      <dgm:t>
        <a:bodyPr/>
        <a:lstStyle/>
        <a:p>
          <a:endParaRPr lang="en-US"/>
        </a:p>
      </dgm:t>
    </dgm:pt>
    <dgm:pt modelId="{CEFEE7D4-ED2C-4452-AF20-38F0837AEB92}">
      <dgm:prSet/>
      <dgm:spPr/>
      <dgm:t>
        <a:bodyPr/>
        <a:lstStyle/>
        <a:p>
          <a:pPr>
            <a:lnSpc>
              <a:spcPct val="100000"/>
            </a:lnSpc>
          </a:pPr>
          <a:r>
            <a:rPr lang="en-US" dirty="0">
              <a:latin typeface="Bookman Old Style"/>
            </a:rPr>
            <a:t>Data analytics involves analyzing raw data to find trends, patterns, and insights for informed decision-making.</a:t>
          </a:r>
        </a:p>
      </dgm:t>
    </dgm:pt>
    <dgm:pt modelId="{28FEFC1C-50B9-439F-A93E-002D7FE6F493}" type="parTrans" cxnId="{D1AA0D0A-241B-4FE4-9F95-D841D6E4A326}">
      <dgm:prSet/>
      <dgm:spPr/>
      <dgm:t>
        <a:bodyPr/>
        <a:lstStyle/>
        <a:p>
          <a:endParaRPr lang="en-US"/>
        </a:p>
      </dgm:t>
    </dgm:pt>
    <dgm:pt modelId="{DA559B9D-2243-4B93-8934-0F76CC7894D7}" type="sibTrans" cxnId="{D1AA0D0A-241B-4FE4-9F95-D841D6E4A326}">
      <dgm:prSet/>
      <dgm:spPr/>
      <dgm:t>
        <a:bodyPr/>
        <a:lstStyle/>
        <a:p>
          <a:endParaRPr lang="en-US"/>
        </a:p>
      </dgm:t>
    </dgm:pt>
    <dgm:pt modelId="{A7A29BFC-BC74-4272-A3E3-678F03FF2BD0}">
      <dgm:prSet/>
      <dgm:spPr/>
      <dgm:t>
        <a:bodyPr/>
        <a:lstStyle/>
        <a:p>
          <a:pPr>
            <a:lnSpc>
              <a:spcPct val="100000"/>
            </a:lnSpc>
          </a:pPr>
          <a:r>
            <a:rPr lang="en-US" dirty="0">
              <a:latin typeface="Bookman Old Style"/>
            </a:rPr>
            <a:t>A data analyst will extract raw data, organize it, and then analyze it, transforming it from incomprehensible numbers into coherent, intelligible information.</a:t>
          </a:r>
        </a:p>
      </dgm:t>
    </dgm:pt>
    <dgm:pt modelId="{B2BEDCEF-4F3F-4C23-B21E-7ED56BFEAC58}" type="parTrans" cxnId="{006C61A5-FD35-4B01-AE41-48A07B7BDE6A}">
      <dgm:prSet/>
      <dgm:spPr/>
      <dgm:t>
        <a:bodyPr/>
        <a:lstStyle/>
        <a:p>
          <a:endParaRPr lang="en-US"/>
        </a:p>
      </dgm:t>
    </dgm:pt>
    <dgm:pt modelId="{2520B6B6-E0FC-4D21-938C-AC067CD9E155}" type="sibTrans" cxnId="{006C61A5-FD35-4B01-AE41-48A07B7BDE6A}">
      <dgm:prSet/>
      <dgm:spPr/>
      <dgm:t>
        <a:bodyPr/>
        <a:lstStyle/>
        <a:p>
          <a:endParaRPr lang="en-US"/>
        </a:p>
      </dgm:t>
    </dgm:pt>
    <dgm:pt modelId="{1F8675D4-2B79-48A4-AD06-618F7B3A916C}">
      <dgm:prSet/>
      <dgm:spPr/>
      <dgm:t>
        <a:bodyPr/>
        <a:lstStyle/>
        <a:p>
          <a:pPr>
            <a:lnSpc>
              <a:spcPct val="100000"/>
            </a:lnSpc>
          </a:pPr>
          <a:r>
            <a:rPr lang="en-US" dirty="0">
              <a:latin typeface="Bookman Old Style"/>
            </a:rPr>
            <a:t>Example: Online retail stores analyzing customer buying patterns to boost sales.</a:t>
          </a:r>
        </a:p>
      </dgm:t>
    </dgm:pt>
    <dgm:pt modelId="{6E1E7288-199C-4E87-8ACE-F2C0A119B465}" type="parTrans" cxnId="{8F4636E3-275B-4B00-B675-A5A2E7923CD3}">
      <dgm:prSet/>
      <dgm:spPr/>
      <dgm:t>
        <a:bodyPr/>
        <a:lstStyle/>
        <a:p>
          <a:endParaRPr lang="en-US"/>
        </a:p>
      </dgm:t>
    </dgm:pt>
    <dgm:pt modelId="{8712C86E-A5BF-4325-A4E7-824E98014467}" type="sibTrans" cxnId="{8F4636E3-275B-4B00-B675-A5A2E7923CD3}">
      <dgm:prSet/>
      <dgm:spPr/>
      <dgm:t>
        <a:bodyPr/>
        <a:lstStyle/>
        <a:p>
          <a:endParaRPr lang="en-US"/>
        </a:p>
      </dgm:t>
    </dgm:pt>
    <dgm:pt modelId="{B7B3005F-A729-42BE-9564-4B686D7BA4A3}" type="pres">
      <dgm:prSet presAssocID="{26779806-9730-4069-844E-2688CBD1A4E5}" presName="root" presStyleCnt="0">
        <dgm:presLayoutVars>
          <dgm:dir/>
          <dgm:resizeHandles val="exact"/>
        </dgm:presLayoutVars>
      </dgm:prSet>
      <dgm:spPr/>
      <dgm:t>
        <a:bodyPr/>
        <a:lstStyle/>
        <a:p>
          <a:endParaRPr lang="en-US"/>
        </a:p>
      </dgm:t>
    </dgm:pt>
    <dgm:pt modelId="{7A91ACCA-AF65-444E-94B1-883A34BFFE34}" type="pres">
      <dgm:prSet presAssocID="{CEFEE7D4-ED2C-4452-AF20-38F0837AEB92}" presName="compNode" presStyleCnt="0"/>
      <dgm:spPr/>
    </dgm:pt>
    <dgm:pt modelId="{DC5D2AE8-2978-4DF9-9FAB-E87B98A2E6C1}" type="pres">
      <dgm:prSet presAssocID="{CEFEE7D4-ED2C-4452-AF20-38F0837AEB92}" presName="bgRect" presStyleLbl="bgShp" presStyleIdx="0" presStyleCnt="3"/>
      <dgm:spPr/>
    </dgm:pt>
    <dgm:pt modelId="{C0417105-E66E-46DC-A036-6B40D9B472D5}" type="pres">
      <dgm:prSet presAssocID="{CEFEE7D4-ED2C-4452-AF20-38F0837AEB9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Statistics"/>
        </a:ext>
      </dgm:extLst>
    </dgm:pt>
    <dgm:pt modelId="{73DBF8F6-D04C-40F4-9F6A-D9BD421A1C33}" type="pres">
      <dgm:prSet presAssocID="{CEFEE7D4-ED2C-4452-AF20-38F0837AEB92}" presName="spaceRect" presStyleCnt="0"/>
      <dgm:spPr/>
    </dgm:pt>
    <dgm:pt modelId="{12AFF22C-D443-484A-9B04-FB2DA3AA2862}" type="pres">
      <dgm:prSet presAssocID="{CEFEE7D4-ED2C-4452-AF20-38F0837AEB92}" presName="parTx" presStyleLbl="revTx" presStyleIdx="0" presStyleCnt="3">
        <dgm:presLayoutVars>
          <dgm:chMax val="0"/>
          <dgm:chPref val="0"/>
        </dgm:presLayoutVars>
      </dgm:prSet>
      <dgm:spPr/>
      <dgm:t>
        <a:bodyPr/>
        <a:lstStyle/>
        <a:p>
          <a:endParaRPr lang="en-US"/>
        </a:p>
      </dgm:t>
    </dgm:pt>
    <dgm:pt modelId="{B604DAEB-F87C-4DFF-A18F-3C3EBBFCBC66}" type="pres">
      <dgm:prSet presAssocID="{DA559B9D-2243-4B93-8934-0F76CC7894D7}" presName="sibTrans" presStyleCnt="0"/>
      <dgm:spPr/>
    </dgm:pt>
    <dgm:pt modelId="{EC1D7171-C38E-44CE-AE51-8BFA42737DBE}" type="pres">
      <dgm:prSet presAssocID="{A7A29BFC-BC74-4272-A3E3-678F03FF2BD0}" presName="compNode" presStyleCnt="0"/>
      <dgm:spPr/>
    </dgm:pt>
    <dgm:pt modelId="{4580D2B1-69A9-481C-9DE9-A5D40E53F839}" type="pres">
      <dgm:prSet presAssocID="{A7A29BFC-BC74-4272-A3E3-678F03FF2BD0}" presName="bgRect" presStyleLbl="bgShp" presStyleIdx="1" presStyleCnt="3"/>
      <dgm:spPr/>
    </dgm:pt>
    <dgm:pt modelId="{62D2ECBF-87EA-4E62-8274-010B61E3EFD4}" type="pres">
      <dgm:prSet presAssocID="{A7A29BFC-BC74-4272-A3E3-678F03FF2BD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Database"/>
        </a:ext>
      </dgm:extLst>
    </dgm:pt>
    <dgm:pt modelId="{E0178780-0077-4B13-9836-913B5EE8F6D9}" type="pres">
      <dgm:prSet presAssocID="{A7A29BFC-BC74-4272-A3E3-678F03FF2BD0}" presName="spaceRect" presStyleCnt="0"/>
      <dgm:spPr/>
    </dgm:pt>
    <dgm:pt modelId="{A72FFC78-4B6B-4A80-B27D-F32DD0494B88}" type="pres">
      <dgm:prSet presAssocID="{A7A29BFC-BC74-4272-A3E3-678F03FF2BD0}" presName="parTx" presStyleLbl="revTx" presStyleIdx="1" presStyleCnt="3">
        <dgm:presLayoutVars>
          <dgm:chMax val="0"/>
          <dgm:chPref val="0"/>
        </dgm:presLayoutVars>
      </dgm:prSet>
      <dgm:spPr/>
      <dgm:t>
        <a:bodyPr/>
        <a:lstStyle/>
        <a:p>
          <a:endParaRPr lang="en-US"/>
        </a:p>
      </dgm:t>
    </dgm:pt>
    <dgm:pt modelId="{4BF69BE4-9FF5-47AE-A40B-92E0061BC909}" type="pres">
      <dgm:prSet presAssocID="{2520B6B6-E0FC-4D21-938C-AC067CD9E155}" presName="sibTrans" presStyleCnt="0"/>
      <dgm:spPr/>
    </dgm:pt>
    <dgm:pt modelId="{FE850211-651D-45BA-96F1-9259CC50EE75}" type="pres">
      <dgm:prSet presAssocID="{1F8675D4-2B79-48A4-AD06-618F7B3A916C}" presName="compNode" presStyleCnt="0"/>
      <dgm:spPr/>
    </dgm:pt>
    <dgm:pt modelId="{7EC4EDC9-F5F7-4E56-8C1F-513E85F2083C}" type="pres">
      <dgm:prSet presAssocID="{1F8675D4-2B79-48A4-AD06-618F7B3A916C}" presName="bgRect" presStyleLbl="bgShp" presStyleIdx="2" presStyleCnt="3"/>
      <dgm:spPr/>
    </dgm:pt>
    <dgm:pt modelId="{1A3607AF-7204-4764-8F54-0479672AB5B7}" type="pres">
      <dgm:prSet presAssocID="{1F8675D4-2B79-48A4-AD06-618F7B3A916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Research"/>
        </a:ext>
      </dgm:extLst>
    </dgm:pt>
    <dgm:pt modelId="{28067AA4-79B4-4ADE-8F88-48558DF72E34}" type="pres">
      <dgm:prSet presAssocID="{1F8675D4-2B79-48A4-AD06-618F7B3A916C}" presName="spaceRect" presStyleCnt="0"/>
      <dgm:spPr/>
    </dgm:pt>
    <dgm:pt modelId="{6087B8E1-699A-4878-B2DA-FE6D3CE33203}" type="pres">
      <dgm:prSet presAssocID="{1F8675D4-2B79-48A4-AD06-618F7B3A916C}" presName="parTx" presStyleLbl="revTx" presStyleIdx="2" presStyleCnt="3">
        <dgm:presLayoutVars>
          <dgm:chMax val="0"/>
          <dgm:chPref val="0"/>
        </dgm:presLayoutVars>
      </dgm:prSet>
      <dgm:spPr/>
      <dgm:t>
        <a:bodyPr/>
        <a:lstStyle/>
        <a:p>
          <a:endParaRPr lang="en-US"/>
        </a:p>
      </dgm:t>
    </dgm:pt>
  </dgm:ptLst>
  <dgm:cxnLst>
    <dgm:cxn modelId="{1F25D103-98F8-4A53-A483-8F521649F028}" type="presOf" srcId="{26779806-9730-4069-844E-2688CBD1A4E5}" destId="{B7B3005F-A729-42BE-9564-4B686D7BA4A3}" srcOrd="0" destOrd="0" presId="urn:microsoft.com/office/officeart/2018/2/layout/IconVerticalSolidList"/>
    <dgm:cxn modelId="{006C61A5-FD35-4B01-AE41-48A07B7BDE6A}" srcId="{26779806-9730-4069-844E-2688CBD1A4E5}" destId="{A7A29BFC-BC74-4272-A3E3-678F03FF2BD0}" srcOrd="1" destOrd="0" parTransId="{B2BEDCEF-4F3F-4C23-B21E-7ED56BFEAC58}" sibTransId="{2520B6B6-E0FC-4D21-938C-AC067CD9E155}"/>
    <dgm:cxn modelId="{74CD6F2E-7B23-4A6E-A78B-CBA218D1A2E8}" type="presOf" srcId="{CEFEE7D4-ED2C-4452-AF20-38F0837AEB92}" destId="{12AFF22C-D443-484A-9B04-FB2DA3AA2862}" srcOrd="0" destOrd="0" presId="urn:microsoft.com/office/officeart/2018/2/layout/IconVerticalSolidList"/>
    <dgm:cxn modelId="{D1AA0D0A-241B-4FE4-9F95-D841D6E4A326}" srcId="{26779806-9730-4069-844E-2688CBD1A4E5}" destId="{CEFEE7D4-ED2C-4452-AF20-38F0837AEB92}" srcOrd="0" destOrd="0" parTransId="{28FEFC1C-50B9-439F-A93E-002D7FE6F493}" sibTransId="{DA559B9D-2243-4B93-8934-0F76CC7894D7}"/>
    <dgm:cxn modelId="{A3F13B62-2AC2-4D04-9488-F0DF841FA112}" type="presOf" srcId="{A7A29BFC-BC74-4272-A3E3-678F03FF2BD0}" destId="{A72FFC78-4B6B-4A80-B27D-F32DD0494B88}" srcOrd="0" destOrd="0" presId="urn:microsoft.com/office/officeart/2018/2/layout/IconVerticalSolidList"/>
    <dgm:cxn modelId="{8F4636E3-275B-4B00-B675-A5A2E7923CD3}" srcId="{26779806-9730-4069-844E-2688CBD1A4E5}" destId="{1F8675D4-2B79-48A4-AD06-618F7B3A916C}" srcOrd="2" destOrd="0" parTransId="{6E1E7288-199C-4E87-8ACE-F2C0A119B465}" sibTransId="{8712C86E-A5BF-4325-A4E7-824E98014467}"/>
    <dgm:cxn modelId="{27790862-B898-4F5C-9F14-0BAAD750ABC7}" type="presOf" srcId="{1F8675D4-2B79-48A4-AD06-618F7B3A916C}" destId="{6087B8E1-699A-4878-B2DA-FE6D3CE33203}" srcOrd="0" destOrd="0" presId="urn:microsoft.com/office/officeart/2018/2/layout/IconVerticalSolidList"/>
    <dgm:cxn modelId="{E8E487DC-7F6E-424E-AE95-D0B223081F33}" type="presParOf" srcId="{B7B3005F-A729-42BE-9564-4B686D7BA4A3}" destId="{7A91ACCA-AF65-444E-94B1-883A34BFFE34}" srcOrd="0" destOrd="0" presId="urn:microsoft.com/office/officeart/2018/2/layout/IconVerticalSolidList"/>
    <dgm:cxn modelId="{DC7441C6-9687-4FD9-8944-19D0AA67EE60}" type="presParOf" srcId="{7A91ACCA-AF65-444E-94B1-883A34BFFE34}" destId="{DC5D2AE8-2978-4DF9-9FAB-E87B98A2E6C1}" srcOrd="0" destOrd="0" presId="urn:microsoft.com/office/officeart/2018/2/layout/IconVerticalSolidList"/>
    <dgm:cxn modelId="{8DEA8C46-7A44-4DF3-A21F-49083BBE506F}" type="presParOf" srcId="{7A91ACCA-AF65-444E-94B1-883A34BFFE34}" destId="{C0417105-E66E-46DC-A036-6B40D9B472D5}" srcOrd="1" destOrd="0" presId="urn:microsoft.com/office/officeart/2018/2/layout/IconVerticalSolidList"/>
    <dgm:cxn modelId="{F3342761-E046-4DB3-A516-FE0A9F3BDC17}" type="presParOf" srcId="{7A91ACCA-AF65-444E-94B1-883A34BFFE34}" destId="{73DBF8F6-D04C-40F4-9F6A-D9BD421A1C33}" srcOrd="2" destOrd="0" presId="urn:microsoft.com/office/officeart/2018/2/layout/IconVerticalSolidList"/>
    <dgm:cxn modelId="{3F977AA1-CFFC-4BC6-AD37-154D2180092E}" type="presParOf" srcId="{7A91ACCA-AF65-444E-94B1-883A34BFFE34}" destId="{12AFF22C-D443-484A-9B04-FB2DA3AA2862}" srcOrd="3" destOrd="0" presId="urn:microsoft.com/office/officeart/2018/2/layout/IconVerticalSolidList"/>
    <dgm:cxn modelId="{632D02A5-E045-4C6D-A3A3-3F91557E7F7C}" type="presParOf" srcId="{B7B3005F-A729-42BE-9564-4B686D7BA4A3}" destId="{B604DAEB-F87C-4DFF-A18F-3C3EBBFCBC66}" srcOrd="1" destOrd="0" presId="urn:microsoft.com/office/officeart/2018/2/layout/IconVerticalSolidList"/>
    <dgm:cxn modelId="{39B3D350-384C-4619-9982-121ACA2B2859}" type="presParOf" srcId="{B7B3005F-A729-42BE-9564-4B686D7BA4A3}" destId="{EC1D7171-C38E-44CE-AE51-8BFA42737DBE}" srcOrd="2" destOrd="0" presId="urn:microsoft.com/office/officeart/2018/2/layout/IconVerticalSolidList"/>
    <dgm:cxn modelId="{AB6437A8-2BDA-46DB-9B59-64A3C528A71E}" type="presParOf" srcId="{EC1D7171-C38E-44CE-AE51-8BFA42737DBE}" destId="{4580D2B1-69A9-481C-9DE9-A5D40E53F839}" srcOrd="0" destOrd="0" presId="urn:microsoft.com/office/officeart/2018/2/layout/IconVerticalSolidList"/>
    <dgm:cxn modelId="{6C1B4F3D-1951-4D2F-85FD-F66678F72071}" type="presParOf" srcId="{EC1D7171-C38E-44CE-AE51-8BFA42737DBE}" destId="{62D2ECBF-87EA-4E62-8274-010B61E3EFD4}" srcOrd="1" destOrd="0" presId="urn:microsoft.com/office/officeart/2018/2/layout/IconVerticalSolidList"/>
    <dgm:cxn modelId="{FF5733EE-6C33-4DD0-B49A-503F37EFB626}" type="presParOf" srcId="{EC1D7171-C38E-44CE-AE51-8BFA42737DBE}" destId="{E0178780-0077-4B13-9836-913B5EE8F6D9}" srcOrd="2" destOrd="0" presId="urn:microsoft.com/office/officeart/2018/2/layout/IconVerticalSolidList"/>
    <dgm:cxn modelId="{AB78840C-C7FA-4804-B0EF-07EA6D19B2DC}" type="presParOf" srcId="{EC1D7171-C38E-44CE-AE51-8BFA42737DBE}" destId="{A72FFC78-4B6B-4A80-B27D-F32DD0494B88}" srcOrd="3" destOrd="0" presId="urn:microsoft.com/office/officeart/2018/2/layout/IconVerticalSolidList"/>
    <dgm:cxn modelId="{5F5D4420-B6D3-47CC-833B-78F85D55DEFF}" type="presParOf" srcId="{B7B3005F-A729-42BE-9564-4B686D7BA4A3}" destId="{4BF69BE4-9FF5-47AE-A40B-92E0061BC909}" srcOrd="3" destOrd="0" presId="urn:microsoft.com/office/officeart/2018/2/layout/IconVerticalSolidList"/>
    <dgm:cxn modelId="{1A3DD724-F149-4D4A-88AB-E0B786C6E33E}" type="presParOf" srcId="{B7B3005F-A729-42BE-9564-4B686D7BA4A3}" destId="{FE850211-651D-45BA-96F1-9259CC50EE75}" srcOrd="4" destOrd="0" presId="urn:microsoft.com/office/officeart/2018/2/layout/IconVerticalSolidList"/>
    <dgm:cxn modelId="{EA6AB9E4-6D8D-4C7C-AA20-14696A30EF8E}" type="presParOf" srcId="{FE850211-651D-45BA-96F1-9259CC50EE75}" destId="{7EC4EDC9-F5F7-4E56-8C1F-513E85F2083C}" srcOrd="0" destOrd="0" presId="urn:microsoft.com/office/officeart/2018/2/layout/IconVerticalSolidList"/>
    <dgm:cxn modelId="{A1705AA2-9E90-40D8-B589-8F393CA2CC29}" type="presParOf" srcId="{FE850211-651D-45BA-96F1-9259CC50EE75}" destId="{1A3607AF-7204-4764-8F54-0479672AB5B7}" srcOrd="1" destOrd="0" presId="urn:microsoft.com/office/officeart/2018/2/layout/IconVerticalSolidList"/>
    <dgm:cxn modelId="{B1F8B005-1DDD-4582-8C40-BF12BF066BF3}" type="presParOf" srcId="{FE850211-651D-45BA-96F1-9259CC50EE75}" destId="{28067AA4-79B4-4ADE-8F88-48558DF72E34}" srcOrd="2" destOrd="0" presId="urn:microsoft.com/office/officeart/2018/2/layout/IconVerticalSolidList"/>
    <dgm:cxn modelId="{DEE77F5B-61B8-4113-81FE-2E35E98E2216}" type="presParOf" srcId="{FE850211-651D-45BA-96F1-9259CC50EE75}" destId="{6087B8E1-699A-4878-B2DA-FE6D3CE3320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E806A2-9C9F-43B5-AAA7-EFA8E235076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26274ED7-DD3F-4A6C-9E41-8DAB87C1742A}">
      <dgm:prSet/>
      <dgm:spPr/>
      <dgm:t>
        <a:bodyPr/>
        <a:lstStyle/>
        <a:p>
          <a:pPr>
            <a:lnSpc>
              <a:spcPct val="100000"/>
            </a:lnSpc>
          </a:pPr>
          <a:r>
            <a:rPr lang="en-US" dirty="0">
              <a:latin typeface="Bookman Old Style"/>
            </a:rPr>
            <a:t>Data Collection: Gathering raw data from different sources (databases, web, social media, etc.)</a:t>
          </a:r>
        </a:p>
      </dgm:t>
    </dgm:pt>
    <dgm:pt modelId="{749F6D30-0500-4C23-B521-9F291E3CBA15}" type="parTrans" cxnId="{C123A42F-5088-417C-91BC-BF95D00766C1}">
      <dgm:prSet/>
      <dgm:spPr/>
      <dgm:t>
        <a:bodyPr/>
        <a:lstStyle/>
        <a:p>
          <a:endParaRPr lang="en-US"/>
        </a:p>
      </dgm:t>
    </dgm:pt>
    <dgm:pt modelId="{4448D601-372F-4FA9-9C6C-36717B4D11C8}" type="sibTrans" cxnId="{C123A42F-5088-417C-91BC-BF95D00766C1}">
      <dgm:prSet/>
      <dgm:spPr/>
      <dgm:t>
        <a:bodyPr/>
        <a:lstStyle/>
        <a:p>
          <a:endParaRPr lang="en-US"/>
        </a:p>
      </dgm:t>
    </dgm:pt>
    <dgm:pt modelId="{1B4C5278-BE37-4447-9146-D47BCA2C285E}">
      <dgm:prSet/>
      <dgm:spPr/>
      <dgm:t>
        <a:bodyPr/>
        <a:lstStyle/>
        <a:p>
          <a:pPr>
            <a:lnSpc>
              <a:spcPct val="100000"/>
            </a:lnSpc>
          </a:pPr>
          <a:r>
            <a:rPr lang="en-US" dirty="0">
              <a:latin typeface="Bookman Old Style"/>
            </a:rPr>
            <a:t>Data Cleaning: Removing errors or inconsistencies.</a:t>
          </a:r>
        </a:p>
      </dgm:t>
    </dgm:pt>
    <dgm:pt modelId="{2465D4B8-5BF3-440A-A9CA-DE19FDA7660C}" type="parTrans" cxnId="{21932B06-C672-494C-90B8-F107AE62D54C}">
      <dgm:prSet/>
      <dgm:spPr/>
      <dgm:t>
        <a:bodyPr/>
        <a:lstStyle/>
        <a:p>
          <a:endParaRPr lang="en-US"/>
        </a:p>
      </dgm:t>
    </dgm:pt>
    <dgm:pt modelId="{A5B0BFA8-EBE6-4AD6-9849-C98FAC80F26A}" type="sibTrans" cxnId="{21932B06-C672-494C-90B8-F107AE62D54C}">
      <dgm:prSet/>
      <dgm:spPr/>
      <dgm:t>
        <a:bodyPr/>
        <a:lstStyle/>
        <a:p>
          <a:endParaRPr lang="en-US"/>
        </a:p>
      </dgm:t>
    </dgm:pt>
    <dgm:pt modelId="{EBF270D3-736F-42FE-AFCF-5B696BCF1CC2}">
      <dgm:prSet/>
      <dgm:spPr/>
      <dgm:t>
        <a:bodyPr/>
        <a:lstStyle/>
        <a:p>
          <a:pPr>
            <a:lnSpc>
              <a:spcPct val="100000"/>
            </a:lnSpc>
          </a:pPr>
          <a:r>
            <a:rPr lang="en-US" dirty="0">
              <a:latin typeface="Bookman Old Style"/>
            </a:rPr>
            <a:t>Data Analysis: Applying statistical methods, machine learning models, etc.</a:t>
          </a:r>
        </a:p>
      </dgm:t>
    </dgm:pt>
    <dgm:pt modelId="{C8859A08-473E-42DA-95E9-B977ED3E1057}" type="parTrans" cxnId="{29974FDF-3225-4800-BFFD-CE0E95A6417B}">
      <dgm:prSet/>
      <dgm:spPr/>
      <dgm:t>
        <a:bodyPr/>
        <a:lstStyle/>
        <a:p>
          <a:endParaRPr lang="en-US"/>
        </a:p>
      </dgm:t>
    </dgm:pt>
    <dgm:pt modelId="{FD070255-954A-4514-B326-4D9DC049C49D}" type="sibTrans" cxnId="{29974FDF-3225-4800-BFFD-CE0E95A6417B}">
      <dgm:prSet/>
      <dgm:spPr/>
      <dgm:t>
        <a:bodyPr/>
        <a:lstStyle/>
        <a:p>
          <a:endParaRPr lang="en-US"/>
        </a:p>
      </dgm:t>
    </dgm:pt>
    <dgm:pt modelId="{89BC7A03-2E80-457D-B0D4-0979D936D450}">
      <dgm:prSet/>
      <dgm:spPr/>
      <dgm:t>
        <a:bodyPr/>
        <a:lstStyle/>
        <a:p>
          <a:pPr>
            <a:lnSpc>
              <a:spcPct val="100000"/>
            </a:lnSpc>
          </a:pPr>
          <a:r>
            <a:rPr lang="en-US" dirty="0">
              <a:latin typeface="Bookman Old Style"/>
            </a:rPr>
            <a:t>Interpretation &amp; Reporting: Visualizing and presenting findings for decision-making.</a:t>
          </a:r>
        </a:p>
      </dgm:t>
    </dgm:pt>
    <dgm:pt modelId="{9B0D8910-E63C-447E-9FDF-B303AB7FE643}" type="parTrans" cxnId="{A7DA6165-7AEF-4AD2-92E7-E3D361FCE958}">
      <dgm:prSet/>
      <dgm:spPr/>
      <dgm:t>
        <a:bodyPr/>
        <a:lstStyle/>
        <a:p>
          <a:endParaRPr lang="en-US"/>
        </a:p>
      </dgm:t>
    </dgm:pt>
    <dgm:pt modelId="{83ECF326-59D1-4868-9D70-6E7CC8D6B4E5}" type="sibTrans" cxnId="{A7DA6165-7AEF-4AD2-92E7-E3D361FCE958}">
      <dgm:prSet/>
      <dgm:spPr/>
      <dgm:t>
        <a:bodyPr/>
        <a:lstStyle/>
        <a:p>
          <a:endParaRPr lang="en-US"/>
        </a:p>
      </dgm:t>
    </dgm:pt>
    <dgm:pt modelId="{70F5BA01-72A7-4A9F-B879-A5B3C42D1598}" type="pres">
      <dgm:prSet presAssocID="{CFE806A2-9C9F-43B5-AAA7-EFA8E2350762}" presName="root" presStyleCnt="0">
        <dgm:presLayoutVars>
          <dgm:dir/>
          <dgm:resizeHandles val="exact"/>
        </dgm:presLayoutVars>
      </dgm:prSet>
      <dgm:spPr/>
      <dgm:t>
        <a:bodyPr/>
        <a:lstStyle/>
        <a:p>
          <a:endParaRPr lang="en-US"/>
        </a:p>
      </dgm:t>
    </dgm:pt>
    <dgm:pt modelId="{90B51A4F-0DAC-47DB-AC91-6F35C61068E6}" type="pres">
      <dgm:prSet presAssocID="{26274ED7-DD3F-4A6C-9E41-8DAB87C1742A}" presName="compNode" presStyleCnt="0"/>
      <dgm:spPr/>
    </dgm:pt>
    <dgm:pt modelId="{E733A1A2-3F49-445B-9A4E-67328E941B7A}" type="pres">
      <dgm:prSet presAssocID="{26274ED7-DD3F-4A6C-9E41-8DAB87C1742A}" presName="bgRect" presStyleLbl="bgShp" presStyleIdx="0" presStyleCnt="4"/>
      <dgm:spPr/>
    </dgm:pt>
    <dgm:pt modelId="{4A209ED7-75DC-4193-A30A-7BC5868E957A}" type="pres">
      <dgm:prSet presAssocID="{26274ED7-DD3F-4A6C-9E41-8DAB87C1742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Database"/>
        </a:ext>
      </dgm:extLst>
    </dgm:pt>
    <dgm:pt modelId="{246C51BE-161F-4E98-A7C8-125F066AB41E}" type="pres">
      <dgm:prSet presAssocID="{26274ED7-DD3F-4A6C-9E41-8DAB87C1742A}" presName="spaceRect" presStyleCnt="0"/>
      <dgm:spPr/>
    </dgm:pt>
    <dgm:pt modelId="{44DA1B4E-3DEF-4F27-A3EE-AD90F7AAAF75}" type="pres">
      <dgm:prSet presAssocID="{26274ED7-DD3F-4A6C-9E41-8DAB87C1742A}" presName="parTx" presStyleLbl="revTx" presStyleIdx="0" presStyleCnt="4">
        <dgm:presLayoutVars>
          <dgm:chMax val="0"/>
          <dgm:chPref val="0"/>
        </dgm:presLayoutVars>
      </dgm:prSet>
      <dgm:spPr/>
      <dgm:t>
        <a:bodyPr/>
        <a:lstStyle/>
        <a:p>
          <a:endParaRPr lang="en-US"/>
        </a:p>
      </dgm:t>
    </dgm:pt>
    <dgm:pt modelId="{12ACEC13-AFB4-4E1C-BD50-0D363042510A}" type="pres">
      <dgm:prSet presAssocID="{4448D601-372F-4FA9-9C6C-36717B4D11C8}" presName="sibTrans" presStyleCnt="0"/>
      <dgm:spPr/>
    </dgm:pt>
    <dgm:pt modelId="{B21E943C-F2DA-4358-B6C9-EECB77D823AA}" type="pres">
      <dgm:prSet presAssocID="{1B4C5278-BE37-4447-9146-D47BCA2C285E}" presName="compNode" presStyleCnt="0"/>
      <dgm:spPr/>
    </dgm:pt>
    <dgm:pt modelId="{CF0221C2-832C-48BF-AAF5-2D3B305F6FEF}" type="pres">
      <dgm:prSet presAssocID="{1B4C5278-BE37-4447-9146-D47BCA2C285E}" presName="bgRect" presStyleLbl="bgShp" presStyleIdx="1" presStyleCnt="4"/>
      <dgm:spPr/>
    </dgm:pt>
    <dgm:pt modelId="{BD8B750E-47B6-4078-8FCF-CF4FB4AB8B54}" type="pres">
      <dgm:prSet presAssocID="{1B4C5278-BE37-4447-9146-D47BCA2C285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Mop and bucket"/>
        </a:ext>
      </dgm:extLst>
    </dgm:pt>
    <dgm:pt modelId="{C72E8157-A426-4B33-8C9D-A0BDFA6ECD74}" type="pres">
      <dgm:prSet presAssocID="{1B4C5278-BE37-4447-9146-D47BCA2C285E}" presName="spaceRect" presStyleCnt="0"/>
      <dgm:spPr/>
    </dgm:pt>
    <dgm:pt modelId="{3499BD0C-9605-4931-9D5F-2C30B37ACC40}" type="pres">
      <dgm:prSet presAssocID="{1B4C5278-BE37-4447-9146-D47BCA2C285E}" presName="parTx" presStyleLbl="revTx" presStyleIdx="1" presStyleCnt="4">
        <dgm:presLayoutVars>
          <dgm:chMax val="0"/>
          <dgm:chPref val="0"/>
        </dgm:presLayoutVars>
      </dgm:prSet>
      <dgm:spPr/>
      <dgm:t>
        <a:bodyPr/>
        <a:lstStyle/>
        <a:p>
          <a:endParaRPr lang="en-US"/>
        </a:p>
      </dgm:t>
    </dgm:pt>
    <dgm:pt modelId="{DC18E67E-0D6F-4F4C-AA3D-8F35BD026175}" type="pres">
      <dgm:prSet presAssocID="{A5B0BFA8-EBE6-4AD6-9849-C98FAC80F26A}" presName="sibTrans" presStyleCnt="0"/>
      <dgm:spPr/>
    </dgm:pt>
    <dgm:pt modelId="{98F1BF5C-2A04-4F26-A55B-947756F16590}" type="pres">
      <dgm:prSet presAssocID="{EBF270D3-736F-42FE-AFCF-5B696BCF1CC2}" presName="compNode" presStyleCnt="0"/>
      <dgm:spPr/>
    </dgm:pt>
    <dgm:pt modelId="{F44F3046-2078-4506-BC94-0C1D59A64E4C}" type="pres">
      <dgm:prSet presAssocID="{EBF270D3-736F-42FE-AFCF-5B696BCF1CC2}" presName="bgRect" presStyleLbl="bgShp" presStyleIdx="2" presStyleCnt="4"/>
      <dgm:spPr/>
    </dgm:pt>
    <dgm:pt modelId="{0591648F-C518-49F2-8FAA-756B66A4D99D}" type="pres">
      <dgm:prSet presAssocID="{EBF270D3-736F-42FE-AFCF-5B696BCF1CC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Statistics"/>
        </a:ext>
      </dgm:extLst>
    </dgm:pt>
    <dgm:pt modelId="{4C80EBB4-57BE-426E-BA4B-5EDD58840073}" type="pres">
      <dgm:prSet presAssocID="{EBF270D3-736F-42FE-AFCF-5B696BCF1CC2}" presName="spaceRect" presStyleCnt="0"/>
      <dgm:spPr/>
    </dgm:pt>
    <dgm:pt modelId="{A88683A1-5682-4040-B0EA-BFA8353B9160}" type="pres">
      <dgm:prSet presAssocID="{EBF270D3-736F-42FE-AFCF-5B696BCF1CC2}" presName="parTx" presStyleLbl="revTx" presStyleIdx="2" presStyleCnt="4">
        <dgm:presLayoutVars>
          <dgm:chMax val="0"/>
          <dgm:chPref val="0"/>
        </dgm:presLayoutVars>
      </dgm:prSet>
      <dgm:spPr/>
      <dgm:t>
        <a:bodyPr/>
        <a:lstStyle/>
        <a:p>
          <a:endParaRPr lang="en-US"/>
        </a:p>
      </dgm:t>
    </dgm:pt>
    <dgm:pt modelId="{BBBBE7FB-79A7-458E-A17E-46AA9949A7B5}" type="pres">
      <dgm:prSet presAssocID="{FD070255-954A-4514-B326-4D9DC049C49D}" presName="sibTrans" presStyleCnt="0"/>
      <dgm:spPr/>
    </dgm:pt>
    <dgm:pt modelId="{B76181EE-F128-47C9-8C81-00F65A28E893}" type="pres">
      <dgm:prSet presAssocID="{89BC7A03-2E80-457D-B0D4-0979D936D450}" presName="compNode" presStyleCnt="0"/>
      <dgm:spPr/>
    </dgm:pt>
    <dgm:pt modelId="{F29913BC-679D-45F9-9841-5B9D695F12B4}" type="pres">
      <dgm:prSet presAssocID="{89BC7A03-2E80-457D-B0D4-0979D936D450}" presName="bgRect" presStyleLbl="bgShp" presStyleIdx="3" presStyleCnt="4"/>
      <dgm:spPr/>
    </dgm:pt>
    <dgm:pt modelId="{274160A4-7246-4BAA-970A-19C7FFC5BB5A}" type="pres">
      <dgm:prSet presAssocID="{89BC7A03-2E80-457D-B0D4-0979D936D45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id="0" name="" descr="Research"/>
        </a:ext>
      </dgm:extLst>
    </dgm:pt>
    <dgm:pt modelId="{4A93B0AC-8695-4DBF-956E-BEC982C88352}" type="pres">
      <dgm:prSet presAssocID="{89BC7A03-2E80-457D-B0D4-0979D936D450}" presName="spaceRect" presStyleCnt="0"/>
      <dgm:spPr/>
    </dgm:pt>
    <dgm:pt modelId="{656929F4-3DD4-4523-80CE-01A35A7BA5F9}" type="pres">
      <dgm:prSet presAssocID="{89BC7A03-2E80-457D-B0D4-0979D936D450}" presName="parTx" presStyleLbl="revTx" presStyleIdx="3" presStyleCnt="4">
        <dgm:presLayoutVars>
          <dgm:chMax val="0"/>
          <dgm:chPref val="0"/>
        </dgm:presLayoutVars>
      </dgm:prSet>
      <dgm:spPr/>
      <dgm:t>
        <a:bodyPr/>
        <a:lstStyle/>
        <a:p>
          <a:endParaRPr lang="en-US"/>
        </a:p>
      </dgm:t>
    </dgm:pt>
  </dgm:ptLst>
  <dgm:cxnLst>
    <dgm:cxn modelId="{A7DA6165-7AEF-4AD2-92E7-E3D361FCE958}" srcId="{CFE806A2-9C9F-43B5-AAA7-EFA8E2350762}" destId="{89BC7A03-2E80-457D-B0D4-0979D936D450}" srcOrd="3" destOrd="0" parTransId="{9B0D8910-E63C-447E-9FDF-B303AB7FE643}" sibTransId="{83ECF326-59D1-4868-9D70-6E7CC8D6B4E5}"/>
    <dgm:cxn modelId="{FC0E77B7-1E3E-4A4B-A8DC-F4E0E34DB131}" type="presOf" srcId="{EBF270D3-736F-42FE-AFCF-5B696BCF1CC2}" destId="{A88683A1-5682-4040-B0EA-BFA8353B9160}" srcOrd="0" destOrd="0" presId="urn:microsoft.com/office/officeart/2018/2/layout/IconVerticalSolidList"/>
    <dgm:cxn modelId="{EAEDCEB7-70FB-4CB2-B098-03874CB87E9E}" type="presOf" srcId="{26274ED7-DD3F-4A6C-9E41-8DAB87C1742A}" destId="{44DA1B4E-3DEF-4F27-A3EE-AD90F7AAAF75}" srcOrd="0" destOrd="0" presId="urn:microsoft.com/office/officeart/2018/2/layout/IconVerticalSolidList"/>
    <dgm:cxn modelId="{ACEC6F14-5E2D-4766-9E97-A75ED5EE7970}" type="presOf" srcId="{89BC7A03-2E80-457D-B0D4-0979D936D450}" destId="{656929F4-3DD4-4523-80CE-01A35A7BA5F9}" srcOrd="0" destOrd="0" presId="urn:microsoft.com/office/officeart/2018/2/layout/IconVerticalSolidList"/>
    <dgm:cxn modelId="{1835F999-33F4-473C-875F-0352CAD7CF04}" type="presOf" srcId="{1B4C5278-BE37-4447-9146-D47BCA2C285E}" destId="{3499BD0C-9605-4931-9D5F-2C30B37ACC40}" srcOrd="0" destOrd="0" presId="urn:microsoft.com/office/officeart/2018/2/layout/IconVerticalSolidList"/>
    <dgm:cxn modelId="{21932B06-C672-494C-90B8-F107AE62D54C}" srcId="{CFE806A2-9C9F-43B5-AAA7-EFA8E2350762}" destId="{1B4C5278-BE37-4447-9146-D47BCA2C285E}" srcOrd="1" destOrd="0" parTransId="{2465D4B8-5BF3-440A-A9CA-DE19FDA7660C}" sibTransId="{A5B0BFA8-EBE6-4AD6-9849-C98FAC80F26A}"/>
    <dgm:cxn modelId="{C123A42F-5088-417C-91BC-BF95D00766C1}" srcId="{CFE806A2-9C9F-43B5-AAA7-EFA8E2350762}" destId="{26274ED7-DD3F-4A6C-9E41-8DAB87C1742A}" srcOrd="0" destOrd="0" parTransId="{749F6D30-0500-4C23-B521-9F291E3CBA15}" sibTransId="{4448D601-372F-4FA9-9C6C-36717B4D11C8}"/>
    <dgm:cxn modelId="{0B97A3BF-48BF-491E-BE10-630F53C8BD44}" type="presOf" srcId="{CFE806A2-9C9F-43B5-AAA7-EFA8E2350762}" destId="{70F5BA01-72A7-4A9F-B879-A5B3C42D1598}" srcOrd="0" destOrd="0" presId="urn:microsoft.com/office/officeart/2018/2/layout/IconVerticalSolidList"/>
    <dgm:cxn modelId="{29974FDF-3225-4800-BFFD-CE0E95A6417B}" srcId="{CFE806A2-9C9F-43B5-AAA7-EFA8E2350762}" destId="{EBF270D3-736F-42FE-AFCF-5B696BCF1CC2}" srcOrd="2" destOrd="0" parTransId="{C8859A08-473E-42DA-95E9-B977ED3E1057}" sibTransId="{FD070255-954A-4514-B326-4D9DC049C49D}"/>
    <dgm:cxn modelId="{C339CFE2-1E46-403F-9C5F-ADC7DE0AC522}" type="presParOf" srcId="{70F5BA01-72A7-4A9F-B879-A5B3C42D1598}" destId="{90B51A4F-0DAC-47DB-AC91-6F35C61068E6}" srcOrd="0" destOrd="0" presId="urn:microsoft.com/office/officeart/2018/2/layout/IconVerticalSolidList"/>
    <dgm:cxn modelId="{5C8A3DCA-75B7-4687-8F8C-6CF8EEF9D720}" type="presParOf" srcId="{90B51A4F-0DAC-47DB-AC91-6F35C61068E6}" destId="{E733A1A2-3F49-445B-9A4E-67328E941B7A}" srcOrd="0" destOrd="0" presId="urn:microsoft.com/office/officeart/2018/2/layout/IconVerticalSolidList"/>
    <dgm:cxn modelId="{CD206AB1-CB58-448C-8621-7E26475BFA14}" type="presParOf" srcId="{90B51A4F-0DAC-47DB-AC91-6F35C61068E6}" destId="{4A209ED7-75DC-4193-A30A-7BC5868E957A}" srcOrd="1" destOrd="0" presId="urn:microsoft.com/office/officeart/2018/2/layout/IconVerticalSolidList"/>
    <dgm:cxn modelId="{4FF5D73F-2B0F-44B2-8748-FAF63AAC4FEE}" type="presParOf" srcId="{90B51A4F-0DAC-47DB-AC91-6F35C61068E6}" destId="{246C51BE-161F-4E98-A7C8-125F066AB41E}" srcOrd="2" destOrd="0" presId="urn:microsoft.com/office/officeart/2018/2/layout/IconVerticalSolidList"/>
    <dgm:cxn modelId="{6AAA3CD4-277A-48DD-96A4-D12D4FC514EB}" type="presParOf" srcId="{90B51A4F-0DAC-47DB-AC91-6F35C61068E6}" destId="{44DA1B4E-3DEF-4F27-A3EE-AD90F7AAAF75}" srcOrd="3" destOrd="0" presId="urn:microsoft.com/office/officeart/2018/2/layout/IconVerticalSolidList"/>
    <dgm:cxn modelId="{573DA0F8-BDB1-457F-9615-B9037F5002C4}" type="presParOf" srcId="{70F5BA01-72A7-4A9F-B879-A5B3C42D1598}" destId="{12ACEC13-AFB4-4E1C-BD50-0D363042510A}" srcOrd="1" destOrd="0" presId="urn:microsoft.com/office/officeart/2018/2/layout/IconVerticalSolidList"/>
    <dgm:cxn modelId="{C9A898D9-C79D-4137-9378-D60BBAD9C8B8}" type="presParOf" srcId="{70F5BA01-72A7-4A9F-B879-A5B3C42D1598}" destId="{B21E943C-F2DA-4358-B6C9-EECB77D823AA}" srcOrd="2" destOrd="0" presId="urn:microsoft.com/office/officeart/2018/2/layout/IconVerticalSolidList"/>
    <dgm:cxn modelId="{8A20F196-3E49-4F95-ACFB-A44D38E9537B}" type="presParOf" srcId="{B21E943C-F2DA-4358-B6C9-EECB77D823AA}" destId="{CF0221C2-832C-48BF-AAF5-2D3B305F6FEF}" srcOrd="0" destOrd="0" presId="urn:microsoft.com/office/officeart/2018/2/layout/IconVerticalSolidList"/>
    <dgm:cxn modelId="{F254B637-E7EC-441A-B547-0ABC4E81AB95}" type="presParOf" srcId="{B21E943C-F2DA-4358-B6C9-EECB77D823AA}" destId="{BD8B750E-47B6-4078-8FCF-CF4FB4AB8B54}" srcOrd="1" destOrd="0" presId="urn:microsoft.com/office/officeart/2018/2/layout/IconVerticalSolidList"/>
    <dgm:cxn modelId="{9639E192-1497-44F8-9033-FCB34C124639}" type="presParOf" srcId="{B21E943C-F2DA-4358-B6C9-EECB77D823AA}" destId="{C72E8157-A426-4B33-8C9D-A0BDFA6ECD74}" srcOrd="2" destOrd="0" presId="urn:microsoft.com/office/officeart/2018/2/layout/IconVerticalSolidList"/>
    <dgm:cxn modelId="{3C041754-8845-401F-8F23-26F444173547}" type="presParOf" srcId="{B21E943C-F2DA-4358-B6C9-EECB77D823AA}" destId="{3499BD0C-9605-4931-9D5F-2C30B37ACC40}" srcOrd="3" destOrd="0" presId="urn:microsoft.com/office/officeart/2018/2/layout/IconVerticalSolidList"/>
    <dgm:cxn modelId="{DB400B1B-1FB3-4A86-8008-825C60601C8A}" type="presParOf" srcId="{70F5BA01-72A7-4A9F-B879-A5B3C42D1598}" destId="{DC18E67E-0D6F-4F4C-AA3D-8F35BD026175}" srcOrd="3" destOrd="0" presId="urn:microsoft.com/office/officeart/2018/2/layout/IconVerticalSolidList"/>
    <dgm:cxn modelId="{A28CAC0F-A30B-4CF9-943E-D81B8275FD2B}" type="presParOf" srcId="{70F5BA01-72A7-4A9F-B879-A5B3C42D1598}" destId="{98F1BF5C-2A04-4F26-A55B-947756F16590}" srcOrd="4" destOrd="0" presId="urn:microsoft.com/office/officeart/2018/2/layout/IconVerticalSolidList"/>
    <dgm:cxn modelId="{56965964-EC1D-4356-93FA-3E34FA17B27E}" type="presParOf" srcId="{98F1BF5C-2A04-4F26-A55B-947756F16590}" destId="{F44F3046-2078-4506-BC94-0C1D59A64E4C}" srcOrd="0" destOrd="0" presId="urn:microsoft.com/office/officeart/2018/2/layout/IconVerticalSolidList"/>
    <dgm:cxn modelId="{DDCA6FC5-55B2-4786-9238-5D6F2D522518}" type="presParOf" srcId="{98F1BF5C-2A04-4F26-A55B-947756F16590}" destId="{0591648F-C518-49F2-8FAA-756B66A4D99D}" srcOrd="1" destOrd="0" presId="urn:microsoft.com/office/officeart/2018/2/layout/IconVerticalSolidList"/>
    <dgm:cxn modelId="{9B198F09-BB63-41FA-8492-85CC19B81B9D}" type="presParOf" srcId="{98F1BF5C-2A04-4F26-A55B-947756F16590}" destId="{4C80EBB4-57BE-426E-BA4B-5EDD58840073}" srcOrd="2" destOrd="0" presId="urn:microsoft.com/office/officeart/2018/2/layout/IconVerticalSolidList"/>
    <dgm:cxn modelId="{32A35E9F-D259-4015-AFD3-8A95E06EC92F}" type="presParOf" srcId="{98F1BF5C-2A04-4F26-A55B-947756F16590}" destId="{A88683A1-5682-4040-B0EA-BFA8353B9160}" srcOrd="3" destOrd="0" presId="urn:microsoft.com/office/officeart/2018/2/layout/IconVerticalSolidList"/>
    <dgm:cxn modelId="{E2D39174-53CB-40C3-B698-B2F6C46180CD}" type="presParOf" srcId="{70F5BA01-72A7-4A9F-B879-A5B3C42D1598}" destId="{BBBBE7FB-79A7-458E-A17E-46AA9949A7B5}" srcOrd="5" destOrd="0" presId="urn:microsoft.com/office/officeart/2018/2/layout/IconVerticalSolidList"/>
    <dgm:cxn modelId="{4071BE87-B5F6-495A-9F47-DDB4A1808616}" type="presParOf" srcId="{70F5BA01-72A7-4A9F-B879-A5B3C42D1598}" destId="{B76181EE-F128-47C9-8C81-00F65A28E893}" srcOrd="6" destOrd="0" presId="urn:microsoft.com/office/officeart/2018/2/layout/IconVerticalSolidList"/>
    <dgm:cxn modelId="{80B39609-E96F-4FCA-9588-7B7BB3B27BE8}" type="presParOf" srcId="{B76181EE-F128-47C9-8C81-00F65A28E893}" destId="{F29913BC-679D-45F9-9841-5B9D695F12B4}" srcOrd="0" destOrd="0" presId="urn:microsoft.com/office/officeart/2018/2/layout/IconVerticalSolidList"/>
    <dgm:cxn modelId="{7B096D2C-A56F-4FC9-8D5A-DF80A3775C1E}" type="presParOf" srcId="{B76181EE-F128-47C9-8C81-00F65A28E893}" destId="{274160A4-7246-4BAA-970A-19C7FFC5BB5A}" srcOrd="1" destOrd="0" presId="urn:microsoft.com/office/officeart/2018/2/layout/IconVerticalSolidList"/>
    <dgm:cxn modelId="{13990B70-A9DA-4E4C-8639-51A67F0BB921}" type="presParOf" srcId="{B76181EE-F128-47C9-8C81-00F65A28E893}" destId="{4A93B0AC-8695-4DBF-956E-BEC982C88352}" srcOrd="2" destOrd="0" presId="urn:microsoft.com/office/officeart/2018/2/layout/IconVerticalSolidList"/>
    <dgm:cxn modelId="{FDA18437-8160-4581-A691-0B541AA5CA88}" type="presParOf" srcId="{B76181EE-F128-47C9-8C81-00F65A28E893}" destId="{656929F4-3DD4-4523-80CE-01A35A7BA5F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473FC66-D4D0-4D70-A066-CAAF7012321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5DCDFA4-4EAA-41DE-9DBF-FFD4F8963F49}">
      <dgm:prSet/>
      <dgm:spPr/>
      <dgm:t>
        <a:bodyPr/>
        <a:lstStyle/>
        <a:p>
          <a:pPr>
            <a:lnSpc>
              <a:spcPct val="100000"/>
            </a:lnSpc>
          </a:pPr>
          <a:r>
            <a:rPr lang="en-US">
              <a:latin typeface="Arial"/>
              <a:ea typeface="SimSun"/>
            </a:rPr>
            <a:t>Core</a:t>
          </a:r>
          <a:r>
            <a:rPr lang="en-US"/>
            <a:t> functionality </a:t>
          </a:r>
          <a:r>
            <a:rPr lang="en-US">
              <a:latin typeface="Arial"/>
              <a:ea typeface="SimSun"/>
            </a:rPr>
            <a:t>– </a:t>
          </a:r>
          <a:r>
            <a:rPr lang="en-US"/>
            <a:t>data</a:t>
          </a:r>
          <a:r>
            <a:rPr lang="en-US">
              <a:latin typeface="Arial"/>
              <a:ea typeface="SimSun"/>
            </a:rPr>
            <a:t> storage and</a:t>
          </a:r>
          <a:r>
            <a:rPr lang="en-US"/>
            <a:t> retrieval. </a:t>
          </a:r>
        </a:p>
      </dgm:t>
    </dgm:pt>
    <dgm:pt modelId="{60D224EF-1410-4DA7-A3E3-53F229AA4852}" type="parTrans" cxnId="{D8D85CC4-1510-48FC-A09C-B2615AC03F8B}">
      <dgm:prSet/>
      <dgm:spPr/>
      <dgm:t>
        <a:bodyPr/>
        <a:lstStyle/>
        <a:p>
          <a:endParaRPr lang="en-US"/>
        </a:p>
      </dgm:t>
    </dgm:pt>
    <dgm:pt modelId="{3E01B139-611C-4ABF-BE59-01DDE2FE9446}" type="sibTrans" cxnId="{D8D85CC4-1510-48FC-A09C-B2615AC03F8B}">
      <dgm:prSet/>
      <dgm:spPr/>
      <dgm:t>
        <a:bodyPr/>
        <a:lstStyle/>
        <a:p>
          <a:endParaRPr lang="en-US"/>
        </a:p>
      </dgm:t>
    </dgm:pt>
    <dgm:pt modelId="{3C808BE6-6DCF-4EF8-B53F-8730D7CB6959}">
      <dgm:prSet/>
      <dgm:spPr/>
      <dgm:t>
        <a:bodyPr/>
        <a:lstStyle/>
        <a:p>
          <a:pPr>
            <a:lnSpc>
              <a:spcPct val="100000"/>
            </a:lnSpc>
          </a:pPr>
          <a:r>
            <a:rPr lang="en-US">
              <a:latin typeface="Arial"/>
              <a:ea typeface="SimSun"/>
            </a:rPr>
            <a:t>Craft</a:t>
          </a:r>
          <a:r>
            <a:rPr lang="en-US"/>
            <a:t> precise and tailored queries </a:t>
          </a:r>
          <a:r>
            <a:rPr lang="en-US">
              <a:latin typeface="Arial"/>
              <a:ea typeface="SimSun"/>
            </a:rPr>
            <a:t>-</a:t>
          </a:r>
          <a:r>
            <a:rPr lang="en-US"/>
            <a:t> </a:t>
          </a:r>
          <a:r>
            <a:rPr lang="en-US">
              <a:latin typeface="Arial"/>
              <a:ea typeface="SimSun"/>
            </a:rPr>
            <a:t>facilitate </a:t>
          </a:r>
          <a:r>
            <a:rPr lang="en-US"/>
            <a:t>the initial exploration and understanding of the dataset. </a:t>
          </a:r>
        </a:p>
      </dgm:t>
    </dgm:pt>
    <dgm:pt modelId="{2C14D9CD-17CB-40CF-988F-87B6482F61BA}" type="parTrans" cxnId="{4D2CD8A3-C183-44EF-9687-320F51540E54}">
      <dgm:prSet/>
      <dgm:spPr/>
      <dgm:t>
        <a:bodyPr/>
        <a:lstStyle/>
        <a:p>
          <a:endParaRPr lang="en-US"/>
        </a:p>
      </dgm:t>
    </dgm:pt>
    <dgm:pt modelId="{2E7A7FB0-E6B3-4981-A9D2-ADF899AC1390}" type="sibTrans" cxnId="{4D2CD8A3-C183-44EF-9687-320F51540E54}">
      <dgm:prSet/>
      <dgm:spPr/>
      <dgm:t>
        <a:bodyPr/>
        <a:lstStyle/>
        <a:p>
          <a:endParaRPr lang="en-US"/>
        </a:p>
      </dgm:t>
    </dgm:pt>
    <dgm:pt modelId="{99376E8C-0B76-4934-8F52-96C3C4DD1A04}">
      <dgm:prSet/>
      <dgm:spPr/>
      <dgm:t>
        <a:bodyPr/>
        <a:lstStyle/>
        <a:p>
          <a:pPr>
            <a:lnSpc>
              <a:spcPct val="100000"/>
            </a:lnSpc>
          </a:pPr>
          <a:r>
            <a:rPr lang="en-US"/>
            <a:t>It </a:t>
          </a:r>
          <a:r>
            <a:rPr lang="en-US">
              <a:latin typeface="Arial"/>
              <a:ea typeface="SimSun"/>
            </a:rPr>
            <a:t>is</a:t>
          </a:r>
          <a:r>
            <a:rPr lang="en-US"/>
            <a:t> </a:t>
          </a:r>
          <a:r>
            <a:rPr lang="en-US">
              <a:latin typeface="Arial"/>
              <a:ea typeface="SimSun"/>
            </a:rPr>
            <a:t>a suite</a:t>
          </a:r>
          <a:r>
            <a:rPr lang="en-US"/>
            <a:t> of tools to clean, preprocess, and </a:t>
          </a:r>
          <a:r>
            <a:rPr lang="en-US">
              <a:latin typeface="Arial"/>
              <a:ea typeface="SimSun"/>
            </a:rPr>
            <a:t>standardize</a:t>
          </a:r>
          <a:r>
            <a:rPr lang="en-US"/>
            <a:t> data. </a:t>
          </a:r>
        </a:p>
      </dgm:t>
    </dgm:pt>
    <dgm:pt modelId="{8F7FF121-9EDD-4277-B43E-79291E355704}" type="parTrans" cxnId="{EF276D56-4700-461C-9214-5E4CBDE303B4}">
      <dgm:prSet/>
      <dgm:spPr/>
      <dgm:t>
        <a:bodyPr/>
        <a:lstStyle/>
        <a:p>
          <a:endParaRPr lang="en-US"/>
        </a:p>
      </dgm:t>
    </dgm:pt>
    <dgm:pt modelId="{853983F5-C3FB-4F85-A638-DD8DF769924A}" type="sibTrans" cxnId="{EF276D56-4700-461C-9214-5E4CBDE303B4}">
      <dgm:prSet/>
      <dgm:spPr/>
      <dgm:t>
        <a:bodyPr/>
        <a:lstStyle/>
        <a:p>
          <a:endParaRPr lang="en-US"/>
        </a:p>
      </dgm:t>
    </dgm:pt>
    <dgm:pt modelId="{F78043D4-0C37-4D07-AD0B-40224A00047D}" type="pres">
      <dgm:prSet presAssocID="{C473FC66-D4D0-4D70-A066-CAAF70123212}" presName="root" presStyleCnt="0">
        <dgm:presLayoutVars>
          <dgm:dir/>
          <dgm:resizeHandles val="exact"/>
        </dgm:presLayoutVars>
      </dgm:prSet>
      <dgm:spPr/>
      <dgm:t>
        <a:bodyPr/>
        <a:lstStyle/>
        <a:p>
          <a:endParaRPr lang="en-US"/>
        </a:p>
      </dgm:t>
    </dgm:pt>
    <dgm:pt modelId="{5FA0F725-583B-46D5-84EE-FAC840699DB8}" type="pres">
      <dgm:prSet presAssocID="{E5DCDFA4-4EAA-41DE-9DBF-FFD4F8963F49}" presName="compNode" presStyleCnt="0"/>
      <dgm:spPr/>
    </dgm:pt>
    <dgm:pt modelId="{7F82B034-7DF2-4E48-8703-51A1B548E95C}" type="pres">
      <dgm:prSet presAssocID="{E5DCDFA4-4EAA-41DE-9DBF-FFD4F8963F49}" presName="bgRect" presStyleLbl="bgShp" presStyleIdx="0" presStyleCnt="3"/>
      <dgm:spPr/>
    </dgm:pt>
    <dgm:pt modelId="{02090202-17BC-49F9-91DD-C2D85F6F9652}" type="pres">
      <dgm:prSet presAssocID="{E5DCDFA4-4EAA-41DE-9DBF-FFD4F8963F4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Database"/>
        </a:ext>
      </dgm:extLst>
    </dgm:pt>
    <dgm:pt modelId="{85D7011E-CF33-4428-849F-A830DF3787FB}" type="pres">
      <dgm:prSet presAssocID="{E5DCDFA4-4EAA-41DE-9DBF-FFD4F8963F49}" presName="spaceRect" presStyleCnt="0"/>
      <dgm:spPr/>
    </dgm:pt>
    <dgm:pt modelId="{79376420-E34D-42B0-9C0F-C7E64D34AD2D}" type="pres">
      <dgm:prSet presAssocID="{E5DCDFA4-4EAA-41DE-9DBF-FFD4F8963F49}" presName="parTx" presStyleLbl="revTx" presStyleIdx="0" presStyleCnt="3">
        <dgm:presLayoutVars>
          <dgm:chMax val="0"/>
          <dgm:chPref val="0"/>
        </dgm:presLayoutVars>
      </dgm:prSet>
      <dgm:spPr/>
      <dgm:t>
        <a:bodyPr/>
        <a:lstStyle/>
        <a:p>
          <a:endParaRPr lang="en-US"/>
        </a:p>
      </dgm:t>
    </dgm:pt>
    <dgm:pt modelId="{D61D2677-6CE9-4827-B251-8C3ABF73B89F}" type="pres">
      <dgm:prSet presAssocID="{3E01B139-611C-4ABF-BE59-01DDE2FE9446}" presName="sibTrans" presStyleCnt="0"/>
      <dgm:spPr/>
    </dgm:pt>
    <dgm:pt modelId="{B99EB104-6986-4303-8B34-00724AF23F7C}" type="pres">
      <dgm:prSet presAssocID="{3C808BE6-6DCF-4EF8-B53F-8730D7CB6959}" presName="compNode" presStyleCnt="0"/>
      <dgm:spPr/>
    </dgm:pt>
    <dgm:pt modelId="{F73B5116-FB8B-431B-9171-1364CEFB883C}" type="pres">
      <dgm:prSet presAssocID="{3C808BE6-6DCF-4EF8-B53F-8730D7CB6959}" presName="bgRect" presStyleLbl="bgShp" presStyleIdx="1" presStyleCnt="3"/>
      <dgm:spPr/>
    </dgm:pt>
    <dgm:pt modelId="{0BAF54D9-C9DA-4BE8-B969-5BA055A07F8E}" type="pres">
      <dgm:prSet presAssocID="{3C808BE6-6DCF-4EF8-B53F-8730D7CB695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Statistics"/>
        </a:ext>
      </dgm:extLst>
    </dgm:pt>
    <dgm:pt modelId="{C5F711E5-D8D4-4118-851F-77A8083303D1}" type="pres">
      <dgm:prSet presAssocID="{3C808BE6-6DCF-4EF8-B53F-8730D7CB6959}" presName="spaceRect" presStyleCnt="0"/>
      <dgm:spPr/>
    </dgm:pt>
    <dgm:pt modelId="{D6BE5245-DD8C-40D0-B2BF-AE8F70CE7969}" type="pres">
      <dgm:prSet presAssocID="{3C808BE6-6DCF-4EF8-B53F-8730D7CB6959}" presName="parTx" presStyleLbl="revTx" presStyleIdx="1" presStyleCnt="3">
        <dgm:presLayoutVars>
          <dgm:chMax val="0"/>
          <dgm:chPref val="0"/>
        </dgm:presLayoutVars>
      </dgm:prSet>
      <dgm:spPr/>
      <dgm:t>
        <a:bodyPr/>
        <a:lstStyle/>
        <a:p>
          <a:endParaRPr lang="en-US"/>
        </a:p>
      </dgm:t>
    </dgm:pt>
    <dgm:pt modelId="{714586B6-1882-4260-B160-D825F6F9EFAA}" type="pres">
      <dgm:prSet presAssocID="{2E7A7FB0-E6B3-4981-A9D2-ADF899AC1390}" presName="sibTrans" presStyleCnt="0"/>
      <dgm:spPr/>
    </dgm:pt>
    <dgm:pt modelId="{50FA6747-4A6F-4926-891B-CC793DBE8AA5}" type="pres">
      <dgm:prSet presAssocID="{99376E8C-0B76-4934-8F52-96C3C4DD1A04}" presName="compNode" presStyleCnt="0"/>
      <dgm:spPr/>
    </dgm:pt>
    <dgm:pt modelId="{9D2C4CAC-30E5-483A-8694-29688DE9F877}" type="pres">
      <dgm:prSet presAssocID="{99376E8C-0B76-4934-8F52-96C3C4DD1A04}" presName="bgRect" presStyleLbl="bgShp" presStyleIdx="2" presStyleCnt="3"/>
      <dgm:spPr/>
    </dgm:pt>
    <dgm:pt modelId="{C8369579-B40B-4CF8-9500-B2AD8B24D7B7}" type="pres">
      <dgm:prSet presAssocID="{99376E8C-0B76-4934-8F52-96C3C4DD1A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Flowchart"/>
        </a:ext>
      </dgm:extLst>
    </dgm:pt>
    <dgm:pt modelId="{9C390FA6-9968-4FBF-9177-E1435AFAE26D}" type="pres">
      <dgm:prSet presAssocID="{99376E8C-0B76-4934-8F52-96C3C4DD1A04}" presName="spaceRect" presStyleCnt="0"/>
      <dgm:spPr/>
    </dgm:pt>
    <dgm:pt modelId="{E48CDF7D-3C85-4F4C-9F41-F916374ECBE5}" type="pres">
      <dgm:prSet presAssocID="{99376E8C-0B76-4934-8F52-96C3C4DD1A04}" presName="parTx" presStyleLbl="revTx" presStyleIdx="2" presStyleCnt="3">
        <dgm:presLayoutVars>
          <dgm:chMax val="0"/>
          <dgm:chPref val="0"/>
        </dgm:presLayoutVars>
      </dgm:prSet>
      <dgm:spPr/>
      <dgm:t>
        <a:bodyPr/>
        <a:lstStyle/>
        <a:p>
          <a:endParaRPr lang="en-US"/>
        </a:p>
      </dgm:t>
    </dgm:pt>
  </dgm:ptLst>
  <dgm:cxnLst>
    <dgm:cxn modelId="{BD2A0B4D-2187-462B-A166-903541A0C353}" type="presOf" srcId="{99376E8C-0B76-4934-8F52-96C3C4DD1A04}" destId="{E48CDF7D-3C85-4F4C-9F41-F916374ECBE5}" srcOrd="0" destOrd="0" presId="urn:microsoft.com/office/officeart/2018/2/layout/IconVerticalSolidList"/>
    <dgm:cxn modelId="{EF276D56-4700-461C-9214-5E4CBDE303B4}" srcId="{C473FC66-D4D0-4D70-A066-CAAF70123212}" destId="{99376E8C-0B76-4934-8F52-96C3C4DD1A04}" srcOrd="2" destOrd="0" parTransId="{8F7FF121-9EDD-4277-B43E-79291E355704}" sibTransId="{853983F5-C3FB-4F85-A638-DD8DF769924A}"/>
    <dgm:cxn modelId="{D8D85CC4-1510-48FC-A09C-B2615AC03F8B}" srcId="{C473FC66-D4D0-4D70-A066-CAAF70123212}" destId="{E5DCDFA4-4EAA-41DE-9DBF-FFD4F8963F49}" srcOrd="0" destOrd="0" parTransId="{60D224EF-1410-4DA7-A3E3-53F229AA4852}" sibTransId="{3E01B139-611C-4ABF-BE59-01DDE2FE9446}"/>
    <dgm:cxn modelId="{DF848EB0-900E-46D9-B7E9-BDB45DEEADF0}" type="presOf" srcId="{E5DCDFA4-4EAA-41DE-9DBF-FFD4F8963F49}" destId="{79376420-E34D-42B0-9C0F-C7E64D34AD2D}" srcOrd="0" destOrd="0" presId="urn:microsoft.com/office/officeart/2018/2/layout/IconVerticalSolidList"/>
    <dgm:cxn modelId="{4D2CD8A3-C183-44EF-9687-320F51540E54}" srcId="{C473FC66-D4D0-4D70-A066-CAAF70123212}" destId="{3C808BE6-6DCF-4EF8-B53F-8730D7CB6959}" srcOrd="1" destOrd="0" parTransId="{2C14D9CD-17CB-40CF-988F-87B6482F61BA}" sibTransId="{2E7A7FB0-E6B3-4981-A9D2-ADF899AC1390}"/>
    <dgm:cxn modelId="{7F36FED8-DEB4-4A49-A2FC-242BF6AB4304}" type="presOf" srcId="{C473FC66-D4D0-4D70-A066-CAAF70123212}" destId="{F78043D4-0C37-4D07-AD0B-40224A00047D}" srcOrd="0" destOrd="0" presId="urn:microsoft.com/office/officeart/2018/2/layout/IconVerticalSolidList"/>
    <dgm:cxn modelId="{C28E58C8-0911-406E-8637-FE02ABD9B6A3}" type="presOf" srcId="{3C808BE6-6DCF-4EF8-B53F-8730D7CB6959}" destId="{D6BE5245-DD8C-40D0-B2BF-AE8F70CE7969}" srcOrd="0" destOrd="0" presId="urn:microsoft.com/office/officeart/2018/2/layout/IconVerticalSolidList"/>
    <dgm:cxn modelId="{288986F6-17B1-4C5D-905F-FE336D196768}" type="presParOf" srcId="{F78043D4-0C37-4D07-AD0B-40224A00047D}" destId="{5FA0F725-583B-46D5-84EE-FAC840699DB8}" srcOrd="0" destOrd="0" presId="urn:microsoft.com/office/officeart/2018/2/layout/IconVerticalSolidList"/>
    <dgm:cxn modelId="{BA3125BB-5197-4F99-9CAB-67BB25652148}" type="presParOf" srcId="{5FA0F725-583B-46D5-84EE-FAC840699DB8}" destId="{7F82B034-7DF2-4E48-8703-51A1B548E95C}" srcOrd="0" destOrd="0" presId="urn:microsoft.com/office/officeart/2018/2/layout/IconVerticalSolidList"/>
    <dgm:cxn modelId="{92F661D5-6F00-4256-AF99-2A38236F6210}" type="presParOf" srcId="{5FA0F725-583B-46D5-84EE-FAC840699DB8}" destId="{02090202-17BC-49F9-91DD-C2D85F6F9652}" srcOrd="1" destOrd="0" presId="urn:microsoft.com/office/officeart/2018/2/layout/IconVerticalSolidList"/>
    <dgm:cxn modelId="{C344B848-4CD0-4AE6-A8F8-CCFC17C18F94}" type="presParOf" srcId="{5FA0F725-583B-46D5-84EE-FAC840699DB8}" destId="{85D7011E-CF33-4428-849F-A830DF3787FB}" srcOrd="2" destOrd="0" presId="urn:microsoft.com/office/officeart/2018/2/layout/IconVerticalSolidList"/>
    <dgm:cxn modelId="{B272F521-25FA-4258-9796-703634BA3544}" type="presParOf" srcId="{5FA0F725-583B-46D5-84EE-FAC840699DB8}" destId="{79376420-E34D-42B0-9C0F-C7E64D34AD2D}" srcOrd="3" destOrd="0" presId="urn:microsoft.com/office/officeart/2018/2/layout/IconVerticalSolidList"/>
    <dgm:cxn modelId="{A04C44A8-B915-4662-98A9-80F9E7603642}" type="presParOf" srcId="{F78043D4-0C37-4D07-AD0B-40224A00047D}" destId="{D61D2677-6CE9-4827-B251-8C3ABF73B89F}" srcOrd="1" destOrd="0" presId="urn:microsoft.com/office/officeart/2018/2/layout/IconVerticalSolidList"/>
    <dgm:cxn modelId="{DE5954C2-DDE3-40B3-8A90-3A212E14C710}" type="presParOf" srcId="{F78043D4-0C37-4D07-AD0B-40224A00047D}" destId="{B99EB104-6986-4303-8B34-00724AF23F7C}" srcOrd="2" destOrd="0" presId="urn:microsoft.com/office/officeart/2018/2/layout/IconVerticalSolidList"/>
    <dgm:cxn modelId="{1A6BEF04-CA83-4DD5-90DE-9C1F2CB9C4DA}" type="presParOf" srcId="{B99EB104-6986-4303-8B34-00724AF23F7C}" destId="{F73B5116-FB8B-431B-9171-1364CEFB883C}" srcOrd="0" destOrd="0" presId="urn:microsoft.com/office/officeart/2018/2/layout/IconVerticalSolidList"/>
    <dgm:cxn modelId="{AC354E0C-A7BB-4161-B846-78CF8F8BCDA2}" type="presParOf" srcId="{B99EB104-6986-4303-8B34-00724AF23F7C}" destId="{0BAF54D9-C9DA-4BE8-B969-5BA055A07F8E}" srcOrd="1" destOrd="0" presId="urn:microsoft.com/office/officeart/2018/2/layout/IconVerticalSolidList"/>
    <dgm:cxn modelId="{8821F298-45B1-451D-83C9-9A9F306C31F7}" type="presParOf" srcId="{B99EB104-6986-4303-8B34-00724AF23F7C}" destId="{C5F711E5-D8D4-4118-851F-77A8083303D1}" srcOrd="2" destOrd="0" presId="urn:microsoft.com/office/officeart/2018/2/layout/IconVerticalSolidList"/>
    <dgm:cxn modelId="{7CEAC9B9-9B3C-42EB-9882-78DACF7C9551}" type="presParOf" srcId="{B99EB104-6986-4303-8B34-00724AF23F7C}" destId="{D6BE5245-DD8C-40D0-B2BF-AE8F70CE7969}" srcOrd="3" destOrd="0" presId="urn:microsoft.com/office/officeart/2018/2/layout/IconVerticalSolidList"/>
    <dgm:cxn modelId="{BD4573A6-7EFE-4E9A-9A0A-16B42ADBF4F8}" type="presParOf" srcId="{F78043D4-0C37-4D07-AD0B-40224A00047D}" destId="{714586B6-1882-4260-B160-D825F6F9EFAA}" srcOrd="3" destOrd="0" presId="urn:microsoft.com/office/officeart/2018/2/layout/IconVerticalSolidList"/>
    <dgm:cxn modelId="{8DDA6629-D4DD-491D-B5B0-D7B4DE5E5F08}" type="presParOf" srcId="{F78043D4-0C37-4D07-AD0B-40224A00047D}" destId="{50FA6747-4A6F-4926-891B-CC793DBE8AA5}" srcOrd="4" destOrd="0" presId="urn:microsoft.com/office/officeart/2018/2/layout/IconVerticalSolidList"/>
    <dgm:cxn modelId="{7B8C6298-A494-436E-8F4C-6432B11F568D}" type="presParOf" srcId="{50FA6747-4A6F-4926-891B-CC793DBE8AA5}" destId="{9D2C4CAC-30E5-483A-8694-29688DE9F877}" srcOrd="0" destOrd="0" presId="urn:microsoft.com/office/officeart/2018/2/layout/IconVerticalSolidList"/>
    <dgm:cxn modelId="{E2EBF3BC-C90F-4376-B392-A5234E900216}" type="presParOf" srcId="{50FA6747-4A6F-4926-891B-CC793DBE8AA5}" destId="{C8369579-B40B-4CF8-9500-B2AD8B24D7B7}" srcOrd="1" destOrd="0" presId="urn:microsoft.com/office/officeart/2018/2/layout/IconVerticalSolidList"/>
    <dgm:cxn modelId="{FFF78D3B-3EF5-4581-AF19-F2CF545A29B0}" type="presParOf" srcId="{50FA6747-4A6F-4926-891B-CC793DBE8AA5}" destId="{9C390FA6-9968-4FBF-9177-E1435AFAE26D}" srcOrd="2" destOrd="0" presId="urn:microsoft.com/office/officeart/2018/2/layout/IconVerticalSolidList"/>
    <dgm:cxn modelId="{5D5D92DC-51CD-4F05-A40C-056A508DFA3B}" type="presParOf" srcId="{50FA6747-4A6F-4926-891B-CC793DBE8AA5}" destId="{E48CDF7D-3C85-4F4C-9F41-F916374ECBE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480AB5A-5CE4-4837-AF69-DE7C67FE0E32}" type="doc">
      <dgm:prSet loTypeId="urn:microsoft.com/office/officeart/2018/5/layout/IconCircleLabelList" loCatId="icon" qsTypeId="urn:microsoft.com/office/officeart/2005/8/quickstyle/simple1" qsCatId="simple" csTypeId="urn:microsoft.com/office/officeart/2005/8/colors/colorful5" csCatId="colorful" phldr="1"/>
      <dgm:spPr/>
      <dgm:t>
        <a:bodyPr/>
        <a:lstStyle/>
        <a:p>
          <a:endParaRPr lang="en-US"/>
        </a:p>
      </dgm:t>
    </dgm:pt>
    <dgm:pt modelId="{80049BB2-9CD2-4ED0-80EB-0873BD5370E4}">
      <dgm:prSet/>
      <dgm:spPr/>
      <dgm:t>
        <a:bodyPr/>
        <a:lstStyle/>
        <a:p>
          <a:pPr>
            <a:lnSpc>
              <a:spcPct val="100000"/>
            </a:lnSpc>
            <a:defRPr cap="all"/>
          </a:pPr>
          <a:r>
            <a:rPr lang="en-US" dirty="0">
              <a:latin typeface="Bookman Old Style"/>
              <a:ea typeface="SimSun"/>
            </a:rPr>
            <a:t>Dataset - ensure quality</a:t>
          </a:r>
          <a:r>
            <a:rPr lang="en-US" dirty="0">
              <a:latin typeface="Bookman Old Style"/>
            </a:rPr>
            <a:t> for in-depth analysis.</a:t>
          </a:r>
        </a:p>
      </dgm:t>
    </dgm:pt>
    <dgm:pt modelId="{45487E86-7186-49AA-AD10-5F322B1F43DD}" type="parTrans" cxnId="{B03034C7-A491-44F7-B7DC-1A23E6DA334D}">
      <dgm:prSet/>
      <dgm:spPr/>
      <dgm:t>
        <a:bodyPr/>
        <a:lstStyle/>
        <a:p>
          <a:endParaRPr lang="en-US"/>
        </a:p>
      </dgm:t>
    </dgm:pt>
    <dgm:pt modelId="{701B0A79-D3B4-497B-B8C7-A45EC538474B}" type="sibTrans" cxnId="{B03034C7-A491-44F7-B7DC-1A23E6DA334D}">
      <dgm:prSet/>
      <dgm:spPr/>
      <dgm:t>
        <a:bodyPr/>
        <a:lstStyle/>
        <a:p>
          <a:endParaRPr lang="en-US"/>
        </a:p>
      </dgm:t>
    </dgm:pt>
    <dgm:pt modelId="{09BC39C5-7D0A-449A-96B3-CB7E19C4A8C2}">
      <dgm:prSet/>
      <dgm:spPr/>
      <dgm:t>
        <a:bodyPr/>
        <a:lstStyle/>
        <a:p>
          <a:pPr>
            <a:lnSpc>
              <a:spcPct val="100000"/>
            </a:lnSpc>
            <a:defRPr cap="all"/>
          </a:pPr>
          <a:r>
            <a:rPr lang="en-US" dirty="0">
              <a:latin typeface="Bookman Old Style"/>
              <a:ea typeface="SimSun"/>
            </a:rPr>
            <a:t>Data</a:t>
          </a:r>
          <a:r>
            <a:rPr lang="en-US" dirty="0">
              <a:latin typeface="Bookman Old Style"/>
            </a:rPr>
            <a:t> exploration </a:t>
          </a:r>
          <a:r>
            <a:rPr lang="en-US" dirty="0">
              <a:latin typeface="Bookman Old Style"/>
              <a:ea typeface="SimSun"/>
            </a:rPr>
            <a:t>- evaluate data distributions, and gain</a:t>
          </a:r>
          <a:r>
            <a:rPr lang="en-US" dirty="0">
              <a:latin typeface="Bookman Old Style"/>
            </a:rPr>
            <a:t> insights into the dataset’s characteristics. </a:t>
          </a:r>
        </a:p>
      </dgm:t>
    </dgm:pt>
    <dgm:pt modelId="{4B33BF23-8251-46AD-9D4B-169966EBB53E}" type="parTrans" cxnId="{5C49D11E-AF06-4E4A-B1E8-69E67B59D2AC}">
      <dgm:prSet/>
      <dgm:spPr/>
      <dgm:t>
        <a:bodyPr/>
        <a:lstStyle/>
        <a:p>
          <a:endParaRPr lang="en-US"/>
        </a:p>
      </dgm:t>
    </dgm:pt>
    <dgm:pt modelId="{B4270DF8-788F-445F-BA18-58850FE639F1}" type="sibTrans" cxnId="{5C49D11E-AF06-4E4A-B1E8-69E67B59D2AC}">
      <dgm:prSet/>
      <dgm:spPr/>
      <dgm:t>
        <a:bodyPr/>
        <a:lstStyle/>
        <a:p>
          <a:endParaRPr lang="en-US"/>
        </a:p>
      </dgm:t>
    </dgm:pt>
    <dgm:pt modelId="{E547F29B-07E1-4A13-BE2E-0000EB99F269}">
      <dgm:prSet/>
      <dgm:spPr/>
      <dgm:t>
        <a:bodyPr/>
        <a:lstStyle/>
        <a:p>
          <a:pPr>
            <a:lnSpc>
              <a:spcPct val="100000"/>
            </a:lnSpc>
            <a:defRPr cap="all"/>
          </a:pPr>
          <a:r>
            <a:rPr lang="en-US" dirty="0">
              <a:latin typeface="Bookman Old Style"/>
              <a:ea typeface="SimSun"/>
            </a:rPr>
            <a:t>Lead to</a:t>
          </a:r>
          <a:r>
            <a:rPr lang="en-US" dirty="0">
              <a:latin typeface="Bookman Old Style"/>
            </a:rPr>
            <a:t> key </a:t>
          </a:r>
          <a:r>
            <a:rPr lang="en-US" dirty="0">
              <a:latin typeface="Bookman Old Style"/>
              <a:ea typeface="SimSun"/>
            </a:rPr>
            <a:t>metrics to monitor and</a:t>
          </a:r>
          <a:r>
            <a:rPr lang="en-US" dirty="0">
              <a:latin typeface="Bookman Old Style"/>
            </a:rPr>
            <a:t> </a:t>
          </a:r>
          <a:r>
            <a:rPr lang="en-US" dirty="0">
              <a:latin typeface="Bookman Old Style"/>
              <a:ea typeface="SimSun"/>
            </a:rPr>
            <a:t>insightful </a:t>
          </a:r>
          <a:r>
            <a:rPr lang="en-US" dirty="0">
              <a:latin typeface="Bookman Old Style"/>
            </a:rPr>
            <a:t>summaries.</a:t>
          </a:r>
        </a:p>
      </dgm:t>
    </dgm:pt>
    <dgm:pt modelId="{49B474AE-2113-473D-9AB9-D888D7AE3091}" type="parTrans" cxnId="{0FCE60F3-88B7-46A4-97BB-EF6450F417C7}">
      <dgm:prSet/>
      <dgm:spPr/>
      <dgm:t>
        <a:bodyPr/>
        <a:lstStyle/>
        <a:p>
          <a:endParaRPr lang="en-US"/>
        </a:p>
      </dgm:t>
    </dgm:pt>
    <dgm:pt modelId="{3146EB38-7F38-4EE3-86A1-DAE004AF37DD}" type="sibTrans" cxnId="{0FCE60F3-88B7-46A4-97BB-EF6450F417C7}">
      <dgm:prSet/>
      <dgm:spPr/>
      <dgm:t>
        <a:bodyPr/>
        <a:lstStyle/>
        <a:p>
          <a:endParaRPr lang="en-US"/>
        </a:p>
      </dgm:t>
    </dgm:pt>
    <dgm:pt modelId="{F6650F5B-C70C-43BA-BF17-EE62D70C587D}" type="pres">
      <dgm:prSet presAssocID="{C480AB5A-5CE4-4837-AF69-DE7C67FE0E32}" presName="root" presStyleCnt="0">
        <dgm:presLayoutVars>
          <dgm:dir/>
          <dgm:resizeHandles val="exact"/>
        </dgm:presLayoutVars>
      </dgm:prSet>
      <dgm:spPr/>
      <dgm:t>
        <a:bodyPr/>
        <a:lstStyle/>
        <a:p>
          <a:endParaRPr lang="en-US"/>
        </a:p>
      </dgm:t>
    </dgm:pt>
    <dgm:pt modelId="{9E9C5C67-4F7D-41C5-8D1E-9B946F94959D}" type="pres">
      <dgm:prSet presAssocID="{80049BB2-9CD2-4ED0-80EB-0873BD5370E4}" presName="compNode" presStyleCnt="0"/>
      <dgm:spPr/>
    </dgm:pt>
    <dgm:pt modelId="{8928F886-1CE2-4DD7-BF3F-CF40C8F2E3CB}" type="pres">
      <dgm:prSet presAssocID="{80049BB2-9CD2-4ED0-80EB-0873BD5370E4}" presName="iconBgRect" presStyleLbl="bgShp" presStyleIdx="0" presStyleCnt="3"/>
      <dgm:spPr/>
    </dgm:pt>
    <dgm:pt modelId="{A6DD86CA-518F-4EAC-BF41-146E8E3D8D74}" type="pres">
      <dgm:prSet presAssocID="{80049BB2-9CD2-4ED0-80EB-0873BD5370E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id="0" name="" descr="Database"/>
        </a:ext>
      </dgm:extLst>
    </dgm:pt>
    <dgm:pt modelId="{56BC09B3-1523-49F4-B0F8-C9E110C95808}" type="pres">
      <dgm:prSet presAssocID="{80049BB2-9CD2-4ED0-80EB-0873BD5370E4}" presName="spaceRect" presStyleCnt="0"/>
      <dgm:spPr/>
    </dgm:pt>
    <dgm:pt modelId="{C0825D77-E8AB-4D43-9DC2-95788CB5BC8C}" type="pres">
      <dgm:prSet presAssocID="{80049BB2-9CD2-4ED0-80EB-0873BD5370E4}" presName="textRect" presStyleLbl="revTx" presStyleIdx="0" presStyleCnt="3">
        <dgm:presLayoutVars>
          <dgm:chMax val="1"/>
          <dgm:chPref val="1"/>
        </dgm:presLayoutVars>
      </dgm:prSet>
      <dgm:spPr/>
      <dgm:t>
        <a:bodyPr/>
        <a:lstStyle/>
        <a:p>
          <a:endParaRPr lang="en-US"/>
        </a:p>
      </dgm:t>
    </dgm:pt>
    <dgm:pt modelId="{4A7D481B-8634-4FE5-A5A9-70E43257F076}" type="pres">
      <dgm:prSet presAssocID="{701B0A79-D3B4-497B-B8C7-A45EC538474B}" presName="sibTrans" presStyleCnt="0"/>
      <dgm:spPr/>
    </dgm:pt>
    <dgm:pt modelId="{10AB4F03-6B30-4ACB-8391-677E3FB23193}" type="pres">
      <dgm:prSet presAssocID="{09BC39C5-7D0A-449A-96B3-CB7E19C4A8C2}" presName="compNode" presStyleCnt="0"/>
      <dgm:spPr/>
    </dgm:pt>
    <dgm:pt modelId="{0BFB70F8-E78F-46BC-806E-01B9D354EEF2}" type="pres">
      <dgm:prSet presAssocID="{09BC39C5-7D0A-449A-96B3-CB7E19C4A8C2}" presName="iconBgRect" presStyleLbl="bgShp" presStyleIdx="1" presStyleCnt="3"/>
      <dgm:spPr/>
    </dgm:pt>
    <dgm:pt modelId="{067271F9-1646-45DA-92EB-E5C7FA040F2F}" type="pres">
      <dgm:prSet presAssocID="{09BC39C5-7D0A-449A-96B3-CB7E19C4A8C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id="0" name="" descr="Processor"/>
        </a:ext>
      </dgm:extLst>
    </dgm:pt>
    <dgm:pt modelId="{E61A9BCA-4C08-45A8-87DF-8F9AC7D29AA7}" type="pres">
      <dgm:prSet presAssocID="{09BC39C5-7D0A-449A-96B3-CB7E19C4A8C2}" presName="spaceRect" presStyleCnt="0"/>
      <dgm:spPr/>
    </dgm:pt>
    <dgm:pt modelId="{57D694B3-6E83-447B-B032-EF595737BA18}" type="pres">
      <dgm:prSet presAssocID="{09BC39C5-7D0A-449A-96B3-CB7E19C4A8C2}" presName="textRect" presStyleLbl="revTx" presStyleIdx="1" presStyleCnt="3">
        <dgm:presLayoutVars>
          <dgm:chMax val="1"/>
          <dgm:chPref val="1"/>
        </dgm:presLayoutVars>
      </dgm:prSet>
      <dgm:spPr/>
      <dgm:t>
        <a:bodyPr/>
        <a:lstStyle/>
        <a:p>
          <a:endParaRPr lang="en-US"/>
        </a:p>
      </dgm:t>
    </dgm:pt>
    <dgm:pt modelId="{C74C50F1-7CEE-482A-A328-0EABB5C7826D}" type="pres">
      <dgm:prSet presAssocID="{B4270DF8-788F-445F-BA18-58850FE639F1}" presName="sibTrans" presStyleCnt="0"/>
      <dgm:spPr/>
    </dgm:pt>
    <dgm:pt modelId="{28F659E9-6A7D-4B1B-B5EA-6EFBC125F578}" type="pres">
      <dgm:prSet presAssocID="{E547F29B-07E1-4A13-BE2E-0000EB99F269}" presName="compNode" presStyleCnt="0"/>
      <dgm:spPr/>
    </dgm:pt>
    <dgm:pt modelId="{41AEDD38-C866-4FD2-B25D-F2BCF7080977}" type="pres">
      <dgm:prSet presAssocID="{E547F29B-07E1-4A13-BE2E-0000EB99F269}" presName="iconBgRect" presStyleLbl="bgShp" presStyleIdx="2" presStyleCnt="3"/>
      <dgm:spPr/>
    </dgm:pt>
    <dgm:pt modelId="{2F552A43-97F2-42DF-8BEC-62C389D39D18}" type="pres">
      <dgm:prSet presAssocID="{E547F29B-07E1-4A13-BE2E-0000EB99F26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extLst>
        <a:ext uri="{E40237B7-FDA0-4F09-8148-C483321AD2D9}">
          <dgm14:cNvPr xmlns:dgm14="http://schemas.microsoft.com/office/drawing/2010/diagram" id="0" name="" descr="Statistics"/>
        </a:ext>
      </dgm:extLst>
    </dgm:pt>
    <dgm:pt modelId="{95D98D18-E6DD-408F-A12D-27BA33CED070}" type="pres">
      <dgm:prSet presAssocID="{E547F29B-07E1-4A13-BE2E-0000EB99F269}" presName="spaceRect" presStyleCnt="0"/>
      <dgm:spPr/>
    </dgm:pt>
    <dgm:pt modelId="{1356699C-D037-416B-BAE8-73C73D8165A0}" type="pres">
      <dgm:prSet presAssocID="{E547F29B-07E1-4A13-BE2E-0000EB99F269}" presName="textRect" presStyleLbl="revTx" presStyleIdx="2" presStyleCnt="3">
        <dgm:presLayoutVars>
          <dgm:chMax val="1"/>
          <dgm:chPref val="1"/>
        </dgm:presLayoutVars>
      </dgm:prSet>
      <dgm:spPr/>
      <dgm:t>
        <a:bodyPr/>
        <a:lstStyle/>
        <a:p>
          <a:endParaRPr lang="en-US"/>
        </a:p>
      </dgm:t>
    </dgm:pt>
  </dgm:ptLst>
  <dgm:cxnLst>
    <dgm:cxn modelId="{BF6F1365-57DE-4852-AAE3-9C225C44AE3A}" type="presOf" srcId="{E547F29B-07E1-4A13-BE2E-0000EB99F269}" destId="{1356699C-D037-416B-BAE8-73C73D8165A0}" srcOrd="0" destOrd="0" presId="urn:microsoft.com/office/officeart/2018/5/layout/IconCircleLabelList"/>
    <dgm:cxn modelId="{5C49D11E-AF06-4E4A-B1E8-69E67B59D2AC}" srcId="{C480AB5A-5CE4-4837-AF69-DE7C67FE0E32}" destId="{09BC39C5-7D0A-449A-96B3-CB7E19C4A8C2}" srcOrd="1" destOrd="0" parTransId="{4B33BF23-8251-46AD-9D4B-169966EBB53E}" sibTransId="{B4270DF8-788F-445F-BA18-58850FE639F1}"/>
    <dgm:cxn modelId="{02485F2E-8A38-4B06-B8EF-E5FBB9C3BA2E}" type="presOf" srcId="{C480AB5A-5CE4-4837-AF69-DE7C67FE0E32}" destId="{F6650F5B-C70C-43BA-BF17-EE62D70C587D}" srcOrd="0" destOrd="0" presId="urn:microsoft.com/office/officeart/2018/5/layout/IconCircleLabelList"/>
    <dgm:cxn modelId="{B03034C7-A491-44F7-B7DC-1A23E6DA334D}" srcId="{C480AB5A-5CE4-4837-AF69-DE7C67FE0E32}" destId="{80049BB2-9CD2-4ED0-80EB-0873BD5370E4}" srcOrd="0" destOrd="0" parTransId="{45487E86-7186-49AA-AD10-5F322B1F43DD}" sibTransId="{701B0A79-D3B4-497B-B8C7-A45EC538474B}"/>
    <dgm:cxn modelId="{2A59AF30-6D52-4739-AC42-D8F2FA9B2D96}" type="presOf" srcId="{09BC39C5-7D0A-449A-96B3-CB7E19C4A8C2}" destId="{57D694B3-6E83-447B-B032-EF595737BA18}" srcOrd="0" destOrd="0" presId="urn:microsoft.com/office/officeart/2018/5/layout/IconCircleLabelList"/>
    <dgm:cxn modelId="{40357986-BE83-482E-8DF5-7A088008C8DE}" type="presOf" srcId="{80049BB2-9CD2-4ED0-80EB-0873BD5370E4}" destId="{C0825D77-E8AB-4D43-9DC2-95788CB5BC8C}" srcOrd="0" destOrd="0" presId="urn:microsoft.com/office/officeart/2018/5/layout/IconCircleLabelList"/>
    <dgm:cxn modelId="{0FCE60F3-88B7-46A4-97BB-EF6450F417C7}" srcId="{C480AB5A-5CE4-4837-AF69-DE7C67FE0E32}" destId="{E547F29B-07E1-4A13-BE2E-0000EB99F269}" srcOrd="2" destOrd="0" parTransId="{49B474AE-2113-473D-9AB9-D888D7AE3091}" sibTransId="{3146EB38-7F38-4EE3-86A1-DAE004AF37DD}"/>
    <dgm:cxn modelId="{FA52F0E6-FDCE-4A6C-B804-B18033EC2796}" type="presParOf" srcId="{F6650F5B-C70C-43BA-BF17-EE62D70C587D}" destId="{9E9C5C67-4F7D-41C5-8D1E-9B946F94959D}" srcOrd="0" destOrd="0" presId="urn:microsoft.com/office/officeart/2018/5/layout/IconCircleLabelList"/>
    <dgm:cxn modelId="{BB4ED4D5-5A76-4C24-8863-4F1D8A93CD38}" type="presParOf" srcId="{9E9C5C67-4F7D-41C5-8D1E-9B946F94959D}" destId="{8928F886-1CE2-4DD7-BF3F-CF40C8F2E3CB}" srcOrd="0" destOrd="0" presId="urn:microsoft.com/office/officeart/2018/5/layout/IconCircleLabelList"/>
    <dgm:cxn modelId="{0B95C83C-B03B-41A2-8B83-BB3ADB9F6A85}" type="presParOf" srcId="{9E9C5C67-4F7D-41C5-8D1E-9B946F94959D}" destId="{A6DD86CA-518F-4EAC-BF41-146E8E3D8D74}" srcOrd="1" destOrd="0" presId="urn:microsoft.com/office/officeart/2018/5/layout/IconCircleLabelList"/>
    <dgm:cxn modelId="{8C5C6A3F-1554-4A14-8AEA-413534BFC081}" type="presParOf" srcId="{9E9C5C67-4F7D-41C5-8D1E-9B946F94959D}" destId="{56BC09B3-1523-49F4-B0F8-C9E110C95808}" srcOrd="2" destOrd="0" presId="urn:microsoft.com/office/officeart/2018/5/layout/IconCircleLabelList"/>
    <dgm:cxn modelId="{7838B067-CE86-408F-AACC-2A414BC9EC89}" type="presParOf" srcId="{9E9C5C67-4F7D-41C5-8D1E-9B946F94959D}" destId="{C0825D77-E8AB-4D43-9DC2-95788CB5BC8C}" srcOrd="3" destOrd="0" presId="urn:microsoft.com/office/officeart/2018/5/layout/IconCircleLabelList"/>
    <dgm:cxn modelId="{393DCE3C-57DF-4B9B-9F36-06D62D16317F}" type="presParOf" srcId="{F6650F5B-C70C-43BA-BF17-EE62D70C587D}" destId="{4A7D481B-8634-4FE5-A5A9-70E43257F076}" srcOrd="1" destOrd="0" presId="urn:microsoft.com/office/officeart/2018/5/layout/IconCircleLabelList"/>
    <dgm:cxn modelId="{AEA29861-9EA1-49B9-A06C-26047C9C38D6}" type="presParOf" srcId="{F6650F5B-C70C-43BA-BF17-EE62D70C587D}" destId="{10AB4F03-6B30-4ACB-8391-677E3FB23193}" srcOrd="2" destOrd="0" presId="urn:microsoft.com/office/officeart/2018/5/layout/IconCircleLabelList"/>
    <dgm:cxn modelId="{93843741-583F-4A34-BD61-EFA105D516DD}" type="presParOf" srcId="{10AB4F03-6B30-4ACB-8391-677E3FB23193}" destId="{0BFB70F8-E78F-46BC-806E-01B9D354EEF2}" srcOrd="0" destOrd="0" presId="urn:microsoft.com/office/officeart/2018/5/layout/IconCircleLabelList"/>
    <dgm:cxn modelId="{9F77536C-96C4-4ACB-A7E4-6390B986A729}" type="presParOf" srcId="{10AB4F03-6B30-4ACB-8391-677E3FB23193}" destId="{067271F9-1646-45DA-92EB-E5C7FA040F2F}" srcOrd="1" destOrd="0" presId="urn:microsoft.com/office/officeart/2018/5/layout/IconCircleLabelList"/>
    <dgm:cxn modelId="{302E13B6-6EC5-4357-8630-90354B5EDC37}" type="presParOf" srcId="{10AB4F03-6B30-4ACB-8391-677E3FB23193}" destId="{E61A9BCA-4C08-45A8-87DF-8F9AC7D29AA7}" srcOrd="2" destOrd="0" presId="urn:microsoft.com/office/officeart/2018/5/layout/IconCircleLabelList"/>
    <dgm:cxn modelId="{9F6AAB38-95B6-44B4-BC56-3F4F1D9EEED2}" type="presParOf" srcId="{10AB4F03-6B30-4ACB-8391-677E3FB23193}" destId="{57D694B3-6E83-447B-B032-EF595737BA18}" srcOrd="3" destOrd="0" presId="urn:microsoft.com/office/officeart/2018/5/layout/IconCircleLabelList"/>
    <dgm:cxn modelId="{7E1F2A2D-15B0-47B9-8EEA-093F88BFED96}" type="presParOf" srcId="{F6650F5B-C70C-43BA-BF17-EE62D70C587D}" destId="{C74C50F1-7CEE-482A-A328-0EABB5C7826D}" srcOrd="3" destOrd="0" presId="urn:microsoft.com/office/officeart/2018/5/layout/IconCircleLabelList"/>
    <dgm:cxn modelId="{728D492B-A678-417B-8D36-956558552EC3}" type="presParOf" srcId="{F6650F5B-C70C-43BA-BF17-EE62D70C587D}" destId="{28F659E9-6A7D-4B1B-B5EA-6EFBC125F578}" srcOrd="4" destOrd="0" presId="urn:microsoft.com/office/officeart/2018/5/layout/IconCircleLabelList"/>
    <dgm:cxn modelId="{5260CFE4-AA8B-49F0-8B38-CF895B67E05B}" type="presParOf" srcId="{28F659E9-6A7D-4B1B-B5EA-6EFBC125F578}" destId="{41AEDD38-C866-4FD2-B25D-F2BCF7080977}" srcOrd="0" destOrd="0" presId="urn:microsoft.com/office/officeart/2018/5/layout/IconCircleLabelList"/>
    <dgm:cxn modelId="{EBDB3216-C261-4864-AE0C-449B3E9227DA}" type="presParOf" srcId="{28F659E9-6A7D-4B1B-B5EA-6EFBC125F578}" destId="{2F552A43-97F2-42DF-8BEC-62C389D39D18}" srcOrd="1" destOrd="0" presId="urn:microsoft.com/office/officeart/2018/5/layout/IconCircleLabelList"/>
    <dgm:cxn modelId="{6C81F1C9-AD44-4563-9B82-6CEAFE1B62FF}" type="presParOf" srcId="{28F659E9-6A7D-4B1B-B5EA-6EFBC125F578}" destId="{95D98D18-E6DD-408F-A12D-27BA33CED070}" srcOrd="2" destOrd="0" presId="urn:microsoft.com/office/officeart/2018/5/layout/IconCircleLabelList"/>
    <dgm:cxn modelId="{1C869814-F2BB-48DA-89CF-A498823B1EC0}" type="presParOf" srcId="{28F659E9-6A7D-4B1B-B5EA-6EFBC125F578}" destId="{1356699C-D037-416B-BAE8-73C73D8165A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DABB538-E971-4319-8276-A1A7A0BF3D9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0C45CC1-6EBB-447A-9398-025932503D3C}">
      <dgm:prSet/>
      <dgm:spPr/>
      <dgm:t>
        <a:bodyPr/>
        <a:lstStyle/>
        <a:p>
          <a:pPr>
            <a:lnSpc>
              <a:spcPct val="100000"/>
            </a:lnSpc>
          </a:pPr>
          <a:r>
            <a:rPr lang="en-US" b="1" baseline="0"/>
            <a:t>Power BI</a:t>
          </a:r>
          <a:r>
            <a:rPr lang="en-US" baseline="0"/>
            <a:t> is a powerful business analytics tool developed by Microsoft that allows users to visualize and share insights from their data. </a:t>
          </a:r>
          <a:endParaRPr lang="en-US"/>
        </a:p>
      </dgm:t>
    </dgm:pt>
    <dgm:pt modelId="{B259D6AB-3C0E-45CB-93C6-D861F8C9BCAD}" type="parTrans" cxnId="{C2FAE07D-4EC9-4E1E-A34A-4087390658F4}">
      <dgm:prSet/>
      <dgm:spPr/>
      <dgm:t>
        <a:bodyPr/>
        <a:lstStyle/>
        <a:p>
          <a:endParaRPr lang="en-US"/>
        </a:p>
      </dgm:t>
    </dgm:pt>
    <dgm:pt modelId="{ED81B385-228C-401C-AD43-D1FB3062D231}" type="sibTrans" cxnId="{C2FAE07D-4EC9-4E1E-A34A-4087390658F4}">
      <dgm:prSet/>
      <dgm:spPr/>
      <dgm:t>
        <a:bodyPr/>
        <a:lstStyle/>
        <a:p>
          <a:endParaRPr lang="en-US"/>
        </a:p>
      </dgm:t>
    </dgm:pt>
    <dgm:pt modelId="{67EF85AB-34D5-41AC-9345-AFA81B146891}">
      <dgm:prSet/>
      <dgm:spPr/>
      <dgm:t>
        <a:bodyPr/>
        <a:lstStyle/>
        <a:p>
          <a:pPr>
            <a:lnSpc>
              <a:spcPct val="100000"/>
            </a:lnSpc>
          </a:pPr>
          <a:r>
            <a:rPr lang="en-US" baseline="0"/>
            <a:t>It enables individuals and organizations to create interactive reports, dashboards, and data models to make data-driven decisions. </a:t>
          </a:r>
          <a:endParaRPr lang="en-US"/>
        </a:p>
      </dgm:t>
    </dgm:pt>
    <dgm:pt modelId="{7E170839-6549-4341-8546-C9D354D7FDA6}" type="parTrans" cxnId="{1FC9F800-3B42-40B5-BC36-DF2DF2B35031}">
      <dgm:prSet/>
      <dgm:spPr/>
      <dgm:t>
        <a:bodyPr/>
        <a:lstStyle/>
        <a:p>
          <a:endParaRPr lang="en-US"/>
        </a:p>
      </dgm:t>
    </dgm:pt>
    <dgm:pt modelId="{DA45841F-8CD3-4EC9-BD56-0E0BBEBE57B7}" type="sibTrans" cxnId="{1FC9F800-3B42-40B5-BC36-DF2DF2B35031}">
      <dgm:prSet/>
      <dgm:spPr/>
      <dgm:t>
        <a:bodyPr/>
        <a:lstStyle/>
        <a:p>
          <a:endParaRPr lang="en-US"/>
        </a:p>
      </dgm:t>
    </dgm:pt>
    <dgm:pt modelId="{28FB6516-B797-4B34-AFCE-F265AD1E26DB}">
      <dgm:prSet/>
      <dgm:spPr/>
      <dgm:t>
        <a:bodyPr/>
        <a:lstStyle/>
        <a:p>
          <a:pPr>
            <a:lnSpc>
              <a:spcPct val="100000"/>
            </a:lnSpc>
          </a:pPr>
          <a:r>
            <a:rPr lang="en-US" baseline="0"/>
            <a:t>Power BI is designed to handle large datasets, integrate with various data sources, and present information in an easy-to-understand and visually compelling manner.</a:t>
          </a:r>
          <a:endParaRPr lang="en-US"/>
        </a:p>
      </dgm:t>
    </dgm:pt>
    <dgm:pt modelId="{8BF512FF-3105-4A42-87A9-3E5CEC5B80D8}" type="parTrans" cxnId="{21584100-FAE7-42D7-B539-985AA41C3CEB}">
      <dgm:prSet/>
      <dgm:spPr/>
      <dgm:t>
        <a:bodyPr/>
        <a:lstStyle/>
        <a:p>
          <a:endParaRPr lang="en-US"/>
        </a:p>
      </dgm:t>
    </dgm:pt>
    <dgm:pt modelId="{26182AB5-C238-4B67-9BA3-EB94F952E0EC}" type="sibTrans" cxnId="{21584100-FAE7-42D7-B539-985AA41C3CEB}">
      <dgm:prSet/>
      <dgm:spPr/>
      <dgm:t>
        <a:bodyPr/>
        <a:lstStyle/>
        <a:p>
          <a:endParaRPr lang="en-US"/>
        </a:p>
      </dgm:t>
    </dgm:pt>
    <dgm:pt modelId="{F9F6A241-3548-4350-92E3-1FA82BC7066B}" type="pres">
      <dgm:prSet presAssocID="{CDABB538-E971-4319-8276-A1A7A0BF3D9A}" presName="root" presStyleCnt="0">
        <dgm:presLayoutVars>
          <dgm:dir/>
          <dgm:resizeHandles val="exact"/>
        </dgm:presLayoutVars>
      </dgm:prSet>
      <dgm:spPr/>
      <dgm:t>
        <a:bodyPr/>
        <a:lstStyle/>
        <a:p>
          <a:endParaRPr lang="en-US"/>
        </a:p>
      </dgm:t>
    </dgm:pt>
    <dgm:pt modelId="{4D7B5A52-915D-416F-ACD8-DBBC62C22976}" type="pres">
      <dgm:prSet presAssocID="{10C45CC1-6EBB-447A-9398-025932503D3C}" presName="compNode" presStyleCnt="0"/>
      <dgm:spPr/>
    </dgm:pt>
    <dgm:pt modelId="{43BF70BB-63E7-4C75-A819-5A0DCD48AC08}" type="pres">
      <dgm:prSet presAssocID="{10C45CC1-6EBB-447A-9398-025932503D3C}" presName="bgRect" presStyleLbl="bgShp" presStyleIdx="0" presStyleCnt="3"/>
      <dgm:spPr/>
    </dgm:pt>
    <dgm:pt modelId="{08240E5E-5CCF-446A-AFE5-1FE2622DA0CD}" type="pres">
      <dgm:prSet presAssocID="{10C45CC1-6EBB-447A-9398-025932503D3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extLst>
        <a:ext uri="{E40237B7-FDA0-4F09-8148-C483321AD2D9}">
          <dgm14:cNvPr xmlns:dgm14="http://schemas.microsoft.com/office/drawing/2010/diagram" id="0" name="" descr="Statistics"/>
        </a:ext>
      </dgm:extLst>
    </dgm:pt>
    <dgm:pt modelId="{46B0FF55-A151-4970-8460-6B2EB2655BE6}" type="pres">
      <dgm:prSet presAssocID="{10C45CC1-6EBB-447A-9398-025932503D3C}" presName="spaceRect" presStyleCnt="0"/>
      <dgm:spPr/>
    </dgm:pt>
    <dgm:pt modelId="{2CEB9DFA-E5A0-4E50-A79A-90716383142B}" type="pres">
      <dgm:prSet presAssocID="{10C45CC1-6EBB-447A-9398-025932503D3C}" presName="parTx" presStyleLbl="revTx" presStyleIdx="0" presStyleCnt="3">
        <dgm:presLayoutVars>
          <dgm:chMax val="0"/>
          <dgm:chPref val="0"/>
        </dgm:presLayoutVars>
      </dgm:prSet>
      <dgm:spPr/>
      <dgm:t>
        <a:bodyPr/>
        <a:lstStyle/>
        <a:p>
          <a:endParaRPr lang="en-US"/>
        </a:p>
      </dgm:t>
    </dgm:pt>
    <dgm:pt modelId="{FDF85755-C36E-4890-A771-FA0D7BED5EE2}" type="pres">
      <dgm:prSet presAssocID="{ED81B385-228C-401C-AD43-D1FB3062D231}" presName="sibTrans" presStyleCnt="0"/>
      <dgm:spPr/>
    </dgm:pt>
    <dgm:pt modelId="{B309CEE1-B2FF-46EB-AD7F-B318AA76D356}" type="pres">
      <dgm:prSet presAssocID="{67EF85AB-34D5-41AC-9345-AFA81B146891}" presName="compNode" presStyleCnt="0"/>
      <dgm:spPr/>
    </dgm:pt>
    <dgm:pt modelId="{D266D6B3-BFF3-4BB3-A996-45A3D0F5AD01}" type="pres">
      <dgm:prSet presAssocID="{67EF85AB-34D5-41AC-9345-AFA81B146891}" presName="bgRect" presStyleLbl="bgShp" presStyleIdx="1" presStyleCnt="3"/>
      <dgm:spPr/>
    </dgm:pt>
    <dgm:pt modelId="{3867AB9F-A0B1-4F1E-9EAA-038B4788D39F}" type="pres">
      <dgm:prSet presAssocID="{67EF85AB-34D5-41AC-9345-AFA81B14689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extLst>
        <a:ext uri="{E40237B7-FDA0-4F09-8148-C483321AD2D9}">
          <dgm14:cNvPr xmlns:dgm14="http://schemas.microsoft.com/office/drawing/2010/diagram" id="0" name="" descr="Pie chart"/>
        </a:ext>
      </dgm:extLst>
    </dgm:pt>
    <dgm:pt modelId="{D07FB4C0-5E42-4332-B0FC-78EDCB93394B}" type="pres">
      <dgm:prSet presAssocID="{67EF85AB-34D5-41AC-9345-AFA81B146891}" presName="spaceRect" presStyleCnt="0"/>
      <dgm:spPr/>
    </dgm:pt>
    <dgm:pt modelId="{861D2083-13E2-42CC-962E-D3063DE2407D}" type="pres">
      <dgm:prSet presAssocID="{67EF85AB-34D5-41AC-9345-AFA81B146891}" presName="parTx" presStyleLbl="revTx" presStyleIdx="1" presStyleCnt="3">
        <dgm:presLayoutVars>
          <dgm:chMax val="0"/>
          <dgm:chPref val="0"/>
        </dgm:presLayoutVars>
      </dgm:prSet>
      <dgm:spPr/>
      <dgm:t>
        <a:bodyPr/>
        <a:lstStyle/>
        <a:p>
          <a:endParaRPr lang="en-US"/>
        </a:p>
      </dgm:t>
    </dgm:pt>
    <dgm:pt modelId="{DB17A4C0-D129-44D6-A429-FE4F269FC969}" type="pres">
      <dgm:prSet presAssocID="{DA45841F-8CD3-4EC9-BD56-0E0BBEBE57B7}" presName="sibTrans" presStyleCnt="0"/>
      <dgm:spPr/>
    </dgm:pt>
    <dgm:pt modelId="{192EF076-AF86-48BC-873C-DEF19D5AC1FE}" type="pres">
      <dgm:prSet presAssocID="{28FB6516-B797-4B34-AFCE-F265AD1E26DB}" presName="compNode" presStyleCnt="0"/>
      <dgm:spPr/>
    </dgm:pt>
    <dgm:pt modelId="{D444F57B-AACE-4DBF-8CEF-32FA8833462D}" type="pres">
      <dgm:prSet presAssocID="{28FB6516-B797-4B34-AFCE-F265AD1E26DB}" presName="bgRect" presStyleLbl="bgShp" presStyleIdx="2" presStyleCnt="3"/>
      <dgm:spPr/>
    </dgm:pt>
    <dgm:pt modelId="{30F394AB-801D-4500-A38D-40B9288A8F8A}" type="pres">
      <dgm:prSet presAssocID="{28FB6516-B797-4B34-AFCE-F265AD1E26D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extLst>
        <a:ext uri="{E40237B7-FDA0-4F09-8148-C483321AD2D9}">
          <dgm14:cNvPr xmlns:dgm14="http://schemas.microsoft.com/office/drawing/2010/diagram" id="0" name="" descr="Database"/>
        </a:ext>
      </dgm:extLst>
    </dgm:pt>
    <dgm:pt modelId="{1F2F695E-3DDC-438E-8D49-EA1D66255762}" type="pres">
      <dgm:prSet presAssocID="{28FB6516-B797-4B34-AFCE-F265AD1E26DB}" presName="spaceRect" presStyleCnt="0"/>
      <dgm:spPr/>
    </dgm:pt>
    <dgm:pt modelId="{A1C658D3-2E24-44EE-90F5-8F363200CBBD}" type="pres">
      <dgm:prSet presAssocID="{28FB6516-B797-4B34-AFCE-F265AD1E26DB}" presName="parTx" presStyleLbl="revTx" presStyleIdx="2" presStyleCnt="3">
        <dgm:presLayoutVars>
          <dgm:chMax val="0"/>
          <dgm:chPref val="0"/>
        </dgm:presLayoutVars>
      </dgm:prSet>
      <dgm:spPr/>
      <dgm:t>
        <a:bodyPr/>
        <a:lstStyle/>
        <a:p>
          <a:endParaRPr lang="en-US"/>
        </a:p>
      </dgm:t>
    </dgm:pt>
  </dgm:ptLst>
  <dgm:cxnLst>
    <dgm:cxn modelId="{21584100-FAE7-42D7-B539-985AA41C3CEB}" srcId="{CDABB538-E971-4319-8276-A1A7A0BF3D9A}" destId="{28FB6516-B797-4B34-AFCE-F265AD1E26DB}" srcOrd="2" destOrd="0" parTransId="{8BF512FF-3105-4A42-87A9-3E5CEC5B80D8}" sibTransId="{26182AB5-C238-4B67-9BA3-EB94F952E0EC}"/>
    <dgm:cxn modelId="{1FC9F800-3B42-40B5-BC36-DF2DF2B35031}" srcId="{CDABB538-E971-4319-8276-A1A7A0BF3D9A}" destId="{67EF85AB-34D5-41AC-9345-AFA81B146891}" srcOrd="1" destOrd="0" parTransId="{7E170839-6549-4341-8546-C9D354D7FDA6}" sibTransId="{DA45841F-8CD3-4EC9-BD56-0E0BBEBE57B7}"/>
    <dgm:cxn modelId="{825D0C18-ACF5-4739-9C75-5C287BD59F7C}" type="presOf" srcId="{CDABB538-E971-4319-8276-A1A7A0BF3D9A}" destId="{F9F6A241-3548-4350-92E3-1FA82BC7066B}" srcOrd="0" destOrd="0" presId="urn:microsoft.com/office/officeart/2018/2/layout/IconVerticalSolidList"/>
    <dgm:cxn modelId="{C2990CD8-E601-44D7-A756-7123EA0CEC05}" type="presOf" srcId="{67EF85AB-34D5-41AC-9345-AFA81B146891}" destId="{861D2083-13E2-42CC-962E-D3063DE2407D}" srcOrd="0" destOrd="0" presId="urn:microsoft.com/office/officeart/2018/2/layout/IconVerticalSolidList"/>
    <dgm:cxn modelId="{C2FAE07D-4EC9-4E1E-A34A-4087390658F4}" srcId="{CDABB538-E971-4319-8276-A1A7A0BF3D9A}" destId="{10C45CC1-6EBB-447A-9398-025932503D3C}" srcOrd="0" destOrd="0" parTransId="{B259D6AB-3C0E-45CB-93C6-D861F8C9BCAD}" sibTransId="{ED81B385-228C-401C-AD43-D1FB3062D231}"/>
    <dgm:cxn modelId="{D3095DC0-7EF1-43E9-8BCD-0B64B93B62E8}" type="presOf" srcId="{10C45CC1-6EBB-447A-9398-025932503D3C}" destId="{2CEB9DFA-E5A0-4E50-A79A-90716383142B}" srcOrd="0" destOrd="0" presId="urn:microsoft.com/office/officeart/2018/2/layout/IconVerticalSolidList"/>
    <dgm:cxn modelId="{38B07D4A-9586-4EE8-A425-E602CA92E5E2}" type="presOf" srcId="{28FB6516-B797-4B34-AFCE-F265AD1E26DB}" destId="{A1C658D3-2E24-44EE-90F5-8F363200CBBD}" srcOrd="0" destOrd="0" presId="urn:microsoft.com/office/officeart/2018/2/layout/IconVerticalSolidList"/>
    <dgm:cxn modelId="{93DAA067-4408-401C-B4F3-9989F9A012F1}" type="presParOf" srcId="{F9F6A241-3548-4350-92E3-1FA82BC7066B}" destId="{4D7B5A52-915D-416F-ACD8-DBBC62C22976}" srcOrd="0" destOrd="0" presId="urn:microsoft.com/office/officeart/2018/2/layout/IconVerticalSolidList"/>
    <dgm:cxn modelId="{21DAE3B0-1344-4730-937A-2F2F3706A55C}" type="presParOf" srcId="{4D7B5A52-915D-416F-ACD8-DBBC62C22976}" destId="{43BF70BB-63E7-4C75-A819-5A0DCD48AC08}" srcOrd="0" destOrd="0" presId="urn:microsoft.com/office/officeart/2018/2/layout/IconVerticalSolidList"/>
    <dgm:cxn modelId="{16CA5A5B-E529-4FBF-B98C-D3F51EC16A5B}" type="presParOf" srcId="{4D7B5A52-915D-416F-ACD8-DBBC62C22976}" destId="{08240E5E-5CCF-446A-AFE5-1FE2622DA0CD}" srcOrd="1" destOrd="0" presId="urn:microsoft.com/office/officeart/2018/2/layout/IconVerticalSolidList"/>
    <dgm:cxn modelId="{704E247E-6C65-4A5B-ABB4-CFF7C9019FFB}" type="presParOf" srcId="{4D7B5A52-915D-416F-ACD8-DBBC62C22976}" destId="{46B0FF55-A151-4970-8460-6B2EB2655BE6}" srcOrd="2" destOrd="0" presId="urn:microsoft.com/office/officeart/2018/2/layout/IconVerticalSolidList"/>
    <dgm:cxn modelId="{7783F746-B8F0-4EC8-9177-2845F6B07E7D}" type="presParOf" srcId="{4D7B5A52-915D-416F-ACD8-DBBC62C22976}" destId="{2CEB9DFA-E5A0-4E50-A79A-90716383142B}" srcOrd="3" destOrd="0" presId="urn:microsoft.com/office/officeart/2018/2/layout/IconVerticalSolidList"/>
    <dgm:cxn modelId="{3D5CCB60-F2FB-4FC0-BAFD-23E2E179B06C}" type="presParOf" srcId="{F9F6A241-3548-4350-92E3-1FA82BC7066B}" destId="{FDF85755-C36E-4890-A771-FA0D7BED5EE2}" srcOrd="1" destOrd="0" presId="urn:microsoft.com/office/officeart/2018/2/layout/IconVerticalSolidList"/>
    <dgm:cxn modelId="{32FD66AB-1131-4C5A-B4D8-BC6E63DFABB1}" type="presParOf" srcId="{F9F6A241-3548-4350-92E3-1FA82BC7066B}" destId="{B309CEE1-B2FF-46EB-AD7F-B318AA76D356}" srcOrd="2" destOrd="0" presId="urn:microsoft.com/office/officeart/2018/2/layout/IconVerticalSolidList"/>
    <dgm:cxn modelId="{6EA24165-558F-4352-A382-998AF0A3544A}" type="presParOf" srcId="{B309CEE1-B2FF-46EB-AD7F-B318AA76D356}" destId="{D266D6B3-BFF3-4BB3-A996-45A3D0F5AD01}" srcOrd="0" destOrd="0" presId="urn:microsoft.com/office/officeart/2018/2/layout/IconVerticalSolidList"/>
    <dgm:cxn modelId="{D2F0B113-DAA3-44DC-86EA-F44F2C3C6F3A}" type="presParOf" srcId="{B309CEE1-B2FF-46EB-AD7F-B318AA76D356}" destId="{3867AB9F-A0B1-4F1E-9EAA-038B4788D39F}" srcOrd="1" destOrd="0" presId="urn:microsoft.com/office/officeart/2018/2/layout/IconVerticalSolidList"/>
    <dgm:cxn modelId="{97C3D844-5808-4909-9D32-B96550D1D3AD}" type="presParOf" srcId="{B309CEE1-B2FF-46EB-AD7F-B318AA76D356}" destId="{D07FB4C0-5E42-4332-B0FC-78EDCB93394B}" srcOrd="2" destOrd="0" presId="urn:microsoft.com/office/officeart/2018/2/layout/IconVerticalSolidList"/>
    <dgm:cxn modelId="{09E834A4-9F10-447C-832D-F542668833B6}" type="presParOf" srcId="{B309CEE1-B2FF-46EB-AD7F-B318AA76D356}" destId="{861D2083-13E2-42CC-962E-D3063DE2407D}" srcOrd="3" destOrd="0" presId="urn:microsoft.com/office/officeart/2018/2/layout/IconVerticalSolidList"/>
    <dgm:cxn modelId="{E62E0144-AB20-416A-A22C-C32E1FAA02A5}" type="presParOf" srcId="{F9F6A241-3548-4350-92E3-1FA82BC7066B}" destId="{DB17A4C0-D129-44D6-A429-FE4F269FC969}" srcOrd="3" destOrd="0" presId="urn:microsoft.com/office/officeart/2018/2/layout/IconVerticalSolidList"/>
    <dgm:cxn modelId="{C6C0E9A7-8139-4713-A2E5-6AE2E6BC8E14}" type="presParOf" srcId="{F9F6A241-3548-4350-92E3-1FA82BC7066B}" destId="{192EF076-AF86-48BC-873C-DEF19D5AC1FE}" srcOrd="4" destOrd="0" presId="urn:microsoft.com/office/officeart/2018/2/layout/IconVerticalSolidList"/>
    <dgm:cxn modelId="{32D3D2AF-1C9B-4523-AB22-B28823C1B7C1}" type="presParOf" srcId="{192EF076-AF86-48BC-873C-DEF19D5AC1FE}" destId="{D444F57B-AACE-4DBF-8CEF-32FA8833462D}" srcOrd="0" destOrd="0" presId="urn:microsoft.com/office/officeart/2018/2/layout/IconVerticalSolidList"/>
    <dgm:cxn modelId="{C4CBBFA8-13F3-4A70-B2A8-9FF6F70D81DE}" type="presParOf" srcId="{192EF076-AF86-48BC-873C-DEF19D5AC1FE}" destId="{30F394AB-801D-4500-A38D-40B9288A8F8A}" srcOrd="1" destOrd="0" presId="urn:microsoft.com/office/officeart/2018/2/layout/IconVerticalSolidList"/>
    <dgm:cxn modelId="{9AE0F4C0-597D-447B-804B-389FDB4719BA}" type="presParOf" srcId="{192EF076-AF86-48BC-873C-DEF19D5AC1FE}" destId="{1F2F695E-3DDC-438E-8D49-EA1D66255762}" srcOrd="2" destOrd="0" presId="urn:microsoft.com/office/officeart/2018/2/layout/IconVerticalSolidList"/>
    <dgm:cxn modelId="{EE34F463-C202-4E89-9D9A-0A24C73AC110}" type="presParOf" srcId="{192EF076-AF86-48BC-873C-DEF19D5AC1FE}" destId="{A1C658D3-2E24-44EE-90F5-8F363200CBB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499AD2-C7F9-4B9F-BEFA-ED2458F3501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85C9D70-5462-4647-BFAE-DDAE072E3F51}">
      <dgm:prSet/>
      <dgm:spPr/>
      <dgm:t>
        <a:bodyPr/>
        <a:lstStyle/>
        <a:p>
          <a:r>
            <a:rPr lang="en-US" baseline="0"/>
            <a:t>Data Visualization: Power BI offers a wide range of visualizations, including charts, graphs, maps, and tables, to represent complex data in simple, interactive formats.</a:t>
          </a:r>
          <a:endParaRPr lang="en-US"/>
        </a:p>
      </dgm:t>
    </dgm:pt>
    <dgm:pt modelId="{D8324D19-B5EF-47BD-9974-BE8B146174B6}" type="parTrans" cxnId="{1B5D8EF2-82C3-483D-B3E7-7F7FF5DE1385}">
      <dgm:prSet/>
      <dgm:spPr/>
      <dgm:t>
        <a:bodyPr/>
        <a:lstStyle/>
        <a:p>
          <a:endParaRPr lang="en-US"/>
        </a:p>
      </dgm:t>
    </dgm:pt>
    <dgm:pt modelId="{C73436A7-080E-49BC-ABBB-5D1A100CEDFF}" type="sibTrans" cxnId="{1B5D8EF2-82C3-483D-B3E7-7F7FF5DE1385}">
      <dgm:prSet/>
      <dgm:spPr/>
      <dgm:t>
        <a:bodyPr/>
        <a:lstStyle/>
        <a:p>
          <a:endParaRPr lang="en-US"/>
        </a:p>
      </dgm:t>
    </dgm:pt>
    <dgm:pt modelId="{396FD21B-8E85-452F-A266-3030968E6B0C}">
      <dgm:prSet/>
      <dgm:spPr/>
      <dgm:t>
        <a:bodyPr/>
        <a:lstStyle/>
        <a:p>
          <a:r>
            <a:rPr lang="en-US" baseline="0"/>
            <a:t>Data Connectivity: Power BI can connect to a variety of data sources such as Excel, SQL Server, cloud services (Azure, Google Analytics, Salesforce), and many others, allowing users to work with diverse datasets.</a:t>
          </a:r>
          <a:endParaRPr lang="en-US"/>
        </a:p>
      </dgm:t>
    </dgm:pt>
    <dgm:pt modelId="{BBEF6DA5-4EB1-4F6B-9D48-160200725A73}" type="parTrans" cxnId="{91F16A3E-F4A4-4EFA-A3E9-BEB5594B320A}">
      <dgm:prSet/>
      <dgm:spPr/>
      <dgm:t>
        <a:bodyPr/>
        <a:lstStyle/>
        <a:p>
          <a:endParaRPr lang="en-US"/>
        </a:p>
      </dgm:t>
    </dgm:pt>
    <dgm:pt modelId="{EFDFED2F-2889-4C9A-B4AB-C217D7A7A644}" type="sibTrans" cxnId="{91F16A3E-F4A4-4EFA-A3E9-BEB5594B320A}">
      <dgm:prSet/>
      <dgm:spPr/>
      <dgm:t>
        <a:bodyPr/>
        <a:lstStyle/>
        <a:p>
          <a:endParaRPr lang="en-US"/>
        </a:p>
      </dgm:t>
    </dgm:pt>
    <dgm:pt modelId="{28D30032-156A-45BD-97BE-717D0A6AE992}">
      <dgm:prSet/>
      <dgm:spPr/>
      <dgm:t>
        <a:bodyPr/>
        <a:lstStyle/>
        <a:p>
          <a:r>
            <a:rPr lang="en-US" baseline="0"/>
            <a:t>Interactive Dashboards: Users can create dashboards that combine multiple reports and allow for interactive filtering, enabling decision-makers to explore the data in real-time.</a:t>
          </a:r>
          <a:endParaRPr lang="en-US"/>
        </a:p>
      </dgm:t>
    </dgm:pt>
    <dgm:pt modelId="{A1093426-58D5-4760-993D-1C01576C5BF1}" type="parTrans" cxnId="{0BD2F95C-358E-42ED-9F93-AE355217F318}">
      <dgm:prSet/>
      <dgm:spPr/>
      <dgm:t>
        <a:bodyPr/>
        <a:lstStyle/>
        <a:p>
          <a:endParaRPr lang="en-US"/>
        </a:p>
      </dgm:t>
    </dgm:pt>
    <dgm:pt modelId="{E819525B-952B-45C8-9F26-7E4D0AF0F3F7}" type="sibTrans" cxnId="{0BD2F95C-358E-42ED-9F93-AE355217F318}">
      <dgm:prSet/>
      <dgm:spPr/>
      <dgm:t>
        <a:bodyPr/>
        <a:lstStyle/>
        <a:p>
          <a:endParaRPr lang="en-US"/>
        </a:p>
      </dgm:t>
    </dgm:pt>
    <dgm:pt modelId="{4C5EC9DD-A287-4710-AAA5-FE723BF8D98F}">
      <dgm:prSet/>
      <dgm:spPr/>
      <dgm:t>
        <a:bodyPr/>
        <a:lstStyle/>
        <a:p>
          <a:r>
            <a:rPr lang="en-US" baseline="0"/>
            <a:t>Power Query: This tool within Power BI allows users to transform, clean, and manipulate data before it is visualized. It helps with the extraction, transformation, and loading (ETL) processes, making data ready for analysis.</a:t>
          </a:r>
          <a:endParaRPr lang="en-US"/>
        </a:p>
      </dgm:t>
    </dgm:pt>
    <dgm:pt modelId="{22E0A0DB-DE29-4DAA-8957-E9A9B6A49A1F}" type="parTrans" cxnId="{8342458F-FFE9-43AF-913D-1F0551BE0CD5}">
      <dgm:prSet/>
      <dgm:spPr/>
      <dgm:t>
        <a:bodyPr/>
        <a:lstStyle/>
        <a:p>
          <a:endParaRPr lang="en-US"/>
        </a:p>
      </dgm:t>
    </dgm:pt>
    <dgm:pt modelId="{DDF9C435-4CC2-424B-885B-45EE37812F54}" type="sibTrans" cxnId="{8342458F-FFE9-43AF-913D-1F0551BE0CD5}">
      <dgm:prSet/>
      <dgm:spPr/>
      <dgm:t>
        <a:bodyPr/>
        <a:lstStyle/>
        <a:p>
          <a:endParaRPr lang="en-US"/>
        </a:p>
      </dgm:t>
    </dgm:pt>
    <dgm:pt modelId="{AFF37E7E-8235-42DC-8BFF-B578CBD9FE62}" type="pres">
      <dgm:prSet presAssocID="{BB499AD2-C7F9-4B9F-BEFA-ED2458F35019}" presName="root" presStyleCnt="0">
        <dgm:presLayoutVars>
          <dgm:dir/>
          <dgm:resizeHandles val="exact"/>
        </dgm:presLayoutVars>
      </dgm:prSet>
      <dgm:spPr/>
      <dgm:t>
        <a:bodyPr/>
        <a:lstStyle/>
        <a:p>
          <a:endParaRPr lang="en-US"/>
        </a:p>
      </dgm:t>
    </dgm:pt>
    <dgm:pt modelId="{8829FBD7-863C-4372-9CFE-51470E7A273D}" type="pres">
      <dgm:prSet presAssocID="{085C9D70-5462-4647-BFAE-DDAE072E3F51}" presName="compNode" presStyleCnt="0"/>
      <dgm:spPr/>
    </dgm:pt>
    <dgm:pt modelId="{EE137055-1B8A-415D-9B3A-B86BCF52CB5C}" type="pres">
      <dgm:prSet presAssocID="{085C9D70-5462-4647-BFAE-DDAE072E3F51}" presName="bgRect" presStyleLbl="bgShp" presStyleIdx="0" presStyleCnt="4"/>
      <dgm:spPr/>
    </dgm:pt>
    <dgm:pt modelId="{12D7A96D-61D6-45F9-BFE5-0161D8857999}" type="pres">
      <dgm:prSet presAssocID="{085C9D70-5462-4647-BFAE-DDAE072E3F5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Statistics"/>
        </a:ext>
      </dgm:extLst>
    </dgm:pt>
    <dgm:pt modelId="{406449B9-D143-4220-B088-5EEB4B824C38}" type="pres">
      <dgm:prSet presAssocID="{085C9D70-5462-4647-BFAE-DDAE072E3F51}" presName="spaceRect" presStyleCnt="0"/>
      <dgm:spPr/>
    </dgm:pt>
    <dgm:pt modelId="{F48FC7F8-54CC-4B13-B5F9-A70A802678A9}" type="pres">
      <dgm:prSet presAssocID="{085C9D70-5462-4647-BFAE-DDAE072E3F51}" presName="parTx" presStyleLbl="revTx" presStyleIdx="0" presStyleCnt="4">
        <dgm:presLayoutVars>
          <dgm:chMax val="0"/>
          <dgm:chPref val="0"/>
        </dgm:presLayoutVars>
      </dgm:prSet>
      <dgm:spPr/>
      <dgm:t>
        <a:bodyPr/>
        <a:lstStyle/>
        <a:p>
          <a:endParaRPr lang="en-US"/>
        </a:p>
      </dgm:t>
    </dgm:pt>
    <dgm:pt modelId="{7B2EFFE3-416D-4A10-959E-5E4F3EE159E3}" type="pres">
      <dgm:prSet presAssocID="{C73436A7-080E-49BC-ABBB-5D1A100CEDFF}" presName="sibTrans" presStyleCnt="0"/>
      <dgm:spPr/>
    </dgm:pt>
    <dgm:pt modelId="{EA0F51A8-D7E3-45F8-AE79-636741EF1B91}" type="pres">
      <dgm:prSet presAssocID="{396FD21B-8E85-452F-A266-3030968E6B0C}" presName="compNode" presStyleCnt="0"/>
      <dgm:spPr/>
    </dgm:pt>
    <dgm:pt modelId="{48047C23-7DBD-4D04-8FB9-93250E003F6D}" type="pres">
      <dgm:prSet presAssocID="{396FD21B-8E85-452F-A266-3030968E6B0C}" presName="bgRect" presStyleLbl="bgShp" presStyleIdx="1" presStyleCnt="4"/>
      <dgm:spPr/>
    </dgm:pt>
    <dgm:pt modelId="{22B2398A-8CEF-4864-9538-56268D86CE8E}" type="pres">
      <dgm:prSet presAssocID="{396FD21B-8E85-452F-A266-3030968E6B0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Server"/>
        </a:ext>
      </dgm:extLst>
    </dgm:pt>
    <dgm:pt modelId="{3410101B-3679-4372-9DDB-D95B7ABC8836}" type="pres">
      <dgm:prSet presAssocID="{396FD21B-8E85-452F-A266-3030968E6B0C}" presName="spaceRect" presStyleCnt="0"/>
      <dgm:spPr/>
    </dgm:pt>
    <dgm:pt modelId="{3DD1F479-E16E-4FC1-93CA-4509D513A98D}" type="pres">
      <dgm:prSet presAssocID="{396FD21B-8E85-452F-A266-3030968E6B0C}" presName="parTx" presStyleLbl="revTx" presStyleIdx="1" presStyleCnt="4">
        <dgm:presLayoutVars>
          <dgm:chMax val="0"/>
          <dgm:chPref val="0"/>
        </dgm:presLayoutVars>
      </dgm:prSet>
      <dgm:spPr/>
      <dgm:t>
        <a:bodyPr/>
        <a:lstStyle/>
        <a:p>
          <a:endParaRPr lang="en-US"/>
        </a:p>
      </dgm:t>
    </dgm:pt>
    <dgm:pt modelId="{2A97E4AA-D9DA-43C7-ACE5-EEBFABEC630A}" type="pres">
      <dgm:prSet presAssocID="{EFDFED2F-2889-4C9A-B4AB-C217D7A7A644}" presName="sibTrans" presStyleCnt="0"/>
      <dgm:spPr/>
    </dgm:pt>
    <dgm:pt modelId="{3BA9C895-A4A9-47B8-8340-99A5FB711BD2}" type="pres">
      <dgm:prSet presAssocID="{28D30032-156A-45BD-97BE-717D0A6AE992}" presName="compNode" presStyleCnt="0"/>
      <dgm:spPr/>
    </dgm:pt>
    <dgm:pt modelId="{D6E2777E-1AB7-430B-9F87-D1B5B2588599}" type="pres">
      <dgm:prSet presAssocID="{28D30032-156A-45BD-97BE-717D0A6AE992}" presName="bgRect" presStyleLbl="bgShp" presStyleIdx="2" presStyleCnt="4"/>
      <dgm:spPr/>
    </dgm:pt>
    <dgm:pt modelId="{7D53A4C6-5A66-4C1B-8D8A-3495047A16E3}" type="pres">
      <dgm:prSet presAssocID="{28D30032-156A-45BD-97BE-717D0A6AE99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Filter"/>
        </a:ext>
      </dgm:extLst>
    </dgm:pt>
    <dgm:pt modelId="{355E9E17-179B-464E-A8A7-8F780D984C5D}" type="pres">
      <dgm:prSet presAssocID="{28D30032-156A-45BD-97BE-717D0A6AE992}" presName="spaceRect" presStyleCnt="0"/>
      <dgm:spPr/>
    </dgm:pt>
    <dgm:pt modelId="{B0815E60-D6BF-4DDF-BCBC-B93C0EAEBF95}" type="pres">
      <dgm:prSet presAssocID="{28D30032-156A-45BD-97BE-717D0A6AE992}" presName="parTx" presStyleLbl="revTx" presStyleIdx="2" presStyleCnt="4">
        <dgm:presLayoutVars>
          <dgm:chMax val="0"/>
          <dgm:chPref val="0"/>
        </dgm:presLayoutVars>
      </dgm:prSet>
      <dgm:spPr/>
      <dgm:t>
        <a:bodyPr/>
        <a:lstStyle/>
        <a:p>
          <a:endParaRPr lang="en-US"/>
        </a:p>
      </dgm:t>
    </dgm:pt>
    <dgm:pt modelId="{16D7393E-9EB7-45DF-B263-CE0EEDC5ED1A}" type="pres">
      <dgm:prSet presAssocID="{E819525B-952B-45C8-9F26-7E4D0AF0F3F7}" presName="sibTrans" presStyleCnt="0"/>
      <dgm:spPr/>
    </dgm:pt>
    <dgm:pt modelId="{644A14E8-C9A1-4011-A58C-6D906942F3CC}" type="pres">
      <dgm:prSet presAssocID="{4C5EC9DD-A287-4710-AAA5-FE723BF8D98F}" presName="compNode" presStyleCnt="0"/>
      <dgm:spPr/>
    </dgm:pt>
    <dgm:pt modelId="{106F6170-A090-4622-A13A-E7151857494F}" type="pres">
      <dgm:prSet presAssocID="{4C5EC9DD-A287-4710-AAA5-FE723BF8D98F}" presName="bgRect" presStyleLbl="bgShp" presStyleIdx="3" presStyleCnt="4"/>
      <dgm:spPr/>
    </dgm:pt>
    <dgm:pt modelId="{38CD0421-C0D2-4DAE-8064-D3ED2A344F60}" type="pres">
      <dgm:prSet presAssocID="{4C5EC9DD-A287-4710-AAA5-FE723BF8D98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id="0" name="" descr="Database"/>
        </a:ext>
      </dgm:extLst>
    </dgm:pt>
    <dgm:pt modelId="{16D9EFF4-8D35-4E1F-B0F4-7E4386379FA3}" type="pres">
      <dgm:prSet presAssocID="{4C5EC9DD-A287-4710-AAA5-FE723BF8D98F}" presName="spaceRect" presStyleCnt="0"/>
      <dgm:spPr/>
    </dgm:pt>
    <dgm:pt modelId="{2C72048D-1053-48AA-AF59-625BAA973C2C}" type="pres">
      <dgm:prSet presAssocID="{4C5EC9DD-A287-4710-AAA5-FE723BF8D98F}" presName="parTx" presStyleLbl="revTx" presStyleIdx="3" presStyleCnt="4">
        <dgm:presLayoutVars>
          <dgm:chMax val="0"/>
          <dgm:chPref val="0"/>
        </dgm:presLayoutVars>
      </dgm:prSet>
      <dgm:spPr/>
      <dgm:t>
        <a:bodyPr/>
        <a:lstStyle/>
        <a:p>
          <a:endParaRPr lang="en-US"/>
        </a:p>
      </dgm:t>
    </dgm:pt>
  </dgm:ptLst>
  <dgm:cxnLst>
    <dgm:cxn modelId="{0BD2F95C-358E-42ED-9F93-AE355217F318}" srcId="{BB499AD2-C7F9-4B9F-BEFA-ED2458F35019}" destId="{28D30032-156A-45BD-97BE-717D0A6AE992}" srcOrd="2" destOrd="0" parTransId="{A1093426-58D5-4760-993D-1C01576C5BF1}" sibTransId="{E819525B-952B-45C8-9F26-7E4D0AF0F3F7}"/>
    <dgm:cxn modelId="{57C73FD1-D39B-4453-9E97-0C491EE81B5F}" type="presOf" srcId="{28D30032-156A-45BD-97BE-717D0A6AE992}" destId="{B0815E60-D6BF-4DDF-BCBC-B93C0EAEBF95}" srcOrd="0" destOrd="0" presId="urn:microsoft.com/office/officeart/2018/2/layout/IconVerticalSolidList"/>
    <dgm:cxn modelId="{9EDA79E0-31B7-40CF-9936-08689A039706}" type="presOf" srcId="{396FD21B-8E85-452F-A266-3030968E6B0C}" destId="{3DD1F479-E16E-4FC1-93CA-4509D513A98D}" srcOrd="0" destOrd="0" presId="urn:microsoft.com/office/officeart/2018/2/layout/IconVerticalSolidList"/>
    <dgm:cxn modelId="{1B5D8EF2-82C3-483D-B3E7-7F7FF5DE1385}" srcId="{BB499AD2-C7F9-4B9F-BEFA-ED2458F35019}" destId="{085C9D70-5462-4647-BFAE-DDAE072E3F51}" srcOrd="0" destOrd="0" parTransId="{D8324D19-B5EF-47BD-9974-BE8B146174B6}" sibTransId="{C73436A7-080E-49BC-ABBB-5D1A100CEDFF}"/>
    <dgm:cxn modelId="{344D9506-6233-481E-B340-EA7C47C1F175}" type="presOf" srcId="{085C9D70-5462-4647-BFAE-DDAE072E3F51}" destId="{F48FC7F8-54CC-4B13-B5F9-A70A802678A9}" srcOrd="0" destOrd="0" presId="urn:microsoft.com/office/officeart/2018/2/layout/IconVerticalSolidList"/>
    <dgm:cxn modelId="{D490BA67-1281-4955-ABDD-86CB3BEA670A}" type="presOf" srcId="{BB499AD2-C7F9-4B9F-BEFA-ED2458F35019}" destId="{AFF37E7E-8235-42DC-8BFF-B578CBD9FE62}" srcOrd="0" destOrd="0" presId="urn:microsoft.com/office/officeart/2018/2/layout/IconVerticalSolidList"/>
    <dgm:cxn modelId="{8342458F-FFE9-43AF-913D-1F0551BE0CD5}" srcId="{BB499AD2-C7F9-4B9F-BEFA-ED2458F35019}" destId="{4C5EC9DD-A287-4710-AAA5-FE723BF8D98F}" srcOrd="3" destOrd="0" parTransId="{22E0A0DB-DE29-4DAA-8957-E9A9B6A49A1F}" sibTransId="{DDF9C435-4CC2-424B-885B-45EE37812F54}"/>
    <dgm:cxn modelId="{36CA96B1-85B8-47CD-8833-2DA8D690462C}" type="presOf" srcId="{4C5EC9DD-A287-4710-AAA5-FE723BF8D98F}" destId="{2C72048D-1053-48AA-AF59-625BAA973C2C}" srcOrd="0" destOrd="0" presId="urn:microsoft.com/office/officeart/2018/2/layout/IconVerticalSolidList"/>
    <dgm:cxn modelId="{91F16A3E-F4A4-4EFA-A3E9-BEB5594B320A}" srcId="{BB499AD2-C7F9-4B9F-BEFA-ED2458F35019}" destId="{396FD21B-8E85-452F-A266-3030968E6B0C}" srcOrd="1" destOrd="0" parTransId="{BBEF6DA5-4EB1-4F6B-9D48-160200725A73}" sibTransId="{EFDFED2F-2889-4C9A-B4AB-C217D7A7A644}"/>
    <dgm:cxn modelId="{CFEDFBA2-EC9E-4648-B68A-D2D9A06625B6}" type="presParOf" srcId="{AFF37E7E-8235-42DC-8BFF-B578CBD9FE62}" destId="{8829FBD7-863C-4372-9CFE-51470E7A273D}" srcOrd="0" destOrd="0" presId="urn:microsoft.com/office/officeart/2018/2/layout/IconVerticalSolidList"/>
    <dgm:cxn modelId="{73CCF99B-4FC3-47BE-813E-DBE9140ED0B9}" type="presParOf" srcId="{8829FBD7-863C-4372-9CFE-51470E7A273D}" destId="{EE137055-1B8A-415D-9B3A-B86BCF52CB5C}" srcOrd="0" destOrd="0" presId="urn:microsoft.com/office/officeart/2018/2/layout/IconVerticalSolidList"/>
    <dgm:cxn modelId="{5C11C825-C092-43EF-86EB-2E12643820C9}" type="presParOf" srcId="{8829FBD7-863C-4372-9CFE-51470E7A273D}" destId="{12D7A96D-61D6-45F9-BFE5-0161D8857999}" srcOrd="1" destOrd="0" presId="urn:microsoft.com/office/officeart/2018/2/layout/IconVerticalSolidList"/>
    <dgm:cxn modelId="{6FC12006-1CF2-4D89-AAD3-332E914F9859}" type="presParOf" srcId="{8829FBD7-863C-4372-9CFE-51470E7A273D}" destId="{406449B9-D143-4220-B088-5EEB4B824C38}" srcOrd="2" destOrd="0" presId="urn:microsoft.com/office/officeart/2018/2/layout/IconVerticalSolidList"/>
    <dgm:cxn modelId="{3D959779-2D09-4FEF-9B9C-EB6F5B3E6219}" type="presParOf" srcId="{8829FBD7-863C-4372-9CFE-51470E7A273D}" destId="{F48FC7F8-54CC-4B13-B5F9-A70A802678A9}" srcOrd="3" destOrd="0" presId="urn:microsoft.com/office/officeart/2018/2/layout/IconVerticalSolidList"/>
    <dgm:cxn modelId="{99841989-E140-4D8A-A9E1-1C5DB187B557}" type="presParOf" srcId="{AFF37E7E-8235-42DC-8BFF-B578CBD9FE62}" destId="{7B2EFFE3-416D-4A10-959E-5E4F3EE159E3}" srcOrd="1" destOrd="0" presId="urn:microsoft.com/office/officeart/2018/2/layout/IconVerticalSolidList"/>
    <dgm:cxn modelId="{E7155F87-6991-4114-B269-6D6D70213A94}" type="presParOf" srcId="{AFF37E7E-8235-42DC-8BFF-B578CBD9FE62}" destId="{EA0F51A8-D7E3-45F8-AE79-636741EF1B91}" srcOrd="2" destOrd="0" presId="urn:microsoft.com/office/officeart/2018/2/layout/IconVerticalSolidList"/>
    <dgm:cxn modelId="{FF7A27E8-EBC7-4B2A-BC38-8B0FF0EA5DC7}" type="presParOf" srcId="{EA0F51A8-D7E3-45F8-AE79-636741EF1B91}" destId="{48047C23-7DBD-4D04-8FB9-93250E003F6D}" srcOrd="0" destOrd="0" presId="urn:microsoft.com/office/officeart/2018/2/layout/IconVerticalSolidList"/>
    <dgm:cxn modelId="{96CB6257-0902-46F0-A9F9-389E52163167}" type="presParOf" srcId="{EA0F51A8-D7E3-45F8-AE79-636741EF1B91}" destId="{22B2398A-8CEF-4864-9538-56268D86CE8E}" srcOrd="1" destOrd="0" presId="urn:microsoft.com/office/officeart/2018/2/layout/IconVerticalSolidList"/>
    <dgm:cxn modelId="{EA255347-0BBA-4E04-8191-91B9EC081E15}" type="presParOf" srcId="{EA0F51A8-D7E3-45F8-AE79-636741EF1B91}" destId="{3410101B-3679-4372-9DDB-D95B7ABC8836}" srcOrd="2" destOrd="0" presId="urn:microsoft.com/office/officeart/2018/2/layout/IconVerticalSolidList"/>
    <dgm:cxn modelId="{5CE80445-00FB-44E3-AE6C-2D0C5474BEBC}" type="presParOf" srcId="{EA0F51A8-D7E3-45F8-AE79-636741EF1B91}" destId="{3DD1F479-E16E-4FC1-93CA-4509D513A98D}" srcOrd="3" destOrd="0" presId="urn:microsoft.com/office/officeart/2018/2/layout/IconVerticalSolidList"/>
    <dgm:cxn modelId="{7F1900F2-5114-42FA-B6E2-FC67900F5A6C}" type="presParOf" srcId="{AFF37E7E-8235-42DC-8BFF-B578CBD9FE62}" destId="{2A97E4AA-D9DA-43C7-ACE5-EEBFABEC630A}" srcOrd="3" destOrd="0" presId="urn:microsoft.com/office/officeart/2018/2/layout/IconVerticalSolidList"/>
    <dgm:cxn modelId="{B5379C91-63A8-4A40-B39C-13E24BDB512B}" type="presParOf" srcId="{AFF37E7E-8235-42DC-8BFF-B578CBD9FE62}" destId="{3BA9C895-A4A9-47B8-8340-99A5FB711BD2}" srcOrd="4" destOrd="0" presId="urn:microsoft.com/office/officeart/2018/2/layout/IconVerticalSolidList"/>
    <dgm:cxn modelId="{C7F5DC16-B782-41F9-9CB4-EA61149E112F}" type="presParOf" srcId="{3BA9C895-A4A9-47B8-8340-99A5FB711BD2}" destId="{D6E2777E-1AB7-430B-9F87-D1B5B2588599}" srcOrd="0" destOrd="0" presId="urn:microsoft.com/office/officeart/2018/2/layout/IconVerticalSolidList"/>
    <dgm:cxn modelId="{847F8D81-1F9B-423D-848F-A00E4B8C5ED1}" type="presParOf" srcId="{3BA9C895-A4A9-47B8-8340-99A5FB711BD2}" destId="{7D53A4C6-5A66-4C1B-8D8A-3495047A16E3}" srcOrd="1" destOrd="0" presId="urn:microsoft.com/office/officeart/2018/2/layout/IconVerticalSolidList"/>
    <dgm:cxn modelId="{21D49836-D19E-41A9-AC20-3C902F8F4544}" type="presParOf" srcId="{3BA9C895-A4A9-47B8-8340-99A5FB711BD2}" destId="{355E9E17-179B-464E-A8A7-8F780D984C5D}" srcOrd="2" destOrd="0" presId="urn:microsoft.com/office/officeart/2018/2/layout/IconVerticalSolidList"/>
    <dgm:cxn modelId="{80652AE0-90DB-44A7-9ACB-2E64C13BC819}" type="presParOf" srcId="{3BA9C895-A4A9-47B8-8340-99A5FB711BD2}" destId="{B0815E60-D6BF-4DDF-BCBC-B93C0EAEBF95}" srcOrd="3" destOrd="0" presId="urn:microsoft.com/office/officeart/2018/2/layout/IconVerticalSolidList"/>
    <dgm:cxn modelId="{21E8D56F-F0A2-4853-9DC5-A630F8ED14A3}" type="presParOf" srcId="{AFF37E7E-8235-42DC-8BFF-B578CBD9FE62}" destId="{16D7393E-9EB7-45DF-B263-CE0EEDC5ED1A}" srcOrd="5" destOrd="0" presId="urn:microsoft.com/office/officeart/2018/2/layout/IconVerticalSolidList"/>
    <dgm:cxn modelId="{CAE3F397-BD7C-43BC-A78C-8E38BDFFA77A}" type="presParOf" srcId="{AFF37E7E-8235-42DC-8BFF-B578CBD9FE62}" destId="{644A14E8-C9A1-4011-A58C-6D906942F3CC}" srcOrd="6" destOrd="0" presId="urn:microsoft.com/office/officeart/2018/2/layout/IconVerticalSolidList"/>
    <dgm:cxn modelId="{62192233-7AD6-42BE-803D-4037040E6CBC}" type="presParOf" srcId="{644A14E8-C9A1-4011-A58C-6D906942F3CC}" destId="{106F6170-A090-4622-A13A-E7151857494F}" srcOrd="0" destOrd="0" presId="urn:microsoft.com/office/officeart/2018/2/layout/IconVerticalSolidList"/>
    <dgm:cxn modelId="{03FC8DFA-3AEE-4F93-9520-9F38EF99A214}" type="presParOf" srcId="{644A14E8-C9A1-4011-A58C-6D906942F3CC}" destId="{38CD0421-C0D2-4DAE-8064-D3ED2A344F60}" srcOrd="1" destOrd="0" presId="urn:microsoft.com/office/officeart/2018/2/layout/IconVerticalSolidList"/>
    <dgm:cxn modelId="{4085552E-534E-4BBA-AFA6-8C9EB0F24C23}" type="presParOf" srcId="{644A14E8-C9A1-4011-A58C-6D906942F3CC}" destId="{16D9EFF4-8D35-4E1F-B0F4-7E4386379FA3}" srcOrd="2" destOrd="0" presId="urn:microsoft.com/office/officeart/2018/2/layout/IconVerticalSolidList"/>
    <dgm:cxn modelId="{9CCCCF88-0DA7-4196-BA98-374D965C9098}" type="presParOf" srcId="{644A14E8-C9A1-4011-A58C-6D906942F3CC}" destId="{2C72048D-1053-48AA-AF59-625BAA973C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EF26615-A8F6-4EC8-BCA0-6E68D15481B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E43DD3C-F443-4B5A-9451-E0D957E6F768}">
      <dgm:prSet/>
      <dgm:spPr/>
      <dgm:t>
        <a:bodyPr/>
        <a:lstStyle/>
        <a:p>
          <a:r>
            <a:rPr lang="en-US" baseline="0"/>
            <a:t>DAX (Data Analysis Expressions): Power BI uses DAX, a formula language, for creating custom calculations, aggregations, and data models. It helps users to perform complex analysis beyond standard reporting.</a:t>
          </a:r>
          <a:endParaRPr lang="en-US"/>
        </a:p>
      </dgm:t>
    </dgm:pt>
    <dgm:pt modelId="{3D8ABEF2-0BCD-4F68-A098-FE7BC5EBC576}" type="parTrans" cxnId="{3338B36C-DA49-44DF-AE61-FB3D663500E3}">
      <dgm:prSet/>
      <dgm:spPr/>
      <dgm:t>
        <a:bodyPr/>
        <a:lstStyle/>
        <a:p>
          <a:endParaRPr lang="en-US"/>
        </a:p>
      </dgm:t>
    </dgm:pt>
    <dgm:pt modelId="{CDBE6DF7-D230-44B7-8F6B-5C883DA9EFC2}" type="sibTrans" cxnId="{3338B36C-DA49-44DF-AE61-FB3D663500E3}">
      <dgm:prSet/>
      <dgm:spPr/>
      <dgm:t>
        <a:bodyPr/>
        <a:lstStyle/>
        <a:p>
          <a:endParaRPr lang="en-US"/>
        </a:p>
      </dgm:t>
    </dgm:pt>
    <dgm:pt modelId="{428D838B-DFE9-4CBA-B53E-662275383D83}">
      <dgm:prSet/>
      <dgm:spPr/>
      <dgm:t>
        <a:bodyPr/>
        <a:lstStyle/>
        <a:p>
          <a:r>
            <a:rPr lang="en-US" baseline="0"/>
            <a:t>Cloud and On-Premises Deployment: Power BI offers both cloud-based services (Power BI Service) and on-premises deployment (Power BI Report Server), allowing organizations to choose the deployment option that suits their needs.</a:t>
          </a:r>
          <a:endParaRPr lang="en-US"/>
        </a:p>
      </dgm:t>
    </dgm:pt>
    <dgm:pt modelId="{289F8E39-ED57-4FB5-A605-F753BC22E8BE}" type="parTrans" cxnId="{06C7CD8A-CF93-49AC-8FC3-F8653EA55081}">
      <dgm:prSet/>
      <dgm:spPr/>
      <dgm:t>
        <a:bodyPr/>
        <a:lstStyle/>
        <a:p>
          <a:endParaRPr lang="en-US"/>
        </a:p>
      </dgm:t>
    </dgm:pt>
    <dgm:pt modelId="{E8C79660-AFE5-453F-BEFD-F0781C5D51B6}" type="sibTrans" cxnId="{06C7CD8A-CF93-49AC-8FC3-F8653EA55081}">
      <dgm:prSet/>
      <dgm:spPr/>
      <dgm:t>
        <a:bodyPr/>
        <a:lstStyle/>
        <a:p>
          <a:endParaRPr lang="en-US"/>
        </a:p>
      </dgm:t>
    </dgm:pt>
    <dgm:pt modelId="{A0F3B333-EAC6-4579-9295-2E0069BA4501}">
      <dgm:prSet/>
      <dgm:spPr/>
      <dgm:t>
        <a:bodyPr/>
        <a:lstStyle/>
        <a:p>
          <a:r>
            <a:rPr lang="en-US" baseline="0"/>
            <a:t>Collaboration and Sharing: Reports and dashboards created in Power BI can be easily shared with others within an organization or externally, allowing teams to collaborate on data-driven insights.</a:t>
          </a:r>
          <a:endParaRPr lang="en-US"/>
        </a:p>
      </dgm:t>
    </dgm:pt>
    <dgm:pt modelId="{80DB4446-3451-4765-82AB-A929736B5405}" type="parTrans" cxnId="{48C4EC0B-E7D8-42F6-B9FE-F56180006E97}">
      <dgm:prSet/>
      <dgm:spPr/>
      <dgm:t>
        <a:bodyPr/>
        <a:lstStyle/>
        <a:p>
          <a:endParaRPr lang="en-US"/>
        </a:p>
      </dgm:t>
    </dgm:pt>
    <dgm:pt modelId="{D61BEBB5-968C-4080-9DA1-903662010EA5}" type="sibTrans" cxnId="{48C4EC0B-E7D8-42F6-B9FE-F56180006E97}">
      <dgm:prSet/>
      <dgm:spPr/>
      <dgm:t>
        <a:bodyPr/>
        <a:lstStyle/>
        <a:p>
          <a:endParaRPr lang="en-US"/>
        </a:p>
      </dgm:t>
    </dgm:pt>
    <dgm:pt modelId="{29538686-60F9-4797-8EA7-385C672E8892}">
      <dgm:prSet/>
      <dgm:spPr/>
      <dgm:t>
        <a:bodyPr/>
        <a:lstStyle/>
        <a:p>
          <a:r>
            <a:rPr lang="en-US" baseline="0"/>
            <a:t>Artificial Intelligence: Power BI includes AI features such as Q&amp;A (Natural Language Querying), anomaly detection, and automated insights that help users gain deeper insights from their data without requiring advanced technical skills.</a:t>
          </a:r>
          <a:endParaRPr lang="en-US"/>
        </a:p>
      </dgm:t>
    </dgm:pt>
    <dgm:pt modelId="{3271D2EB-BA4B-4558-8F64-F7B52CC7493F}" type="parTrans" cxnId="{E153CED3-83F7-4B76-938E-9A89F56A4BBE}">
      <dgm:prSet/>
      <dgm:spPr/>
      <dgm:t>
        <a:bodyPr/>
        <a:lstStyle/>
        <a:p>
          <a:endParaRPr lang="en-US"/>
        </a:p>
      </dgm:t>
    </dgm:pt>
    <dgm:pt modelId="{338DF403-5AB3-46D5-AD1F-B32697426384}" type="sibTrans" cxnId="{E153CED3-83F7-4B76-938E-9A89F56A4BBE}">
      <dgm:prSet/>
      <dgm:spPr/>
      <dgm:t>
        <a:bodyPr/>
        <a:lstStyle/>
        <a:p>
          <a:endParaRPr lang="en-US"/>
        </a:p>
      </dgm:t>
    </dgm:pt>
    <dgm:pt modelId="{1CFDC70A-E3EF-4D6E-89C7-9F829C364F47}" type="pres">
      <dgm:prSet presAssocID="{3EF26615-A8F6-4EC8-BCA0-6E68D15481BD}" presName="root" presStyleCnt="0">
        <dgm:presLayoutVars>
          <dgm:dir/>
          <dgm:resizeHandles val="exact"/>
        </dgm:presLayoutVars>
      </dgm:prSet>
      <dgm:spPr/>
      <dgm:t>
        <a:bodyPr/>
        <a:lstStyle/>
        <a:p>
          <a:endParaRPr lang="en-US"/>
        </a:p>
      </dgm:t>
    </dgm:pt>
    <dgm:pt modelId="{8BB568D5-E2B7-4887-84E9-C1A446E9DF8C}" type="pres">
      <dgm:prSet presAssocID="{9E43DD3C-F443-4B5A-9451-E0D957E6F768}" presName="compNode" presStyleCnt="0"/>
      <dgm:spPr/>
    </dgm:pt>
    <dgm:pt modelId="{30A55E5D-31FC-4407-BB63-0BF0F046A137}" type="pres">
      <dgm:prSet presAssocID="{9E43DD3C-F443-4B5A-9451-E0D957E6F768}" presName="bgRect" presStyleLbl="bgShp" presStyleIdx="0" presStyleCnt="4"/>
      <dgm:spPr/>
    </dgm:pt>
    <dgm:pt modelId="{C29722F4-C459-4033-9C5B-07D25303BF2F}" type="pres">
      <dgm:prSet presAssocID="{9E43DD3C-F443-4B5A-9451-E0D957E6F76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extLst>
        <a:ext uri="{E40237B7-FDA0-4F09-8148-C483321AD2D9}">
          <dgm14:cNvPr xmlns:dgm14="http://schemas.microsoft.com/office/drawing/2010/diagram" id="0" name="" descr="Playing Cards"/>
        </a:ext>
      </dgm:extLst>
    </dgm:pt>
    <dgm:pt modelId="{7E9C0D8A-9A0D-4C36-BF4D-6FBB8CE27218}" type="pres">
      <dgm:prSet presAssocID="{9E43DD3C-F443-4B5A-9451-E0D957E6F768}" presName="spaceRect" presStyleCnt="0"/>
      <dgm:spPr/>
    </dgm:pt>
    <dgm:pt modelId="{9881F69E-CB0F-4DD9-9B84-B6FEC3CB103A}" type="pres">
      <dgm:prSet presAssocID="{9E43DD3C-F443-4B5A-9451-E0D957E6F768}" presName="parTx" presStyleLbl="revTx" presStyleIdx="0" presStyleCnt="4">
        <dgm:presLayoutVars>
          <dgm:chMax val="0"/>
          <dgm:chPref val="0"/>
        </dgm:presLayoutVars>
      </dgm:prSet>
      <dgm:spPr/>
      <dgm:t>
        <a:bodyPr/>
        <a:lstStyle/>
        <a:p>
          <a:endParaRPr lang="en-US"/>
        </a:p>
      </dgm:t>
    </dgm:pt>
    <dgm:pt modelId="{2A41AC81-297C-4908-9EEA-F055F60CAC36}" type="pres">
      <dgm:prSet presAssocID="{CDBE6DF7-D230-44B7-8F6B-5C883DA9EFC2}" presName="sibTrans" presStyleCnt="0"/>
      <dgm:spPr/>
    </dgm:pt>
    <dgm:pt modelId="{7C341E85-0D6D-4822-B98F-643E4E36ED08}" type="pres">
      <dgm:prSet presAssocID="{428D838B-DFE9-4CBA-B53E-662275383D83}" presName="compNode" presStyleCnt="0"/>
      <dgm:spPr/>
    </dgm:pt>
    <dgm:pt modelId="{B01889D6-3E15-4317-A79E-CA2C9B4C554E}" type="pres">
      <dgm:prSet presAssocID="{428D838B-DFE9-4CBA-B53E-662275383D83}" presName="bgRect" presStyleLbl="bgShp" presStyleIdx="1" presStyleCnt="4"/>
      <dgm:spPr/>
    </dgm:pt>
    <dgm:pt modelId="{6C315608-3F62-4B1D-B801-C550179FA41D}" type="pres">
      <dgm:prSet presAssocID="{428D838B-DFE9-4CBA-B53E-662275383D8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extLst>
        <a:ext uri="{E40237B7-FDA0-4F09-8148-C483321AD2D9}">
          <dgm14:cNvPr xmlns:dgm14="http://schemas.microsoft.com/office/drawing/2010/diagram" id="0" name="" descr="Syncing Cloud"/>
        </a:ext>
      </dgm:extLst>
    </dgm:pt>
    <dgm:pt modelId="{19C39FF1-AD40-4B7C-B656-5D1475942055}" type="pres">
      <dgm:prSet presAssocID="{428D838B-DFE9-4CBA-B53E-662275383D83}" presName="spaceRect" presStyleCnt="0"/>
      <dgm:spPr/>
    </dgm:pt>
    <dgm:pt modelId="{7CE29DBF-0828-4A82-BD53-1CECF15DCBD6}" type="pres">
      <dgm:prSet presAssocID="{428D838B-DFE9-4CBA-B53E-662275383D83}" presName="parTx" presStyleLbl="revTx" presStyleIdx="1" presStyleCnt="4">
        <dgm:presLayoutVars>
          <dgm:chMax val="0"/>
          <dgm:chPref val="0"/>
        </dgm:presLayoutVars>
      </dgm:prSet>
      <dgm:spPr/>
      <dgm:t>
        <a:bodyPr/>
        <a:lstStyle/>
        <a:p>
          <a:endParaRPr lang="en-US"/>
        </a:p>
      </dgm:t>
    </dgm:pt>
    <dgm:pt modelId="{DFBF697E-6BEE-4F4F-A92F-F04BA4D425EC}" type="pres">
      <dgm:prSet presAssocID="{E8C79660-AFE5-453F-BEFD-F0781C5D51B6}" presName="sibTrans" presStyleCnt="0"/>
      <dgm:spPr/>
    </dgm:pt>
    <dgm:pt modelId="{6F83F73C-11E5-464A-8250-ED8B707C9B8E}" type="pres">
      <dgm:prSet presAssocID="{A0F3B333-EAC6-4579-9295-2E0069BA4501}" presName="compNode" presStyleCnt="0"/>
      <dgm:spPr/>
    </dgm:pt>
    <dgm:pt modelId="{C8EF066F-424A-4318-A4C9-9E91D9292CC0}" type="pres">
      <dgm:prSet presAssocID="{A0F3B333-EAC6-4579-9295-2E0069BA4501}" presName="bgRect" presStyleLbl="bgShp" presStyleIdx="2" presStyleCnt="4"/>
      <dgm:spPr/>
    </dgm:pt>
    <dgm:pt modelId="{88CC1E4D-8084-4D05-BDFE-4359F9EEA1BB}" type="pres">
      <dgm:prSet presAssocID="{A0F3B333-EAC6-4579-9295-2E0069BA450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extLst>
        <a:ext uri="{E40237B7-FDA0-4F09-8148-C483321AD2D9}">
          <dgm14:cNvPr xmlns:dgm14="http://schemas.microsoft.com/office/drawing/2010/diagram" id="0" name="" descr="Bar chart"/>
        </a:ext>
      </dgm:extLst>
    </dgm:pt>
    <dgm:pt modelId="{6B689A61-57F8-4D5B-83DC-B84BECBD6F74}" type="pres">
      <dgm:prSet presAssocID="{A0F3B333-EAC6-4579-9295-2E0069BA4501}" presName="spaceRect" presStyleCnt="0"/>
      <dgm:spPr/>
    </dgm:pt>
    <dgm:pt modelId="{05F176DA-EF9E-4641-BE21-DA19ABEF7000}" type="pres">
      <dgm:prSet presAssocID="{A0F3B333-EAC6-4579-9295-2E0069BA4501}" presName="parTx" presStyleLbl="revTx" presStyleIdx="2" presStyleCnt="4">
        <dgm:presLayoutVars>
          <dgm:chMax val="0"/>
          <dgm:chPref val="0"/>
        </dgm:presLayoutVars>
      </dgm:prSet>
      <dgm:spPr/>
      <dgm:t>
        <a:bodyPr/>
        <a:lstStyle/>
        <a:p>
          <a:endParaRPr lang="en-US"/>
        </a:p>
      </dgm:t>
    </dgm:pt>
    <dgm:pt modelId="{544E32EB-E169-4656-8F63-4F4C006484B8}" type="pres">
      <dgm:prSet presAssocID="{D61BEBB5-968C-4080-9DA1-903662010EA5}" presName="sibTrans" presStyleCnt="0"/>
      <dgm:spPr/>
    </dgm:pt>
    <dgm:pt modelId="{132D620F-A81C-49B2-89B4-4340CA3BFFE9}" type="pres">
      <dgm:prSet presAssocID="{29538686-60F9-4797-8EA7-385C672E8892}" presName="compNode" presStyleCnt="0"/>
      <dgm:spPr/>
    </dgm:pt>
    <dgm:pt modelId="{B9FAA6A2-5530-41E7-8C1B-5FBA11143133}" type="pres">
      <dgm:prSet presAssocID="{29538686-60F9-4797-8EA7-385C672E8892}" presName="bgRect" presStyleLbl="bgShp" presStyleIdx="3" presStyleCnt="4"/>
      <dgm:spPr/>
    </dgm:pt>
    <dgm:pt modelId="{BC55684E-3C22-4513-9579-680EC42DC8DD}" type="pres">
      <dgm:prSet presAssocID="{29538686-60F9-4797-8EA7-385C672E889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extLst>
        <a:ext uri="{E40237B7-FDA0-4F09-8148-C483321AD2D9}">
          <dgm14:cNvPr xmlns:dgm14="http://schemas.microsoft.com/office/drawing/2010/diagram" id="0" name="" descr="Robot"/>
        </a:ext>
      </dgm:extLst>
    </dgm:pt>
    <dgm:pt modelId="{BC0FBDC1-7AFE-49BD-A6D7-AB45553B1660}" type="pres">
      <dgm:prSet presAssocID="{29538686-60F9-4797-8EA7-385C672E8892}" presName="spaceRect" presStyleCnt="0"/>
      <dgm:spPr/>
    </dgm:pt>
    <dgm:pt modelId="{8B0734E9-849C-4E3F-88B3-72E15794235D}" type="pres">
      <dgm:prSet presAssocID="{29538686-60F9-4797-8EA7-385C672E8892}" presName="parTx" presStyleLbl="revTx" presStyleIdx="3" presStyleCnt="4">
        <dgm:presLayoutVars>
          <dgm:chMax val="0"/>
          <dgm:chPref val="0"/>
        </dgm:presLayoutVars>
      </dgm:prSet>
      <dgm:spPr/>
      <dgm:t>
        <a:bodyPr/>
        <a:lstStyle/>
        <a:p>
          <a:endParaRPr lang="en-US"/>
        </a:p>
      </dgm:t>
    </dgm:pt>
  </dgm:ptLst>
  <dgm:cxnLst>
    <dgm:cxn modelId="{E153CED3-83F7-4B76-938E-9A89F56A4BBE}" srcId="{3EF26615-A8F6-4EC8-BCA0-6E68D15481BD}" destId="{29538686-60F9-4797-8EA7-385C672E8892}" srcOrd="3" destOrd="0" parTransId="{3271D2EB-BA4B-4558-8F64-F7B52CC7493F}" sibTransId="{338DF403-5AB3-46D5-AD1F-B32697426384}"/>
    <dgm:cxn modelId="{483459D9-1943-4D12-B201-FEFDACA7E5E5}" type="presOf" srcId="{29538686-60F9-4797-8EA7-385C672E8892}" destId="{8B0734E9-849C-4E3F-88B3-72E15794235D}" srcOrd="0" destOrd="0" presId="urn:microsoft.com/office/officeart/2018/2/layout/IconVerticalSolidList"/>
    <dgm:cxn modelId="{48C4EC0B-E7D8-42F6-B9FE-F56180006E97}" srcId="{3EF26615-A8F6-4EC8-BCA0-6E68D15481BD}" destId="{A0F3B333-EAC6-4579-9295-2E0069BA4501}" srcOrd="2" destOrd="0" parTransId="{80DB4446-3451-4765-82AB-A929736B5405}" sibTransId="{D61BEBB5-968C-4080-9DA1-903662010EA5}"/>
    <dgm:cxn modelId="{06C7CD8A-CF93-49AC-8FC3-F8653EA55081}" srcId="{3EF26615-A8F6-4EC8-BCA0-6E68D15481BD}" destId="{428D838B-DFE9-4CBA-B53E-662275383D83}" srcOrd="1" destOrd="0" parTransId="{289F8E39-ED57-4FB5-A605-F753BC22E8BE}" sibTransId="{E8C79660-AFE5-453F-BEFD-F0781C5D51B6}"/>
    <dgm:cxn modelId="{82AED9BD-17AE-4C4B-9686-6E98032E583D}" type="presOf" srcId="{A0F3B333-EAC6-4579-9295-2E0069BA4501}" destId="{05F176DA-EF9E-4641-BE21-DA19ABEF7000}" srcOrd="0" destOrd="0" presId="urn:microsoft.com/office/officeart/2018/2/layout/IconVerticalSolidList"/>
    <dgm:cxn modelId="{8DDA5682-B52F-4B77-A21C-410C48FB4838}" type="presOf" srcId="{9E43DD3C-F443-4B5A-9451-E0D957E6F768}" destId="{9881F69E-CB0F-4DD9-9B84-B6FEC3CB103A}" srcOrd="0" destOrd="0" presId="urn:microsoft.com/office/officeart/2018/2/layout/IconVerticalSolidList"/>
    <dgm:cxn modelId="{3338B36C-DA49-44DF-AE61-FB3D663500E3}" srcId="{3EF26615-A8F6-4EC8-BCA0-6E68D15481BD}" destId="{9E43DD3C-F443-4B5A-9451-E0D957E6F768}" srcOrd="0" destOrd="0" parTransId="{3D8ABEF2-0BCD-4F68-A098-FE7BC5EBC576}" sibTransId="{CDBE6DF7-D230-44B7-8F6B-5C883DA9EFC2}"/>
    <dgm:cxn modelId="{D31BF68E-73C5-4372-B46A-F7E8BE468FEF}" type="presOf" srcId="{428D838B-DFE9-4CBA-B53E-662275383D83}" destId="{7CE29DBF-0828-4A82-BD53-1CECF15DCBD6}" srcOrd="0" destOrd="0" presId="urn:microsoft.com/office/officeart/2018/2/layout/IconVerticalSolidList"/>
    <dgm:cxn modelId="{846DC54D-3468-49E0-A4A5-2D25DAE971DF}" type="presOf" srcId="{3EF26615-A8F6-4EC8-BCA0-6E68D15481BD}" destId="{1CFDC70A-E3EF-4D6E-89C7-9F829C364F47}" srcOrd="0" destOrd="0" presId="urn:microsoft.com/office/officeart/2018/2/layout/IconVerticalSolidList"/>
    <dgm:cxn modelId="{34CEA617-565C-4F9C-ACA5-2B726DF1D8B6}" type="presParOf" srcId="{1CFDC70A-E3EF-4D6E-89C7-9F829C364F47}" destId="{8BB568D5-E2B7-4887-84E9-C1A446E9DF8C}" srcOrd="0" destOrd="0" presId="urn:microsoft.com/office/officeart/2018/2/layout/IconVerticalSolidList"/>
    <dgm:cxn modelId="{E7361375-CD04-4F5D-9549-64126ABEA00A}" type="presParOf" srcId="{8BB568D5-E2B7-4887-84E9-C1A446E9DF8C}" destId="{30A55E5D-31FC-4407-BB63-0BF0F046A137}" srcOrd="0" destOrd="0" presId="urn:microsoft.com/office/officeart/2018/2/layout/IconVerticalSolidList"/>
    <dgm:cxn modelId="{96BF9C89-D028-4ACD-8F8F-9E2051B72F35}" type="presParOf" srcId="{8BB568D5-E2B7-4887-84E9-C1A446E9DF8C}" destId="{C29722F4-C459-4033-9C5B-07D25303BF2F}" srcOrd="1" destOrd="0" presId="urn:microsoft.com/office/officeart/2018/2/layout/IconVerticalSolidList"/>
    <dgm:cxn modelId="{168D04A8-433C-49F7-A707-806E6620BC81}" type="presParOf" srcId="{8BB568D5-E2B7-4887-84E9-C1A446E9DF8C}" destId="{7E9C0D8A-9A0D-4C36-BF4D-6FBB8CE27218}" srcOrd="2" destOrd="0" presId="urn:microsoft.com/office/officeart/2018/2/layout/IconVerticalSolidList"/>
    <dgm:cxn modelId="{6C92FBEB-7154-4399-AF0A-BE16D940EBF1}" type="presParOf" srcId="{8BB568D5-E2B7-4887-84E9-C1A446E9DF8C}" destId="{9881F69E-CB0F-4DD9-9B84-B6FEC3CB103A}" srcOrd="3" destOrd="0" presId="urn:microsoft.com/office/officeart/2018/2/layout/IconVerticalSolidList"/>
    <dgm:cxn modelId="{78ACA26D-DF0C-49CE-A379-8E4788790949}" type="presParOf" srcId="{1CFDC70A-E3EF-4D6E-89C7-9F829C364F47}" destId="{2A41AC81-297C-4908-9EEA-F055F60CAC36}" srcOrd="1" destOrd="0" presId="urn:microsoft.com/office/officeart/2018/2/layout/IconVerticalSolidList"/>
    <dgm:cxn modelId="{1547B3A1-5CA6-4962-A282-564FD43E47D0}" type="presParOf" srcId="{1CFDC70A-E3EF-4D6E-89C7-9F829C364F47}" destId="{7C341E85-0D6D-4822-B98F-643E4E36ED08}" srcOrd="2" destOrd="0" presId="urn:microsoft.com/office/officeart/2018/2/layout/IconVerticalSolidList"/>
    <dgm:cxn modelId="{BF0B5A9F-FE3D-4DBE-BFE8-3AFCACC109C9}" type="presParOf" srcId="{7C341E85-0D6D-4822-B98F-643E4E36ED08}" destId="{B01889D6-3E15-4317-A79E-CA2C9B4C554E}" srcOrd="0" destOrd="0" presId="urn:microsoft.com/office/officeart/2018/2/layout/IconVerticalSolidList"/>
    <dgm:cxn modelId="{E67A92EE-9699-4884-BCED-FF0BBD820CDB}" type="presParOf" srcId="{7C341E85-0D6D-4822-B98F-643E4E36ED08}" destId="{6C315608-3F62-4B1D-B801-C550179FA41D}" srcOrd="1" destOrd="0" presId="urn:microsoft.com/office/officeart/2018/2/layout/IconVerticalSolidList"/>
    <dgm:cxn modelId="{34606914-9FB8-4D1D-A165-5F13E9F5DBBF}" type="presParOf" srcId="{7C341E85-0D6D-4822-B98F-643E4E36ED08}" destId="{19C39FF1-AD40-4B7C-B656-5D1475942055}" srcOrd="2" destOrd="0" presId="urn:microsoft.com/office/officeart/2018/2/layout/IconVerticalSolidList"/>
    <dgm:cxn modelId="{BF2E3909-896D-4413-96C7-B3CC3BEFD26F}" type="presParOf" srcId="{7C341E85-0D6D-4822-B98F-643E4E36ED08}" destId="{7CE29DBF-0828-4A82-BD53-1CECF15DCBD6}" srcOrd="3" destOrd="0" presId="urn:microsoft.com/office/officeart/2018/2/layout/IconVerticalSolidList"/>
    <dgm:cxn modelId="{BC229B9C-C916-4D39-95CD-E98A0F905D6C}" type="presParOf" srcId="{1CFDC70A-E3EF-4D6E-89C7-9F829C364F47}" destId="{DFBF697E-6BEE-4F4F-A92F-F04BA4D425EC}" srcOrd="3" destOrd="0" presId="urn:microsoft.com/office/officeart/2018/2/layout/IconVerticalSolidList"/>
    <dgm:cxn modelId="{004CEAAF-E08D-4CAD-B1D5-1EA4E9B3E045}" type="presParOf" srcId="{1CFDC70A-E3EF-4D6E-89C7-9F829C364F47}" destId="{6F83F73C-11E5-464A-8250-ED8B707C9B8E}" srcOrd="4" destOrd="0" presId="urn:microsoft.com/office/officeart/2018/2/layout/IconVerticalSolidList"/>
    <dgm:cxn modelId="{336376E3-2234-4317-ABEF-D92B16B7613E}" type="presParOf" srcId="{6F83F73C-11E5-464A-8250-ED8B707C9B8E}" destId="{C8EF066F-424A-4318-A4C9-9E91D9292CC0}" srcOrd="0" destOrd="0" presId="urn:microsoft.com/office/officeart/2018/2/layout/IconVerticalSolidList"/>
    <dgm:cxn modelId="{D1C5742A-8FCB-4622-BD30-F99F59B452DD}" type="presParOf" srcId="{6F83F73C-11E5-464A-8250-ED8B707C9B8E}" destId="{88CC1E4D-8084-4D05-BDFE-4359F9EEA1BB}" srcOrd="1" destOrd="0" presId="urn:microsoft.com/office/officeart/2018/2/layout/IconVerticalSolidList"/>
    <dgm:cxn modelId="{5FCE86D7-06E3-4829-9789-11646120533E}" type="presParOf" srcId="{6F83F73C-11E5-464A-8250-ED8B707C9B8E}" destId="{6B689A61-57F8-4D5B-83DC-B84BECBD6F74}" srcOrd="2" destOrd="0" presId="urn:microsoft.com/office/officeart/2018/2/layout/IconVerticalSolidList"/>
    <dgm:cxn modelId="{85A4AB47-C8D6-42AA-A235-BECBBF94DF95}" type="presParOf" srcId="{6F83F73C-11E5-464A-8250-ED8B707C9B8E}" destId="{05F176DA-EF9E-4641-BE21-DA19ABEF7000}" srcOrd="3" destOrd="0" presId="urn:microsoft.com/office/officeart/2018/2/layout/IconVerticalSolidList"/>
    <dgm:cxn modelId="{5424CFBF-192C-463E-A47C-78C9B067DAE7}" type="presParOf" srcId="{1CFDC70A-E3EF-4D6E-89C7-9F829C364F47}" destId="{544E32EB-E169-4656-8F63-4F4C006484B8}" srcOrd="5" destOrd="0" presId="urn:microsoft.com/office/officeart/2018/2/layout/IconVerticalSolidList"/>
    <dgm:cxn modelId="{B487FBA8-6C6D-4BED-BD72-325683DCFFBC}" type="presParOf" srcId="{1CFDC70A-E3EF-4D6E-89C7-9F829C364F47}" destId="{132D620F-A81C-49B2-89B4-4340CA3BFFE9}" srcOrd="6" destOrd="0" presId="urn:microsoft.com/office/officeart/2018/2/layout/IconVerticalSolidList"/>
    <dgm:cxn modelId="{D41CA89D-7C22-43C5-9E89-D36AF9C69CCC}" type="presParOf" srcId="{132D620F-A81C-49B2-89B4-4340CA3BFFE9}" destId="{B9FAA6A2-5530-41E7-8C1B-5FBA11143133}" srcOrd="0" destOrd="0" presId="urn:microsoft.com/office/officeart/2018/2/layout/IconVerticalSolidList"/>
    <dgm:cxn modelId="{5C3C9D4B-A768-47C5-9834-2825BD70613B}" type="presParOf" srcId="{132D620F-A81C-49B2-89B4-4340CA3BFFE9}" destId="{BC55684E-3C22-4513-9579-680EC42DC8DD}" srcOrd="1" destOrd="0" presId="urn:microsoft.com/office/officeart/2018/2/layout/IconVerticalSolidList"/>
    <dgm:cxn modelId="{EC343359-E3AF-4AB0-BF08-982DED57AA90}" type="presParOf" srcId="{132D620F-A81C-49B2-89B4-4340CA3BFFE9}" destId="{BC0FBDC1-7AFE-49BD-A6D7-AB45553B1660}" srcOrd="2" destOrd="0" presId="urn:microsoft.com/office/officeart/2018/2/layout/IconVerticalSolidList"/>
    <dgm:cxn modelId="{B0250ED9-407C-4D51-BAA5-3BE3579D76DB}" type="presParOf" srcId="{132D620F-A81C-49B2-89B4-4340CA3BFFE9}" destId="{8B0734E9-849C-4E3F-88B3-72E15794235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9F963-67F5-4932-9AB5-2900C531DDDD}">
      <dsp:nvSpPr>
        <dsp:cNvPr id="0" name=""/>
        <dsp:cNvSpPr/>
      </dsp:nvSpPr>
      <dsp:spPr>
        <a:xfrm>
          <a:off x="654189" y="402857"/>
          <a:ext cx="1852875" cy="185287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1E7328-1FF7-4E7B-8AB6-7FAF5A381412}">
      <dsp:nvSpPr>
        <dsp:cNvPr id="0" name=""/>
        <dsp:cNvSpPr/>
      </dsp:nvSpPr>
      <dsp:spPr>
        <a:xfrm>
          <a:off x="1049064" y="797732"/>
          <a:ext cx="1063125" cy="106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AF40A4-417A-401F-B27F-C292A2537BAC}">
      <dsp:nvSpPr>
        <dsp:cNvPr id="0" name=""/>
        <dsp:cNvSpPr/>
      </dsp:nvSpPr>
      <dsp:spPr>
        <a:xfrm>
          <a:off x="61876" y="2832857"/>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33400">
            <a:lnSpc>
              <a:spcPct val="100000"/>
            </a:lnSpc>
            <a:spcBef>
              <a:spcPct val="0"/>
            </a:spcBef>
            <a:spcAft>
              <a:spcPct val="35000"/>
            </a:spcAft>
            <a:defRPr cap="all"/>
          </a:pPr>
          <a:r>
            <a:rPr lang="en-US" sz="1200" kern="1200" dirty="0">
              <a:latin typeface="Bookman Old Style"/>
              <a:ea typeface="SimSun"/>
            </a:rPr>
            <a:t>How to make informed decisions?</a:t>
          </a:r>
          <a:endParaRPr lang="en-US" sz="1200" kern="1200" dirty="0">
            <a:latin typeface="Bookman Old Style"/>
          </a:endParaRPr>
        </a:p>
      </dsp:txBody>
      <dsp:txXfrm>
        <a:off x="61876" y="2832857"/>
        <a:ext cx="3037500" cy="720000"/>
      </dsp:txXfrm>
    </dsp:sp>
    <dsp:sp modelId="{A0DCE3B3-6F97-40FC-883A-671EA680F435}">
      <dsp:nvSpPr>
        <dsp:cNvPr id="0" name=""/>
        <dsp:cNvSpPr/>
      </dsp:nvSpPr>
      <dsp:spPr>
        <a:xfrm>
          <a:off x="4223251" y="402857"/>
          <a:ext cx="1852875" cy="185287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A6D9CF-36A6-4D27-BD62-3D53F7A9F049}">
      <dsp:nvSpPr>
        <dsp:cNvPr id="0" name=""/>
        <dsp:cNvSpPr/>
      </dsp:nvSpPr>
      <dsp:spPr>
        <a:xfrm>
          <a:off x="4618126" y="797732"/>
          <a:ext cx="1063125" cy="106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4DE637-1634-480E-A60C-E4C1F1F16898}">
      <dsp:nvSpPr>
        <dsp:cNvPr id="0" name=""/>
        <dsp:cNvSpPr/>
      </dsp:nvSpPr>
      <dsp:spPr>
        <a:xfrm>
          <a:off x="3630939" y="2832857"/>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33400">
            <a:lnSpc>
              <a:spcPct val="100000"/>
            </a:lnSpc>
            <a:spcBef>
              <a:spcPct val="0"/>
            </a:spcBef>
            <a:spcAft>
              <a:spcPct val="35000"/>
            </a:spcAft>
            <a:defRPr cap="all"/>
          </a:pPr>
          <a:r>
            <a:rPr lang="en-US" sz="1200" kern="1200" dirty="0">
              <a:latin typeface="Bookman Old Style"/>
              <a:ea typeface="SimSun"/>
            </a:rPr>
            <a:t>Raw Data is the New Oil </a:t>
          </a:r>
          <a:endParaRPr lang="en-US" sz="1200" kern="1200" dirty="0">
            <a:latin typeface="Bookman Old Style"/>
          </a:endParaRPr>
        </a:p>
      </dsp:txBody>
      <dsp:txXfrm>
        <a:off x="3630939" y="2832857"/>
        <a:ext cx="3037500" cy="720000"/>
      </dsp:txXfrm>
    </dsp:sp>
    <dsp:sp modelId="{31A0DFF0-2055-4897-9CA7-C99A2DDC6787}">
      <dsp:nvSpPr>
        <dsp:cNvPr id="0" name=""/>
        <dsp:cNvSpPr/>
      </dsp:nvSpPr>
      <dsp:spPr>
        <a:xfrm>
          <a:off x="7792314" y="402857"/>
          <a:ext cx="1852875" cy="185287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87CB75-8DB4-4693-AFE1-F30A0B93AC6F}">
      <dsp:nvSpPr>
        <dsp:cNvPr id="0" name=""/>
        <dsp:cNvSpPr/>
      </dsp:nvSpPr>
      <dsp:spPr>
        <a:xfrm>
          <a:off x="8187189" y="797732"/>
          <a:ext cx="1063125" cy="106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2F20C4-46DF-4CF5-9F5A-1213DF1E31A2}">
      <dsp:nvSpPr>
        <dsp:cNvPr id="0" name=""/>
        <dsp:cNvSpPr/>
      </dsp:nvSpPr>
      <dsp:spPr>
        <a:xfrm>
          <a:off x="7200001" y="2832857"/>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33400">
            <a:lnSpc>
              <a:spcPct val="100000"/>
            </a:lnSpc>
            <a:spcBef>
              <a:spcPct val="0"/>
            </a:spcBef>
            <a:spcAft>
              <a:spcPct val="35000"/>
            </a:spcAft>
            <a:defRPr cap="all"/>
          </a:pPr>
          <a:r>
            <a:rPr lang="en-US" sz="1200" kern="1200" dirty="0">
              <a:latin typeface="Bookman Old Style"/>
            </a:rPr>
            <a:t>Example</a:t>
          </a:r>
          <a:r>
            <a:rPr lang="en-US" sz="1200" kern="1200" dirty="0">
              <a:latin typeface="Bookman Old Style"/>
              <a:ea typeface="SimSun"/>
            </a:rPr>
            <a:t> – Can you mention one place you used Data Driven Decision Making in everyday life?</a:t>
          </a:r>
          <a:endParaRPr lang="en-US" sz="1200" kern="1200" dirty="0">
            <a:latin typeface="Bookman Old Style"/>
          </a:endParaRPr>
        </a:p>
      </dsp:txBody>
      <dsp:txXfrm>
        <a:off x="7200001" y="2832857"/>
        <a:ext cx="3037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C7C70-8032-428C-B5D1-33851CF164D5}">
      <dsp:nvSpPr>
        <dsp:cNvPr id="0" name=""/>
        <dsp:cNvSpPr/>
      </dsp:nvSpPr>
      <dsp:spPr>
        <a:xfrm>
          <a:off x="1226278" y="982152"/>
          <a:ext cx="1102174" cy="110217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81C116-A32F-4BAA-88DD-66F7E17C1227}">
      <dsp:nvSpPr>
        <dsp:cNvPr id="0" name=""/>
        <dsp:cNvSpPr/>
      </dsp:nvSpPr>
      <dsp:spPr>
        <a:xfrm>
          <a:off x="552727" y="2485351"/>
          <a:ext cx="2449277"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488950">
            <a:lnSpc>
              <a:spcPct val="100000"/>
            </a:lnSpc>
            <a:spcBef>
              <a:spcPct val="0"/>
            </a:spcBef>
            <a:spcAft>
              <a:spcPct val="35000"/>
            </a:spcAft>
          </a:pPr>
          <a:r>
            <a:rPr lang="en-US" sz="1100" kern="1200" dirty="0">
              <a:latin typeface="Bookman Old Style"/>
            </a:rPr>
            <a:t>Data is also crucial in a professional sense. </a:t>
          </a:r>
        </a:p>
      </dsp:txBody>
      <dsp:txXfrm>
        <a:off x="552727" y="2485351"/>
        <a:ext cx="2449277" cy="1170000"/>
      </dsp:txXfrm>
    </dsp:sp>
    <dsp:sp modelId="{5545D409-2EE8-4CA4-8140-0456DEC8FEFF}">
      <dsp:nvSpPr>
        <dsp:cNvPr id="0" name=""/>
        <dsp:cNvSpPr/>
      </dsp:nvSpPr>
      <dsp:spPr>
        <a:xfrm>
          <a:off x="4104179" y="982152"/>
          <a:ext cx="1102174" cy="110217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81E6AA-D16F-4AEF-9F97-6666FAF24596}">
      <dsp:nvSpPr>
        <dsp:cNvPr id="0" name=""/>
        <dsp:cNvSpPr/>
      </dsp:nvSpPr>
      <dsp:spPr>
        <a:xfrm>
          <a:off x="3430628" y="2485351"/>
          <a:ext cx="2449277"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488950">
            <a:lnSpc>
              <a:spcPct val="100000"/>
            </a:lnSpc>
            <a:spcBef>
              <a:spcPct val="0"/>
            </a:spcBef>
            <a:spcAft>
              <a:spcPct val="35000"/>
            </a:spcAft>
          </a:pPr>
          <a:r>
            <a:rPr lang="en-US" sz="1100" kern="1200" dirty="0">
              <a:latin typeface="Bookman Old Style"/>
            </a:rPr>
            <a:t>Organizations that use data to drive business strategies often find that they are more confident, proactive, and financially savvy. </a:t>
          </a:r>
        </a:p>
      </dsp:txBody>
      <dsp:txXfrm>
        <a:off x="3430628" y="2485351"/>
        <a:ext cx="2449277" cy="1170000"/>
      </dsp:txXfrm>
    </dsp:sp>
    <dsp:sp modelId="{2CD96847-C7AC-4B0F-BA0A-A35D62135AD5}">
      <dsp:nvSpPr>
        <dsp:cNvPr id="0" name=""/>
        <dsp:cNvSpPr/>
      </dsp:nvSpPr>
      <dsp:spPr>
        <a:xfrm>
          <a:off x="6982079" y="982152"/>
          <a:ext cx="1102174" cy="110217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EB8452-0270-484D-ACD2-E56A41DF8BEF}">
      <dsp:nvSpPr>
        <dsp:cNvPr id="0" name=""/>
        <dsp:cNvSpPr/>
      </dsp:nvSpPr>
      <dsp:spPr>
        <a:xfrm>
          <a:off x="6308528" y="2485351"/>
          <a:ext cx="2449277"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488950">
            <a:lnSpc>
              <a:spcPct val="100000"/>
            </a:lnSpc>
            <a:spcBef>
              <a:spcPct val="0"/>
            </a:spcBef>
            <a:spcAft>
              <a:spcPct val="35000"/>
            </a:spcAft>
          </a:pPr>
          <a:r>
            <a:rPr lang="en-US" sz="1100" kern="1200" dirty="0">
              <a:latin typeface="Bookman Old Style"/>
            </a:rPr>
            <a:t>As a result, data analytics is important across many industries. </a:t>
          </a:r>
        </a:p>
      </dsp:txBody>
      <dsp:txXfrm>
        <a:off x="6308528" y="2485351"/>
        <a:ext cx="2449277" cy="1170000"/>
      </dsp:txXfrm>
    </dsp:sp>
    <dsp:sp modelId="{9F181C4D-4AF0-44EC-BA23-5233C1348168}">
      <dsp:nvSpPr>
        <dsp:cNvPr id="0" name=""/>
        <dsp:cNvSpPr/>
      </dsp:nvSpPr>
      <dsp:spPr>
        <a:xfrm>
          <a:off x="9859980" y="982152"/>
          <a:ext cx="1102174" cy="110217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34925" cap="flat" cmpd="sng" algn="in">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F08D55-4AD7-43AA-8DC7-CF73D34927F1}">
      <dsp:nvSpPr>
        <dsp:cNvPr id="0" name=""/>
        <dsp:cNvSpPr/>
      </dsp:nvSpPr>
      <dsp:spPr>
        <a:xfrm>
          <a:off x="9186429" y="2485351"/>
          <a:ext cx="2449277"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488950">
            <a:lnSpc>
              <a:spcPct val="100000"/>
            </a:lnSpc>
            <a:spcBef>
              <a:spcPct val="0"/>
            </a:spcBef>
            <a:spcAft>
              <a:spcPct val="35000"/>
            </a:spcAft>
          </a:pPr>
          <a:r>
            <a:rPr lang="en-US" sz="1100" kern="1200" dirty="0">
              <a:latin typeface="Bookman Old Style"/>
            </a:rPr>
            <a:t>A sneaker manufacturer might look at sales data to determine which designs to continue and which to retire, or a health care administrator may look at inventory data to determine the medical supplies they should order.</a:t>
          </a:r>
        </a:p>
      </dsp:txBody>
      <dsp:txXfrm>
        <a:off x="9186429" y="2485351"/>
        <a:ext cx="2449277" cy="117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5D2AE8-2978-4DF9-9FAB-E87B98A2E6C1}">
      <dsp:nvSpPr>
        <dsp:cNvPr id="0" name=""/>
        <dsp:cNvSpPr/>
      </dsp:nvSpPr>
      <dsp:spPr>
        <a:xfrm>
          <a:off x="0" y="553"/>
          <a:ext cx="10372905" cy="12960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417105-E66E-46DC-A036-6B40D9B472D5}">
      <dsp:nvSpPr>
        <dsp:cNvPr id="0" name=""/>
        <dsp:cNvSpPr/>
      </dsp:nvSpPr>
      <dsp:spPr>
        <a:xfrm>
          <a:off x="392051" y="292162"/>
          <a:ext cx="712821" cy="7128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12AFF22C-D443-484A-9B04-FB2DA3AA2862}">
      <dsp:nvSpPr>
        <dsp:cNvPr id="0" name=""/>
        <dsp:cNvSpPr/>
      </dsp:nvSpPr>
      <dsp:spPr>
        <a:xfrm>
          <a:off x="1496924" y="553"/>
          <a:ext cx="8875980" cy="12960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4" tIns="137164" rIns="137164" bIns="13716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Data analytics involves analyzing raw data to find trends, patterns, and insights for informed decision-making.</a:t>
          </a:r>
        </a:p>
      </dsp:txBody>
      <dsp:txXfrm>
        <a:off x="1496924" y="553"/>
        <a:ext cx="8875980" cy="1296038"/>
      </dsp:txXfrm>
    </dsp:sp>
    <dsp:sp modelId="{4580D2B1-69A9-481C-9DE9-A5D40E53F839}">
      <dsp:nvSpPr>
        <dsp:cNvPr id="0" name=""/>
        <dsp:cNvSpPr/>
      </dsp:nvSpPr>
      <dsp:spPr>
        <a:xfrm>
          <a:off x="0" y="1620601"/>
          <a:ext cx="10372905" cy="12960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D2ECBF-87EA-4E62-8274-010B61E3EFD4}">
      <dsp:nvSpPr>
        <dsp:cNvPr id="0" name=""/>
        <dsp:cNvSpPr/>
      </dsp:nvSpPr>
      <dsp:spPr>
        <a:xfrm>
          <a:off x="392051" y="1912210"/>
          <a:ext cx="712821" cy="7128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A72FFC78-4B6B-4A80-B27D-F32DD0494B88}">
      <dsp:nvSpPr>
        <dsp:cNvPr id="0" name=""/>
        <dsp:cNvSpPr/>
      </dsp:nvSpPr>
      <dsp:spPr>
        <a:xfrm>
          <a:off x="1496924" y="1620601"/>
          <a:ext cx="8875980" cy="12960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4" tIns="137164" rIns="137164" bIns="13716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A data analyst will extract raw data, organize it, and then analyze it, transforming it from incomprehensible numbers into coherent, intelligible information.</a:t>
          </a:r>
        </a:p>
      </dsp:txBody>
      <dsp:txXfrm>
        <a:off x="1496924" y="1620601"/>
        <a:ext cx="8875980" cy="1296038"/>
      </dsp:txXfrm>
    </dsp:sp>
    <dsp:sp modelId="{7EC4EDC9-F5F7-4E56-8C1F-513E85F2083C}">
      <dsp:nvSpPr>
        <dsp:cNvPr id="0" name=""/>
        <dsp:cNvSpPr/>
      </dsp:nvSpPr>
      <dsp:spPr>
        <a:xfrm>
          <a:off x="0" y="3240649"/>
          <a:ext cx="10372905" cy="129603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3607AF-7204-4764-8F54-0479672AB5B7}">
      <dsp:nvSpPr>
        <dsp:cNvPr id="0" name=""/>
        <dsp:cNvSpPr/>
      </dsp:nvSpPr>
      <dsp:spPr>
        <a:xfrm>
          <a:off x="392051" y="3532258"/>
          <a:ext cx="712821" cy="7128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6087B8E1-699A-4878-B2DA-FE6D3CE33203}">
      <dsp:nvSpPr>
        <dsp:cNvPr id="0" name=""/>
        <dsp:cNvSpPr/>
      </dsp:nvSpPr>
      <dsp:spPr>
        <a:xfrm>
          <a:off x="1496924" y="3240649"/>
          <a:ext cx="8875980" cy="12960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4" tIns="137164" rIns="137164" bIns="13716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Example: Online retail stores analyzing customer buying patterns to boost sales.</a:t>
          </a:r>
        </a:p>
      </dsp:txBody>
      <dsp:txXfrm>
        <a:off x="1496924" y="3240649"/>
        <a:ext cx="8875980" cy="12960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33A1A2-3F49-445B-9A4E-67328E941B7A}">
      <dsp:nvSpPr>
        <dsp:cNvPr id="0" name=""/>
        <dsp:cNvSpPr/>
      </dsp:nvSpPr>
      <dsp:spPr>
        <a:xfrm>
          <a:off x="0" y="1733"/>
          <a:ext cx="10401196" cy="8784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209ED7-75DC-4193-A30A-7BC5868E957A}">
      <dsp:nvSpPr>
        <dsp:cNvPr id="0" name=""/>
        <dsp:cNvSpPr/>
      </dsp:nvSpPr>
      <dsp:spPr>
        <a:xfrm>
          <a:off x="265743" y="199393"/>
          <a:ext cx="483169" cy="4831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44DA1B4E-3DEF-4F27-A3EE-AD90F7AAAF75}">
      <dsp:nvSpPr>
        <dsp:cNvPr id="0" name=""/>
        <dsp:cNvSpPr/>
      </dsp:nvSpPr>
      <dsp:spPr>
        <a:xfrm>
          <a:off x="1014655" y="1733"/>
          <a:ext cx="9386540" cy="878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74" tIns="92974" rIns="92974" bIns="9297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Data Collection: Gathering raw data from different sources (databases, web, social media, etc.)</a:t>
          </a:r>
        </a:p>
      </dsp:txBody>
      <dsp:txXfrm>
        <a:off x="1014655" y="1733"/>
        <a:ext cx="9386540" cy="878489"/>
      </dsp:txXfrm>
    </dsp:sp>
    <dsp:sp modelId="{CF0221C2-832C-48BF-AAF5-2D3B305F6FEF}">
      <dsp:nvSpPr>
        <dsp:cNvPr id="0" name=""/>
        <dsp:cNvSpPr/>
      </dsp:nvSpPr>
      <dsp:spPr>
        <a:xfrm>
          <a:off x="0" y="1099845"/>
          <a:ext cx="10401196" cy="8784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8B750E-47B6-4078-8FCF-CF4FB4AB8B54}">
      <dsp:nvSpPr>
        <dsp:cNvPr id="0" name=""/>
        <dsp:cNvSpPr/>
      </dsp:nvSpPr>
      <dsp:spPr>
        <a:xfrm>
          <a:off x="265743" y="1297506"/>
          <a:ext cx="483169" cy="4831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499BD0C-9605-4931-9D5F-2C30B37ACC40}">
      <dsp:nvSpPr>
        <dsp:cNvPr id="0" name=""/>
        <dsp:cNvSpPr/>
      </dsp:nvSpPr>
      <dsp:spPr>
        <a:xfrm>
          <a:off x="1014655" y="1099845"/>
          <a:ext cx="9386540" cy="878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74" tIns="92974" rIns="92974" bIns="9297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Data Cleaning: Removing errors or inconsistencies.</a:t>
          </a:r>
        </a:p>
      </dsp:txBody>
      <dsp:txXfrm>
        <a:off x="1014655" y="1099845"/>
        <a:ext cx="9386540" cy="878489"/>
      </dsp:txXfrm>
    </dsp:sp>
    <dsp:sp modelId="{F44F3046-2078-4506-BC94-0C1D59A64E4C}">
      <dsp:nvSpPr>
        <dsp:cNvPr id="0" name=""/>
        <dsp:cNvSpPr/>
      </dsp:nvSpPr>
      <dsp:spPr>
        <a:xfrm>
          <a:off x="0" y="2197958"/>
          <a:ext cx="10401196" cy="8784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91648F-C518-49F2-8FAA-756B66A4D99D}">
      <dsp:nvSpPr>
        <dsp:cNvPr id="0" name=""/>
        <dsp:cNvSpPr/>
      </dsp:nvSpPr>
      <dsp:spPr>
        <a:xfrm>
          <a:off x="265743" y="2395618"/>
          <a:ext cx="483169" cy="4831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A88683A1-5682-4040-B0EA-BFA8353B9160}">
      <dsp:nvSpPr>
        <dsp:cNvPr id="0" name=""/>
        <dsp:cNvSpPr/>
      </dsp:nvSpPr>
      <dsp:spPr>
        <a:xfrm>
          <a:off x="1014655" y="2197958"/>
          <a:ext cx="9386540" cy="878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74" tIns="92974" rIns="92974" bIns="9297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Data Analysis: Applying statistical methods, machine learning models, etc.</a:t>
          </a:r>
        </a:p>
      </dsp:txBody>
      <dsp:txXfrm>
        <a:off x="1014655" y="2197958"/>
        <a:ext cx="9386540" cy="878489"/>
      </dsp:txXfrm>
    </dsp:sp>
    <dsp:sp modelId="{F29913BC-679D-45F9-9841-5B9D695F12B4}">
      <dsp:nvSpPr>
        <dsp:cNvPr id="0" name=""/>
        <dsp:cNvSpPr/>
      </dsp:nvSpPr>
      <dsp:spPr>
        <a:xfrm>
          <a:off x="0" y="3296070"/>
          <a:ext cx="10401196" cy="87848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4160A4-7246-4BAA-970A-19C7FFC5BB5A}">
      <dsp:nvSpPr>
        <dsp:cNvPr id="0" name=""/>
        <dsp:cNvSpPr/>
      </dsp:nvSpPr>
      <dsp:spPr>
        <a:xfrm>
          <a:off x="265743" y="3493730"/>
          <a:ext cx="483169" cy="4831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656929F4-3DD4-4523-80CE-01A35A7BA5F9}">
      <dsp:nvSpPr>
        <dsp:cNvPr id="0" name=""/>
        <dsp:cNvSpPr/>
      </dsp:nvSpPr>
      <dsp:spPr>
        <a:xfrm>
          <a:off x="1014655" y="3296070"/>
          <a:ext cx="9386540" cy="878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74" tIns="92974" rIns="92974" bIns="92974" numCol="1" spcCol="1270" anchor="ctr" anchorCtr="0">
          <a:noAutofit/>
        </a:bodyPr>
        <a:lstStyle/>
        <a:p>
          <a:pPr lvl="0" algn="l" defTabSz="977900">
            <a:lnSpc>
              <a:spcPct val="100000"/>
            </a:lnSpc>
            <a:spcBef>
              <a:spcPct val="0"/>
            </a:spcBef>
            <a:spcAft>
              <a:spcPct val="35000"/>
            </a:spcAft>
          </a:pPr>
          <a:r>
            <a:rPr lang="en-US" sz="2200" kern="1200" dirty="0">
              <a:latin typeface="Bookman Old Style"/>
            </a:rPr>
            <a:t>Interpretation &amp; Reporting: Visualizing and presenting findings for decision-making.</a:t>
          </a:r>
        </a:p>
      </dsp:txBody>
      <dsp:txXfrm>
        <a:off x="1014655" y="3296070"/>
        <a:ext cx="9386540" cy="8784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82B034-7DF2-4E48-8703-51A1B548E95C}">
      <dsp:nvSpPr>
        <dsp:cNvPr id="0" name=""/>
        <dsp:cNvSpPr/>
      </dsp:nvSpPr>
      <dsp:spPr>
        <a:xfrm>
          <a:off x="0" y="437"/>
          <a:ext cx="9946056" cy="102300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090202-17BC-49F9-91DD-C2D85F6F9652}">
      <dsp:nvSpPr>
        <dsp:cNvPr id="0" name=""/>
        <dsp:cNvSpPr/>
      </dsp:nvSpPr>
      <dsp:spPr>
        <a:xfrm>
          <a:off x="309459" y="230613"/>
          <a:ext cx="562654" cy="5626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9376420-E34D-42B0-9C0F-C7E64D34AD2D}">
      <dsp:nvSpPr>
        <dsp:cNvPr id="0" name=""/>
        <dsp:cNvSpPr/>
      </dsp:nvSpPr>
      <dsp:spPr>
        <a:xfrm>
          <a:off x="1181573" y="437"/>
          <a:ext cx="8764482" cy="1023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68" tIns="108268" rIns="108268" bIns="108268" numCol="1" spcCol="1270" anchor="ctr" anchorCtr="0">
          <a:noAutofit/>
        </a:bodyPr>
        <a:lstStyle/>
        <a:p>
          <a:pPr lvl="0" algn="l" defTabSz="1111250">
            <a:lnSpc>
              <a:spcPct val="100000"/>
            </a:lnSpc>
            <a:spcBef>
              <a:spcPct val="0"/>
            </a:spcBef>
            <a:spcAft>
              <a:spcPct val="35000"/>
            </a:spcAft>
          </a:pPr>
          <a:r>
            <a:rPr lang="en-US" sz="2500" kern="1200">
              <a:latin typeface="Arial"/>
              <a:ea typeface="SimSun"/>
            </a:rPr>
            <a:t>Core</a:t>
          </a:r>
          <a:r>
            <a:rPr lang="en-US" sz="2500" kern="1200"/>
            <a:t> functionality </a:t>
          </a:r>
          <a:r>
            <a:rPr lang="en-US" sz="2500" kern="1200">
              <a:latin typeface="Arial"/>
              <a:ea typeface="SimSun"/>
            </a:rPr>
            <a:t>– </a:t>
          </a:r>
          <a:r>
            <a:rPr lang="en-US" sz="2500" kern="1200"/>
            <a:t>data</a:t>
          </a:r>
          <a:r>
            <a:rPr lang="en-US" sz="2500" kern="1200">
              <a:latin typeface="Arial"/>
              <a:ea typeface="SimSun"/>
            </a:rPr>
            <a:t> storage and</a:t>
          </a:r>
          <a:r>
            <a:rPr lang="en-US" sz="2500" kern="1200"/>
            <a:t> retrieval. </a:t>
          </a:r>
        </a:p>
      </dsp:txBody>
      <dsp:txXfrm>
        <a:off x="1181573" y="437"/>
        <a:ext cx="8764482" cy="1023007"/>
      </dsp:txXfrm>
    </dsp:sp>
    <dsp:sp modelId="{F73B5116-FB8B-431B-9171-1364CEFB883C}">
      <dsp:nvSpPr>
        <dsp:cNvPr id="0" name=""/>
        <dsp:cNvSpPr/>
      </dsp:nvSpPr>
      <dsp:spPr>
        <a:xfrm>
          <a:off x="0" y="1279196"/>
          <a:ext cx="9946056" cy="102300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AF54D9-C9DA-4BE8-B969-5BA055A07F8E}">
      <dsp:nvSpPr>
        <dsp:cNvPr id="0" name=""/>
        <dsp:cNvSpPr/>
      </dsp:nvSpPr>
      <dsp:spPr>
        <a:xfrm>
          <a:off x="309459" y="1509372"/>
          <a:ext cx="562654" cy="5626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D6BE5245-DD8C-40D0-B2BF-AE8F70CE7969}">
      <dsp:nvSpPr>
        <dsp:cNvPr id="0" name=""/>
        <dsp:cNvSpPr/>
      </dsp:nvSpPr>
      <dsp:spPr>
        <a:xfrm>
          <a:off x="1181573" y="1279196"/>
          <a:ext cx="8764482" cy="1023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68" tIns="108268" rIns="108268" bIns="108268" numCol="1" spcCol="1270" anchor="ctr" anchorCtr="0">
          <a:noAutofit/>
        </a:bodyPr>
        <a:lstStyle/>
        <a:p>
          <a:pPr lvl="0" algn="l" defTabSz="1111250">
            <a:lnSpc>
              <a:spcPct val="100000"/>
            </a:lnSpc>
            <a:spcBef>
              <a:spcPct val="0"/>
            </a:spcBef>
            <a:spcAft>
              <a:spcPct val="35000"/>
            </a:spcAft>
          </a:pPr>
          <a:r>
            <a:rPr lang="en-US" sz="2500" kern="1200">
              <a:latin typeface="Arial"/>
              <a:ea typeface="SimSun"/>
            </a:rPr>
            <a:t>Craft</a:t>
          </a:r>
          <a:r>
            <a:rPr lang="en-US" sz="2500" kern="1200"/>
            <a:t> precise and tailored queries </a:t>
          </a:r>
          <a:r>
            <a:rPr lang="en-US" sz="2500" kern="1200">
              <a:latin typeface="Arial"/>
              <a:ea typeface="SimSun"/>
            </a:rPr>
            <a:t>-</a:t>
          </a:r>
          <a:r>
            <a:rPr lang="en-US" sz="2500" kern="1200"/>
            <a:t> </a:t>
          </a:r>
          <a:r>
            <a:rPr lang="en-US" sz="2500" kern="1200">
              <a:latin typeface="Arial"/>
              <a:ea typeface="SimSun"/>
            </a:rPr>
            <a:t>facilitate </a:t>
          </a:r>
          <a:r>
            <a:rPr lang="en-US" sz="2500" kern="1200"/>
            <a:t>the initial exploration and understanding of the dataset. </a:t>
          </a:r>
        </a:p>
      </dsp:txBody>
      <dsp:txXfrm>
        <a:off x="1181573" y="1279196"/>
        <a:ext cx="8764482" cy="1023007"/>
      </dsp:txXfrm>
    </dsp:sp>
    <dsp:sp modelId="{9D2C4CAC-30E5-483A-8694-29688DE9F877}">
      <dsp:nvSpPr>
        <dsp:cNvPr id="0" name=""/>
        <dsp:cNvSpPr/>
      </dsp:nvSpPr>
      <dsp:spPr>
        <a:xfrm>
          <a:off x="0" y="2557955"/>
          <a:ext cx="9946056" cy="102300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369579-B40B-4CF8-9500-B2AD8B24D7B7}">
      <dsp:nvSpPr>
        <dsp:cNvPr id="0" name=""/>
        <dsp:cNvSpPr/>
      </dsp:nvSpPr>
      <dsp:spPr>
        <a:xfrm>
          <a:off x="309459" y="2788132"/>
          <a:ext cx="562654" cy="5626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E48CDF7D-3C85-4F4C-9F41-F916374ECBE5}">
      <dsp:nvSpPr>
        <dsp:cNvPr id="0" name=""/>
        <dsp:cNvSpPr/>
      </dsp:nvSpPr>
      <dsp:spPr>
        <a:xfrm>
          <a:off x="1181573" y="2557955"/>
          <a:ext cx="8764482" cy="1023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68" tIns="108268" rIns="108268" bIns="108268" numCol="1" spcCol="1270" anchor="ctr" anchorCtr="0">
          <a:noAutofit/>
        </a:bodyPr>
        <a:lstStyle/>
        <a:p>
          <a:pPr lvl="0" algn="l" defTabSz="1111250">
            <a:lnSpc>
              <a:spcPct val="100000"/>
            </a:lnSpc>
            <a:spcBef>
              <a:spcPct val="0"/>
            </a:spcBef>
            <a:spcAft>
              <a:spcPct val="35000"/>
            </a:spcAft>
          </a:pPr>
          <a:r>
            <a:rPr lang="en-US" sz="2500" kern="1200"/>
            <a:t>It </a:t>
          </a:r>
          <a:r>
            <a:rPr lang="en-US" sz="2500" kern="1200">
              <a:latin typeface="Arial"/>
              <a:ea typeface="SimSun"/>
            </a:rPr>
            <a:t>is</a:t>
          </a:r>
          <a:r>
            <a:rPr lang="en-US" sz="2500" kern="1200"/>
            <a:t> </a:t>
          </a:r>
          <a:r>
            <a:rPr lang="en-US" sz="2500" kern="1200">
              <a:latin typeface="Arial"/>
              <a:ea typeface="SimSun"/>
            </a:rPr>
            <a:t>a suite</a:t>
          </a:r>
          <a:r>
            <a:rPr lang="en-US" sz="2500" kern="1200"/>
            <a:t> of tools to clean, preprocess, and </a:t>
          </a:r>
          <a:r>
            <a:rPr lang="en-US" sz="2500" kern="1200">
              <a:latin typeface="Arial"/>
              <a:ea typeface="SimSun"/>
            </a:rPr>
            <a:t>standardize</a:t>
          </a:r>
          <a:r>
            <a:rPr lang="en-US" sz="2500" kern="1200"/>
            <a:t> data. </a:t>
          </a:r>
        </a:p>
      </dsp:txBody>
      <dsp:txXfrm>
        <a:off x="1181573" y="2557955"/>
        <a:ext cx="8764482" cy="10230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28F886-1CE2-4DD7-BF3F-CF40C8F2E3CB}">
      <dsp:nvSpPr>
        <dsp:cNvPr id="0" name=""/>
        <dsp:cNvSpPr/>
      </dsp:nvSpPr>
      <dsp:spPr>
        <a:xfrm>
          <a:off x="644028" y="260699"/>
          <a:ext cx="1784250" cy="1784250"/>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DD86CA-518F-4EAC-BF41-146E8E3D8D74}">
      <dsp:nvSpPr>
        <dsp:cNvPr id="0" name=""/>
        <dsp:cNvSpPr/>
      </dsp:nvSpPr>
      <dsp:spPr>
        <a:xfrm>
          <a:off x="1024278" y="640949"/>
          <a:ext cx="1023750" cy="10237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825D77-E8AB-4D43-9DC2-95788CB5BC8C}">
      <dsp:nvSpPr>
        <dsp:cNvPr id="0" name=""/>
        <dsp:cNvSpPr/>
      </dsp:nvSpPr>
      <dsp:spPr>
        <a:xfrm>
          <a:off x="73653" y="2600700"/>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33400">
            <a:lnSpc>
              <a:spcPct val="100000"/>
            </a:lnSpc>
            <a:spcBef>
              <a:spcPct val="0"/>
            </a:spcBef>
            <a:spcAft>
              <a:spcPct val="35000"/>
            </a:spcAft>
            <a:defRPr cap="all"/>
          </a:pPr>
          <a:r>
            <a:rPr lang="en-US" sz="1200" kern="1200" dirty="0">
              <a:latin typeface="Bookman Old Style"/>
              <a:ea typeface="SimSun"/>
            </a:rPr>
            <a:t>Dataset - ensure quality</a:t>
          </a:r>
          <a:r>
            <a:rPr lang="en-US" sz="1200" kern="1200" dirty="0">
              <a:latin typeface="Bookman Old Style"/>
            </a:rPr>
            <a:t> for in-depth analysis.</a:t>
          </a:r>
        </a:p>
      </dsp:txBody>
      <dsp:txXfrm>
        <a:off x="73653" y="2600700"/>
        <a:ext cx="2925000" cy="720000"/>
      </dsp:txXfrm>
    </dsp:sp>
    <dsp:sp modelId="{0BFB70F8-E78F-46BC-806E-01B9D354EEF2}">
      <dsp:nvSpPr>
        <dsp:cNvPr id="0" name=""/>
        <dsp:cNvSpPr/>
      </dsp:nvSpPr>
      <dsp:spPr>
        <a:xfrm>
          <a:off x="4080903" y="260699"/>
          <a:ext cx="1784250" cy="1784250"/>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7271F9-1646-45DA-92EB-E5C7FA040F2F}">
      <dsp:nvSpPr>
        <dsp:cNvPr id="0" name=""/>
        <dsp:cNvSpPr/>
      </dsp:nvSpPr>
      <dsp:spPr>
        <a:xfrm>
          <a:off x="4461153" y="640949"/>
          <a:ext cx="1023750" cy="10237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D694B3-6E83-447B-B032-EF595737BA18}">
      <dsp:nvSpPr>
        <dsp:cNvPr id="0" name=""/>
        <dsp:cNvSpPr/>
      </dsp:nvSpPr>
      <dsp:spPr>
        <a:xfrm>
          <a:off x="3510528" y="2600700"/>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33400">
            <a:lnSpc>
              <a:spcPct val="100000"/>
            </a:lnSpc>
            <a:spcBef>
              <a:spcPct val="0"/>
            </a:spcBef>
            <a:spcAft>
              <a:spcPct val="35000"/>
            </a:spcAft>
            <a:defRPr cap="all"/>
          </a:pPr>
          <a:r>
            <a:rPr lang="en-US" sz="1200" kern="1200" dirty="0">
              <a:latin typeface="Bookman Old Style"/>
              <a:ea typeface="SimSun"/>
            </a:rPr>
            <a:t>Data</a:t>
          </a:r>
          <a:r>
            <a:rPr lang="en-US" sz="1200" kern="1200" dirty="0">
              <a:latin typeface="Bookman Old Style"/>
            </a:rPr>
            <a:t> exploration </a:t>
          </a:r>
          <a:r>
            <a:rPr lang="en-US" sz="1200" kern="1200" dirty="0">
              <a:latin typeface="Bookman Old Style"/>
              <a:ea typeface="SimSun"/>
            </a:rPr>
            <a:t>- evaluate data distributions, and gain</a:t>
          </a:r>
          <a:r>
            <a:rPr lang="en-US" sz="1200" kern="1200" dirty="0">
              <a:latin typeface="Bookman Old Style"/>
            </a:rPr>
            <a:t> insights into the dataset’s characteristics. </a:t>
          </a:r>
        </a:p>
      </dsp:txBody>
      <dsp:txXfrm>
        <a:off x="3510528" y="2600700"/>
        <a:ext cx="2925000" cy="720000"/>
      </dsp:txXfrm>
    </dsp:sp>
    <dsp:sp modelId="{41AEDD38-C866-4FD2-B25D-F2BCF7080977}">
      <dsp:nvSpPr>
        <dsp:cNvPr id="0" name=""/>
        <dsp:cNvSpPr/>
      </dsp:nvSpPr>
      <dsp:spPr>
        <a:xfrm>
          <a:off x="7517778" y="260699"/>
          <a:ext cx="1784250" cy="1784250"/>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552A43-97F2-42DF-8BEC-62C389D39D18}">
      <dsp:nvSpPr>
        <dsp:cNvPr id="0" name=""/>
        <dsp:cNvSpPr/>
      </dsp:nvSpPr>
      <dsp:spPr>
        <a:xfrm>
          <a:off x="7898028" y="640949"/>
          <a:ext cx="1023750" cy="10237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56699C-D037-416B-BAE8-73C73D8165A0}">
      <dsp:nvSpPr>
        <dsp:cNvPr id="0" name=""/>
        <dsp:cNvSpPr/>
      </dsp:nvSpPr>
      <dsp:spPr>
        <a:xfrm>
          <a:off x="6947403" y="2600700"/>
          <a:ext cx="292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533400">
            <a:lnSpc>
              <a:spcPct val="100000"/>
            </a:lnSpc>
            <a:spcBef>
              <a:spcPct val="0"/>
            </a:spcBef>
            <a:spcAft>
              <a:spcPct val="35000"/>
            </a:spcAft>
            <a:defRPr cap="all"/>
          </a:pPr>
          <a:r>
            <a:rPr lang="en-US" sz="1200" kern="1200" dirty="0">
              <a:latin typeface="Bookman Old Style"/>
              <a:ea typeface="SimSun"/>
            </a:rPr>
            <a:t>Lead to</a:t>
          </a:r>
          <a:r>
            <a:rPr lang="en-US" sz="1200" kern="1200" dirty="0">
              <a:latin typeface="Bookman Old Style"/>
            </a:rPr>
            <a:t> key </a:t>
          </a:r>
          <a:r>
            <a:rPr lang="en-US" sz="1200" kern="1200" dirty="0">
              <a:latin typeface="Bookman Old Style"/>
              <a:ea typeface="SimSun"/>
            </a:rPr>
            <a:t>metrics to monitor and</a:t>
          </a:r>
          <a:r>
            <a:rPr lang="en-US" sz="1200" kern="1200" dirty="0">
              <a:latin typeface="Bookman Old Style"/>
            </a:rPr>
            <a:t> </a:t>
          </a:r>
          <a:r>
            <a:rPr lang="en-US" sz="1200" kern="1200" dirty="0">
              <a:latin typeface="Bookman Old Style"/>
              <a:ea typeface="SimSun"/>
            </a:rPr>
            <a:t>insightful </a:t>
          </a:r>
          <a:r>
            <a:rPr lang="en-US" sz="1200" kern="1200" dirty="0">
              <a:latin typeface="Bookman Old Style"/>
            </a:rPr>
            <a:t>summaries.</a:t>
          </a:r>
        </a:p>
      </dsp:txBody>
      <dsp:txXfrm>
        <a:off x="6947403" y="2600700"/>
        <a:ext cx="292500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F70BB-63E7-4C75-A819-5A0DCD48AC08}">
      <dsp:nvSpPr>
        <dsp:cNvPr id="0" name=""/>
        <dsp:cNvSpPr/>
      </dsp:nvSpPr>
      <dsp:spPr>
        <a:xfrm>
          <a:off x="0" y="437"/>
          <a:ext cx="9601200" cy="10230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240E5E-5CCF-446A-AFE5-1FE2622DA0CD}">
      <dsp:nvSpPr>
        <dsp:cNvPr id="0" name=""/>
        <dsp:cNvSpPr/>
      </dsp:nvSpPr>
      <dsp:spPr>
        <a:xfrm>
          <a:off x="309459" y="230613"/>
          <a:ext cx="562654" cy="5626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EB9DFA-E5A0-4E50-A79A-90716383142B}">
      <dsp:nvSpPr>
        <dsp:cNvPr id="0" name=""/>
        <dsp:cNvSpPr/>
      </dsp:nvSpPr>
      <dsp:spPr>
        <a:xfrm>
          <a:off x="1181573" y="437"/>
          <a:ext cx="8419626" cy="1023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68" tIns="108268" rIns="108268" bIns="108268" numCol="1" spcCol="1270" anchor="ctr" anchorCtr="0">
          <a:noAutofit/>
        </a:bodyPr>
        <a:lstStyle/>
        <a:p>
          <a:pPr lvl="0" algn="l" defTabSz="800100">
            <a:lnSpc>
              <a:spcPct val="100000"/>
            </a:lnSpc>
            <a:spcBef>
              <a:spcPct val="0"/>
            </a:spcBef>
            <a:spcAft>
              <a:spcPct val="35000"/>
            </a:spcAft>
          </a:pPr>
          <a:r>
            <a:rPr lang="en-US" sz="1800" b="1" kern="1200" baseline="0"/>
            <a:t>Power BI</a:t>
          </a:r>
          <a:r>
            <a:rPr lang="en-US" sz="1800" kern="1200" baseline="0"/>
            <a:t> is a powerful business analytics tool developed by Microsoft that allows users to visualize and share insights from their data. </a:t>
          </a:r>
          <a:endParaRPr lang="en-US" sz="1800" kern="1200"/>
        </a:p>
      </dsp:txBody>
      <dsp:txXfrm>
        <a:off x="1181573" y="437"/>
        <a:ext cx="8419626" cy="1023007"/>
      </dsp:txXfrm>
    </dsp:sp>
    <dsp:sp modelId="{D266D6B3-BFF3-4BB3-A996-45A3D0F5AD01}">
      <dsp:nvSpPr>
        <dsp:cNvPr id="0" name=""/>
        <dsp:cNvSpPr/>
      </dsp:nvSpPr>
      <dsp:spPr>
        <a:xfrm>
          <a:off x="0" y="1279196"/>
          <a:ext cx="9601200" cy="10230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67AB9F-A0B1-4F1E-9EAA-038B4788D39F}">
      <dsp:nvSpPr>
        <dsp:cNvPr id="0" name=""/>
        <dsp:cNvSpPr/>
      </dsp:nvSpPr>
      <dsp:spPr>
        <a:xfrm>
          <a:off x="309459" y="1509372"/>
          <a:ext cx="562654" cy="5626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1D2083-13E2-42CC-962E-D3063DE2407D}">
      <dsp:nvSpPr>
        <dsp:cNvPr id="0" name=""/>
        <dsp:cNvSpPr/>
      </dsp:nvSpPr>
      <dsp:spPr>
        <a:xfrm>
          <a:off x="1181573" y="1279196"/>
          <a:ext cx="8419626" cy="1023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68" tIns="108268" rIns="108268" bIns="108268" numCol="1" spcCol="1270" anchor="ctr" anchorCtr="0">
          <a:noAutofit/>
        </a:bodyPr>
        <a:lstStyle/>
        <a:p>
          <a:pPr lvl="0" algn="l" defTabSz="800100">
            <a:lnSpc>
              <a:spcPct val="100000"/>
            </a:lnSpc>
            <a:spcBef>
              <a:spcPct val="0"/>
            </a:spcBef>
            <a:spcAft>
              <a:spcPct val="35000"/>
            </a:spcAft>
          </a:pPr>
          <a:r>
            <a:rPr lang="en-US" sz="1800" kern="1200" baseline="0"/>
            <a:t>It enables individuals and organizations to create interactive reports, dashboards, and data models to make data-driven decisions. </a:t>
          </a:r>
          <a:endParaRPr lang="en-US" sz="1800" kern="1200"/>
        </a:p>
      </dsp:txBody>
      <dsp:txXfrm>
        <a:off x="1181573" y="1279196"/>
        <a:ext cx="8419626" cy="1023007"/>
      </dsp:txXfrm>
    </dsp:sp>
    <dsp:sp modelId="{D444F57B-AACE-4DBF-8CEF-32FA8833462D}">
      <dsp:nvSpPr>
        <dsp:cNvPr id="0" name=""/>
        <dsp:cNvSpPr/>
      </dsp:nvSpPr>
      <dsp:spPr>
        <a:xfrm>
          <a:off x="0" y="2557955"/>
          <a:ext cx="9601200" cy="10230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F394AB-801D-4500-A38D-40B9288A8F8A}">
      <dsp:nvSpPr>
        <dsp:cNvPr id="0" name=""/>
        <dsp:cNvSpPr/>
      </dsp:nvSpPr>
      <dsp:spPr>
        <a:xfrm>
          <a:off x="309459" y="2788132"/>
          <a:ext cx="562654" cy="56265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C658D3-2E24-44EE-90F5-8F363200CBBD}">
      <dsp:nvSpPr>
        <dsp:cNvPr id="0" name=""/>
        <dsp:cNvSpPr/>
      </dsp:nvSpPr>
      <dsp:spPr>
        <a:xfrm>
          <a:off x="1181573" y="2557955"/>
          <a:ext cx="8419626" cy="10230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268" tIns="108268" rIns="108268" bIns="108268" numCol="1" spcCol="1270" anchor="ctr" anchorCtr="0">
          <a:noAutofit/>
        </a:bodyPr>
        <a:lstStyle/>
        <a:p>
          <a:pPr lvl="0" algn="l" defTabSz="800100">
            <a:lnSpc>
              <a:spcPct val="100000"/>
            </a:lnSpc>
            <a:spcBef>
              <a:spcPct val="0"/>
            </a:spcBef>
            <a:spcAft>
              <a:spcPct val="35000"/>
            </a:spcAft>
          </a:pPr>
          <a:r>
            <a:rPr lang="en-US" sz="1800" kern="1200" baseline="0"/>
            <a:t>Power BI is designed to handle large datasets, integrate with various data sources, and present information in an easy-to-understand and visually compelling manner.</a:t>
          </a:r>
          <a:endParaRPr lang="en-US" sz="1800" kern="1200"/>
        </a:p>
      </dsp:txBody>
      <dsp:txXfrm>
        <a:off x="1181573" y="2557955"/>
        <a:ext cx="8419626" cy="10230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37055-1B8A-415D-9B3A-B86BCF52CB5C}">
      <dsp:nvSpPr>
        <dsp:cNvPr id="0" name=""/>
        <dsp:cNvSpPr/>
      </dsp:nvSpPr>
      <dsp:spPr>
        <a:xfrm>
          <a:off x="0" y="2315"/>
          <a:ext cx="6506304" cy="117330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D7A96D-61D6-45F9-BFE5-0161D8857999}">
      <dsp:nvSpPr>
        <dsp:cNvPr id="0" name=""/>
        <dsp:cNvSpPr/>
      </dsp:nvSpPr>
      <dsp:spPr>
        <a:xfrm>
          <a:off x="354925" y="266309"/>
          <a:ext cx="645319" cy="6453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F48FC7F8-54CC-4B13-B5F9-A70A802678A9}">
      <dsp:nvSpPr>
        <dsp:cNvPr id="0" name=""/>
        <dsp:cNvSpPr/>
      </dsp:nvSpPr>
      <dsp:spPr>
        <a:xfrm>
          <a:off x="1355170" y="2315"/>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Data Visualization: Power BI offers a wide range of visualizations, including charts, graphs, maps, and tables, to represent complex data in simple, interactive formats.</a:t>
          </a:r>
          <a:endParaRPr lang="en-US" sz="1500" kern="1200"/>
        </a:p>
      </dsp:txBody>
      <dsp:txXfrm>
        <a:off x="1355170" y="2315"/>
        <a:ext cx="5151133" cy="1173307"/>
      </dsp:txXfrm>
    </dsp:sp>
    <dsp:sp modelId="{48047C23-7DBD-4D04-8FB9-93250E003F6D}">
      <dsp:nvSpPr>
        <dsp:cNvPr id="0" name=""/>
        <dsp:cNvSpPr/>
      </dsp:nvSpPr>
      <dsp:spPr>
        <a:xfrm>
          <a:off x="0" y="1468949"/>
          <a:ext cx="6506304" cy="117330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B2398A-8CEF-4864-9538-56268D86CE8E}">
      <dsp:nvSpPr>
        <dsp:cNvPr id="0" name=""/>
        <dsp:cNvSpPr/>
      </dsp:nvSpPr>
      <dsp:spPr>
        <a:xfrm>
          <a:off x="354925" y="1732943"/>
          <a:ext cx="645319" cy="6453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DD1F479-E16E-4FC1-93CA-4509D513A98D}">
      <dsp:nvSpPr>
        <dsp:cNvPr id="0" name=""/>
        <dsp:cNvSpPr/>
      </dsp:nvSpPr>
      <dsp:spPr>
        <a:xfrm>
          <a:off x="1355170" y="1468949"/>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Data Connectivity: Power BI can connect to a variety of data sources such as Excel, SQL Server, cloud services (Azure, Google Analytics, Salesforce), and many others, allowing users to work with diverse datasets.</a:t>
          </a:r>
          <a:endParaRPr lang="en-US" sz="1500" kern="1200"/>
        </a:p>
      </dsp:txBody>
      <dsp:txXfrm>
        <a:off x="1355170" y="1468949"/>
        <a:ext cx="5151133" cy="1173307"/>
      </dsp:txXfrm>
    </dsp:sp>
    <dsp:sp modelId="{D6E2777E-1AB7-430B-9F87-D1B5B2588599}">
      <dsp:nvSpPr>
        <dsp:cNvPr id="0" name=""/>
        <dsp:cNvSpPr/>
      </dsp:nvSpPr>
      <dsp:spPr>
        <a:xfrm>
          <a:off x="0" y="2935583"/>
          <a:ext cx="6506304" cy="117330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53A4C6-5A66-4C1B-8D8A-3495047A16E3}">
      <dsp:nvSpPr>
        <dsp:cNvPr id="0" name=""/>
        <dsp:cNvSpPr/>
      </dsp:nvSpPr>
      <dsp:spPr>
        <a:xfrm>
          <a:off x="354925" y="3199577"/>
          <a:ext cx="645319" cy="6453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B0815E60-D6BF-4DDF-BCBC-B93C0EAEBF95}">
      <dsp:nvSpPr>
        <dsp:cNvPr id="0" name=""/>
        <dsp:cNvSpPr/>
      </dsp:nvSpPr>
      <dsp:spPr>
        <a:xfrm>
          <a:off x="1355170" y="2935583"/>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Interactive Dashboards: Users can create dashboards that combine multiple reports and allow for interactive filtering, enabling decision-makers to explore the data in real-time.</a:t>
          </a:r>
          <a:endParaRPr lang="en-US" sz="1500" kern="1200"/>
        </a:p>
      </dsp:txBody>
      <dsp:txXfrm>
        <a:off x="1355170" y="2935583"/>
        <a:ext cx="5151133" cy="1173307"/>
      </dsp:txXfrm>
    </dsp:sp>
    <dsp:sp modelId="{106F6170-A090-4622-A13A-E7151857494F}">
      <dsp:nvSpPr>
        <dsp:cNvPr id="0" name=""/>
        <dsp:cNvSpPr/>
      </dsp:nvSpPr>
      <dsp:spPr>
        <a:xfrm>
          <a:off x="0" y="4402217"/>
          <a:ext cx="6506304" cy="117330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CD0421-C0D2-4DAE-8064-D3ED2A344F60}">
      <dsp:nvSpPr>
        <dsp:cNvPr id="0" name=""/>
        <dsp:cNvSpPr/>
      </dsp:nvSpPr>
      <dsp:spPr>
        <a:xfrm>
          <a:off x="354925" y="4666211"/>
          <a:ext cx="645319" cy="6453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2C72048D-1053-48AA-AF59-625BAA973C2C}">
      <dsp:nvSpPr>
        <dsp:cNvPr id="0" name=""/>
        <dsp:cNvSpPr/>
      </dsp:nvSpPr>
      <dsp:spPr>
        <a:xfrm>
          <a:off x="1355170" y="4402217"/>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Power Query: This tool within Power BI allows users to transform, clean, and manipulate data before it is visualized. It helps with the extraction, transformation, and loading (ETL) processes, making data ready for analysis.</a:t>
          </a:r>
          <a:endParaRPr lang="en-US" sz="1500" kern="1200"/>
        </a:p>
      </dsp:txBody>
      <dsp:txXfrm>
        <a:off x="1355170" y="4402217"/>
        <a:ext cx="5151133" cy="117330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55E5D-31FC-4407-BB63-0BF0F046A137}">
      <dsp:nvSpPr>
        <dsp:cNvPr id="0" name=""/>
        <dsp:cNvSpPr/>
      </dsp:nvSpPr>
      <dsp:spPr>
        <a:xfrm>
          <a:off x="0" y="2315"/>
          <a:ext cx="6506304" cy="117330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9722F4-C459-4033-9C5B-07D25303BF2F}">
      <dsp:nvSpPr>
        <dsp:cNvPr id="0" name=""/>
        <dsp:cNvSpPr/>
      </dsp:nvSpPr>
      <dsp:spPr>
        <a:xfrm>
          <a:off x="354925" y="266309"/>
          <a:ext cx="645319" cy="6453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9881F69E-CB0F-4DD9-9B84-B6FEC3CB103A}">
      <dsp:nvSpPr>
        <dsp:cNvPr id="0" name=""/>
        <dsp:cNvSpPr/>
      </dsp:nvSpPr>
      <dsp:spPr>
        <a:xfrm>
          <a:off x="1355170" y="2315"/>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DAX (Data Analysis Expressions): Power BI uses DAX, a formula language, for creating custom calculations, aggregations, and data models. It helps users to perform complex analysis beyond standard reporting.</a:t>
          </a:r>
          <a:endParaRPr lang="en-US" sz="1500" kern="1200"/>
        </a:p>
      </dsp:txBody>
      <dsp:txXfrm>
        <a:off x="1355170" y="2315"/>
        <a:ext cx="5151133" cy="1173307"/>
      </dsp:txXfrm>
    </dsp:sp>
    <dsp:sp modelId="{B01889D6-3E15-4317-A79E-CA2C9B4C554E}">
      <dsp:nvSpPr>
        <dsp:cNvPr id="0" name=""/>
        <dsp:cNvSpPr/>
      </dsp:nvSpPr>
      <dsp:spPr>
        <a:xfrm>
          <a:off x="0" y="1468949"/>
          <a:ext cx="6506304" cy="117330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315608-3F62-4B1D-B801-C550179FA41D}">
      <dsp:nvSpPr>
        <dsp:cNvPr id="0" name=""/>
        <dsp:cNvSpPr/>
      </dsp:nvSpPr>
      <dsp:spPr>
        <a:xfrm>
          <a:off x="354925" y="1732943"/>
          <a:ext cx="645319" cy="6453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7CE29DBF-0828-4A82-BD53-1CECF15DCBD6}">
      <dsp:nvSpPr>
        <dsp:cNvPr id="0" name=""/>
        <dsp:cNvSpPr/>
      </dsp:nvSpPr>
      <dsp:spPr>
        <a:xfrm>
          <a:off x="1355170" y="1468949"/>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Cloud and On-Premises Deployment: Power BI offers both cloud-based services (Power BI Service) and on-premises deployment (Power BI Report Server), allowing organizations to choose the deployment option that suits their needs.</a:t>
          </a:r>
          <a:endParaRPr lang="en-US" sz="1500" kern="1200"/>
        </a:p>
      </dsp:txBody>
      <dsp:txXfrm>
        <a:off x="1355170" y="1468949"/>
        <a:ext cx="5151133" cy="1173307"/>
      </dsp:txXfrm>
    </dsp:sp>
    <dsp:sp modelId="{C8EF066F-424A-4318-A4C9-9E91D9292CC0}">
      <dsp:nvSpPr>
        <dsp:cNvPr id="0" name=""/>
        <dsp:cNvSpPr/>
      </dsp:nvSpPr>
      <dsp:spPr>
        <a:xfrm>
          <a:off x="0" y="2935583"/>
          <a:ext cx="6506304" cy="117330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CC1E4D-8084-4D05-BDFE-4359F9EEA1BB}">
      <dsp:nvSpPr>
        <dsp:cNvPr id="0" name=""/>
        <dsp:cNvSpPr/>
      </dsp:nvSpPr>
      <dsp:spPr>
        <a:xfrm>
          <a:off x="354925" y="3199577"/>
          <a:ext cx="645319" cy="6453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05F176DA-EF9E-4641-BE21-DA19ABEF7000}">
      <dsp:nvSpPr>
        <dsp:cNvPr id="0" name=""/>
        <dsp:cNvSpPr/>
      </dsp:nvSpPr>
      <dsp:spPr>
        <a:xfrm>
          <a:off x="1355170" y="2935583"/>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Collaboration and Sharing: Reports and dashboards created in Power BI can be easily shared with others within an organization or externally, allowing teams to collaborate on data-driven insights.</a:t>
          </a:r>
          <a:endParaRPr lang="en-US" sz="1500" kern="1200"/>
        </a:p>
      </dsp:txBody>
      <dsp:txXfrm>
        <a:off x="1355170" y="2935583"/>
        <a:ext cx="5151133" cy="1173307"/>
      </dsp:txXfrm>
    </dsp:sp>
    <dsp:sp modelId="{B9FAA6A2-5530-41E7-8C1B-5FBA11143133}">
      <dsp:nvSpPr>
        <dsp:cNvPr id="0" name=""/>
        <dsp:cNvSpPr/>
      </dsp:nvSpPr>
      <dsp:spPr>
        <a:xfrm>
          <a:off x="0" y="4402217"/>
          <a:ext cx="6506304" cy="117330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55684E-3C22-4513-9579-680EC42DC8DD}">
      <dsp:nvSpPr>
        <dsp:cNvPr id="0" name=""/>
        <dsp:cNvSpPr/>
      </dsp:nvSpPr>
      <dsp:spPr>
        <a:xfrm>
          <a:off x="354925" y="4666211"/>
          <a:ext cx="645319" cy="6453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34925"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8B0734E9-849C-4E3F-88B3-72E15794235D}">
      <dsp:nvSpPr>
        <dsp:cNvPr id="0" name=""/>
        <dsp:cNvSpPr/>
      </dsp:nvSpPr>
      <dsp:spPr>
        <a:xfrm>
          <a:off x="1355170" y="4402217"/>
          <a:ext cx="5151133" cy="1173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175" tIns="124175" rIns="124175" bIns="124175" numCol="1" spcCol="1270" anchor="ctr" anchorCtr="0">
          <a:noAutofit/>
        </a:bodyPr>
        <a:lstStyle/>
        <a:p>
          <a:pPr lvl="0" algn="l" defTabSz="666750">
            <a:lnSpc>
              <a:spcPct val="90000"/>
            </a:lnSpc>
            <a:spcBef>
              <a:spcPct val="0"/>
            </a:spcBef>
            <a:spcAft>
              <a:spcPct val="35000"/>
            </a:spcAft>
          </a:pPr>
          <a:r>
            <a:rPr lang="en-US" sz="1500" kern="1200" baseline="0"/>
            <a:t>Artificial Intelligence: Power BI includes AI features such as Q&amp;A (Natural Language Querying), anomaly detection, and automated insights that help users gain deeper insights from their data without requiring advanced technical skills.</a:t>
          </a:r>
          <a:endParaRPr lang="en-US" sz="1500" kern="1200"/>
        </a:p>
      </dsp:txBody>
      <dsp:txXfrm>
        <a:off x="1355170" y="4402217"/>
        <a:ext cx="5151133" cy="117330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xmlns="">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9.emf"/></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1-21T07:06:06.2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81,'779'0,"-753"1,-1 2,31 6,-28-4,46 3,78 5,32 0,-159-13,0-2,0 0,40-10,-47 9,1 0,0 1,33 2,-29 0,42-4,-48 0,0-1,0 0,-1-1,22-12,-24 11,0 1,0 0,0 1,0 1,1 0,0 1,14-2,57 4,-52 2,1-2,48-7,5-2,1 3,138 7,-92 2,89-2,-213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5F903-B814-4F09-8889-A5499E70D8D0}" type="datetimeFigureOut">
              <a:t>3/21/2025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15D440-B190-436A-997F-F8DBAE8B9195}" type="slidenum">
              <a:t>‹#›</a:t>
            </a:fld>
            <a:endParaRPr lang="en-US"/>
          </a:p>
        </p:txBody>
      </p:sp>
    </p:spTree>
    <p:extLst>
      <p:ext uri="{BB962C8B-B14F-4D97-AF65-F5344CB8AC3E}">
        <p14:creationId xmlns:p14="http://schemas.microsoft.com/office/powerpoint/2010/main" val="3758812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157d216e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157d216e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157d216ef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g3157d216ef4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157d216ef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g3157d216ef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157d216e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g3157d216e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57d216ef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157d216ef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97DAD2DE-24F2-6AC4-54DA-B6F85364FFDD}"/>
            </a:ext>
          </a:extLst>
        </p:cNvPr>
        <p:cNvGrpSpPr/>
        <p:nvPr/>
      </p:nvGrpSpPr>
      <p:grpSpPr>
        <a:xfrm>
          <a:off x="0" y="0"/>
          <a:ext cx="0" cy="0"/>
          <a:chOff x="0" y="0"/>
          <a:chExt cx="0" cy="0"/>
        </a:xfrm>
      </p:grpSpPr>
      <p:sp>
        <p:nvSpPr>
          <p:cNvPr id="161" name="Google Shape;161;g3157d216ef4_0_20:notes">
            <a:extLst>
              <a:ext uri="{FF2B5EF4-FFF2-40B4-BE49-F238E27FC236}">
                <a16:creationId xmlns:a16="http://schemas.microsoft.com/office/drawing/2014/main" id="{4EA934CB-5B17-91CD-B8B5-1183977D45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157d216ef4_0_20:notes">
            <a:extLst>
              <a:ext uri="{FF2B5EF4-FFF2-40B4-BE49-F238E27FC236}">
                <a16:creationId xmlns:a16="http://schemas.microsoft.com/office/drawing/2014/main" id="{9736E7D8-85DA-0A97-5605-1AF374B33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134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4C706B02-C460-A53A-65F1-25288E6FAC80}"/>
            </a:ext>
          </a:extLst>
        </p:cNvPr>
        <p:cNvGrpSpPr/>
        <p:nvPr/>
      </p:nvGrpSpPr>
      <p:grpSpPr>
        <a:xfrm>
          <a:off x="0" y="0"/>
          <a:ext cx="0" cy="0"/>
          <a:chOff x="0" y="0"/>
          <a:chExt cx="0" cy="0"/>
        </a:xfrm>
      </p:grpSpPr>
      <p:sp>
        <p:nvSpPr>
          <p:cNvPr id="161" name="Google Shape;161;g3157d216ef4_0_20:notes">
            <a:extLst>
              <a:ext uri="{FF2B5EF4-FFF2-40B4-BE49-F238E27FC236}">
                <a16:creationId xmlns:a16="http://schemas.microsoft.com/office/drawing/2014/main" id="{2602C6D8-3EA1-C7F7-F67C-7DA074A6BF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157d216ef4_0_20:notes">
            <a:extLst>
              <a:ext uri="{FF2B5EF4-FFF2-40B4-BE49-F238E27FC236}">
                <a16:creationId xmlns:a16="http://schemas.microsoft.com/office/drawing/2014/main" id="{81A68FBB-FB98-B0D4-9847-64D0DC00D7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6318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a:extLst>
            <a:ext uri="{FF2B5EF4-FFF2-40B4-BE49-F238E27FC236}">
              <a16:creationId xmlns:a16="http://schemas.microsoft.com/office/drawing/2014/main" id="{B3A36D72-5F08-982D-01FA-1088182EEC35}"/>
            </a:ext>
          </a:extLst>
        </p:cNvPr>
        <p:cNvGrpSpPr/>
        <p:nvPr/>
      </p:nvGrpSpPr>
      <p:grpSpPr>
        <a:xfrm>
          <a:off x="0" y="0"/>
          <a:ext cx="0" cy="0"/>
          <a:chOff x="0" y="0"/>
          <a:chExt cx="0" cy="0"/>
        </a:xfrm>
      </p:grpSpPr>
      <p:sp>
        <p:nvSpPr>
          <p:cNvPr id="161" name="Google Shape;161;g3157d216ef4_0_20:notes">
            <a:extLst>
              <a:ext uri="{FF2B5EF4-FFF2-40B4-BE49-F238E27FC236}">
                <a16:creationId xmlns:a16="http://schemas.microsoft.com/office/drawing/2014/main" id="{7BF4B5BF-B09D-1E3D-AD5F-D7447FDD25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3157d216ef4_0_20:notes">
            <a:extLst>
              <a:ext uri="{FF2B5EF4-FFF2-40B4-BE49-F238E27FC236}">
                <a16:creationId xmlns:a16="http://schemas.microsoft.com/office/drawing/2014/main" id="{7A057D3D-7D40-6C38-A381-2E5AA5A0A9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7660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0ff1885e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0ff1885e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3/21/2025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3/21/2025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3/21/2025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3/21/2025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3/21/2025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hyperlink" Target="https://www.microsoft.com/en-us/power-platform/products/power-bi/downloads" TargetMode="External"/><Relationship Id="rId1" Type="http://schemas.openxmlformats.org/officeDocument/2006/relationships/slideLayout" Target="../slideLayouts/slideLayout2.xml"/><Relationship Id="rId4" Type="http://schemas.openxmlformats.org/officeDocument/2006/relationships/hyperlink" Target="https://dev.mysql.com/downloads/workbench/"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67.sv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71.sv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75.svg"/><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79.sv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81.sv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83.sv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87.svg"/><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9.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460.png"/><Relationship Id="rId4" Type="http://schemas.openxmlformats.org/officeDocument/2006/relationships/customXml" Target="../ink/ink1.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hyperlink" Target="https://www.geeksforgeeks.org/what-is-database/" TargetMode="Externa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5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5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hyperlink" Target="https://www.geeksforgeeks.org/sql-create" TargetMode="External"/><Relationship Id="rId7" Type="http://schemas.openxmlformats.org/officeDocument/2006/relationships/hyperlink" Target="https://www.geeksforgeeks.org/sql-alter-rename" TargetMode="External"/><Relationship Id="rId2" Type="http://schemas.openxmlformats.org/officeDocument/2006/relationships/hyperlink" Target="https://www.geeksforgeeks.org/sql-tutorial/" TargetMode="External"/><Relationship Id="rId1" Type="http://schemas.openxmlformats.org/officeDocument/2006/relationships/slideLayout" Target="../slideLayouts/slideLayout2.xml"/><Relationship Id="rId6" Type="http://schemas.openxmlformats.org/officeDocument/2006/relationships/hyperlink" Target="https://www.geeksforgeeks.org/sql-comments" TargetMode="External"/><Relationship Id="rId5" Type="http://schemas.openxmlformats.org/officeDocument/2006/relationships/hyperlink" Target="https://www.geeksforgeeks.org/sql-alter-add-drop-modify" TargetMode="External"/><Relationship Id="rId4" Type="http://schemas.openxmlformats.org/officeDocument/2006/relationships/hyperlink" Target="https://www.geeksforgeeks.org/sql-drop-truncate"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57.jp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hyperlink" Target="https://www.geeksforgeeks.org/sql-select-clause" TargetMode="Externa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hyperlink" Target="https://www.geeksforgeeks.org/sql-update-statement" TargetMode="External"/><Relationship Id="rId2" Type="http://schemas.openxmlformats.org/officeDocument/2006/relationships/hyperlink" Target="https://www.geeksforgeeks.org/sql-insert-statement" TargetMode="External"/><Relationship Id="rId1" Type="http://schemas.openxmlformats.org/officeDocument/2006/relationships/slideLayout" Target="../slideLayouts/slideLayout2.xml"/><Relationship Id="rId5" Type="http://schemas.openxmlformats.org/officeDocument/2006/relationships/hyperlink" Target="https://www.geeksforgeeks.org/sql-lock-table" TargetMode="External"/><Relationship Id="rId4" Type="http://schemas.openxmlformats.org/officeDocument/2006/relationships/hyperlink" Target="https://www.geeksforgeeks.org/sql-delete-statement"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hyperlink" Target="https://www.geeksforgeeks.org/difference-between-grant-and-revoke" TargetMode="External"/><Relationship Id="rId2" Type="http://schemas.openxmlformats.org/officeDocument/2006/relationships/hyperlink" Target="https://www.geeksforgeeks.org/mysql-grant-revoke-privileges" TargetMode="Externa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hyperlink" Target="https://www.geeksforgeeks.org/sql-transactions/#:~:text=" TargetMode="Externa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hyperlink" Target="https://www.techonthenet.com/sql/select_exercises.php/" TargetMode="Externa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hyperlink" Target="https://www.testpreptraining.com/blog/data-scientist-vs-data-analyst-vs-data-engineer-scope-and-opportunities/" TargetMode="External"/><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1.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9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187.jpe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88.jpe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35.sv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235.svg"/><Relationship Id="rId2" Type="http://schemas.openxmlformats.org/officeDocument/2006/relationships/image" Target="../media/image189.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2" Type="http://schemas.openxmlformats.org/officeDocument/2006/relationships/hyperlink" Target="https://www.microsoft.com/en-us/power-platform/products/power-bi/downloads" TargetMode="Externa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91.jpe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6.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4.xml"/></Relationships>
</file>

<file path=ppt/slides/_rels/slide227.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4.xml"/></Relationships>
</file>

<file path=ppt/slides/_rels/slide228.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4.xml"/></Relationships>
</file>

<file path=ppt/slides/_rels/slide229.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4.xml"/></Relationships>
</file>

<file path=ppt/slides/_rels/slide230.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4.xml"/></Relationships>
</file>

<file path=ppt/slides/_rels/slide231.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4.xml"/></Relationships>
</file>

<file path=ppt/slides/_rels/slide232.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4.xml"/></Relationships>
</file>

<file path=ppt/slides/_rels/slide233.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4.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7.xml.rels><?xml version="1.0" encoding="UTF-8" standalone="yes"?>
<Relationships xmlns="http://schemas.openxmlformats.org/package/2006/relationships"><Relationship Id="rId3" Type="http://schemas.openxmlformats.org/officeDocument/2006/relationships/hyperlink" Target="https://www.tutorialspoint.com/power_bi/dax_basics_in_power_bi.htm#text" TargetMode="External"/><Relationship Id="rId7" Type="http://schemas.openxmlformats.org/officeDocument/2006/relationships/hyperlink" Target="https://www.tutorialspoint.com/power_bi/dax_basics_in_power_bi.htm#information" TargetMode="External"/><Relationship Id="rId2" Type="http://schemas.openxmlformats.org/officeDocument/2006/relationships/hyperlink" Target="https://www.tutorialspoint.com/power_bi/dax_basics_in_power_bi.htm#aggregate" TargetMode="External"/><Relationship Id="rId1" Type="http://schemas.openxmlformats.org/officeDocument/2006/relationships/slideLayout" Target="../slideLayouts/slideLayout4.xml"/><Relationship Id="rId6" Type="http://schemas.openxmlformats.org/officeDocument/2006/relationships/hyperlink" Target="https://www.tutorialspoint.com/power_bi/dax_basics_in_power_bi.htm#counting" TargetMode="External"/><Relationship Id="rId5" Type="http://schemas.openxmlformats.org/officeDocument/2006/relationships/hyperlink" Target="https://www.tutorialspoint.com/power_bi/dax_basics_in_power_bi.htm#logical" TargetMode="External"/><Relationship Id="rId4" Type="http://schemas.openxmlformats.org/officeDocument/2006/relationships/hyperlink" Target="https://www.tutorialspoint.com/power_bi/dax_basics_in_power_bi.htm#date" TargetMode="Externa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0.xml.rels><?xml version="1.0" encoding="UTF-8" standalone="yes"?>
<Relationships xmlns="http://schemas.openxmlformats.org/package/2006/relationships"><Relationship Id="rId2" Type="http://schemas.openxmlformats.org/officeDocument/2006/relationships/image" Target="../media/image201.jpeg"/><Relationship Id="rId1" Type="http://schemas.openxmlformats.org/officeDocument/2006/relationships/slideLayout" Target="../slideLayouts/slideLayout4.xml"/></Relationships>
</file>

<file path=ppt/slides/_rels/slide241.xml.rels><?xml version="1.0" encoding="UTF-8" standalone="yes"?>
<Relationships xmlns="http://schemas.openxmlformats.org/package/2006/relationships"><Relationship Id="rId2" Type="http://schemas.openxmlformats.org/officeDocument/2006/relationships/image" Target="../media/image202.jpg"/><Relationship Id="rId1" Type="http://schemas.openxmlformats.org/officeDocument/2006/relationships/slideLayout" Target="../slideLayouts/slideLayout4.xml"/></Relationships>
</file>

<file path=ppt/slides/_rels/slide242.xml.rels><?xml version="1.0" encoding="UTF-8" standalone="yes"?>
<Relationships xmlns="http://schemas.openxmlformats.org/package/2006/relationships"><Relationship Id="rId2" Type="http://schemas.openxmlformats.org/officeDocument/2006/relationships/image" Target="../media/image203.jpg"/><Relationship Id="rId1" Type="http://schemas.openxmlformats.org/officeDocument/2006/relationships/slideLayout" Target="../slideLayouts/slideLayout4.xml"/></Relationships>
</file>

<file path=ppt/slides/_rels/slide243.xml.rels><?xml version="1.0" encoding="UTF-8" standalone="yes"?>
<Relationships xmlns="http://schemas.openxmlformats.org/package/2006/relationships"><Relationship Id="rId3" Type="http://schemas.openxmlformats.org/officeDocument/2006/relationships/image" Target="../media/image205.jpg"/><Relationship Id="rId2" Type="http://schemas.openxmlformats.org/officeDocument/2006/relationships/image" Target="../media/image204.jpg"/><Relationship Id="rId1" Type="http://schemas.openxmlformats.org/officeDocument/2006/relationships/slideLayout" Target="../slideLayouts/slideLayout4.xml"/></Relationships>
</file>

<file path=ppt/slides/_rels/slide244.xml.rels><?xml version="1.0" encoding="UTF-8" standalone="yes"?>
<Relationships xmlns="http://schemas.openxmlformats.org/package/2006/relationships"><Relationship Id="rId2" Type="http://schemas.openxmlformats.org/officeDocument/2006/relationships/image" Target="../media/image206.jpg"/><Relationship Id="rId1" Type="http://schemas.openxmlformats.org/officeDocument/2006/relationships/slideLayout" Target="../slideLayouts/slideLayout4.xml"/></Relationships>
</file>

<file path=ppt/slides/_rels/slide245.xml.rels><?xml version="1.0" encoding="UTF-8" standalone="yes"?>
<Relationships xmlns="http://schemas.openxmlformats.org/package/2006/relationships"><Relationship Id="rId2" Type="http://schemas.openxmlformats.org/officeDocument/2006/relationships/image" Target="../media/image207.jpg"/><Relationship Id="rId1" Type="http://schemas.openxmlformats.org/officeDocument/2006/relationships/slideLayout" Target="../slideLayouts/slideLayout4.xml"/></Relationships>
</file>

<file path=ppt/slides/_rels/slide246.xml.rels><?xml version="1.0" encoding="UTF-8" standalone="yes"?>
<Relationships xmlns="http://schemas.openxmlformats.org/package/2006/relationships"><Relationship Id="rId2" Type="http://schemas.openxmlformats.org/officeDocument/2006/relationships/image" Target="../media/image208.jpg"/><Relationship Id="rId1" Type="http://schemas.openxmlformats.org/officeDocument/2006/relationships/slideLayout" Target="../slideLayouts/slideLayout4.xml"/></Relationships>
</file>

<file path=ppt/slides/_rels/slide247.xml.rels><?xml version="1.0" encoding="UTF-8" standalone="yes"?>
<Relationships xmlns="http://schemas.openxmlformats.org/package/2006/relationships"><Relationship Id="rId2" Type="http://schemas.openxmlformats.org/officeDocument/2006/relationships/image" Target="../media/image209.jpg"/><Relationship Id="rId1" Type="http://schemas.openxmlformats.org/officeDocument/2006/relationships/slideLayout" Target="../slideLayouts/slideLayout4.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4.xml"/></Relationships>
</file>

<file path=ppt/slides/_rels/slide261.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4.xml"/></Relationships>
</file>

<file path=ppt/slides/_rels/slide262.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4.xml"/></Relationships>
</file>

<file path=ppt/slides/_rels/slide263.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4.xml"/></Relationships>
</file>

<file path=ppt/slides/_rels/slide264.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4.xml"/></Relationships>
</file>

<file path=ppt/slides/_rels/slide265.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4.xml"/></Relationships>
</file>

<file path=ppt/slides/_rels/slide266.xml.rels><?xml version="1.0" encoding="UTF-8" standalone="yes"?>
<Relationships xmlns="http://schemas.openxmlformats.org/package/2006/relationships"><Relationship Id="rId2" Type="http://schemas.openxmlformats.org/officeDocument/2006/relationships/image" Target="../media/image216.png"/><Relationship Id="rId1" Type="http://schemas.openxmlformats.org/officeDocument/2006/relationships/slideLayout" Target="../slideLayouts/slideLayout4.xml"/></Relationships>
</file>

<file path=ppt/slides/_rels/slide267.xml.rels><?xml version="1.0" encoding="UTF-8" standalone="yes"?>
<Relationships xmlns="http://schemas.openxmlformats.org/package/2006/relationships"><Relationship Id="rId2" Type="http://schemas.openxmlformats.org/officeDocument/2006/relationships/image" Target="../media/image217.png"/><Relationship Id="rId1" Type="http://schemas.openxmlformats.org/officeDocument/2006/relationships/slideLayout" Target="../slideLayouts/slideLayout4.xml"/></Relationships>
</file>

<file path=ppt/slides/_rels/slide268.xml.rels><?xml version="1.0" encoding="UTF-8" standalone="yes"?>
<Relationships xmlns="http://schemas.openxmlformats.org/package/2006/relationships"><Relationship Id="rId2" Type="http://schemas.openxmlformats.org/officeDocument/2006/relationships/image" Target="../media/image218.png"/><Relationship Id="rId1" Type="http://schemas.openxmlformats.org/officeDocument/2006/relationships/slideLayout" Target="../slideLayouts/slideLayout4.xml"/></Relationships>
</file>

<file path=ppt/slides/_rels/slide269.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4.xml"/></Relationships>
</file>

<file path=ppt/slides/_rels/slide270.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4.xml"/></Relationships>
</file>

<file path=ppt/slides/_rels/slide271.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4.xml"/></Relationships>
</file>

<file path=ppt/slides/_rels/slide272.xml.rels><?xml version="1.0" encoding="UTF-8" standalone="yes"?>
<Relationships xmlns="http://schemas.openxmlformats.org/package/2006/relationships"><Relationship Id="rId2" Type="http://schemas.openxmlformats.org/officeDocument/2006/relationships/image" Target="../media/image222.png"/><Relationship Id="rId1" Type="http://schemas.openxmlformats.org/officeDocument/2006/relationships/slideLayout" Target="../slideLayouts/slideLayout4.xml"/></Relationships>
</file>

<file path=ppt/slides/_rels/slide273.xml.rels><?xml version="1.0" encoding="UTF-8" standalone="yes"?>
<Relationships xmlns="http://schemas.openxmlformats.org/package/2006/relationships"><Relationship Id="rId2" Type="http://schemas.openxmlformats.org/officeDocument/2006/relationships/image" Target="../media/image223.png"/><Relationship Id="rId1" Type="http://schemas.openxmlformats.org/officeDocument/2006/relationships/slideLayout" Target="../slideLayouts/slideLayout4.xml"/></Relationships>
</file>

<file path=ppt/slides/_rels/slide274.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4.xml"/></Relationships>
</file>

<file path=ppt/slides/_rels/slide275.xml.rels><?xml version="1.0" encoding="UTF-8" standalone="yes"?>
<Relationships xmlns="http://schemas.openxmlformats.org/package/2006/relationships"><Relationship Id="rId2" Type="http://schemas.openxmlformats.org/officeDocument/2006/relationships/image" Target="../media/image225.png"/><Relationship Id="rId1" Type="http://schemas.openxmlformats.org/officeDocument/2006/relationships/slideLayout" Target="../slideLayouts/slideLayout4.xml"/></Relationships>
</file>

<file path=ppt/slides/_rels/slide276.xml.rels><?xml version="1.0" encoding="UTF-8" standalone="yes"?>
<Relationships xmlns="http://schemas.openxmlformats.org/package/2006/relationships"><Relationship Id="rId2" Type="http://schemas.openxmlformats.org/officeDocument/2006/relationships/image" Target="../media/image226.png"/><Relationship Id="rId1" Type="http://schemas.openxmlformats.org/officeDocument/2006/relationships/slideLayout" Target="../slideLayouts/slideLayout4.xml"/></Relationships>
</file>

<file path=ppt/slides/_rels/slide277.xml.rels><?xml version="1.0" encoding="UTF-8" standalone="yes"?>
<Relationships xmlns="http://schemas.openxmlformats.org/package/2006/relationships"><Relationship Id="rId2" Type="http://schemas.openxmlformats.org/officeDocument/2006/relationships/image" Target="../media/image227.png"/><Relationship Id="rId1" Type="http://schemas.openxmlformats.org/officeDocument/2006/relationships/slideLayout" Target="../slideLayouts/slideLayout4.xml"/></Relationships>
</file>

<file path=ppt/slides/_rels/slide278.xml.rels><?xml version="1.0" encoding="UTF-8" standalone="yes"?>
<Relationships xmlns="http://schemas.openxmlformats.org/package/2006/relationships"><Relationship Id="rId2" Type="http://schemas.openxmlformats.org/officeDocument/2006/relationships/image" Target="../media/image228.png"/><Relationship Id="rId1" Type="http://schemas.openxmlformats.org/officeDocument/2006/relationships/slideLayout" Target="../slideLayouts/slideLayout4.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2" Type="http://schemas.openxmlformats.org/officeDocument/2006/relationships/image" Target="../media/image229.png"/><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234.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image" Target="../media/image235.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image" Target="../media/image236.png"/><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242.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243.pn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245.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image" Target="../media/image246.png"/><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image" Target="../media/image247.png"/><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image" Target="../media/image248.png"/><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3" Type="http://schemas.openxmlformats.org/officeDocument/2006/relationships/image" Target="../media/image249.jpg"/><Relationship Id="rId2" Type="http://schemas.openxmlformats.org/officeDocument/2006/relationships/hyperlink" Target="https://help.zebrabi.com/kb/power-bi/exporting-power-bi-reports-to-powerpoint-slides/#export-a-power-bi-report-to-powerpoint" TargetMode="External"/><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image" Target="../media/image250.jpg"/><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4.xml.rels><?xml version="1.0" encoding="UTF-8" standalone="yes"?>
<Relationships xmlns="http://schemas.openxmlformats.org/package/2006/relationships"><Relationship Id="rId2" Type="http://schemas.openxmlformats.org/officeDocument/2006/relationships/image" Target="../media/image253.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image" Target="../media/image257.png"/><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3" Type="http://schemas.openxmlformats.org/officeDocument/2006/relationships/image" Target="../media/image259.png"/><Relationship Id="rId2" Type="http://schemas.openxmlformats.org/officeDocument/2006/relationships/image" Target="../media/image258.jpeg"/><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3" Type="http://schemas.openxmlformats.org/officeDocument/2006/relationships/image" Target="../media/image266.png"/><Relationship Id="rId2" Type="http://schemas.openxmlformats.org/officeDocument/2006/relationships/image" Target="../media/image265.png"/><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3" Type="http://schemas.openxmlformats.org/officeDocument/2006/relationships/image" Target="../media/image268.png"/><Relationship Id="rId2" Type="http://schemas.openxmlformats.org/officeDocument/2006/relationships/image" Target="../media/image267.png"/><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9.png"/><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image" Target="../media/image271.png"/><Relationship Id="rId1" Type="http://schemas.openxmlformats.org/officeDocument/2006/relationships/slideLayout" Target="../slideLayouts/slideLayout2.xml"/><Relationship Id="rId5" Type="http://schemas.openxmlformats.org/officeDocument/2006/relationships/image" Target="../media/image274.png"/><Relationship Id="rId4" Type="http://schemas.openxmlformats.org/officeDocument/2006/relationships/image" Target="../media/image273.png"/></Relationships>
</file>

<file path=ppt/slides/_rels/slide336.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image" Target="../media/image275.png"/><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image" Target="../media/image278.png"/><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82.png"/><Relationship Id="rId1" Type="http://schemas.openxmlformats.org/officeDocument/2006/relationships/slideLayout" Target="../slideLayouts/slideLayout2.xml"/><Relationship Id="rId5" Type="http://schemas.openxmlformats.org/officeDocument/2006/relationships/image" Target="../media/image285.png"/><Relationship Id="rId4" Type="http://schemas.openxmlformats.org/officeDocument/2006/relationships/image" Target="../media/image284.png"/></Relationships>
</file>

<file path=ppt/slides/_rels/slide341.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image" Target="../media/image288.png"/><Relationship Id="rId1" Type="http://schemas.openxmlformats.org/officeDocument/2006/relationships/slideLayout" Target="../slideLayouts/slideLayout2.xml"/><Relationship Id="rId5" Type="http://schemas.openxmlformats.org/officeDocument/2006/relationships/image" Target="../media/image291.png"/><Relationship Id="rId4" Type="http://schemas.openxmlformats.org/officeDocument/2006/relationships/image" Target="../media/image290.png"/></Relationships>
</file>

<file path=ppt/slides/_rels/slide343.xml.rels><?xml version="1.0" encoding="UTF-8" standalone="yes"?>
<Relationships xmlns="http://schemas.openxmlformats.org/package/2006/relationships"><Relationship Id="rId3" Type="http://schemas.openxmlformats.org/officeDocument/2006/relationships/image" Target="../media/image293.png"/><Relationship Id="rId2" Type="http://schemas.openxmlformats.org/officeDocument/2006/relationships/image" Target="../media/image292.png"/><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2.xml"/><Relationship Id="rId5" Type="http://schemas.openxmlformats.org/officeDocument/2006/relationships/image" Target="../media/image297.png"/><Relationship Id="rId4" Type="http://schemas.openxmlformats.org/officeDocument/2006/relationships/image" Target="../media/image296.png"/></Relationships>
</file>

<file path=ppt/slides/_rels/slide346.xml.rels><?xml version="1.0" encoding="UTF-8" standalone="yes"?>
<Relationships xmlns="http://schemas.openxmlformats.org/package/2006/relationships"><Relationship Id="rId2" Type="http://schemas.openxmlformats.org/officeDocument/2006/relationships/image" Target="../media/image298.png"/><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9.png"/><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3.png"/><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2" Type="http://schemas.openxmlformats.org/officeDocument/2006/relationships/image" Target="../media/image305.png"/><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48E59-CB20-EC12-1389-3C3F558CC89F}"/>
              </a:ext>
            </a:extLst>
          </p:cNvPr>
          <p:cNvSpPr>
            <a:spLocks noGrp="1"/>
          </p:cNvSpPr>
          <p:nvPr>
            <p:ph type="ctrTitle"/>
          </p:nvPr>
        </p:nvSpPr>
        <p:spPr>
          <a:xfrm>
            <a:off x="1632857" y="1788454"/>
            <a:ext cx="9302621" cy="2098226"/>
          </a:xfrm>
        </p:spPr>
        <p:txBody>
          <a:bodyPr/>
          <a:lstStyle/>
          <a:p>
            <a:r>
              <a:rPr lang="en-US" sz="6000" dirty="0"/>
              <a:t>Advanced Data Analytics &amp; Visualization</a:t>
            </a:r>
          </a:p>
        </p:txBody>
      </p:sp>
    </p:spTree>
    <p:extLst>
      <p:ext uri="{BB962C8B-B14F-4D97-AF65-F5344CB8AC3E}">
        <p14:creationId xmlns:p14="http://schemas.microsoft.com/office/powerpoint/2010/main" val="419509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88440-7EB9-6D2B-3636-4E3BE908613D}"/>
              </a:ext>
            </a:extLst>
          </p:cNvPr>
          <p:cNvSpPr>
            <a:spLocks noGrp="1"/>
          </p:cNvSpPr>
          <p:nvPr>
            <p:ph type="title"/>
          </p:nvPr>
        </p:nvSpPr>
        <p:spPr>
          <a:xfrm>
            <a:off x="1066800" y="2686049"/>
            <a:ext cx="10515600" cy="1783313"/>
          </a:xfrm>
        </p:spPr>
        <p:txBody>
          <a:bodyPr>
            <a:noAutofit/>
          </a:bodyPr>
          <a:lstStyle/>
          <a:p>
            <a:r>
              <a:rPr lang="en-US" b="1" dirty="0"/>
              <a:t>Day 1</a:t>
            </a:r>
            <a:r>
              <a:rPr lang="en-US" dirty="0"/>
              <a:t>: </a:t>
            </a:r>
            <a:r>
              <a:rPr lang="en-IN" dirty="0" smtClean="0"/>
              <a:t> </a:t>
            </a:r>
            <a:r>
              <a:rPr lang="en-IN" dirty="0"/>
              <a:t>learning objectives, syllabus, takeaways, and setting expectations. Foundations</a:t>
            </a:r>
            <a:r>
              <a:rPr lang="en-IN" altLang="en-US" dirty="0"/>
              <a:t> of Data Analytics</a:t>
            </a:r>
            <a:endParaRPr lang="en-US" dirty="0"/>
          </a:p>
        </p:txBody>
      </p:sp>
    </p:spTree>
    <p:extLst>
      <p:ext uri="{BB962C8B-B14F-4D97-AF65-F5344CB8AC3E}">
        <p14:creationId xmlns:p14="http://schemas.microsoft.com/office/powerpoint/2010/main" val="3045381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C114E-1183-B97A-D0A6-A62BBF8DED73}"/>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535127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7708" y="685800"/>
            <a:ext cx="10299378" cy="1485900"/>
          </a:xfrm>
        </p:spPr>
        <p:txBody>
          <a:bodyPr lIns="91440" tIns="45720" rIns="91440" bIns="45720" anchorCtr="0">
            <a:normAutofit/>
          </a:bodyPr>
          <a:lstStyle/>
          <a:p>
            <a:r>
              <a:rPr lang="en-IN" altLang="en-US" dirty="0"/>
              <a:t>Foundations of Data Analytics</a:t>
            </a:r>
            <a:endParaRPr lang="en-IN" altLang="en-US" dirty="0">
              <a:cs typeface="Arial"/>
            </a:endParaRPr>
          </a:p>
        </p:txBody>
      </p:sp>
      <p:sp>
        <p:nvSpPr>
          <p:cNvPr id="10" name="Rectangle 9">
            <a:extLst>
              <a:ext uri="{FF2B5EF4-FFF2-40B4-BE49-F238E27FC236}">
                <a16:creationId xmlns:a16="http://schemas.microsoft.com/office/drawing/2014/main" id="{6B205BC3-0B06-4EA6-9066-1A0BEC22C8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E80CD9B0-A8BB-A554-76F0-617E34901193}"/>
              </a:ext>
            </a:extLst>
          </p:cNvPr>
          <p:cNvGraphicFramePr>
            <a:graphicFrameLocks noGrp="1"/>
          </p:cNvGraphicFramePr>
          <p:nvPr>
            <p:ph idx="1"/>
            <p:extLst>
              <p:ext uri="{D42A27DB-BD31-4B8C-83A1-F6EECF244321}">
                <p14:modId xmlns:p14="http://schemas.microsoft.com/office/powerpoint/2010/main" val="3383262976"/>
              </p:ext>
            </p:extLst>
          </p:nvPr>
        </p:nvGraphicFramePr>
        <p:xfrm>
          <a:off x="1217708" y="2286000"/>
          <a:ext cx="10299378" cy="39557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6802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rice History - Price Tracker for Amazon, Flipkart &amp; more">
            <a:extLst>
              <a:ext uri="{FF2B5EF4-FFF2-40B4-BE49-F238E27FC236}">
                <a16:creationId xmlns:a16="http://schemas.microsoft.com/office/drawing/2014/main" id="{60101D0D-9D75-8618-0192-572D3EBB374C}"/>
              </a:ext>
            </a:extLst>
          </p:cNvPr>
          <p:cNvPicPr>
            <a:picLocks noChangeAspect="1"/>
          </p:cNvPicPr>
          <p:nvPr/>
        </p:nvPicPr>
        <p:blipFill>
          <a:blip r:embed="rId2"/>
          <a:stretch>
            <a:fillRect/>
          </a:stretch>
        </p:blipFill>
        <p:spPr>
          <a:xfrm>
            <a:off x="973388" y="660482"/>
            <a:ext cx="11094117" cy="5543716"/>
          </a:xfrm>
          <a:prstGeom prst="rect">
            <a:avLst/>
          </a:prstGeom>
        </p:spPr>
      </p:pic>
    </p:spTree>
    <p:extLst>
      <p:ext uri="{BB962C8B-B14F-4D97-AF65-F5344CB8AC3E}">
        <p14:creationId xmlns:p14="http://schemas.microsoft.com/office/powerpoint/2010/main" val="421254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3FBEE9-5F5A-4EFB-898C-5D1770B31C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5443844"/>
            <a:ext cx="10905066" cy="1485900"/>
          </a:xfrm>
          <a:noFill/>
        </p:spPr>
        <p:txBody>
          <a:bodyPr>
            <a:normAutofit/>
          </a:bodyPr>
          <a:lstStyle/>
          <a:p>
            <a:pPr algn="ctr"/>
            <a:r>
              <a:rPr lang="en-IN" altLang="en-US" i="1" dirty="0">
                <a:latin typeface="Bookman Old Style"/>
              </a:rPr>
              <a:t>Uses of Data Analytics in Modern World</a:t>
            </a:r>
          </a:p>
        </p:txBody>
      </p:sp>
      <p:graphicFrame>
        <p:nvGraphicFramePr>
          <p:cNvPr id="5" name="Content Placeholder 2">
            <a:extLst>
              <a:ext uri="{FF2B5EF4-FFF2-40B4-BE49-F238E27FC236}">
                <a16:creationId xmlns:a16="http://schemas.microsoft.com/office/drawing/2014/main" id="{CD89B7FC-4D34-5B21-A637-DB3FA5541FAE}"/>
              </a:ext>
            </a:extLst>
          </p:cNvPr>
          <p:cNvGraphicFramePr>
            <a:graphicFrameLocks noGrp="1"/>
          </p:cNvGraphicFramePr>
          <p:nvPr>
            <p:ph idx="1"/>
            <p:extLst>
              <p:ext uri="{D42A27DB-BD31-4B8C-83A1-F6EECF244321}">
                <p14:modId xmlns:p14="http://schemas.microsoft.com/office/powerpoint/2010/main" val="3219938774"/>
              </p:ext>
            </p:extLst>
          </p:nvPr>
        </p:nvGraphicFramePr>
        <p:xfrm>
          <a:off x="1783" y="102046"/>
          <a:ext cx="12188434" cy="4637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3696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96603" y="685800"/>
            <a:ext cx="10720483" cy="1485900"/>
          </a:xfrm>
        </p:spPr>
        <p:txBody>
          <a:bodyPr lIns="91440" tIns="45720" rIns="91440" bIns="45720" anchorCtr="0">
            <a:normAutofit/>
          </a:bodyPr>
          <a:lstStyle/>
          <a:p>
            <a:r>
              <a:rPr lang="en-IN" altLang="en-US" sz="4100"/>
              <a:t>Data Analytics as a Domain – </a:t>
            </a:r>
            <a:r>
              <a:rPr lang="en-IN" sz="4100"/>
              <a:t>About the Subject</a:t>
            </a:r>
            <a:endParaRPr lang="en-IN" altLang="en-US" sz="4100"/>
          </a:p>
        </p:txBody>
      </p:sp>
      <p:sp>
        <p:nvSpPr>
          <p:cNvPr id="10" name="Rectangle 9">
            <a:extLst>
              <a:ext uri="{FF2B5EF4-FFF2-40B4-BE49-F238E27FC236}">
                <a16:creationId xmlns:a16="http://schemas.microsoft.com/office/drawing/2014/main" id="{6B205BC3-0B06-4EA6-9066-1A0BEC22C8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5" name="Content Placeholder 2">
            <a:extLst>
              <a:ext uri="{FF2B5EF4-FFF2-40B4-BE49-F238E27FC236}">
                <a16:creationId xmlns:a16="http://schemas.microsoft.com/office/drawing/2014/main" id="{E80CD9B0-A8BB-A554-76F0-617E34901193}"/>
              </a:ext>
            </a:extLst>
          </p:cNvPr>
          <p:cNvGraphicFramePr>
            <a:graphicFrameLocks noGrp="1"/>
          </p:cNvGraphicFramePr>
          <p:nvPr>
            <p:ph idx="1"/>
            <p:extLst>
              <p:ext uri="{D42A27DB-BD31-4B8C-83A1-F6EECF244321}">
                <p14:modId xmlns:p14="http://schemas.microsoft.com/office/powerpoint/2010/main" val="1509762910"/>
              </p:ext>
            </p:extLst>
          </p:nvPr>
        </p:nvGraphicFramePr>
        <p:xfrm>
          <a:off x="1144181" y="1905000"/>
          <a:ext cx="10372905" cy="45372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1117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90650" y="685800"/>
            <a:ext cx="9886950" cy="1485900"/>
          </a:xfrm>
        </p:spPr>
        <p:txBody>
          <a:bodyPr lIns="91440" tIns="45720" rIns="91440" bIns="45720" anchorCtr="0">
            <a:normAutofit/>
          </a:bodyPr>
          <a:lstStyle/>
          <a:p>
            <a:r>
              <a:rPr lang="en-IN" altLang="en-US" dirty="0"/>
              <a:t>Process of Data Analysis</a:t>
            </a:r>
          </a:p>
        </p:txBody>
      </p:sp>
      <p:graphicFrame>
        <p:nvGraphicFramePr>
          <p:cNvPr id="5" name="Content Placeholder 2">
            <a:extLst>
              <a:ext uri="{FF2B5EF4-FFF2-40B4-BE49-F238E27FC236}">
                <a16:creationId xmlns:a16="http://schemas.microsoft.com/office/drawing/2014/main" id="{1498B00D-B50D-D3CA-C1B1-ED1967BC7900}"/>
              </a:ext>
            </a:extLst>
          </p:cNvPr>
          <p:cNvGraphicFramePr>
            <a:graphicFrameLocks noGrp="1"/>
          </p:cNvGraphicFramePr>
          <p:nvPr>
            <p:ph idx="1"/>
            <p:extLst>
              <p:ext uri="{D42A27DB-BD31-4B8C-83A1-F6EECF244321}">
                <p14:modId xmlns:p14="http://schemas.microsoft.com/office/powerpoint/2010/main" val="3296146648"/>
              </p:ext>
            </p:extLst>
          </p:nvPr>
        </p:nvGraphicFramePr>
        <p:xfrm>
          <a:off x="1391088" y="1851527"/>
          <a:ext cx="10401196" cy="4176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5021" y="183816"/>
            <a:ext cx="10972800" cy="582613"/>
          </a:xfrm>
        </p:spPr>
        <p:txBody>
          <a:bodyPr anchor="ctr">
            <a:normAutofit/>
          </a:bodyPr>
          <a:lstStyle/>
          <a:p>
            <a:pPr>
              <a:lnSpc>
                <a:spcPct val="90000"/>
              </a:lnSpc>
            </a:pPr>
            <a:r>
              <a:rPr lang="en-IN" altLang="en-US" sz="3300" dirty="0"/>
              <a:t>Tools used for Data Analytics </a:t>
            </a:r>
          </a:p>
        </p:txBody>
      </p:sp>
      <p:pic>
        <p:nvPicPr>
          <p:cNvPr id="22" name="Picture 21" descr="Microsoft Excel logo transparent PNG 22100657 PNG">
            <a:extLst>
              <a:ext uri="{FF2B5EF4-FFF2-40B4-BE49-F238E27FC236}">
                <a16:creationId xmlns:a16="http://schemas.microsoft.com/office/drawing/2014/main" id="{84AF91AA-FFE9-8823-5162-00B99111CAF7}"/>
              </a:ext>
            </a:extLst>
          </p:cNvPr>
          <p:cNvPicPr>
            <a:picLocks noChangeAspect="1"/>
          </p:cNvPicPr>
          <p:nvPr/>
        </p:nvPicPr>
        <p:blipFill>
          <a:blip r:embed="rId2"/>
          <a:stretch>
            <a:fillRect/>
          </a:stretch>
        </p:blipFill>
        <p:spPr>
          <a:xfrm>
            <a:off x="1581151" y="766429"/>
            <a:ext cx="4143374" cy="2743200"/>
          </a:xfrm>
          <a:prstGeom prst="rect">
            <a:avLst/>
          </a:prstGeom>
        </p:spPr>
      </p:pic>
      <p:pic>
        <p:nvPicPr>
          <p:cNvPr id="23" name="Picture 22" descr="Sunil Kumar Gupta">
            <a:extLst>
              <a:ext uri="{FF2B5EF4-FFF2-40B4-BE49-F238E27FC236}">
                <a16:creationId xmlns:a16="http://schemas.microsoft.com/office/drawing/2014/main" id="{2F4A9B51-CC22-5299-04AA-BC16E83291AF}"/>
              </a:ext>
            </a:extLst>
          </p:cNvPr>
          <p:cNvPicPr>
            <a:picLocks noChangeAspect="1"/>
          </p:cNvPicPr>
          <p:nvPr/>
        </p:nvPicPr>
        <p:blipFill>
          <a:blip r:embed="rId3"/>
          <a:stretch>
            <a:fillRect/>
          </a:stretch>
        </p:blipFill>
        <p:spPr>
          <a:xfrm>
            <a:off x="6891421" y="3848100"/>
            <a:ext cx="2743200" cy="2743200"/>
          </a:xfrm>
          <a:prstGeom prst="rect">
            <a:avLst/>
          </a:prstGeom>
        </p:spPr>
      </p:pic>
      <p:pic>
        <p:nvPicPr>
          <p:cNvPr id="24" name="Picture 23" descr="Python Logo PNGs for Free Download">
            <a:extLst>
              <a:ext uri="{FF2B5EF4-FFF2-40B4-BE49-F238E27FC236}">
                <a16:creationId xmlns:a16="http://schemas.microsoft.com/office/drawing/2014/main" id="{0D643D33-BF6E-1B6E-D2A8-397539CCB44A}"/>
              </a:ext>
            </a:extLst>
          </p:cNvPr>
          <p:cNvPicPr>
            <a:picLocks noChangeAspect="1"/>
          </p:cNvPicPr>
          <p:nvPr/>
        </p:nvPicPr>
        <p:blipFill>
          <a:blip r:embed="rId4"/>
          <a:stretch>
            <a:fillRect/>
          </a:stretch>
        </p:blipFill>
        <p:spPr>
          <a:xfrm>
            <a:off x="2066034" y="3978454"/>
            <a:ext cx="2743200" cy="2743200"/>
          </a:xfrm>
          <a:prstGeom prst="rect">
            <a:avLst/>
          </a:prstGeom>
        </p:spPr>
      </p:pic>
      <p:pic>
        <p:nvPicPr>
          <p:cNvPr id="26" name="Picture 25" descr="Power Bi Logo, Interactive Dashboard, Analytics Tool, Business ...">
            <a:extLst>
              <a:ext uri="{FF2B5EF4-FFF2-40B4-BE49-F238E27FC236}">
                <a16:creationId xmlns:a16="http://schemas.microsoft.com/office/drawing/2014/main" id="{4449AA95-C4C3-C04F-BD0C-DC440C14A1EC}"/>
              </a:ext>
            </a:extLst>
          </p:cNvPr>
          <p:cNvPicPr>
            <a:picLocks noChangeAspect="1"/>
          </p:cNvPicPr>
          <p:nvPr/>
        </p:nvPicPr>
        <p:blipFill>
          <a:blip r:embed="rId5"/>
          <a:stretch>
            <a:fillRect/>
          </a:stretch>
        </p:blipFill>
        <p:spPr>
          <a:xfrm>
            <a:off x="6397500" y="1221531"/>
            <a:ext cx="3731042" cy="2171467"/>
          </a:xfrm>
          <a:prstGeom prst="rect">
            <a:avLst/>
          </a:prstGeom>
        </p:spPr>
      </p:pic>
    </p:spTree>
    <p:extLst>
      <p:ext uri="{BB962C8B-B14F-4D97-AF65-F5344CB8AC3E}">
        <p14:creationId xmlns:p14="http://schemas.microsoft.com/office/powerpoint/2010/main" val="3779676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06937-CE7B-1D11-F7A7-918CCB15DCB0}"/>
              </a:ext>
            </a:extLst>
          </p:cNvPr>
          <p:cNvSpPr>
            <a:spLocks noGrp="1"/>
          </p:cNvSpPr>
          <p:nvPr>
            <p:ph type="title"/>
          </p:nvPr>
        </p:nvSpPr>
        <p:spPr>
          <a:xfrm>
            <a:off x="1371600" y="685800"/>
            <a:ext cx="10130971" cy="1485900"/>
          </a:xfrm>
        </p:spPr>
        <p:txBody>
          <a:bodyPr>
            <a:normAutofit/>
          </a:bodyPr>
          <a:lstStyle/>
          <a:p>
            <a:r>
              <a:rPr lang="en-US" dirty="0"/>
              <a:t>About software we will be using(to update)</a:t>
            </a:r>
          </a:p>
        </p:txBody>
      </p:sp>
      <p:sp>
        <p:nvSpPr>
          <p:cNvPr id="3" name="Content Placeholder 2">
            <a:extLst>
              <a:ext uri="{FF2B5EF4-FFF2-40B4-BE49-F238E27FC236}">
                <a16:creationId xmlns:a16="http://schemas.microsoft.com/office/drawing/2014/main" id="{C55D5B43-F953-759D-8330-1DABA748383F}"/>
              </a:ext>
            </a:extLst>
          </p:cNvPr>
          <p:cNvSpPr>
            <a:spLocks noGrp="1"/>
          </p:cNvSpPr>
          <p:nvPr>
            <p:ph idx="1"/>
          </p:nvPr>
        </p:nvSpPr>
        <p:spPr>
          <a:xfrm>
            <a:off x="1446244" y="1698170"/>
            <a:ext cx="10130971" cy="4758613"/>
          </a:xfrm>
        </p:spPr>
        <p:txBody>
          <a:bodyPr vert="horz" lIns="91440" tIns="45720" rIns="91440" bIns="45720" rtlCol="0" anchor="t">
            <a:normAutofit lnSpcReduction="10000"/>
          </a:bodyPr>
          <a:lstStyle/>
          <a:p>
            <a:pPr marL="383540" indent="-383540"/>
            <a:r>
              <a:rPr lang="en-US" b="1" dirty="0"/>
              <a:t>Course Delivery</a:t>
            </a:r>
            <a:r>
              <a:rPr lang="en-US" dirty="0"/>
              <a:t>: The entire course, except for the initial sessions, will be conducted on </a:t>
            </a:r>
            <a:r>
              <a:rPr lang="en-US" dirty="0">
                <a:highlight>
                  <a:srgbClr val="FFFF00"/>
                </a:highlight>
              </a:rPr>
              <a:t>Excel, Microsoft Power BI Desktop, Python and SQL</a:t>
            </a:r>
            <a:r>
              <a:rPr lang="en-US" dirty="0"/>
              <a:t>.</a:t>
            </a:r>
          </a:p>
          <a:p>
            <a:pPr marL="383540" indent="-383540"/>
            <a:r>
              <a:rPr lang="en-US" b="1" dirty="0"/>
              <a:t>Accessibility</a:t>
            </a:r>
            <a:r>
              <a:rPr lang="en-US" dirty="0"/>
              <a:t>: Power BI Desktop can be accessed using a laptop or desktop.</a:t>
            </a:r>
          </a:p>
          <a:p>
            <a:pPr marL="383540" indent="-383540"/>
            <a:r>
              <a:rPr lang="en-US" b="1" dirty="0"/>
              <a:t>Device Requirements</a:t>
            </a:r>
            <a:r>
              <a:rPr lang="en-US" dirty="0"/>
              <a:t>:</a:t>
            </a:r>
          </a:p>
          <a:p>
            <a:pPr lvl="1" indent="-383540"/>
            <a:r>
              <a:rPr lang="en-US" dirty="0"/>
              <a:t>For iOS Devices: iOS 17.0 or later. </a:t>
            </a:r>
            <a:r>
              <a:rPr lang="en-IN" b="0" i="0" u="none" strike="noStrike" dirty="0">
                <a:solidFill>
                  <a:srgbClr val="4B4B4B"/>
                </a:solidFill>
                <a:effectLst/>
                <a:latin typeface="adobe-clean"/>
              </a:rPr>
              <a:t>Apple iPhone 8 Plus onwards</a:t>
            </a:r>
            <a:endParaRPr lang="en-US" dirty="0"/>
          </a:p>
          <a:p>
            <a:pPr lvl="1" indent="-383540"/>
            <a:r>
              <a:rPr lang="en-US" dirty="0"/>
              <a:t>For Windows Devices: Minimum 4GB RAM. Running on Windows OS 7 or higher.</a:t>
            </a:r>
          </a:p>
          <a:p>
            <a:pPr marL="383540" indent="-383540"/>
            <a:r>
              <a:rPr lang="en-US" dirty="0"/>
              <a:t>Ensure sufficient memory is available to store the program and its resources.</a:t>
            </a:r>
          </a:p>
          <a:p>
            <a:pPr marL="383540" indent="-383540"/>
            <a:r>
              <a:rPr lang="en-US" dirty="0"/>
              <a:t>Powe BI Desktop: </a:t>
            </a:r>
            <a:r>
              <a:rPr lang="en-US" dirty="0">
                <a:hlinkClick r:id="rId2"/>
              </a:rPr>
              <a:t>https://www.microsoft.com/en-us/power-platform/products/power-bi/downloads</a:t>
            </a:r>
            <a:endParaRPr lang="en-US" dirty="0"/>
          </a:p>
          <a:p>
            <a:pPr marL="383540" indent="-383540"/>
            <a:r>
              <a:rPr lang="en-US" dirty="0"/>
              <a:t>Python : </a:t>
            </a:r>
            <a:r>
              <a:rPr lang="en-US" dirty="0">
                <a:hlinkClick r:id="rId3"/>
              </a:rPr>
              <a:t>https://www.python.org/downloads/</a:t>
            </a:r>
            <a:endParaRPr lang="en-US" dirty="0"/>
          </a:p>
          <a:p>
            <a:pPr marL="383540" indent="-383540"/>
            <a:r>
              <a:rPr lang="en-US" dirty="0"/>
              <a:t>MYSQL Workbench : </a:t>
            </a:r>
            <a:r>
              <a:rPr lang="en-US" dirty="0">
                <a:hlinkClick r:id="rId4"/>
              </a:rPr>
              <a:t>https://dev.mysql.com/downloads/workbench/</a:t>
            </a:r>
            <a:endParaRPr lang="en-US" dirty="0"/>
          </a:p>
          <a:p>
            <a:pPr marL="383540" indent="-383540"/>
            <a:r>
              <a:rPr lang="en-US" dirty="0"/>
              <a:t>Excel  - you can use Excel whatever version available in your system.</a:t>
            </a:r>
          </a:p>
          <a:p>
            <a:pPr marL="383540" indent="-383540"/>
            <a:endParaRPr lang="en-US" dirty="0"/>
          </a:p>
        </p:txBody>
      </p:sp>
    </p:spTree>
    <p:extLst>
      <p:ext uri="{BB962C8B-B14F-4D97-AF65-F5344CB8AC3E}">
        <p14:creationId xmlns:p14="http://schemas.microsoft.com/office/powerpoint/2010/main" val="63429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69805AF4-7989-43AB-9A60-14E3F851FB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554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0036B63-B0EC-4AF3-95D3-2E2DCA25F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background with white text&#10;&#10;Description automatically generated">
            <a:extLst>
              <a:ext uri="{FF2B5EF4-FFF2-40B4-BE49-F238E27FC236}">
                <a16:creationId xmlns:a16="http://schemas.microsoft.com/office/drawing/2014/main" id="{D21C4674-C316-1D38-25DD-962426EBE1C1}"/>
              </a:ext>
            </a:extLst>
          </p:cNvPr>
          <p:cNvPicPr>
            <a:picLocks noChangeAspect="1"/>
          </p:cNvPicPr>
          <p:nvPr/>
        </p:nvPicPr>
        <p:blipFill>
          <a:blip r:embed="rId2"/>
          <a:stretch>
            <a:fillRect/>
          </a:stretch>
        </p:blipFill>
        <p:spPr>
          <a:xfrm>
            <a:off x="1088572" y="800100"/>
            <a:ext cx="10014856" cy="5257801"/>
          </a:xfrm>
          <a:prstGeom prst="rect">
            <a:avLst/>
          </a:prstGeom>
        </p:spPr>
      </p:pic>
    </p:spTree>
    <p:extLst>
      <p:ext uri="{BB962C8B-B14F-4D97-AF65-F5344CB8AC3E}">
        <p14:creationId xmlns:p14="http://schemas.microsoft.com/office/powerpoint/2010/main" val="1902324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C5F79084-E805-48DA-8EAC-CD5FD493EE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 name="Rectangle 57">
            <a:extLst>
              <a:ext uri="{FF2B5EF4-FFF2-40B4-BE49-F238E27FC236}">
                <a16:creationId xmlns:a16="http://schemas.microsoft.com/office/drawing/2014/main" id="{E0FDBC02-48C1-48B7-BF61-2D10CC72F03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462AAD0-42E1-4737-9C88-868AC0C1DD9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B8A582B3-A3B3-49D5-BBF0-98FEA4C2FB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26240" y="-4668"/>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EE143F64-D44C-4123-A2E1-FEC1C3F30C1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94325"/>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7DB13B9-D0D4-4393-AFAB-2B39448B22F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26240" y="6494325"/>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structure&#10;&#10;Description automatically generated">
            <a:extLst>
              <a:ext uri="{FF2B5EF4-FFF2-40B4-BE49-F238E27FC236}">
                <a16:creationId xmlns:a16="http://schemas.microsoft.com/office/drawing/2014/main" id="{389B0F38-B5D3-EDFC-B839-8CB5E012C33C}"/>
              </a:ext>
            </a:extLst>
          </p:cNvPr>
          <p:cNvPicPr>
            <a:picLocks noChangeAspect="1"/>
          </p:cNvPicPr>
          <p:nvPr/>
        </p:nvPicPr>
        <p:blipFill>
          <a:blip r:embed="rId2"/>
          <a:srcRect r="4657"/>
          <a:stretch/>
        </p:blipFill>
        <p:spPr>
          <a:xfrm>
            <a:off x="160867" y="160867"/>
            <a:ext cx="11870265" cy="6536266"/>
          </a:xfrm>
          <a:prstGeom prst="rect">
            <a:avLst/>
          </a:prstGeom>
        </p:spPr>
      </p:pic>
    </p:spTree>
    <p:extLst>
      <p:ext uri="{BB962C8B-B14F-4D97-AF65-F5344CB8AC3E}">
        <p14:creationId xmlns:p14="http://schemas.microsoft.com/office/powerpoint/2010/main" val="4010126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a:extLst>
              <a:ext uri="{FF2B5EF4-FFF2-40B4-BE49-F238E27FC236}">
                <a16:creationId xmlns:a16="http://schemas.microsoft.com/office/drawing/2014/main" id="{69805AF4-7989-43AB-9A60-14E3F851FB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8098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0036B63-B0EC-4AF3-95D3-2E2DCA25F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diagram&#10;&#10;Description automatically generated">
            <a:extLst>
              <a:ext uri="{FF2B5EF4-FFF2-40B4-BE49-F238E27FC236}">
                <a16:creationId xmlns:a16="http://schemas.microsoft.com/office/drawing/2014/main" id="{98EABD9A-1159-789B-7B8D-20D3110C5BD0}"/>
              </a:ext>
            </a:extLst>
          </p:cNvPr>
          <p:cNvPicPr>
            <a:picLocks noChangeAspect="1"/>
          </p:cNvPicPr>
          <p:nvPr/>
        </p:nvPicPr>
        <p:blipFill>
          <a:blip r:embed="rId2"/>
          <a:stretch>
            <a:fillRect/>
          </a:stretch>
        </p:blipFill>
        <p:spPr>
          <a:xfrm>
            <a:off x="591918" y="484790"/>
            <a:ext cx="11130782" cy="5879662"/>
          </a:xfrm>
          <a:prstGeom prst="rect">
            <a:avLst/>
          </a:prstGeom>
        </p:spPr>
      </p:pic>
    </p:spTree>
    <p:extLst>
      <p:ext uri="{BB962C8B-B14F-4D97-AF65-F5344CB8AC3E}">
        <p14:creationId xmlns:p14="http://schemas.microsoft.com/office/powerpoint/2010/main" val="3526580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a:extLst>
              <a:ext uri="{FF2B5EF4-FFF2-40B4-BE49-F238E27FC236}">
                <a16:creationId xmlns:a16="http://schemas.microsoft.com/office/drawing/2014/main" id="{9F8240C3-AA7A-4675-B08A-687C8BF5D5B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98FE5FF-6839-4B2B-BA4F-78C87E8EDE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17E82A2-6E5A-4DC5-921D-8ABC19E53E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8"/>
            <a:ext cx="10905067" cy="55710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ue background with white text&#10;&#10;Description automatically generated">
            <a:extLst>
              <a:ext uri="{FF2B5EF4-FFF2-40B4-BE49-F238E27FC236}">
                <a16:creationId xmlns:a16="http://schemas.microsoft.com/office/drawing/2014/main" id="{09053AF0-59E9-0228-CEEF-AC7EEA594210}"/>
              </a:ext>
            </a:extLst>
          </p:cNvPr>
          <p:cNvPicPr>
            <a:picLocks noChangeAspect="1"/>
          </p:cNvPicPr>
          <p:nvPr/>
        </p:nvPicPr>
        <p:blipFill>
          <a:blip r:embed="rId2"/>
          <a:stretch>
            <a:fillRect/>
          </a:stretch>
        </p:blipFill>
        <p:spPr>
          <a:xfrm>
            <a:off x="1812463" y="1123527"/>
            <a:ext cx="8567069" cy="4604800"/>
          </a:xfrm>
          <a:prstGeom prst="rect">
            <a:avLst/>
          </a:prstGeom>
        </p:spPr>
      </p:pic>
    </p:spTree>
    <p:extLst>
      <p:ext uri="{BB962C8B-B14F-4D97-AF65-F5344CB8AC3E}">
        <p14:creationId xmlns:p14="http://schemas.microsoft.com/office/powerpoint/2010/main" val="270782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69805AF4-7989-43AB-9A60-14E3F851FB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857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0036B63-B0EC-4AF3-95D3-2E2DCA25F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E6F0DC3-E152-4F2B-0D3A-0375D58DDA83}"/>
              </a:ext>
            </a:extLst>
          </p:cNvPr>
          <p:cNvPicPr>
            <a:picLocks noChangeAspect="1"/>
          </p:cNvPicPr>
          <p:nvPr/>
        </p:nvPicPr>
        <p:blipFill>
          <a:blip r:embed="rId2"/>
          <a:stretch>
            <a:fillRect/>
          </a:stretch>
        </p:blipFill>
        <p:spPr>
          <a:xfrm>
            <a:off x="1333500" y="809625"/>
            <a:ext cx="9525000" cy="5238750"/>
          </a:xfrm>
          <a:prstGeom prst="rect">
            <a:avLst/>
          </a:prstGeom>
        </p:spPr>
      </p:pic>
    </p:spTree>
    <p:extLst>
      <p:ext uri="{BB962C8B-B14F-4D97-AF65-F5344CB8AC3E}">
        <p14:creationId xmlns:p14="http://schemas.microsoft.com/office/powerpoint/2010/main" val="3395024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0AEB441-586E-9709-43F7-4FB7C33E5FE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ABDD748-199D-FA5A-B440-7BB28C95B03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3CBE0D7E-D334-7B8F-80FC-2537ACEB0E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857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4473912-D01A-8227-7292-D4B1ECAAEBE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4F6C9D5-C7D2-6C12-7EB7-8A8C9586934E}"/>
              </a:ext>
            </a:extLst>
          </p:cNvPr>
          <p:cNvPicPr>
            <a:picLocks noChangeAspect="1"/>
          </p:cNvPicPr>
          <p:nvPr/>
        </p:nvPicPr>
        <p:blipFill>
          <a:blip r:embed="rId2"/>
          <a:stretch>
            <a:fillRect/>
          </a:stretch>
        </p:blipFill>
        <p:spPr>
          <a:xfrm>
            <a:off x="1105787" y="571117"/>
            <a:ext cx="9663112" cy="5723358"/>
          </a:xfrm>
          <a:prstGeom prst="rect">
            <a:avLst/>
          </a:prstGeom>
        </p:spPr>
      </p:pic>
    </p:spTree>
    <p:extLst>
      <p:ext uri="{BB962C8B-B14F-4D97-AF65-F5344CB8AC3E}">
        <p14:creationId xmlns:p14="http://schemas.microsoft.com/office/powerpoint/2010/main" val="870952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9E8A3474-A3A2-4200-9E98-3433E3D193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a:extLst>
              <a:ext uri="{FF2B5EF4-FFF2-40B4-BE49-F238E27FC236}">
                <a16:creationId xmlns:a16="http://schemas.microsoft.com/office/drawing/2014/main" id="{9A5A698B-F644-41A9-BD67-6316EDB7A9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BA916D8B-8E5E-442C-93D2-F10B324962F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41" name="Freeform 6">
              <a:extLst>
                <a:ext uri="{FF2B5EF4-FFF2-40B4-BE49-F238E27FC236}">
                  <a16:creationId xmlns:a16="http://schemas.microsoft.com/office/drawing/2014/main" id="{E444B8DA-C76F-4B2F-AFC5-378726411B5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42" name="Freeform 6">
              <a:extLst>
                <a:ext uri="{FF2B5EF4-FFF2-40B4-BE49-F238E27FC236}">
                  <a16:creationId xmlns:a16="http://schemas.microsoft.com/office/drawing/2014/main" id="{7E2B20CB-FF0A-40D4-9C62-172DA9BB989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
        <p:nvSpPr>
          <p:cNvPr id="44" name="Rectangle 43">
            <a:extLst>
              <a:ext uri="{FF2B5EF4-FFF2-40B4-BE49-F238E27FC236}">
                <a16:creationId xmlns:a16="http://schemas.microsoft.com/office/drawing/2014/main" id="{35E7CCC3-B903-495C-835D-87A78FB05A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462" y="968188"/>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84170D1-B32B-4D7D-AA30-9D84747A05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70" y="981884"/>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ales report showing monthly revenue growth over the past year.">
            <a:extLst>
              <a:ext uri="{FF2B5EF4-FFF2-40B4-BE49-F238E27FC236}">
                <a16:creationId xmlns:a16="http://schemas.microsoft.com/office/drawing/2014/main" id="{AC9A0116-1C50-40F6-976A-9C34133FCD47}"/>
              </a:ext>
            </a:extLst>
          </p:cNvPr>
          <p:cNvPicPr>
            <a:picLocks noChangeAspect="1"/>
          </p:cNvPicPr>
          <p:nvPr/>
        </p:nvPicPr>
        <p:blipFill>
          <a:blip r:embed="rId2"/>
          <a:stretch>
            <a:fillRect/>
          </a:stretch>
        </p:blipFill>
        <p:spPr>
          <a:xfrm>
            <a:off x="1744411" y="1289920"/>
            <a:ext cx="3007417" cy="4250767"/>
          </a:xfrm>
          <a:prstGeom prst="rect">
            <a:avLst/>
          </a:prstGeom>
        </p:spPr>
      </p:pic>
      <p:pic>
        <p:nvPicPr>
          <p:cNvPr id="2" name="Picture 1" descr="A blue background with white text&#10;&#10;Description automatically generated">
            <a:extLst>
              <a:ext uri="{FF2B5EF4-FFF2-40B4-BE49-F238E27FC236}">
                <a16:creationId xmlns:a16="http://schemas.microsoft.com/office/drawing/2014/main" id="{7AF561C8-8DF6-B549-77DE-E98A51620DA5}"/>
              </a:ext>
            </a:extLst>
          </p:cNvPr>
          <p:cNvPicPr>
            <a:picLocks noChangeAspect="1"/>
          </p:cNvPicPr>
          <p:nvPr/>
        </p:nvPicPr>
        <p:blipFill>
          <a:blip r:embed="rId3"/>
          <a:stretch>
            <a:fillRect/>
          </a:stretch>
        </p:blipFill>
        <p:spPr>
          <a:xfrm>
            <a:off x="5105458" y="2220368"/>
            <a:ext cx="5935974" cy="3218711"/>
          </a:xfrm>
          <a:prstGeom prst="rect">
            <a:avLst/>
          </a:prstGeom>
        </p:spPr>
      </p:pic>
    </p:spTree>
    <p:extLst>
      <p:ext uri="{BB962C8B-B14F-4D97-AF65-F5344CB8AC3E}">
        <p14:creationId xmlns:p14="http://schemas.microsoft.com/office/powerpoint/2010/main" val="18974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EF209BE-BA06-9798-EECE-48775454CCAD}"/>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61BF9981-334B-A5F9-027D-6F3F7F6D6FF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a:extLst>
              <a:ext uri="{FF2B5EF4-FFF2-40B4-BE49-F238E27FC236}">
                <a16:creationId xmlns:a16="http://schemas.microsoft.com/office/drawing/2014/main" id="{4C29A140-AFF9-E207-A447-0CC4955F13C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4523F0BF-0BB0-ED23-F420-53E1D4CF8B5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41" name="Freeform 6">
              <a:extLst>
                <a:ext uri="{FF2B5EF4-FFF2-40B4-BE49-F238E27FC236}">
                  <a16:creationId xmlns:a16="http://schemas.microsoft.com/office/drawing/2014/main" id="{10F4A228-A3DA-5011-9B08-27918DA211F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42" name="Freeform 6">
              <a:extLst>
                <a:ext uri="{FF2B5EF4-FFF2-40B4-BE49-F238E27FC236}">
                  <a16:creationId xmlns:a16="http://schemas.microsoft.com/office/drawing/2014/main" id="{03F6CF00-3FB0-2215-5573-CDC6677A99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
        <p:nvSpPr>
          <p:cNvPr id="44" name="Rectangle 43">
            <a:extLst>
              <a:ext uri="{FF2B5EF4-FFF2-40B4-BE49-F238E27FC236}">
                <a16:creationId xmlns:a16="http://schemas.microsoft.com/office/drawing/2014/main" id="{EDC0694B-804B-8BD5-FE03-9C9A2F2F4CE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462" y="968188"/>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D0FA486-7AD6-CE3C-2D2A-08F40E5B939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70" y="981884"/>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FD31BC9-AFD1-865E-1A29-44AD5170CAAD}"/>
              </a:ext>
            </a:extLst>
          </p:cNvPr>
          <p:cNvPicPr>
            <a:picLocks noChangeAspect="1"/>
          </p:cNvPicPr>
          <p:nvPr/>
        </p:nvPicPr>
        <p:blipFill>
          <a:blip r:embed="rId2"/>
          <a:srcRect t="3100" b="8217"/>
          <a:stretch/>
        </p:blipFill>
        <p:spPr>
          <a:xfrm>
            <a:off x="323885" y="159881"/>
            <a:ext cx="11614769" cy="6510846"/>
          </a:xfrm>
          <a:prstGeom prst="rect">
            <a:avLst/>
          </a:prstGeom>
        </p:spPr>
      </p:pic>
    </p:spTree>
    <p:extLst>
      <p:ext uri="{BB962C8B-B14F-4D97-AF65-F5344CB8AC3E}">
        <p14:creationId xmlns:p14="http://schemas.microsoft.com/office/powerpoint/2010/main" val="121830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8A3474-A3A2-4200-9E98-3433E3D193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720A4BE3-BDC1-44E6-AD6B-7402831DB5C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C6E7E04C-C1B0-4864-907E-EEE1D90233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038446" y="1749415"/>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
        <p:nvSpPr>
          <p:cNvPr id="15" name="Rectangle 14">
            <a:extLst>
              <a:ext uri="{FF2B5EF4-FFF2-40B4-BE49-F238E27FC236}">
                <a16:creationId xmlns:a16="http://schemas.microsoft.com/office/drawing/2014/main" id="{210BECB7-B0E8-4970-9104-6873E40CF72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868" y="160867"/>
            <a:ext cx="10908160" cy="57768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gital financial graph">
            <a:extLst>
              <a:ext uri="{FF2B5EF4-FFF2-40B4-BE49-F238E27FC236}">
                <a16:creationId xmlns:a16="http://schemas.microsoft.com/office/drawing/2014/main" id="{3473D70E-964C-DF2B-3D6F-63FC3DEC6E1B}"/>
              </a:ext>
            </a:extLst>
          </p:cNvPr>
          <p:cNvPicPr>
            <a:picLocks noChangeAspect="1"/>
          </p:cNvPicPr>
          <p:nvPr/>
        </p:nvPicPr>
        <p:blipFill>
          <a:blip r:embed="rId2"/>
          <a:srcRect l="28418" r="19471" b="-3"/>
          <a:stretch/>
        </p:blipFill>
        <p:spPr>
          <a:xfrm>
            <a:off x="590578" y="482600"/>
            <a:ext cx="4755522" cy="5133391"/>
          </a:xfrm>
          <a:prstGeom prst="rect">
            <a:avLst/>
          </a:prstGeom>
        </p:spPr>
      </p:pic>
      <p:pic>
        <p:nvPicPr>
          <p:cNvPr id="2" name="Picture 1" descr="A blue background with white text&#10;&#10;Description automatically generated">
            <a:extLst>
              <a:ext uri="{FF2B5EF4-FFF2-40B4-BE49-F238E27FC236}">
                <a16:creationId xmlns:a16="http://schemas.microsoft.com/office/drawing/2014/main" id="{396C2587-963D-CB1E-39F7-6901CA79A73E}"/>
              </a:ext>
            </a:extLst>
          </p:cNvPr>
          <p:cNvPicPr>
            <a:picLocks noChangeAspect="1"/>
          </p:cNvPicPr>
          <p:nvPr/>
        </p:nvPicPr>
        <p:blipFill>
          <a:blip r:embed="rId3"/>
          <a:stretch>
            <a:fillRect/>
          </a:stretch>
        </p:blipFill>
        <p:spPr>
          <a:xfrm>
            <a:off x="5515126" y="2450459"/>
            <a:ext cx="5319059" cy="2728356"/>
          </a:xfrm>
          <a:prstGeom prst="rect">
            <a:avLst/>
          </a:prstGeom>
        </p:spPr>
      </p:pic>
    </p:spTree>
    <p:extLst>
      <p:ext uri="{BB962C8B-B14F-4D97-AF65-F5344CB8AC3E}">
        <p14:creationId xmlns:p14="http://schemas.microsoft.com/office/powerpoint/2010/main" val="672639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FC4176-677F-0574-66FC-64C5ED35266C}"/>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8D7D32FE-FA45-C265-7965-D126B782A53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a:extLst>
              <a:ext uri="{FF2B5EF4-FFF2-40B4-BE49-F238E27FC236}">
                <a16:creationId xmlns:a16="http://schemas.microsoft.com/office/drawing/2014/main" id="{38B48F99-E00C-8A53-6592-86BA222CE3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A14FB6D4-15AF-6AD5-E04F-267599E0F8BC}"/>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41" name="Freeform 6">
              <a:extLst>
                <a:ext uri="{FF2B5EF4-FFF2-40B4-BE49-F238E27FC236}">
                  <a16:creationId xmlns:a16="http://schemas.microsoft.com/office/drawing/2014/main" id="{8E734838-649F-8D11-EE4D-D7995654CA5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42" name="Freeform 6">
              <a:extLst>
                <a:ext uri="{FF2B5EF4-FFF2-40B4-BE49-F238E27FC236}">
                  <a16:creationId xmlns:a16="http://schemas.microsoft.com/office/drawing/2014/main" id="{7FD54EF3-4A2F-A1CF-5A2F-9A45BDBC536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
        <p:nvSpPr>
          <p:cNvPr id="44" name="Rectangle 43">
            <a:extLst>
              <a:ext uri="{FF2B5EF4-FFF2-40B4-BE49-F238E27FC236}">
                <a16:creationId xmlns:a16="http://schemas.microsoft.com/office/drawing/2014/main" id="{43C8F32B-2749-F02D-BB84-F74030EA41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462" y="968188"/>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4B7D285-52D3-3CA4-C2D5-CFBE4F6585F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70" y="981884"/>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CA2D12A-45A9-196C-5C11-E8AF81C39B90}"/>
              </a:ext>
            </a:extLst>
          </p:cNvPr>
          <p:cNvPicPr>
            <a:picLocks noChangeAspect="1"/>
          </p:cNvPicPr>
          <p:nvPr/>
        </p:nvPicPr>
        <p:blipFill>
          <a:blip r:embed="rId2"/>
          <a:srcRect b="14580"/>
          <a:stretch/>
        </p:blipFill>
        <p:spPr>
          <a:xfrm>
            <a:off x="478095" y="336391"/>
            <a:ext cx="11387840" cy="6316399"/>
          </a:xfrm>
          <a:prstGeom prst="rect">
            <a:avLst/>
          </a:prstGeom>
        </p:spPr>
      </p:pic>
    </p:spTree>
    <p:extLst>
      <p:ext uri="{BB962C8B-B14F-4D97-AF65-F5344CB8AC3E}">
        <p14:creationId xmlns:p14="http://schemas.microsoft.com/office/powerpoint/2010/main" val="1064800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E8A3474-A3A2-4200-9E98-3433E3D193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Rectangle 33">
            <a:extLst>
              <a:ext uri="{FF2B5EF4-FFF2-40B4-BE49-F238E27FC236}">
                <a16:creationId xmlns:a16="http://schemas.microsoft.com/office/drawing/2014/main" id="{720A4BE3-BDC1-44E6-AD6B-7402831DB5C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6">
            <a:extLst>
              <a:ext uri="{FF2B5EF4-FFF2-40B4-BE49-F238E27FC236}">
                <a16:creationId xmlns:a16="http://schemas.microsoft.com/office/drawing/2014/main" id="{C6E7E04C-C1B0-4864-907E-EEE1D902334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038446" y="1749415"/>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
        <p:nvSpPr>
          <p:cNvPr id="36" name="Rectangle 35">
            <a:extLst>
              <a:ext uri="{FF2B5EF4-FFF2-40B4-BE49-F238E27FC236}">
                <a16:creationId xmlns:a16="http://schemas.microsoft.com/office/drawing/2014/main" id="{210BECB7-B0E8-4970-9104-6873E40CF72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868" y="160867"/>
            <a:ext cx="10908160" cy="57768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inancial graphs on a dark display">
            <a:extLst>
              <a:ext uri="{FF2B5EF4-FFF2-40B4-BE49-F238E27FC236}">
                <a16:creationId xmlns:a16="http://schemas.microsoft.com/office/drawing/2014/main" id="{FECD3684-20ED-0536-FF37-DE79248EE72F}"/>
              </a:ext>
            </a:extLst>
          </p:cNvPr>
          <p:cNvPicPr>
            <a:picLocks noChangeAspect="1"/>
          </p:cNvPicPr>
          <p:nvPr/>
        </p:nvPicPr>
        <p:blipFill>
          <a:blip r:embed="rId2"/>
          <a:srcRect l="26125" r="31934"/>
          <a:stretch/>
        </p:blipFill>
        <p:spPr>
          <a:xfrm>
            <a:off x="1245942" y="482600"/>
            <a:ext cx="3444792" cy="5133391"/>
          </a:xfrm>
          <a:prstGeom prst="rect">
            <a:avLst/>
          </a:prstGeom>
        </p:spPr>
      </p:pic>
      <p:pic>
        <p:nvPicPr>
          <p:cNvPr id="2" name="Picture 1" descr="A blue background with white text&#10;&#10;Description automatically generated">
            <a:extLst>
              <a:ext uri="{FF2B5EF4-FFF2-40B4-BE49-F238E27FC236}">
                <a16:creationId xmlns:a16="http://schemas.microsoft.com/office/drawing/2014/main" id="{8C6A7BB9-9890-E017-22D1-33148AF46982}"/>
              </a:ext>
            </a:extLst>
          </p:cNvPr>
          <p:cNvPicPr>
            <a:picLocks noChangeAspect="1"/>
          </p:cNvPicPr>
          <p:nvPr/>
        </p:nvPicPr>
        <p:blipFill>
          <a:blip r:embed="rId3"/>
          <a:stretch>
            <a:fillRect/>
          </a:stretch>
        </p:blipFill>
        <p:spPr>
          <a:xfrm>
            <a:off x="4886809" y="1962041"/>
            <a:ext cx="6061007" cy="3103612"/>
          </a:xfrm>
          <a:prstGeom prst="rect">
            <a:avLst/>
          </a:prstGeom>
        </p:spPr>
      </p:pic>
    </p:spTree>
    <p:extLst>
      <p:ext uri="{BB962C8B-B14F-4D97-AF65-F5344CB8AC3E}">
        <p14:creationId xmlns:p14="http://schemas.microsoft.com/office/powerpoint/2010/main" val="1308062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7A36BBC-CD7F-30AC-2703-1A903AD248AF}"/>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AF317B6-2FDE-E043-169E-65F9C72F1C6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Rectangle 33">
            <a:extLst>
              <a:ext uri="{FF2B5EF4-FFF2-40B4-BE49-F238E27FC236}">
                <a16:creationId xmlns:a16="http://schemas.microsoft.com/office/drawing/2014/main" id="{E1D5AF80-4161-988F-BB21-F740BF3895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6">
            <a:extLst>
              <a:ext uri="{FF2B5EF4-FFF2-40B4-BE49-F238E27FC236}">
                <a16:creationId xmlns:a16="http://schemas.microsoft.com/office/drawing/2014/main" id="{4C90D587-0925-DCD4-8EE0-5217C4B1A08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038446" y="1749415"/>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
        <p:nvSpPr>
          <p:cNvPr id="36" name="Rectangle 35">
            <a:extLst>
              <a:ext uri="{FF2B5EF4-FFF2-40B4-BE49-F238E27FC236}">
                <a16:creationId xmlns:a16="http://schemas.microsoft.com/office/drawing/2014/main" id="{2E654132-28D6-909F-5EAC-1C5499D2AC8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868" y="160867"/>
            <a:ext cx="10908160" cy="57768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C710A5-4A7D-2AC8-C658-A4EF0ADD03B6}"/>
              </a:ext>
            </a:extLst>
          </p:cNvPr>
          <p:cNvPicPr>
            <a:picLocks noChangeAspect="1"/>
          </p:cNvPicPr>
          <p:nvPr/>
        </p:nvPicPr>
        <p:blipFill>
          <a:blip r:embed="rId2"/>
          <a:srcRect t="8682" b="5115"/>
          <a:stretch/>
        </p:blipFill>
        <p:spPr>
          <a:xfrm>
            <a:off x="160867" y="160866"/>
            <a:ext cx="11637745" cy="6356891"/>
          </a:xfrm>
          <a:prstGeom prst="rect">
            <a:avLst/>
          </a:prstGeom>
        </p:spPr>
      </p:pic>
    </p:spTree>
    <p:extLst>
      <p:ext uri="{BB962C8B-B14F-4D97-AF65-F5344CB8AC3E}">
        <p14:creationId xmlns:p14="http://schemas.microsoft.com/office/powerpoint/2010/main" val="2251076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8A3474-A3A2-4200-9E98-3433E3D193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9A5A698B-F644-41A9-BD67-6316EDB7A95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A916D8B-8E5E-442C-93D2-F10B324962F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4" name="Freeform 6">
              <a:extLst>
                <a:ext uri="{FF2B5EF4-FFF2-40B4-BE49-F238E27FC236}">
                  <a16:creationId xmlns:a16="http://schemas.microsoft.com/office/drawing/2014/main" id="{E444B8DA-C76F-4B2F-AFC5-378726411B5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5" name="Freeform 6">
              <a:extLst>
                <a:ext uri="{FF2B5EF4-FFF2-40B4-BE49-F238E27FC236}">
                  <a16:creationId xmlns:a16="http://schemas.microsoft.com/office/drawing/2014/main" id="{7E2B20CB-FF0A-40D4-9C62-172DA9BB989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
        <p:nvSpPr>
          <p:cNvPr id="17" name="Rectangle 16">
            <a:extLst>
              <a:ext uri="{FF2B5EF4-FFF2-40B4-BE49-F238E27FC236}">
                <a16:creationId xmlns:a16="http://schemas.microsoft.com/office/drawing/2014/main" id="{35E7CCC3-B903-495C-835D-87A78FB05A0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462" y="968188"/>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background with white text&#10;&#10;Description automatically generated">
            <a:extLst>
              <a:ext uri="{FF2B5EF4-FFF2-40B4-BE49-F238E27FC236}">
                <a16:creationId xmlns:a16="http://schemas.microsoft.com/office/drawing/2014/main" id="{31EFA673-A9A0-40F5-2AF9-79A47B99CC49}"/>
              </a:ext>
            </a:extLst>
          </p:cNvPr>
          <p:cNvPicPr>
            <a:picLocks noChangeAspect="1"/>
          </p:cNvPicPr>
          <p:nvPr/>
        </p:nvPicPr>
        <p:blipFill>
          <a:blip r:embed="rId2"/>
          <a:stretch>
            <a:fillRect/>
          </a:stretch>
        </p:blipFill>
        <p:spPr>
          <a:xfrm>
            <a:off x="1322194" y="2446140"/>
            <a:ext cx="4405291" cy="1938327"/>
          </a:xfrm>
          <a:prstGeom prst="rect">
            <a:avLst/>
          </a:prstGeom>
        </p:spPr>
      </p:pic>
      <p:sp>
        <p:nvSpPr>
          <p:cNvPr id="19" name="Rectangle 18">
            <a:extLst>
              <a:ext uri="{FF2B5EF4-FFF2-40B4-BE49-F238E27FC236}">
                <a16:creationId xmlns:a16="http://schemas.microsoft.com/office/drawing/2014/main" id="{584170D1-B32B-4D7D-AA30-9D84747A057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1270" y="981884"/>
            <a:ext cx="5048756" cy="489423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reaching for a paper on a table full of paper and sticky notes">
            <a:extLst>
              <a:ext uri="{FF2B5EF4-FFF2-40B4-BE49-F238E27FC236}">
                <a16:creationId xmlns:a16="http://schemas.microsoft.com/office/drawing/2014/main" id="{0F9D30FA-38A0-A76D-960A-71BF14E7934E}"/>
              </a:ext>
            </a:extLst>
          </p:cNvPr>
          <p:cNvPicPr>
            <a:picLocks noChangeAspect="1"/>
          </p:cNvPicPr>
          <p:nvPr/>
        </p:nvPicPr>
        <p:blipFill>
          <a:blip r:embed="rId3"/>
          <a:srcRect l="28219" r="29212" b="-1"/>
          <a:stretch/>
        </p:blipFill>
        <p:spPr>
          <a:xfrm>
            <a:off x="7300223" y="1289920"/>
            <a:ext cx="2710848" cy="4250767"/>
          </a:xfrm>
          <a:prstGeom prst="rect">
            <a:avLst/>
          </a:prstGeom>
        </p:spPr>
      </p:pic>
    </p:spTree>
    <p:extLst>
      <p:ext uri="{BB962C8B-B14F-4D97-AF65-F5344CB8AC3E}">
        <p14:creationId xmlns:p14="http://schemas.microsoft.com/office/powerpoint/2010/main" val="3863568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0E9A41B-D57B-19C5-785B-67D1F8C162E5}"/>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D73F9E06-CC41-93AA-C149-DA72DE2A0F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Rectangle 33">
            <a:extLst>
              <a:ext uri="{FF2B5EF4-FFF2-40B4-BE49-F238E27FC236}">
                <a16:creationId xmlns:a16="http://schemas.microsoft.com/office/drawing/2014/main" id="{8025A039-7A8A-F5CF-04BE-0A62F39D6E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6">
            <a:extLst>
              <a:ext uri="{FF2B5EF4-FFF2-40B4-BE49-F238E27FC236}">
                <a16:creationId xmlns:a16="http://schemas.microsoft.com/office/drawing/2014/main" id="{426FA18F-7B79-CE7C-4B1C-07FCDAFA4C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038446" y="1749415"/>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
        <p:nvSpPr>
          <p:cNvPr id="36" name="Rectangle 35">
            <a:extLst>
              <a:ext uri="{FF2B5EF4-FFF2-40B4-BE49-F238E27FC236}">
                <a16:creationId xmlns:a16="http://schemas.microsoft.com/office/drawing/2014/main" id="{9410E134-42DC-64D5-5570-3EA01941EB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868" y="160867"/>
            <a:ext cx="10908160" cy="57768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129F362-FE5D-E0D2-94A9-5E46EDA3BBB3}"/>
              </a:ext>
            </a:extLst>
          </p:cNvPr>
          <p:cNvPicPr>
            <a:picLocks noChangeAspect="1"/>
          </p:cNvPicPr>
          <p:nvPr/>
        </p:nvPicPr>
        <p:blipFill>
          <a:blip r:embed="rId2"/>
          <a:srcRect b="8682"/>
          <a:stretch/>
        </p:blipFill>
        <p:spPr>
          <a:xfrm>
            <a:off x="160868" y="160868"/>
            <a:ext cx="11152591" cy="6536266"/>
          </a:xfrm>
          <a:prstGeom prst="rect">
            <a:avLst/>
          </a:prstGeom>
        </p:spPr>
      </p:pic>
    </p:spTree>
    <p:extLst>
      <p:ext uri="{BB962C8B-B14F-4D97-AF65-F5344CB8AC3E}">
        <p14:creationId xmlns:p14="http://schemas.microsoft.com/office/powerpoint/2010/main" val="124251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C612D-3CA4-9D24-7EC9-79CDCDD9A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58D36-52FB-574A-68DD-ED2399EC25BC}"/>
              </a:ext>
            </a:extLst>
          </p:cNvPr>
          <p:cNvSpPr>
            <a:spLocks noGrp="1"/>
          </p:cNvSpPr>
          <p:nvPr>
            <p:ph type="title"/>
          </p:nvPr>
        </p:nvSpPr>
        <p:spPr>
          <a:xfrm>
            <a:off x="1543049" y="2286000"/>
            <a:ext cx="9752045" cy="1699338"/>
          </a:xfrm>
        </p:spPr>
        <p:txBody>
          <a:bodyPr>
            <a:noAutofit/>
          </a:bodyPr>
          <a:lstStyle/>
          <a:p>
            <a:r>
              <a:rPr lang="en-US" b="1" dirty="0"/>
              <a:t>Day 2</a:t>
            </a:r>
            <a:r>
              <a:rPr lang="en-US" dirty="0"/>
              <a:t>: </a:t>
            </a:r>
            <a:r>
              <a:rPr lang="en-IN" dirty="0"/>
              <a:t>Foundations of Data Analytics with EXCEL - data analytics importance, and application areas.</a:t>
            </a:r>
            <a:br>
              <a:rPr lang="en-IN" dirty="0"/>
            </a:br>
            <a:endParaRPr lang="en-US" dirty="0"/>
          </a:p>
        </p:txBody>
      </p:sp>
    </p:spTree>
    <p:extLst>
      <p:ext uri="{BB962C8B-B14F-4D97-AF65-F5344CB8AC3E}">
        <p14:creationId xmlns:p14="http://schemas.microsoft.com/office/powerpoint/2010/main" val="1902295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53740-98C1-8851-CAAC-A3FEA1FB3631}"/>
              </a:ext>
            </a:extLst>
          </p:cNvPr>
          <p:cNvSpPr>
            <a:spLocks noGrp="1"/>
          </p:cNvSpPr>
          <p:nvPr>
            <p:ph type="title"/>
          </p:nvPr>
        </p:nvSpPr>
        <p:spPr>
          <a:xfrm>
            <a:off x="1371600" y="685800"/>
            <a:ext cx="9601200" cy="741784"/>
          </a:xfrm>
        </p:spPr>
        <p:txBody>
          <a:bodyPr>
            <a:normAutofit/>
          </a:bodyPr>
          <a:lstStyle/>
          <a:p>
            <a:r>
              <a:rPr lang="en-IN" sz="2800" dirty="0"/>
              <a:t>Data analytics importance, and application areas.</a:t>
            </a:r>
          </a:p>
        </p:txBody>
      </p:sp>
      <p:sp>
        <p:nvSpPr>
          <p:cNvPr id="3" name="Content Placeholder 2">
            <a:extLst>
              <a:ext uri="{FF2B5EF4-FFF2-40B4-BE49-F238E27FC236}">
                <a16:creationId xmlns:a16="http://schemas.microsoft.com/office/drawing/2014/main" id="{663F9936-D488-DEA7-0805-EF7E4AA20C32}"/>
              </a:ext>
            </a:extLst>
          </p:cNvPr>
          <p:cNvSpPr>
            <a:spLocks noGrp="1"/>
          </p:cNvSpPr>
          <p:nvPr>
            <p:ph idx="1"/>
          </p:nvPr>
        </p:nvSpPr>
        <p:spPr>
          <a:xfrm>
            <a:off x="1371600" y="1362270"/>
            <a:ext cx="9601200" cy="3581400"/>
          </a:xfrm>
        </p:spPr>
        <p:txBody>
          <a:bodyPr/>
          <a:lstStyle/>
          <a:p>
            <a:pPr algn="l" fontAlgn="ctr">
              <a:spcAft>
                <a:spcPts val="1500"/>
              </a:spcAft>
            </a:pPr>
            <a:r>
              <a:rPr lang="en-IN" b="0" i="0" dirty="0">
                <a:solidFill>
                  <a:srgbClr val="001D35"/>
                </a:solidFill>
                <a:effectLst/>
                <a:latin typeface="Google Sans"/>
              </a:rPr>
              <a:t>Data analytics is important because it helps businesses make better decisions, improve their products and services, and increase revenue. It can also help businesses understand their customers and identify opportunities for growth. </a:t>
            </a:r>
          </a:p>
          <a:p>
            <a:pPr marL="0" indent="0">
              <a:buNone/>
            </a:pPr>
            <a:r>
              <a:rPr lang="en-IN" b="0" i="0" dirty="0">
                <a:solidFill>
                  <a:srgbClr val="001D35"/>
                </a:solidFill>
                <a:effectLst/>
                <a:latin typeface="Google Sans"/>
              </a:rPr>
              <a:t/>
            </a:r>
            <a:br>
              <a:rPr lang="en-IN" b="0" i="0" dirty="0">
                <a:solidFill>
                  <a:srgbClr val="001D35"/>
                </a:solidFill>
                <a:effectLst/>
                <a:latin typeface="Google Sans"/>
              </a:rPr>
            </a:br>
            <a:endParaRPr lang="en-IN" dirty="0"/>
          </a:p>
        </p:txBody>
      </p:sp>
      <p:pic>
        <p:nvPicPr>
          <p:cNvPr id="5" name="Picture 4">
            <a:extLst>
              <a:ext uri="{FF2B5EF4-FFF2-40B4-BE49-F238E27FC236}">
                <a16:creationId xmlns:a16="http://schemas.microsoft.com/office/drawing/2014/main" id="{C18CED6D-E719-3F44-D12C-69696E9E3DC1}"/>
              </a:ext>
            </a:extLst>
          </p:cNvPr>
          <p:cNvPicPr>
            <a:picLocks noChangeAspect="1"/>
          </p:cNvPicPr>
          <p:nvPr/>
        </p:nvPicPr>
        <p:blipFill>
          <a:blip r:embed="rId2"/>
          <a:srcRect b="7531"/>
          <a:stretch/>
        </p:blipFill>
        <p:spPr>
          <a:xfrm>
            <a:off x="1576875" y="2373604"/>
            <a:ext cx="8798767" cy="4353767"/>
          </a:xfrm>
          <a:prstGeom prst="rect">
            <a:avLst/>
          </a:prstGeom>
        </p:spPr>
      </p:pic>
    </p:spTree>
    <p:extLst>
      <p:ext uri="{BB962C8B-B14F-4D97-AF65-F5344CB8AC3E}">
        <p14:creationId xmlns:p14="http://schemas.microsoft.com/office/powerpoint/2010/main" val="2384923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296EB-499E-D594-99C5-DC137877390A}"/>
              </a:ext>
            </a:extLst>
          </p:cNvPr>
          <p:cNvSpPr>
            <a:spLocks noGrp="1"/>
          </p:cNvSpPr>
          <p:nvPr>
            <p:ph type="title"/>
          </p:nvPr>
        </p:nvSpPr>
        <p:spPr/>
        <p:txBody>
          <a:bodyPr/>
          <a:lstStyle/>
          <a:p>
            <a:r>
              <a:rPr lang="en-IN" sz="4400" dirty="0"/>
              <a:t>Importance of Data Analytics</a:t>
            </a:r>
            <a:endParaRPr lang="en-IN" dirty="0"/>
          </a:p>
        </p:txBody>
      </p:sp>
      <p:pic>
        <p:nvPicPr>
          <p:cNvPr id="5" name="Content Placeholder 4">
            <a:extLst>
              <a:ext uri="{FF2B5EF4-FFF2-40B4-BE49-F238E27FC236}">
                <a16:creationId xmlns:a16="http://schemas.microsoft.com/office/drawing/2014/main" id="{33B789C1-1008-2688-D8E0-414AEB4534AD}"/>
              </a:ext>
            </a:extLst>
          </p:cNvPr>
          <p:cNvPicPr>
            <a:picLocks noGrp="1" noChangeAspect="1"/>
          </p:cNvPicPr>
          <p:nvPr>
            <p:ph idx="1"/>
          </p:nvPr>
        </p:nvPicPr>
        <p:blipFill>
          <a:blip r:embed="rId2"/>
          <a:srcRect t="8826"/>
          <a:stretch/>
        </p:blipFill>
        <p:spPr>
          <a:xfrm>
            <a:off x="1219200" y="1343609"/>
            <a:ext cx="10215465" cy="5075852"/>
          </a:xfrm>
        </p:spPr>
      </p:pic>
    </p:spTree>
    <p:extLst>
      <p:ext uri="{BB962C8B-B14F-4D97-AF65-F5344CB8AC3E}">
        <p14:creationId xmlns:p14="http://schemas.microsoft.com/office/powerpoint/2010/main" val="2475743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96E7E-C43C-CDD6-3807-016EDF64267E}"/>
              </a:ext>
            </a:extLst>
          </p:cNvPr>
          <p:cNvSpPr>
            <a:spLocks noGrp="1"/>
          </p:cNvSpPr>
          <p:nvPr>
            <p:ph type="title"/>
          </p:nvPr>
        </p:nvSpPr>
        <p:spPr>
          <a:xfrm>
            <a:off x="1371600" y="685800"/>
            <a:ext cx="9601200" cy="1276350"/>
          </a:xfrm>
        </p:spPr>
        <p:txBody>
          <a:bodyPr>
            <a:noAutofit/>
          </a:bodyPr>
          <a:lstStyle/>
          <a:p>
            <a:r>
              <a:rPr lang="en-IN" sz="2000" b="1" i="0" dirty="0">
                <a:solidFill>
                  <a:srgbClr val="273239"/>
                </a:solidFill>
                <a:effectLst/>
                <a:latin typeface="Nunito" pitchFamily="2" charset="0"/>
              </a:rPr>
              <a:t>Importance of Data Analysis</a:t>
            </a:r>
            <a:r>
              <a:rPr lang="en-IN" sz="2000" b="0" i="0" dirty="0">
                <a:solidFill>
                  <a:srgbClr val="273239"/>
                </a:solidFill>
                <a:effectLst/>
                <a:latin typeface="Nunito" pitchFamily="2" charset="0"/>
              </a:rPr>
              <a:t> involves inspecting, transforming, and modelling data to discover useful information, inform conclusions, and support decision-making. It encompasses a range of techniques and tools used to interpret raw data, identify patterns, and extract actionable insights</a:t>
            </a:r>
            <a:endParaRPr lang="en-IN" sz="2000" dirty="0"/>
          </a:p>
        </p:txBody>
      </p:sp>
      <p:sp>
        <p:nvSpPr>
          <p:cNvPr id="3" name="Content Placeholder 2">
            <a:extLst>
              <a:ext uri="{FF2B5EF4-FFF2-40B4-BE49-F238E27FC236}">
                <a16:creationId xmlns:a16="http://schemas.microsoft.com/office/drawing/2014/main" id="{E20387C0-D9F8-9A7D-4E75-8758868FF64B}"/>
              </a:ext>
            </a:extLst>
          </p:cNvPr>
          <p:cNvSpPr>
            <a:spLocks noGrp="1"/>
          </p:cNvSpPr>
          <p:nvPr>
            <p:ph idx="1"/>
          </p:nvPr>
        </p:nvSpPr>
        <p:spPr/>
        <p:txBody>
          <a:bodyPr/>
          <a:lstStyle/>
          <a:p>
            <a:r>
              <a:rPr lang="en-IN" dirty="0"/>
              <a:t>Informed Decision-Making</a:t>
            </a:r>
          </a:p>
          <a:p>
            <a:r>
              <a:rPr lang="en-IN" dirty="0"/>
              <a:t>Improving Business Efficiency</a:t>
            </a:r>
          </a:p>
          <a:p>
            <a:r>
              <a:rPr lang="en-IN" dirty="0"/>
              <a:t>Identifying Market Trends</a:t>
            </a:r>
          </a:p>
          <a:p>
            <a:r>
              <a:rPr lang="en-IN" dirty="0"/>
              <a:t>Enhancing Customer Experience</a:t>
            </a:r>
          </a:p>
          <a:p>
            <a:r>
              <a:rPr lang="en-IN" dirty="0"/>
              <a:t>Driving Innovation</a:t>
            </a:r>
          </a:p>
          <a:p>
            <a:r>
              <a:rPr lang="en-IN" dirty="0"/>
              <a:t>Supporting Evidence-Based Research</a:t>
            </a:r>
          </a:p>
          <a:p>
            <a:r>
              <a:rPr lang="en-IN" dirty="0"/>
              <a:t>Mitigating Risks</a:t>
            </a:r>
          </a:p>
          <a:p>
            <a:r>
              <a:rPr lang="en-IN" dirty="0"/>
              <a:t>Fostering Competitive Advantage</a:t>
            </a:r>
          </a:p>
          <a:p>
            <a:endParaRPr lang="en-IN" dirty="0"/>
          </a:p>
        </p:txBody>
      </p:sp>
    </p:spTree>
    <p:extLst>
      <p:ext uri="{BB962C8B-B14F-4D97-AF65-F5344CB8AC3E}">
        <p14:creationId xmlns:p14="http://schemas.microsoft.com/office/powerpoint/2010/main" val="2791869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C0CA-8FEC-A0A5-A03C-E6E303F0C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77E6B-92A9-7630-1C59-274ADDB47226}"/>
              </a:ext>
            </a:extLst>
          </p:cNvPr>
          <p:cNvSpPr>
            <a:spLocks noGrp="1"/>
          </p:cNvSpPr>
          <p:nvPr>
            <p:ph type="title"/>
          </p:nvPr>
        </p:nvSpPr>
        <p:spPr>
          <a:xfrm>
            <a:off x="1371600" y="685800"/>
            <a:ext cx="9601200" cy="1276350"/>
          </a:xfrm>
        </p:spPr>
        <p:txBody>
          <a:bodyPr>
            <a:noAutofit/>
          </a:bodyPr>
          <a:lstStyle/>
          <a:p>
            <a:r>
              <a:rPr lang="en-IN" sz="4000" dirty="0"/>
              <a:t>Informed Decision-Making</a:t>
            </a:r>
          </a:p>
        </p:txBody>
      </p:sp>
      <p:pic>
        <p:nvPicPr>
          <p:cNvPr id="5" name="Content Placeholder 4">
            <a:extLst>
              <a:ext uri="{FF2B5EF4-FFF2-40B4-BE49-F238E27FC236}">
                <a16:creationId xmlns:a16="http://schemas.microsoft.com/office/drawing/2014/main" id="{6407BCA0-710A-90CE-4319-AE47EE0B9713}"/>
              </a:ext>
            </a:extLst>
          </p:cNvPr>
          <p:cNvPicPr>
            <a:picLocks noGrp="1" noChangeAspect="1"/>
          </p:cNvPicPr>
          <p:nvPr>
            <p:ph idx="1"/>
          </p:nvPr>
        </p:nvPicPr>
        <p:blipFill>
          <a:blip r:embed="rId2"/>
          <a:stretch>
            <a:fillRect/>
          </a:stretch>
        </p:blipFill>
        <p:spPr>
          <a:xfrm>
            <a:off x="1541721" y="1404169"/>
            <a:ext cx="9601200" cy="5304975"/>
          </a:xfrm>
        </p:spPr>
      </p:pic>
    </p:spTree>
    <p:extLst>
      <p:ext uri="{BB962C8B-B14F-4D97-AF65-F5344CB8AC3E}">
        <p14:creationId xmlns:p14="http://schemas.microsoft.com/office/powerpoint/2010/main" val="3431461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0CDB3-5793-C30C-1D21-186CF7E86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10A11-3BB1-5E37-7D37-901A0DB11B3A}"/>
              </a:ext>
            </a:extLst>
          </p:cNvPr>
          <p:cNvSpPr>
            <a:spLocks noGrp="1"/>
          </p:cNvSpPr>
          <p:nvPr>
            <p:ph type="title"/>
          </p:nvPr>
        </p:nvSpPr>
        <p:spPr>
          <a:xfrm>
            <a:off x="1371600" y="685800"/>
            <a:ext cx="9601200" cy="1276350"/>
          </a:xfrm>
        </p:spPr>
        <p:txBody>
          <a:bodyPr>
            <a:noAutofit/>
          </a:bodyPr>
          <a:lstStyle/>
          <a:p>
            <a:r>
              <a:rPr lang="en-IN" sz="4000" dirty="0"/>
              <a:t>Improving Business Efficiency</a:t>
            </a:r>
          </a:p>
        </p:txBody>
      </p:sp>
      <p:pic>
        <p:nvPicPr>
          <p:cNvPr id="7" name="Content Placeholder 6">
            <a:extLst>
              <a:ext uri="{FF2B5EF4-FFF2-40B4-BE49-F238E27FC236}">
                <a16:creationId xmlns:a16="http://schemas.microsoft.com/office/drawing/2014/main" id="{14BB2451-B010-5C2F-2873-B8001463D50C}"/>
              </a:ext>
            </a:extLst>
          </p:cNvPr>
          <p:cNvPicPr>
            <a:picLocks noGrp="1" noChangeAspect="1"/>
          </p:cNvPicPr>
          <p:nvPr>
            <p:ph idx="1"/>
          </p:nvPr>
        </p:nvPicPr>
        <p:blipFill>
          <a:blip r:embed="rId2"/>
          <a:stretch>
            <a:fillRect/>
          </a:stretch>
        </p:blipFill>
        <p:spPr>
          <a:xfrm>
            <a:off x="1477926" y="1323975"/>
            <a:ext cx="9696893" cy="5491716"/>
          </a:xfrm>
        </p:spPr>
      </p:pic>
    </p:spTree>
    <p:extLst>
      <p:ext uri="{BB962C8B-B14F-4D97-AF65-F5344CB8AC3E}">
        <p14:creationId xmlns:p14="http://schemas.microsoft.com/office/powerpoint/2010/main" val="2306640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71575-E2E5-AB8D-5921-A7B9590D8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DC8A1-8511-FCEC-93F6-D60750F7DBA7}"/>
              </a:ext>
            </a:extLst>
          </p:cNvPr>
          <p:cNvSpPr>
            <a:spLocks noGrp="1"/>
          </p:cNvSpPr>
          <p:nvPr>
            <p:ph type="title"/>
          </p:nvPr>
        </p:nvSpPr>
        <p:spPr>
          <a:xfrm>
            <a:off x="1371600" y="685800"/>
            <a:ext cx="9601200" cy="1276350"/>
          </a:xfrm>
        </p:spPr>
        <p:txBody>
          <a:bodyPr>
            <a:noAutofit/>
          </a:bodyPr>
          <a:lstStyle/>
          <a:p>
            <a:r>
              <a:rPr lang="en-IN" sz="4000" dirty="0"/>
              <a:t>Identifying Market Trends</a:t>
            </a:r>
          </a:p>
        </p:txBody>
      </p:sp>
      <p:pic>
        <p:nvPicPr>
          <p:cNvPr id="6" name="Content Placeholder 5">
            <a:extLst>
              <a:ext uri="{FF2B5EF4-FFF2-40B4-BE49-F238E27FC236}">
                <a16:creationId xmlns:a16="http://schemas.microsoft.com/office/drawing/2014/main" id="{3AB6E596-955E-1B28-FB70-F519C014C7BC}"/>
              </a:ext>
            </a:extLst>
          </p:cNvPr>
          <p:cNvPicPr>
            <a:picLocks noGrp="1" noChangeAspect="1"/>
          </p:cNvPicPr>
          <p:nvPr>
            <p:ph idx="1"/>
          </p:nvPr>
        </p:nvPicPr>
        <p:blipFill>
          <a:blip r:embed="rId2"/>
          <a:srcRect t="12928"/>
          <a:stretch/>
        </p:blipFill>
        <p:spPr>
          <a:xfrm>
            <a:off x="1371600" y="1424763"/>
            <a:ext cx="9810242" cy="5295014"/>
          </a:xfrm>
        </p:spPr>
      </p:pic>
    </p:spTree>
    <p:extLst>
      <p:ext uri="{BB962C8B-B14F-4D97-AF65-F5344CB8AC3E}">
        <p14:creationId xmlns:p14="http://schemas.microsoft.com/office/powerpoint/2010/main" val="4152768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2393-F0E5-6622-E9BE-621CBA2B0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81EC9B-146E-4AE6-6968-76C260D8B0DE}"/>
              </a:ext>
            </a:extLst>
          </p:cNvPr>
          <p:cNvSpPr>
            <a:spLocks noGrp="1"/>
          </p:cNvSpPr>
          <p:nvPr>
            <p:ph type="title"/>
          </p:nvPr>
        </p:nvSpPr>
        <p:spPr>
          <a:xfrm>
            <a:off x="1371600" y="685800"/>
            <a:ext cx="9601200" cy="1276350"/>
          </a:xfrm>
        </p:spPr>
        <p:txBody>
          <a:bodyPr>
            <a:noAutofit/>
          </a:bodyPr>
          <a:lstStyle/>
          <a:p>
            <a:r>
              <a:rPr lang="en-IN" sz="4000" dirty="0"/>
              <a:t>Enhancing Customer Experience</a:t>
            </a:r>
          </a:p>
        </p:txBody>
      </p:sp>
      <p:pic>
        <p:nvPicPr>
          <p:cNvPr id="7" name="Content Placeholder 6">
            <a:extLst>
              <a:ext uri="{FF2B5EF4-FFF2-40B4-BE49-F238E27FC236}">
                <a16:creationId xmlns:a16="http://schemas.microsoft.com/office/drawing/2014/main" id="{A79F8A2F-65E8-3DBB-7F35-6A3A0A6F0F11}"/>
              </a:ext>
            </a:extLst>
          </p:cNvPr>
          <p:cNvPicPr>
            <a:picLocks noGrp="1" noChangeAspect="1"/>
          </p:cNvPicPr>
          <p:nvPr>
            <p:ph idx="1"/>
          </p:nvPr>
        </p:nvPicPr>
        <p:blipFill>
          <a:blip r:embed="rId2"/>
          <a:srcRect t="9261"/>
          <a:stretch/>
        </p:blipFill>
        <p:spPr>
          <a:xfrm>
            <a:off x="1439887" y="1384351"/>
            <a:ext cx="9979479" cy="5207835"/>
          </a:xfrm>
        </p:spPr>
      </p:pic>
    </p:spTree>
    <p:extLst>
      <p:ext uri="{BB962C8B-B14F-4D97-AF65-F5344CB8AC3E}">
        <p14:creationId xmlns:p14="http://schemas.microsoft.com/office/powerpoint/2010/main" val="597515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0AD9-9EEF-C1EA-7CC1-013FA6E41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09E43-5AE1-357F-1E20-E1376C085801}"/>
              </a:ext>
            </a:extLst>
          </p:cNvPr>
          <p:cNvSpPr>
            <a:spLocks noGrp="1"/>
          </p:cNvSpPr>
          <p:nvPr>
            <p:ph type="title"/>
          </p:nvPr>
        </p:nvSpPr>
        <p:spPr>
          <a:xfrm>
            <a:off x="1371600" y="685800"/>
            <a:ext cx="9601200" cy="1276350"/>
          </a:xfrm>
        </p:spPr>
        <p:txBody>
          <a:bodyPr>
            <a:noAutofit/>
          </a:bodyPr>
          <a:lstStyle/>
          <a:p>
            <a:r>
              <a:rPr lang="en-IN" sz="4000" dirty="0"/>
              <a:t>Driving Innovation</a:t>
            </a:r>
          </a:p>
        </p:txBody>
      </p:sp>
      <p:pic>
        <p:nvPicPr>
          <p:cNvPr id="7" name="Content Placeholder 6">
            <a:extLst>
              <a:ext uri="{FF2B5EF4-FFF2-40B4-BE49-F238E27FC236}">
                <a16:creationId xmlns:a16="http://schemas.microsoft.com/office/drawing/2014/main" id="{C608AAF7-81E4-2F38-7E76-E7D43FF94820}"/>
              </a:ext>
            </a:extLst>
          </p:cNvPr>
          <p:cNvPicPr>
            <a:picLocks noGrp="1" noChangeAspect="1"/>
          </p:cNvPicPr>
          <p:nvPr>
            <p:ph idx="1"/>
          </p:nvPr>
        </p:nvPicPr>
        <p:blipFill>
          <a:blip r:embed="rId2"/>
          <a:srcRect t="9261"/>
          <a:stretch/>
        </p:blipFill>
        <p:spPr>
          <a:xfrm>
            <a:off x="1439887" y="1384351"/>
            <a:ext cx="9979479" cy="5207835"/>
          </a:xfrm>
        </p:spPr>
      </p:pic>
    </p:spTree>
    <p:extLst>
      <p:ext uri="{BB962C8B-B14F-4D97-AF65-F5344CB8AC3E}">
        <p14:creationId xmlns:p14="http://schemas.microsoft.com/office/powerpoint/2010/main" val="41385979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6B441-13E2-4ED6-8A56-35083BBD9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315AD-4ABB-8E84-3942-D24BD6D8C2D0}"/>
              </a:ext>
            </a:extLst>
          </p:cNvPr>
          <p:cNvSpPr>
            <a:spLocks noGrp="1"/>
          </p:cNvSpPr>
          <p:nvPr>
            <p:ph type="title"/>
          </p:nvPr>
        </p:nvSpPr>
        <p:spPr>
          <a:xfrm>
            <a:off x="1371600" y="685800"/>
            <a:ext cx="9601200" cy="1276350"/>
          </a:xfrm>
        </p:spPr>
        <p:txBody>
          <a:bodyPr>
            <a:noAutofit/>
          </a:bodyPr>
          <a:lstStyle/>
          <a:p>
            <a:r>
              <a:rPr lang="en-IN" sz="4000" dirty="0"/>
              <a:t>Evidence-Based Research</a:t>
            </a:r>
          </a:p>
        </p:txBody>
      </p:sp>
      <p:pic>
        <p:nvPicPr>
          <p:cNvPr id="6" name="Content Placeholder 5">
            <a:extLst>
              <a:ext uri="{FF2B5EF4-FFF2-40B4-BE49-F238E27FC236}">
                <a16:creationId xmlns:a16="http://schemas.microsoft.com/office/drawing/2014/main" id="{8D7443C5-B57F-ED65-69D9-36461858601E}"/>
              </a:ext>
            </a:extLst>
          </p:cNvPr>
          <p:cNvPicPr>
            <a:picLocks noGrp="1" noChangeAspect="1"/>
          </p:cNvPicPr>
          <p:nvPr>
            <p:ph idx="1"/>
          </p:nvPr>
        </p:nvPicPr>
        <p:blipFill>
          <a:blip r:embed="rId2"/>
          <a:stretch>
            <a:fillRect/>
          </a:stretch>
        </p:blipFill>
        <p:spPr>
          <a:xfrm>
            <a:off x="1495203" y="1323976"/>
            <a:ext cx="9722146" cy="5289476"/>
          </a:xfrm>
        </p:spPr>
      </p:pic>
    </p:spTree>
    <p:extLst>
      <p:ext uri="{BB962C8B-B14F-4D97-AF65-F5344CB8AC3E}">
        <p14:creationId xmlns:p14="http://schemas.microsoft.com/office/powerpoint/2010/main" val="1056207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69C3-106C-B37A-7606-898FBECE1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B9032-7881-D880-B1C0-841D26F6CB49}"/>
              </a:ext>
            </a:extLst>
          </p:cNvPr>
          <p:cNvSpPr>
            <a:spLocks noGrp="1"/>
          </p:cNvSpPr>
          <p:nvPr>
            <p:ph type="title"/>
          </p:nvPr>
        </p:nvSpPr>
        <p:spPr>
          <a:xfrm>
            <a:off x="1371600" y="685800"/>
            <a:ext cx="9601200" cy="1276350"/>
          </a:xfrm>
        </p:spPr>
        <p:txBody>
          <a:bodyPr>
            <a:noAutofit/>
          </a:bodyPr>
          <a:lstStyle/>
          <a:p>
            <a:r>
              <a:rPr lang="en-IN" sz="4000" dirty="0"/>
              <a:t>Mitigating Risks</a:t>
            </a:r>
          </a:p>
        </p:txBody>
      </p:sp>
      <p:pic>
        <p:nvPicPr>
          <p:cNvPr id="7" name="Content Placeholder 6">
            <a:extLst>
              <a:ext uri="{FF2B5EF4-FFF2-40B4-BE49-F238E27FC236}">
                <a16:creationId xmlns:a16="http://schemas.microsoft.com/office/drawing/2014/main" id="{04433004-6892-FAAA-5C56-8A5A8B4F287B}"/>
              </a:ext>
            </a:extLst>
          </p:cNvPr>
          <p:cNvPicPr>
            <a:picLocks noGrp="1" noChangeAspect="1"/>
          </p:cNvPicPr>
          <p:nvPr>
            <p:ph idx="1"/>
          </p:nvPr>
        </p:nvPicPr>
        <p:blipFill>
          <a:blip r:embed="rId2"/>
          <a:stretch>
            <a:fillRect/>
          </a:stretch>
        </p:blipFill>
        <p:spPr>
          <a:xfrm>
            <a:off x="1499191" y="1332660"/>
            <a:ext cx="9888278" cy="5525340"/>
          </a:xfrm>
        </p:spPr>
      </p:pic>
    </p:spTree>
    <p:extLst>
      <p:ext uri="{BB962C8B-B14F-4D97-AF65-F5344CB8AC3E}">
        <p14:creationId xmlns:p14="http://schemas.microsoft.com/office/powerpoint/2010/main" val="1053059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859BA-7532-F79A-F1E9-57EDC8694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704E1-4636-1A53-AFE1-A4C18872D9A7}"/>
              </a:ext>
            </a:extLst>
          </p:cNvPr>
          <p:cNvSpPr>
            <a:spLocks noGrp="1"/>
          </p:cNvSpPr>
          <p:nvPr>
            <p:ph type="title"/>
          </p:nvPr>
        </p:nvSpPr>
        <p:spPr>
          <a:xfrm>
            <a:off x="1371600" y="685800"/>
            <a:ext cx="9601200" cy="1276350"/>
          </a:xfrm>
        </p:spPr>
        <p:txBody>
          <a:bodyPr>
            <a:noAutofit/>
          </a:bodyPr>
          <a:lstStyle/>
          <a:p>
            <a:r>
              <a:rPr lang="en-IN" sz="4000" dirty="0"/>
              <a:t>Fostering Competitive Advantage</a:t>
            </a:r>
          </a:p>
        </p:txBody>
      </p:sp>
      <p:pic>
        <p:nvPicPr>
          <p:cNvPr id="6" name="Content Placeholder 5">
            <a:extLst>
              <a:ext uri="{FF2B5EF4-FFF2-40B4-BE49-F238E27FC236}">
                <a16:creationId xmlns:a16="http://schemas.microsoft.com/office/drawing/2014/main" id="{E4100B33-7EC8-34A1-1802-CF99586A9C00}"/>
              </a:ext>
            </a:extLst>
          </p:cNvPr>
          <p:cNvPicPr>
            <a:picLocks noGrp="1" noChangeAspect="1"/>
          </p:cNvPicPr>
          <p:nvPr>
            <p:ph idx="1"/>
          </p:nvPr>
        </p:nvPicPr>
        <p:blipFill>
          <a:blip r:embed="rId2"/>
          <a:stretch>
            <a:fillRect/>
          </a:stretch>
        </p:blipFill>
        <p:spPr>
          <a:xfrm>
            <a:off x="1433620" y="1435396"/>
            <a:ext cx="9601199" cy="5351750"/>
          </a:xfrm>
        </p:spPr>
      </p:pic>
    </p:spTree>
    <p:extLst>
      <p:ext uri="{BB962C8B-B14F-4D97-AF65-F5344CB8AC3E}">
        <p14:creationId xmlns:p14="http://schemas.microsoft.com/office/powerpoint/2010/main" val="1706153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F48AEDE-3545-D702-D6F6-7EF8618CB3B3}"/>
              </a:ext>
            </a:extLst>
          </p:cNvPr>
          <p:cNvPicPr>
            <a:picLocks noGrp="1" noChangeAspect="1"/>
          </p:cNvPicPr>
          <p:nvPr>
            <p:ph idx="1"/>
          </p:nvPr>
        </p:nvPicPr>
        <p:blipFill>
          <a:blip r:embed="rId2"/>
          <a:stretch>
            <a:fillRect/>
          </a:stretch>
        </p:blipFill>
        <p:spPr>
          <a:xfrm>
            <a:off x="1291464" y="1711842"/>
            <a:ext cx="10119874" cy="4652317"/>
          </a:xfrm>
        </p:spPr>
      </p:pic>
      <p:sp>
        <p:nvSpPr>
          <p:cNvPr id="3" name="TextBox 2">
            <a:extLst>
              <a:ext uri="{FF2B5EF4-FFF2-40B4-BE49-F238E27FC236}">
                <a16:creationId xmlns:a16="http://schemas.microsoft.com/office/drawing/2014/main" id="{06BEDABF-F2E6-5DD0-FF9A-4AF279838926}"/>
              </a:ext>
            </a:extLst>
          </p:cNvPr>
          <p:cNvSpPr txBox="1"/>
          <p:nvPr/>
        </p:nvSpPr>
        <p:spPr>
          <a:xfrm>
            <a:off x="1658679" y="308344"/>
            <a:ext cx="9112101" cy="707886"/>
          </a:xfrm>
          <a:prstGeom prst="rect">
            <a:avLst/>
          </a:prstGeom>
          <a:noFill/>
        </p:spPr>
        <p:txBody>
          <a:bodyPr wrap="square" rtlCol="0">
            <a:spAutoFit/>
          </a:bodyPr>
          <a:lstStyle/>
          <a:p>
            <a:r>
              <a:rPr lang="en-IN" sz="4000" dirty="0"/>
              <a:t>Data Analytics application areas</a:t>
            </a:r>
          </a:p>
        </p:txBody>
      </p:sp>
    </p:spTree>
    <p:extLst>
      <p:ext uri="{BB962C8B-B14F-4D97-AF65-F5344CB8AC3E}">
        <p14:creationId xmlns:p14="http://schemas.microsoft.com/office/powerpoint/2010/main" val="1696101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35D5A2-1E40-937E-B069-E25FA3065D60}"/>
              </a:ext>
            </a:extLst>
          </p:cNvPr>
          <p:cNvSpPr>
            <a:spLocks noGrp="1"/>
          </p:cNvSpPr>
          <p:nvPr>
            <p:ph idx="1"/>
          </p:nvPr>
        </p:nvSpPr>
        <p:spPr>
          <a:xfrm>
            <a:off x="1371599" y="615819"/>
            <a:ext cx="10067731" cy="5551715"/>
          </a:xfrm>
        </p:spPr>
        <p:txBody>
          <a:bodyPr>
            <a:normAutofit lnSpcReduction="10000"/>
          </a:bodyPr>
          <a:lstStyle/>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algn="l" fontAlgn="base">
              <a:buFont typeface="Arial" panose="020B0604020202020204" pitchFamily="34" charset="0"/>
              <a:buChar char="•"/>
            </a:pPr>
            <a:endParaRPr lang="en-IN" b="1" dirty="0">
              <a:solidFill>
                <a:srgbClr val="666666"/>
              </a:solidFill>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Banking. </a:t>
            </a:r>
            <a:r>
              <a:rPr lang="en-IN" b="0" i="0" dirty="0">
                <a:solidFill>
                  <a:srgbClr val="666666"/>
                </a:solidFill>
                <a:effectLst/>
                <a:latin typeface="Roboto" panose="02000000000000000000" pitchFamily="2" charset="0"/>
              </a:rPr>
              <a:t>Banks employ data analytics to manage risks, gather insights into customer behaviour, and personalize financial services. Using data analytics, banks and credit card companies can customize their offerings, identify potential fraud, and assess potential client creditworthiness by analysing customer demographics, transaction data, and credit histories. Data analytics also helps banks spot money laundering activities and boost regulatory compliance.</a:t>
            </a:r>
          </a:p>
          <a:p>
            <a:pPr algn="l" fontAlgn="base">
              <a:buFont typeface="Arial" panose="020B0604020202020204" pitchFamily="34" charset="0"/>
              <a:buChar char="•"/>
            </a:pPr>
            <a:endParaRPr lang="en-IN" dirty="0"/>
          </a:p>
          <a:p>
            <a:pPr algn="l" fontAlgn="base">
              <a:buFont typeface="Arial" panose="020B0604020202020204" pitchFamily="34" charset="0"/>
              <a:buChar char="•"/>
            </a:pPr>
            <a:r>
              <a:rPr lang="en-IN" dirty="0"/>
              <a:t/>
            </a:r>
            <a:br>
              <a:rPr lang="en-IN" dirty="0"/>
            </a:br>
            <a:r>
              <a:rPr lang="en-IN" b="1" i="0" dirty="0">
                <a:solidFill>
                  <a:srgbClr val="666666"/>
                </a:solidFill>
                <a:effectLst/>
                <a:latin typeface="Roboto" panose="02000000000000000000" pitchFamily="2" charset="0"/>
              </a:rPr>
              <a:t>Cybersecurity. </a:t>
            </a:r>
            <a:r>
              <a:rPr lang="en-IN" b="0" i="0" dirty="0">
                <a:solidFill>
                  <a:srgbClr val="666666"/>
                </a:solidFill>
                <a:effectLst/>
                <a:latin typeface="Roboto" panose="02000000000000000000" pitchFamily="2" charset="0"/>
              </a:rPr>
              <a:t>Data analytics is pivotal in cybersecurity by detecting and preventing cyber-attacks and similar threats. Security systems analyse user behaviour, network traffic, and system logs to locate anomalies and possible security breaches. By leveraging data analytics, businesses and other organizations can proactively enhance their security measures, detect threats, respond to them in real-time, and protect sensitive data.</a:t>
            </a:r>
          </a:p>
          <a:p>
            <a:pPr marL="0" indent="0">
              <a:buNone/>
            </a:pPr>
            <a:endParaRPr lang="en-IN" dirty="0"/>
          </a:p>
        </p:txBody>
      </p:sp>
      <p:pic>
        <p:nvPicPr>
          <p:cNvPr id="9" name="Graphic 8" descr="Bank with solid fill">
            <a:extLst>
              <a:ext uri="{FF2B5EF4-FFF2-40B4-BE49-F238E27FC236}">
                <a16:creationId xmlns:a16="http://schemas.microsoft.com/office/drawing/2014/main" id="{624232CC-7BC7-C8FA-CB1A-9A6FA7D7BC72}"/>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850572" y="690466"/>
            <a:ext cx="914400" cy="914400"/>
          </a:xfrm>
          <a:prstGeom prst="rect">
            <a:avLst/>
          </a:prstGeom>
        </p:spPr>
      </p:pic>
      <p:pic>
        <p:nvPicPr>
          <p:cNvPr id="11" name="Graphic 10" descr="Lock with solid fill">
            <a:extLst>
              <a:ext uri="{FF2B5EF4-FFF2-40B4-BE49-F238E27FC236}">
                <a16:creationId xmlns:a16="http://schemas.microsoft.com/office/drawing/2014/main" id="{D815BC87-8877-428D-3753-B3AF40031FF1}"/>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850572" y="3295650"/>
            <a:ext cx="914400" cy="914400"/>
          </a:xfrm>
          <a:prstGeom prst="rect">
            <a:avLst/>
          </a:prstGeom>
        </p:spPr>
      </p:pic>
    </p:spTree>
    <p:extLst>
      <p:ext uri="{BB962C8B-B14F-4D97-AF65-F5344CB8AC3E}">
        <p14:creationId xmlns:p14="http://schemas.microsoft.com/office/powerpoint/2010/main" val="30192341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75C0-1E8C-7522-F786-BEDD0601D2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7AFF4B-8622-93BC-77B8-08E84BD9D1F2}"/>
              </a:ext>
            </a:extLst>
          </p:cNvPr>
          <p:cNvSpPr>
            <a:spLocks noGrp="1"/>
          </p:cNvSpPr>
          <p:nvPr>
            <p:ph idx="1"/>
          </p:nvPr>
        </p:nvSpPr>
        <p:spPr>
          <a:xfrm>
            <a:off x="1371599" y="615819"/>
            <a:ext cx="10067731" cy="5551715"/>
          </a:xfrm>
        </p:spPr>
        <p:txBody>
          <a:bodyPr>
            <a:normAutofit/>
          </a:bodyPr>
          <a:lstStyle/>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algn="l" fontAlgn="base">
              <a:buFont typeface="Arial" panose="020B0604020202020204" pitchFamily="34" charset="0"/>
              <a:buChar char="•"/>
            </a:pPr>
            <a:endParaRPr lang="en-IN" b="1" dirty="0">
              <a:solidFill>
                <a:srgbClr val="666666"/>
              </a:solidFill>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E-commerce. </a:t>
            </a:r>
            <a:r>
              <a:rPr lang="en-IN" b="0" i="0" dirty="0">
                <a:solidFill>
                  <a:srgbClr val="666666"/>
                </a:solidFill>
                <a:effectLst/>
                <a:latin typeface="Roboto" panose="02000000000000000000" pitchFamily="2" charset="0"/>
              </a:rPr>
              <a:t>E-commerce platforms use data analytics to understand customer </a:t>
            </a:r>
            <a:r>
              <a:rPr lang="en-IN" b="0" i="0" dirty="0" err="1">
                <a:solidFill>
                  <a:srgbClr val="666666"/>
                </a:solidFill>
                <a:effectLst/>
                <a:latin typeface="Roboto" panose="02000000000000000000" pitchFamily="2" charset="0"/>
              </a:rPr>
              <a:t>behavior</a:t>
            </a:r>
            <a:r>
              <a:rPr lang="en-IN" b="0" i="0" dirty="0">
                <a:solidFill>
                  <a:srgbClr val="666666"/>
                </a:solidFill>
                <a:effectLst/>
                <a:latin typeface="Roboto" panose="02000000000000000000" pitchFamily="2" charset="0"/>
              </a:rPr>
              <a:t>, optimize marketing campaigns, and personalize shopping experiences. E-commerce companies offer personalized product recommendations, target specific customer segments, and improve customer satisfaction and retention by </a:t>
            </a:r>
            <a:r>
              <a:rPr lang="en-IN" b="0" i="0" dirty="0" err="1">
                <a:solidFill>
                  <a:srgbClr val="666666"/>
                </a:solidFill>
                <a:effectLst/>
                <a:latin typeface="Roboto" panose="02000000000000000000" pitchFamily="2" charset="0"/>
              </a:rPr>
              <a:t>analyzing</a:t>
            </a:r>
            <a:r>
              <a:rPr lang="en-IN" b="0" i="0" dirty="0">
                <a:solidFill>
                  <a:srgbClr val="666666"/>
                </a:solidFill>
                <a:effectLst/>
                <a:latin typeface="Roboto" panose="02000000000000000000" pitchFamily="2" charset="0"/>
              </a:rPr>
              <a:t> customer preferences, purchase histories, and browsing patterns.</a:t>
            </a:r>
          </a:p>
          <a:p>
            <a:pPr marL="0" indent="0">
              <a:buNone/>
            </a:pPr>
            <a:endParaRPr lang="en-IN" dirty="0"/>
          </a:p>
          <a:p>
            <a:pPr marL="0" indent="0">
              <a:buNone/>
            </a:pPr>
            <a:endParaRPr lang="en-IN" dirty="0"/>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Finance. </a:t>
            </a:r>
            <a:r>
              <a:rPr lang="en-IN" b="0" i="0" dirty="0">
                <a:solidFill>
                  <a:srgbClr val="666666"/>
                </a:solidFill>
                <a:effectLst/>
                <a:latin typeface="Roboto" panose="02000000000000000000" pitchFamily="2" charset="0"/>
              </a:rPr>
              <a:t>Data analytics plays a vital role in investment strategies, fraud detection, and risk assessment. Banks and other financial institutions </a:t>
            </a:r>
            <a:r>
              <a:rPr lang="en-IN" b="0" i="0" dirty="0" err="1">
                <a:solidFill>
                  <a:srgbClr val="666666"/>
                </a:solidFill>
                <a:effectLst/>
                <a:latin typeface="Roboto" panose="02000000000000000000" pitchFamily="2" charset="0"/>
              </a:rPr>
              <a:t>analyze</a:t>
            </a:r>
            <a:r>
              <a:rPr lang="en-IN" b="0" i="0" dirty="0">
                <a:solidFill>
                  <a:srgbClr val="666666"/>
                </a:solidFill>
                <a:effectLst/>
                <a:latin typeface="Roboto" panose="02000000000000000000" pitchFamily="2" charset="0"/>
              </a:rPr>
              <a:t> vast volumes of data to predict creditworthiness, spot suspicious transactions, and optimize their investment portfolios. Data analytics allows finance companies to offer personalized financial advice and develop creative financial products and services.</a:t>
            </a:r>
          </a:p>
          <a:p>
            <a:pPr marL="0" indent="0">
              <a:buNone/>
            </a:pPr>
            <a:endParaRPr lang="en-IN" dirty="0"/>
          </a:p>
        </p:txBody>
      </p:sp>
      <p:pic>
        <p:nvPicPr>
          <p:cNvPr id="4" name="Graphic 3" descr="Shopping cart with solid fill">
            <a:extLst>
              <a:ext uri="{FF2B5EF4-FFF2-40B4-BE49-F238E27FC236}">
                <a16:creationId xmlns:a16="http://schemas.microsoft.com/office/drawing/2014/main" id="{8C07C7A6-9B54-890C-C69A-1DF2D7DA7382}"/>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850572" y="690466"/>
            <a:ext cx="914400" cy="914400"/>
          </a:xfrm>
          <a:prstGeom prst="rect">
            <a:avLst/>
          </a:prstGeom>
        </p:spPr>
      </p:pic>
      <p:pic>
        <p:nvPicPr>
          <p:cNvPr id="8" name="Graphic 7" descr="Money with solid fill">
            <a:extLst>
              <a:ext uri="{FF2B5EF4-FFF2-40B4-BE49-F238E27FC236}">
                <a16:creationId xmlns:a16="http://schemas.microsoft.com/office/drawing/2014/main" id="{0299F5FB-B601-F393-DC8C-93760E0F5ADB}"/>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952625" y="3171825"/>
            <a:ext cx="914400" cy="914400"/>
          </a:xfrm>
          <a:prstGeom prst="rect">
            <a:avLst/>
          </a:prstGeom>
        </p:spPr>
      </p:pic>
    </p:spTree>
    <p:extLst>
      <p:ext uri="{BB962C8B-B14F-4D97-AF65-F5344CB8AC3E}">
        <p14:creationId xmlns:p14="http://schemas.microsoft.com/office/powerpoint/2010/main" val="2121772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32950-42EF-A9BA-CA30-D458C7C31A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4C475-8597-AC87-B479-6165B6542BE0}"/>
              </a:ext>
            </a:extLst>
          </p:cNvPr>
          <p:cNvSpPr>
            <a:spLocks noGrp="1"/>
          </p:cNvSpPr>
          <p:nvPr>
            <p:ph idx="1"/>
          </p:nvPr>
        </p:nvSpPr>
        <p:spPr>
          <a:xfrm>
            <a:off x="1371599" y="615819"/>
            <a:ext cx="10067731" cy="5551715"/>
          </a:xfrm>
        </p:spPr>
        <p:txBody>
          <a:bodyPr>
            <a:normAutofit/>
          </a:bodyPr>
          <a:lstStyle/>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marL="0" indent="0" algn="l" fontAlgn="base">
              <a:buNone/>
            </a:pPr>
            <a:endParaRPr lang="en-IN" b="1" dirty="0">
              <a:solidFill>
                <a:srgbClr val="666666"/>
              </a:solidFill>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Healthcare. </a:t>
            </a:r>
            <a:r>
              <a:rPr lang="en-IN" b="0" i="0" dirty="0">
                <a:solidFill>
                  <a:srgbClr val="666666"/>
                </a:solidFill>
                <a:effectLst/>
                <a:latin typeface="Roboto" panose="02000000000000000000" pitchFamily="2" charset="0"/>
              </a:rPr>
              <a:t>Data analytics positively changes the healthcare industry by offering better patient care, disease prevention, and resource optimization. Hospitals can </a:t>
            </a:r>
            <a:r>
              <a:rPr lang="en-IN" b="0" i="0" dirty="0" err="1">
                <a:solidFill>
                  <a:srgbClr val="666666"/>
                </a:solidFill>
                <a:effectLst/>
                <a:latin typeface="Roboto" panose="02000000000000000000" pitchFamily="2" charset="0"/>
              </a:rPr>
              <a:t>analyze</a:t>
            </a:r>
            <a:r>
              <a:rPr lang="en-IN" b="0" i="0" dirty="0">
                <a:solidFill>
                  <a:srgbClr val="666666"/>
                </a:solidFill>
                <a:effectLst/>
                <a:latin typeface="Roboto" panose="02000000000000000000" pitchFamily="2" charset="0"/>
              </a:rPr>
              <a:t> patient data to spot high-risk individuals and provide personalized treatment plans. Data analytics also helps find disease outbreaks, monitor treatment effectiveness, and improve healthcare operations.</a:t>
            </a:r>
          </a:p>
          <a:p>
            <a:pPr marL="0" indent="0">
              <a:buNone/>
            </a:pPr>
            <a:endParaRPr lang="en-IN" dirty="0"/>
          </a:p>
          <a:p>
            <a:pPr marL="0" indent="0">
              <a:buNone/>
            </a:pPr>
            <a:endParaRPr lang="en-IN" dirty="0"/>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Internet Searches. </a:t>
            </a:r>
            <a:r>
              <a:rPr lang="en-IN" b="0" i="0" dirty="0">
                <a:solidFill>
                  <a:srgbClr val="666666"/>
                </a:solidFill>
                <a:effectLst/>
                <a:latin typeface="Roboto" panose="02000000000000000000" pitchFamily="2" charset="0"/>
              </a:rPr>
              <a:t>Data analytics powers Internet search engines, letting users find relevant information accurately and quickly. Search engines </a:t>
            </a:r>
            <a:r>
              <a:rPr lang="en-IN" b="0" i="0" dirty="0" err="1">
                <a:solidFill>
                  <a:srgbClr val="666666"/>
                </a:solidFill>
                <a:effectLst/>
                <a:latin typeface="Roboto" panose="02000000000000000000" pitchFamily="2" charset="0"/>
              </a:rPr>
              <a:t>analyze</a:t>
            </a:r>
            <a:r>
              <a:rPr lang="en-IN" b="0" i="0" dirty="0">
                <a:solidFill>
                  <a:srgbClr val="666666"/>
                </a:solidFill>
                <a:effectLst/>
                <a:latin typeface="Roboto" panose="02000000000000000000" pitchFamily="2" charset="0"/>
              </a:rPr>
              <a:t> colossal amounts of data (e.g., web pages, user queries, click-through rates) to deliver the most relevant search results. Additionally, data analytics algorithms continuously learn and adapt to individual user </a:t>
            </a:r>
            <a:r>
              <a:rPr lang="en-IN" b="0" i="0" dirty="0" err="1">
                <a:solidFill>
                  <a:srgbClr val="666666"/>
                </a:solidFill>
                <a:effectLst/>
                <a:latin typeface="Roboto" panose="02000000000000000000" pitchFamily="2" charset="0"/>
              </a:rPr>
              <a:t>behaviors</a:t>
            </a:r>
            <a:r>
              <a:rPr lang="en-IN" b="0" i="0" dirty="0">
                <a:solidFill>
                  <a:srgbClr val="666666"/>
                </a:solidFill>
                <a:effectLst/>
                <a:latin typeface="Roboto" panose="02000000000000000000" pitchFamily="2" charset="0"/>
              </a:rPr>
              <a:t>, providing increasingly accurate and personalized search results.</a:t>
            </a:r>
          </a:p>
          <a:p>
            <a:pPr marL="0" indent="0">
              <a:buNone/>
            </a:pPr>
            <a:endParaRPr lang="en-IN" dirty="0"/>
          </a:p>
        </p:txBody>
      </p:sp>
      <p:pic>
        <p:nvPicPr>
          <p:cNvPr id="5" name="Graphic 4" descr="Heart with pulse with solid fill">
            <a:extLst>
              <a:ext uri="{FF2B5EF4-FFF2-40B4-BE49-F238E27FC236}">
                <a16:creationId xmlns:a16="http://schemas.microsoft.com/office/drawing/2014/main" id="{F63075CF-E098-3367-90A3-7FA8A03314C2}"/>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952625" y="690466"/>
            <a:ext cx="914400" cy="914400"/>
          </a:xfrm>
          <a:prstGeom prst="rect">
            <a:avLst/>
          </a:prstGeom>
        </p:spPr>
      </p:pic>
      <p:pic>
        <p:nvPicPr>
          <p:cNvPr id="7" name="Graphic 6" descr="Internet with solid fill">
            <a:extLst>
              <a:ext uri="{FF2B5EF4-FFF2-40B4-BE49-F238E27FC236}">
                <a16:creationId xmlns:a16="http://schemas.microsoft.com/office/drawing/2014/main" id="{1E2629CD-CF6E-7840-A445-AAC1C1A732FC}"/>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952625" y="3114675"/>
            <a:ext cx="914400" cy="914400"/>
          </a:xfrm>
          <a:prstGeom prst="rect">
            <a:avLst/>
          </a:prstGeom>
        </p:spPr>
      </p:pic>
    </p:spTree>
    <p:extLst>
      <p:ext uri="{BB962C8B-B14F-4D97-AF65-F5344CB8AC3E}">
        <p14:creationId xmlns:p14="http://schemas.microsoft.com/office/powerpoint/2010/main" val="1349651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4C12-ED99-DAE3-AB6D-D08C9ACAD9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99687-8898-4C73-269E-F8D8F7FA3E63}"/>
              </a:ext>
            </a:extLst>
          </p:cNvPr>
          <p:cNvSpPr>
            <a:spLocks noGrp="1"/>
          </p:cNvSpPr>
          <p:nvPr>
            <p:ph idx="1"/>
          </p:nvPr>
        </p:nvSpPr>
        <p:spPr>
          <a:xfrm>
            <a:off x="1371599" y="615819"/>
            <a:ext cx="10067731" cy="5551715"/>
          </a:xfrm>
        </p:spPr>
        <p:txBody>
          <a:bodyPr>
            <a:normAutofit lnSpcReduction="10000"/>
          </a:bodyPr>
          <a:lstStyle/>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marL="0" indent="0" algn="l" fontAlgn="base">
              <a:buNone/>
            </a:pPr>
            <a:endParaRPr lang="en-IN" b="1" dirty="0">
              <a:solidFill>
                <a:srgbClr val="666666"/>
              </a:solidFill>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Logistics. </a:t>
            </a:r>
            <a:r>
              <a:rPr lang="en-IN" b="0" i="0" dirty="0">
                <a:solidFill>
                  <a:srgbClr val="666666"/>
                </a:solidFill>
                <a:effectLst/>
                <a:latin typeface="Roboto" panose="02000000000000000000" pitchFamily="2" charset="0"/>
              </a:rPr>
              <a:t>Data analytics is essential in managing fleet operations, optimizing transportation routes, and improving overall supply chain efficiency. Logistics companies can reduce delivery times, minimize costs, and increase demand forecasting, inventory management, and customer satisfaction by analysing delivery times, routes, and vehicle performance data.</a:t>
            </a:r>
          </a:p>
          <a:p>
            <a:pPr marL="0" indent="0">
              <a:buNone/>
            </a:pPr>
            <a:endParaRPr lang="en-IN" dirty="0"/>
          </a:p>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Manufacturing. </a:t>
            </a:r>
            <a:r>
              <a:rPr lang="en-IN" b="0" i="0" dirty="0">
                <a:solidFill>
                  <a:srgbClr val="666666"/>
                </a:solidFill>
                <a:effectLst/>
                <a:latin typeface="Roboto" panose="02000000000000000000" pitchFamily="2" charset="0"/>
              </a:rPr>
              <a:t>Data analytics revolutionizes manufacturing by optimizing production processes, improving predictive maintenance, and enhancing product quality. Data analytics allows manufacturers to analyse sensor data, machine performance, and historical maintenance records to predict equipment failures, minimize downtime, and guarantee efficient operations. Data analytics also allows manufacturers to monitor production lines in real time, leading to higher productivity and savings.</a:t>
            </a:r>
          </a:p>
          <a:p>
            <a:endParaRPr lang="en-IN" b="0" i="0" dirty="0">
              <a:solidFill>
                <a:srgbClr val="666666"/>
              </a:solidFill>
              <a:effectLst/>
              <a:latin typeface="Roboto" panose="02000000000000000000" pitchFamily="2" charset="0"/>
            </a:endParaRPr>
          </a:p>
          <a:p>
            <a:pPr marL="0" indent="0">
              <a:buNone/>
            </a:pPr>
            <a:endParaRPr lang="en-IN" dirty="0"/>
          </a:p>
        </p:txBody>
      </p:sp>
      <p:pic>
        <p:nvPicPr>
          <p:cNvPr id="8" name="Graphic 7" descr="Group brainstorm with solid fill">
            <a:extLst>
              <a:ext uri="{FF2B5EF4-FFF2-40B4-BE49-F238E27FC236}">
                <a16:creationId xmlns:a16="http://schemas.microsoft.com/office/drawing/2014/main" id="{4F6B2E1F-8D0E-DF2C-F5DE-8D0C69902897}"/>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952625" y="3086100"/>
            <a:ext cx="914400" cy="914400"/>
          </a:xfrm>
          <a:prstGeom prst="rect">
            <a:avLst/>
          </a:prstGeom>
        </p:spPr>
      </p:pic>
      <p:pic>
        <p:nvPicPr>
          <p:cNvPr id="5" name="Graphic 4" descr="Truck with solid fill">
            <a:extLst>
              <a:ext uri="{FF2B5EF4-FFF2-40B4-BE49-F238E27FC236}">
                <a16:creationId xmlns:a16="http://schemas.microsoft.com/office/drawing/2014/main" id="{5AF0B393-2EE6-EC97-3F00-398D53D37A24}"/>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874875" y="690466"/>
            <a:ext cx="914400" cy="914400"/>
          </a:xfrm>
          <a:prstGeom prst="rect">
            <a:avLst/>
          </a:prstGeom>
        </p:spPr>
      </p:pic>
    </p:spTree>
    <p:extLst>
      <p:ext uri="{BB962C8B-B14F-4D97-AF65-F5344CB8AC3E}">
        <p14:creationId xmlns:p14="http://schemas.microsoft.com/office/powerpoint/2010/main" val="15679752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9E28C-C172-13D8-9DE1-68FE585B70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9F8ECA-72E0-DAF5-F657-20BB5E047748}"/>
              </a:ext>
            </a:extLst>
          </p:cNvPr>
          <p:cNvSpPr>
            <a:spLocks noGrp="1"/>
          </p:cNvSpPr>
          <p:nvPr>
            <p:ph idx="1"/>
          </p:nvPr>
        </p:nvSpPr>
        <p:spPr>
          <a:xfrm>
            <a:off x="1371599" y="615819"/>
            <a:ext cx="10067731" cy="5551715"/>
          </a:xfrm>
        </p:spPr>
        <p:txBody>
          <a:bodyPr>
            <a:normAutofit lnSpcReduction="10000"/>
          </a:bodyPr>
          <a:lstStyle/>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marL="0" indent="0" algn="l" fontAlgn="base">
              <a:buNone/>
            </a:pPr>
            <a:endParaRPr lang="en-IN" b="1" dirty="0">
              <a:solidFill>
                <a:srgbClr val="666666"/>
              </a:solidFill>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Supply Chain Management. </a:t>
            </a:r>
            <a:r>
              <a:rPr lang="en-IN" b="0" i="0" dirty="0">
                <a:solidFill>
                  <a:srgbClr val="666666"/>
                </a:solidFill>
                <a:effectLst/>
                <a:latin typeface="Roboto" panose="02000000000000000000" pitchFamily="2" charset="0"/>
              </a:rPr>
              <a:t>The recent global pandemic has cast supply chains in a new light. Consequently, data analytics improves supply chain management by reducing costs, optimizing inventory levels, and enhancing overall operational efficiency. Using data analytics, organizations can </a:t>
            </a:r>
            <a:r>
              <a:rPr lang="en-IN" b="0" i="0" dirty="0" err="1">
                <a:solidFill>
                  <a:srgbClr val="666666"/>
                </a:solidFill>
                <a:effectLst/>
                <a:latin typeface="Roboto" panose="02000000000000000000" pitchFamily="2" charset="0"/>
              </a:rPr>
              <a:t>analyze</a:t>
            </a:r>
            <a:r>
              <a:rPr lang="en-IN" b="0" i="0" dirty="0">
                <a:solidFill>
                  <a:srgbClr val="666666"/>
                </a:solidFill>
                <a:effectLst/>
                <a:latin typeface="Roboto" panose="02000000000000000000" pitchFamily="2" charset="0"/>
              </a:rPr>
              <a:t> supply chain data to forecast demand, identify bottlenecks, and improve logistics and distribution processes. Data analytics also enhances transparency throughout the supply chain.</a:t>
            </a:r>
          </a:p>
          <a:p>
            <a:pPr marL="0" indent="0">
              <a:buNone/>
            </a:pPr>
            <a:endParaRPr lang="en-IN" b="0" i="0" dirty="0">
              <a:solidFill>
                <a:srgbClr val="666666"/>
              </a:solidFill>
              <a:effectLst/>
              <a:latin typeface="Roboto" panose="02000000000000000000" pitchFamily="2" charset="0"/>
            </a:endParaRPr>
          </a:p>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algn="l" fontAlgn="base">
              <a:buFont typeface="Arial" panose="020B0604020202020204" pitchFamily="34" charset="0"/>
              <a:buChar char="•"/>
            </a:pPr>
            <a:r>
              <a:rPr lang="en-IN" b="1" i="0" dirty="0">
                <a:solidFill>
                  <a:srgbClr val="666666"/>
                </a:solidFill>
                <a:effectLst/>
                <a:latin typeface="Roboto" panose="02000000000000000000" pitchFamily="2" charset="0"/>
              </a:rPr>
              <a:t>Risk Management. </a:t>
            </a:r>
            <a:r>
              <a:rPr lang="en-IN" b="0" i="0" dirty="0">
                <a:solidFill>
                  <a:srgbClr val="666666"/>
                </a:solidFill>
                <a:effectLst/>
                <a:latin typeface="Roboto" panose="02000000000000000000" pitchFamily="2" charset="0"/>
              </a:rPr>
              <a:t>Risks are common in the commercial world, and data analytics is essential in risk management across many industries, such as finance, insurance, and project management. Organizations can use data analysis to assess risks, develop sound mitigation strategies, and make informed decisions by </a:t>
            </a:r>
            <a:r>
              <a:rPr lang="en-IN" b="0" i="0" dirty="0" err="1">
                <a:solidFill>
                  <a:srgbClr val="666666"/>
                </a:solidFill>
                <a:effectLst/>
                <a:latin typeface="Roboto" panose="02000000000000000000" pitchFamily="2" charset="0"/>
              </a:rPr>
              <a:t>analyzing</a:t>
            </a:r>
            <a:r>
              <a:rPr lang="en-IN" b="0" i="0" dirty="0">
                <a:solidFill>
                  <a:srgbClr val="666666"/>
                </a:solidFill>
                <a:effectLst/>
                <a:latin typeface="Roboto" panose="02000000000000000000" pitchFamily="2" charset="0"/>
              </a:rPr>
              <a:t> market trends, historical data, and external factors.</a:t>
            </a:r>
          </a:p>
          <a:p>
            <a:pPr marL="0" indent="0">
              <a:buNone/>
            </a:pPr>
            <a:endParaRPr lang="en-IN" b="0" i="0" dirty="0">
              <a:solidFill>
                <a:srgbClr val="666666"/>
              </a:solidFill>
              <a:effectLst/>
              <a:latin typeface="Roboto" panose="02000000000000000000" pitchFamily="2" charset="0"/>
            </a:endParaRPr>
          </a:p>
          <a:p>
            <a:pPr marL="0" indent="0">
              <a:buNone/>
            </a:pPr>
            <a:endParaRPr lang="en-IN" dirty="0"/>
          </a:p>
        </p:txBody>
      </p:sp>
      <p:pic>
        <p:nvPicPr>
          <p:cNvPr id="7" name="Graphic 6" descr="Connections with solid fill">
            <a:extLst>
              <a:ext uri="{FF2B5EF4-FFF2-40B4-BE49-F238E27FC236}">
                <a16:creationId xmlns:a16="http://schemas.microsoft.com/office/drawing/2014/main" id="{B12AA3FF-3EBD-EDBA-A9EB-CFADC3579530}"/>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2035950" y="650810"/>
            <a:ext cx="914400" cy="914400"/>
          </a:xfrm>
          <a:prstGeom prst="rect">
            <a:avLst/>
          </a:prstGeom>
        </p:spPr>
      </p:pic>
      <p:pic>
        <p:nvPicPr>
          <p:cNvPr id="10" name="Graphic 9" descr="Target Audience with solid fill">
            <a:extLst>
              <a:ext uri="{FF2B5EF4-FFF2-40B4-BE49-F238E27FC236}">
                <a16:creationId xmlns:a16="http://schemas.microsoft.com/office/drawing/2014/main" id="{B37C6C82-722D-C65E-726B-DF84E698453B}"/>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2035950" y="3429000"/>
            <a:ext cx="914400" cy="914400"/>
          </a:xfrm>
          <a:prstGeom prst="rect">
            <a:avLst/>
          </a:prstGeom>
        </p:spPr>
      </p:pic>
    </p:spTree>
    <p:extLst>
      <p:ext uri="{BB962C8B-B14F-4D97-AF65-F5344CB8AC3E}">
        <p14:creationId xmlns:p14="http://schemas.microsoft.com/office/powerpoint/2010/main" val="19881671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A167B-B758-CEAC-B4E9-4504ADE344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6033B3-7766-118C-3BB1-A5161022629E}"/>
              </a:ext>
            </a:extLst>
          </p:cNvPr>
          <p:cNvSpPr>
            <a:spLocks noGrp="1"/>
          </p:cNvSpPr>
          <p:nvPr>
            <p:ph idx="1"/>
          </p:nvPr>
        </p:nvSpPr>
        <p:spPr>
          <a:xfrm>
            <a:off x="1371599" y="615819"/>
            <a:ext cx="10067731" cy="5551715"/>
          </a:xfrm>
        </p:spPr>
        <p:txBody>
          <a:bodyPr>
            <a:normAutofit fontScale="92500" lnSpcReduction="20000"/>
          </a:bodyPr>
          <a:lstStyle/>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marL="0" indent="0" algn="l" fontAlgn="base">
              <a:buNone/>
            </a:pPr>
            <a:endParaRPr lang="en-IN" b="1" dirty="0">
              <a:solidFill>
                <a:srgbClr val="666666"/>
              </a:solidFill>
              <a:latin typeface="Roboto" panose="02000000000000000000" pitchFamily="2" charset="0"/>
            </a:endParaRPr>
          </a:p>
          <a:p>
            <a:pPr algn="l"/>
            <a:r>
              <a:rPr lang="en-IN" sz="2100" b="1" dirty="0">
                <a:solidFill>
                  <a:srgbClr val="666666"/>
                </a:solidFill>
                <a:latin typeface="Roboto" panose="02000000000000000000" pitchFamily="2" charset="0"/>
              </a:rPr>
              <a:t>Transportation: </a:t>
            </a:r>
            <a:r>
              <a:rPr lang="en-IN" sz="2100" dirty="0">
                <a:solidFill>
                  <a:srgbClr val="666666"/>
                </a:solidFill>
                <a:latin typeface="Roboto" panose="02000000000000000000" pitchFamily="2" charset="0"/>
              </a:rPr>
              <a:t>Transportation data analytics involves the collection, analysis, and interpretation of data related to transportation systems. It helps identify patterns and trends in transportation behaviour, such as traffic congestion or public transport usage. Data analytics can be used to optimize transportation routes and schedules for efficiency and sustainability. It plays a crucial role in improving safety by identifying accidents-prone areas and suggesting targeted interventions. Transportation data analytics can also aid in predicting demand, optimizing pricing strategies, and enhancing overall user experience in transportation services. </a:t>
            </a:r>
          </a:p>
          <a:p>
            <a:pPr marL="0" indent="0">
              <a:buNone/>
            </a:pPr>
            <a:r>
              <a:rPr lang="en-IN" dirty="0"/>
              <a:t/>
            </a:r>
            <a:br>
              <a:rPr lang="en-IN" dirty="0"/>
            </a:br>
            <a:endParaRPr lang="en-IN" b="0" i="0" dirty="0">
              <a:solidFill>
                <a:srgbClr val="666666"/>
              </a:solidFill>
              <a:effectLst/>
              <a:latin typeface="Roboto" panose="02000000000000000000" pitchFamily="2" charset="0"/>
            </a:endParaRPr>
          </a:p>
          <a:p>
            <a:pPr algn="l" fontAlgn="base">
              <a:buFont typeface="Arial" panose="020B0604020202020204" pitchFamily="34" charset="0"/>
              <a:buChar char="•"/>
            </a:pPr>
            <a:endParaRPr lang="en-IN" b="1" i="0" dirty="0">
              <a:solidFill>
                <a:srgbClr val="666666"/>
              </a:solidFill>
              <a:effectLst/>
              <a:latin typeface="Roboto" panose="02000000000000000000" pitchFamily="2" charset="0"/>
            </a:endParaRPr>
          </a:p>
          <a:p>
            <a:pPr algn="l">
              <a:lnSpc>
                <a:spcPts val="1800"/>
              </a:lnSpc>
            </a:pPr>
            <a:r>
              <a:rPr lang="en-IN" sz="2100" b="1" dirty="0">
                <a:solidFill>
                  <a:srgbClr val="666666"/>
                </a:solidFill>
                <a:latin typeface="Roboto" panose="02000000000000000000" pitchFamily="2" charset="0"/>
              </a:rPr>
              <a:t>Customer Care</a:t>
            </a:r>
            <a:r>
              <a:rPr lang="en-IN" sz="2100" dirty="0">
                <a:solidFill>
                  <a:srgbClr val="666666"/>
                </a:solidFill>
                <a:latin typeface="Roboto" panose="02000000000000000000" pitchFamily="2" charset="0"/>
              </a:rPr>
              <a:t>: Customer behaviour analytics refers to data sourced from the various touchpoints of customer relationships. Now, more than ever, the customer journey is complicated. Attempting to map out a customer’s journey might feel like a disjointed scavenger hunt. Of course, it doesn’t have to be. A modern customer </a:t>
            </a:r>
            <a:r>
              <a:rPr lang="en-IN" sz="2100" dirty="0" err="1">
                <a:solidFill>
                  <a:srgbClr val="666666"/>
                </a:solidFill>
                <a:latin typeface="Roboto" panose="02000000000000000000" pitchFamily="2" charset="0"/>
              </a:rPr>
              <a:t>behavior</a:t>
            </a:r>
            <a:r>
              <a:rPr lang="en-IN" sz="2100" dirty="0">
                <a:solidFill>
                  <a:srgbClr val="666666"/>
                </a:solidFill>
                <a:latin typeface="Roboto" panose="02000000000000000000" pitchFamily="2" charset="0"/>
              </a:rPr>
              <a:t> analytic strategy should keep you on top of the big data that informs your support strategy, product roadmap, marketing campaigns, and sales efforts.</a:t>
            </a:r>
          </a:p>
          <a:p>
            <a:endParaRPr lang="en-IN" b="0" i="0" dirty="0">
              <a:solidFill>
                <a:srgbClr val="666666"/>
              </a:solidFill>
              <a:effectLst/>
              <a:latin typeface="Roboto" panose="02000000000000000000" pitchFamily="2" charset="0"/>
            </a:endParaRPr>
          </a:p>
          <a:p>
            <a:pPr marL="0" indent="0">
              <a:buNone/>
            </a:pPr>
            <a:endParaRPr lang="en-IN" dirty="0"/>
          </a:p>
        </p:txBody>
      </p:sp>
      <p:pic>
        <p:nvPicPr>
          <p:cNvPr id="2" name="Graphic 1" descr="Bus with solid fill">
            <a:extLst>
              <a:ext uri="{FF2B5EF4-FFF2-40B4-BE49-F238E27FC236}">
                <a16:creationId xmlns:a16="http://schemas.microsoft.com/office/drawing/2014/main" id="{BAB4654D-3D4D-D5F2-FB72-38E04A136A39}"/>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910095" y="615819"/>
            <a:ext cx="914400" cy="914400"/>
          </a:xfrm>
          <a:prstGeom prst="rect">
            <a:avLst/>
          </a:prstGeom>
        </p:spPr>
      </p:pic>
      <p:pic>
        <p:nvPicPr>
          <p:cNvPr id="5" name="Graphic 4" descr="Customer review with solid fill">
            <a:extLst>
              <a:ext uri="{FF2B5EF4-FFF2-40B4-BE49-F238E27FC236}">
                <a16:creationId xmlns:a16="http://schemas.microsoft.com/office/drawing/2014/main" id="{B993C755-0D7E-D9B9-F88F-67019A76E813}"/>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910095" y="3631019"/>
            <a:ext cx="914400" cy="914400"/>
          </a:xfrm>
          <a:prstGeom prst="rect">
            <a:avLst/>
          </a:prstGeom>
        </p:spPr>
      </p:pic>
    </p:spTree>
    <p:extLst>
      <p:ext uri="{BB962C8B-B14F-4D97-AF65-F5344CB8AC3E}">
        <p14:creationId xmlns:p14="http://schemas.microsoft.com/office/powerpoint/2010/main" val="127150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58A3B-3394-53AC-DF85-187C07CC92D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6FCE5DF-EF34-8967-A2D8-922A465A9EF3}"/>
              </a:ext>
            </a:extLst>
          </p:cNvPr>
          <p:cNvSpPr>
            <a:spLocks noGrp="1"/>
          </p:cNvSpPr>
          <p:nvPr>
            <p:ph idx="1"/>
          </p:nvPr>
        </p:nvSpPr>
        <p:spPr>
          <a:xfrm>
            <a:off x="1474159" y="1541721"/>
            <a:ext cx="10242919" cy="5030529"/>
          </a:xfrm>
        </p:spPr>
        <p:txBody>
          <a:bodyPr>
            <a:normAutofit fontScale="92500" lnSpcReduction="20000"/>
          </a:bodyPr>
          <a:lstStyle/>
          <a:p>
            <a:pPr algn="l"/>
            <a:r>
              <a:rPr lang="en-IN" b="1" i="0" dirty="0">
                <a:solidFill>
                  <a:srgbClr val="04003F"/>
                </a:solidFill>
                <a:effectLst/>
                <a:latin typeface="Montserrat" panose="00000500000000000000" pitchFamily="2" charset="0"/>
              </a:rPr>
              <a:t>1. Identifying Cancer </a:t>
            </a:r>
            <a:r>
              <a:rPr lang="en-IN" b="1" i="0" dirty="0" err="1">
                <a:solidFill>
                  <a:srgbClr val="04003F"/>
                </a:solidFill>
                <a:effectLst/>
                <a:latin typeface="Montserrat" panose="00000500000000000000" pitchFamily="2" charset="0"/>
              </a:rPr>
              <a:t>Tumors</a:t>
            </a:r>
            <a:endParaRPr lang="en-IN" b="1" i="0" dirty="0">
              <a:solidFill>
                <a:srgbClr val="04003F"/>
              </a:solidFill>
              <a:effectLst/>
              <a:latin typeface="Montserrat" panose="00000500000000000000" pitchFamily="2" charset="0"/>
            </a:endParaRPr>
          </a:p>
          <a:p>
            <a:pPr algn="l"/>
            <a:r>
              <a:rPr lang="en-IN" b="0" i="0" dirty="0">
                <a:solidFill>
                  <a:srgbClr val="3A3B41"/>
                </a:solidFill>
                <a:effectLst/>
                <a:latin typeface="Georgia" panose="02040502050405020303" pitchFamily="18" charset="0"/>
              </a:rPr>
              <a:t>Google developed a tool called LYNA for identifying breast cancer </a:t>
            </a:r>
            <a:r>
              <a:rPr lang="en-IN" b="0" i="0" dirty="0" err="1">
                <a:solidFill>
                  <a:srgbClr val="3A3B41"/>
                </a:solidFill>
                <a:effectLst/>
                <a:latin typeface="Georgia" panose="02040502050405020303" pitchFamily="18" charset="0"/>
              </a:rPr>
              <a:t>tumors</a:t>
            </a:r>
            <a:r>
              <a:rPr lang="en-IN" b="0" i="0" dirty="0">
                <a:solidFill>
                  <a:srgbClr val="3A3B41"/>
                </a:solidFill>
                <a:effectLst/>
                <a:latin typeface="Georgia" panose="02040502050405020303" pitchFamily="18" charset="0"/>
              </a:rPr>
              <a:t> that metastasize to nearby lymph nodes. That can be difficult for the human eye to see, especially when the new cancer growth is small. In one trial, LYNA — short for Lymph Node Assistant — accurately identified metastatic cancer 99 percent of the time using its machine-learning algorithm. More testing is required, however, before doctors can use it in hospitals.</a:t>
            </a:r>
          </a:p>
          <a:p>
            <a:pPr marL="0" indent="0" algn="l">
              <a:buNone/>
            </a:pPr>
            <a:endParaRPr lang="en-IN" b="1" i="0" dirty="0">
              <a:solidFill>
                <a:srgbClr val="04003F"/>
              </a:solidFill>
              <a:effectLst/>
              <a:latin typeface="Montserrat" panose="00000500000000000000" pitchFamily="2" charset="0"/>
            </a:endParaRPr>
          </a:p>
          <a:p>
            <a:pPr marL="0" indent="0" algn="l">
              <a:buNone/>
            </a:pPr>
            <a:endParaRPr lang="en-IN" b="1" i="0" dirty="0">
              <a:solidFill>
                <a:srgbClr val="04003F"/>
              </a:solidFill>
              <a:effectLst/>
              <a:latin typeface="Montserrat" panose="00000500000000000000" pitchFamily="2" charset="0"/>
            </a:endParaRPr>
          </a:p>
          <a:p>
            <a:pPr algn="l"/>
            <a:r>
              <a:rPr lang="en-IN" b="1" i="0" dirty="0">
                <a:solidFill>
                  <a:srgbClr val="04003F"/>
                </a:solidFill>
                <a:effectLst/>
                <a:latin typeface="Montserrat" panose="00000500000000000000" pitchFamily="2" charset="0"/>
              </a:rPr>
              <a:t>2. Tracking Menstrual Cycles</a:t>
            </a:r>
          </a:p>
          <a:p>
            <a:pPr algn="l"/>
            <a:r>
              <a:rPr lang="en-IN" b="0" i="0" dirty="0">
                <a:solidFill>
                  <a:srgbClr val="3A3B41"/>
                </a:solidFill>
                <a:effectLst/>
                <a:latin typeface="Georgia" panose="02040502050405020303" pitchFamily="18" charset="0"/>
              </a:rPr>
              <a:t>The popular Clue app employs data science to forecast users’ menstrual cycles and reproductive health by tracking cycle start dates, moods, stool type, hair condition and other metrics. Behind the scenes, data scientists mine this wealth of anonymized data with tools like Python and Jupiter's Notebook. Users are then algorithmically notified when they’re fertile, on the cusp of a period or at an elevated risk for conditions like an ectopic pregnancy.</a:t>
            </a:r>
          </a:p>
          <a:p>
            <a:pPr marL="0" indent="0">
              <a:buNone/>
            </a:pPr>
            <a:r>
              <a:rPr lang="en-IN" dirty="0"/>
              <a:t/>
            </a:r>
            <a:br>
              <a:rPr lang="en-IN" dirty="0"/>
            </a:br>
            <a:r>
              <a:rPr lang="en-IN" dirty="0"/>
              <a:t/>
            </a:r>
            <a:br>
              <a:rPr lang="en-IN" dirty="0"/>
            </a:br>
            <a:endParaRPr lang="en-IN" dirty="0"/>
          </a:p>
        </p:txBody>
      </p:sp>
      <p:sp>
        <p:nvSpPr>
          <p:cNvPr id="7" name="Title 1">
            <a:extLst>
              <a:ext uri="{FF2B5EF4-FFF2-40B4-BE49-F238E27FC236}">
                <a16:creationId xmlns:a16="http://schemas.microsoft.com/office/drawing/2014/main" id="{B1BA3A93-B669-8096-3691-73BCF6384232}"/>
              </a:ext>
            </a:extLst>
          </p:cNvPr>
          <p:cNvSpPr>
            <a:spLocks noGrp="1"/>
          </p:cNvSpPr>
          <p:nvPr>
            <p:ph type="title"/>
          </p:nvPr>
        </p:nvSpPr>
        <p:spPr>
          <a:xfrm>
            <a:off x="1371600" y="285750"/>
            <a:ext cx="9601200" cy="1485900"/>
          </a:xfrm>
        </p:spPr>
        <p:txBody>
          <a:bodyPr>
            <a:normAutofit fontScale="90000"/>
          </a:bodyPr>
          <a:lstStyle/>
          <a:p>
            <a:pPr algn="l"/>
            <a:r>
              <a:rPr lang="en-IN" b="1" i="0" dirty="0">
                <a:solidFill>
                  <a:srgbClr val="0F1114"/>
                </a:solidFill>
                <a:effectLst/>
                <a:latin typeface="Source Sans Pro" panose="020B0503030403020204" pitchFamily="34" charset="0"/>
              </a:rPr>
              <a:t>Real-World Data Analytics Applications Examples</a:t>
            </a:r>
            <a:br>
              <a:rPr lang="en-IN" b="1" i="0" dirty="0">
                <a:solidFill>
                  <a:srgbClr val="0F1114"/>
                </a:solidFill>
                <a:effectLst/>
                <a:latin typeface="Source Sans Pro" panose="020B0503030403020204" pitchFamily="34" charset="0"/>
              </a:rPr>
            </a:br>
            <a:r>
              <a:rPr lang="en-IN" b="0" i="0" dirty="0">
                <a:solidFill>
                  <a:srgbClr val="0F1114"/>
                </a:solidFill>
                <a:effectLst/>
                <a:latin typeface="Source Sans Pro" panose="020B0503030403020204" pitchFamily="34" charset="0"/>
              </a:rPr>
              <a:t/>
            </a:r>
            <a:br>
              <a:rPr lang="en-IN" b="0" i="0" dirty="0">
                <a:solidFill>
                  <a:srgbClr val="0F1114"/>
                </a:solidFill>
                <a:effectLst/>
                <a:latin typeface="Source Sans Pro" panose="020B0503030403020204" pitchFamily="34" charset="0"/>
              </a:rPr>
            </a:br>
            <a:endParaRPr lang="en-IN" dirty="0"/>
          </a:p>
        </p:txBody>
      </p:sp>
    </p:spTree>
    <p:extLst>
      <p:ext uri="{BB962C8B-B14F-4D97-AF65-F5344CB8AC3E}">
        <p14:creationId xmlns:p14="http://schemas.microsoft.com/office/powerpoint/2010/main" val="1404030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4A6A5-EB1E-2000-FF2D-AF2D502F77E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6419875-278D-FF92-3AAF-E09E0033AEA3}"/>
              </a:ext>
            </a:extLst>
          </p:cNvPr>
          <p:cNvSpPr>
            <a:spLocks noGrp="1"/>
          </p:cNvSpPr>
          <p:nvPr>
            <p:ph idx="1"/>
          </p:nvPr>
        </p:nvSpPr>
        <p:spPr>
          <a:xfrm>
            <a:off x="1371600" y="1446028"/>
            <a:ext cx="10242919" cy="5030529"/>
          </a:xfrm>
        </p:spPr>
        <p:txBody>
          <a:bodyPr>
            <a:normAutofit lnSpcReduction="10000"/>
          </a:bodyPr>
          <a:lstStyle/>
          <a:p>
            <a:pPr algn="l"/>
            <a:r>
              <a:rPr lang="en-IN" b="1" i="0" dirty="0">
                <a:solidFill>
                  <a:srgbClr val="04003F"/>
                </a:solidFill>
                <a:effectLst/>
                <a:latin typeface="Montserrat" panose="00000500000000000000" pitchFamily="2" charset="0"/>
              </a:rPr>
              <a:t>3. Personalizing Treatment Plans</a:t>
            </a:r>
          </a:p>
          <a:p>
            <a:pPr algn="l"/>
            <a:r>
              <a:rPr lang="en-IN" b="0" i="0" dirty="0">
                <a:solidFill>
                  <a:srgbClr val="3A3B41"/>
                </a:solidFill>
                <a:effectLst/>
                <a:latin typeface="Georgia" panose="02040502050405020303" pitchFamily="18" charset="0"/>
              </a:rPr>
              <a:t>Oncora’s software uses machine learning to create personalized recommendations for current cancer patients based on data from past ones. Healthcare facilities using the company’s platform include UT Health San Antonio and Scripps Health. Doctors can spend up to two-thirds of their time working on clinical documentation, so employing Oncora’s platform helped cut down on paperwork and enabled doctors to be more efficient.</a:t>
            </a:r>
          </a:p>
          <a:p>
            <a:pPr marL="0" indent="0" algn="l">
              <a:buNone/>
            </a:pPr>
            <a:endParaRPr lang="en-IN" b="0" i="0" dirty="0">
              <a:solidFill>
                <a:srgbClr val="3A3B41"/>
              </a:solidFill>
              <a:effectLst/>
              <a:latin typeface="Georgia" panose="02040502050405020303" pitchFamily="18" charset="0"/>
            </a:endParaRPr>
          </a:p>
          <a:p>
            <a:pPr algn="l"/>
            <a:r>
              <a:rPr lang="en-IN" b="1" i="0" dirty="0">
                <a:solidFill>
                  <a:srgbClr val="04003F"/>
                </a:solidFill>
                <a:effectLst/>
                <a:latin typeface="Montserrat" panose="00000500000000000000" pitchFamily="2" charset="0"/>
              </a:rPr>
              <a:t>4. Cleaning Clinical Trial Data</a:t>
            </a:r>
          </a:p>
          <a:p>
            <a:pPr algn="l"/>
            <a:r>
              <a:rPr lang="en-IN" b="0" i="0" dirty="0">
                <a:solidFill>
                  <a:srgbClr val="3A3B41"/>
                </a:solidFill>
                <a:effectLst/>
                <a:latin typeface="Georgia" panose="02040502050405020303" pitchFamily="18" charset="0"/>
              </a:rPr>
              <a:t>Veeva is a cloud software company that provides data and software solutions for the healthcare industry. The company’s reach extends through clinical, regulatory and commercial medical fields. Veeva’s Vault EDC uses data science to clean clinical trial findings and help medical professionals make adjustments mid-study.</a:t>
            </a:r>
          </a:p>
          <a:p>
            <a:pPr marL="0" indent="0">
              <a:buNone/>
            </a:pPr>
            <a:r>
              <a:rPr lang="en-IN" b="0" i="0" dirty="0">
                <a:solidFill>
                  <a:srgbClr val="3A3B41"/>
                </a:solidFill>
                <a:effectLst/>
                <a:latin typeface="Montserrat" panose="00000500000000000000" pitchFamily="2" charset="0"/>
              </a:rPr>
              <a:t/>
            </a:r>
            <a:br>
              <a:rPr lang="en-IN" b="0" i="0" dirty="0">
                <a:solidFill>
                  <a:srgbClr val="3A3B41"/>
                </a:solidFill>
                <a:effectLst/>
                <a:latin typeface="Montserrat" panose="00000500000000000000" pitchFamily="2" charset="0"/>
              </a:rPr>
            </a:br>
            <a:r>
              <a:rPr lang="en-IN" b="0" i="0" dirty="0">
                <a:solidFill>
                  <a:srgbClr val="3A3B41"/>
                </a:solidFill>
                <a:effectLst/>
                <a:latin typeface="Montserrat" panose="00000500000000000000" pitchFamily="2" charset="0"/>
              </a:rPr>
              <a:t/>
            </a:r>
            <a:br>
              <a:rPr lang="en-IN" b="0" i="0" dirty="0">
                <a:solidFill>
                  <a:srgbClr val="3A3B41"/>
                </a:solidFill>
                <a:effectLst/>
                <a:latin typeface="Montserrat" panose="00000500000000000000" pitchFamily="2" charset="0"/>
              </a:rPr>
            </a:br>
            <a:endParaRPr lang="en-IN" dirty="0"/>
          </a:p>
        </p:txBody>
      </p:sp>
      <p:sp>
        <p:nvSpPr>
          <p:cNvPr id="7" name="Title 1">
            <a:extLst>
              <a:ext uri="{FF2B5EF4-FFF2-40B4-BE49-F238E27FC236}">
                <a16:creationId xmlns:a16="http://schemas.microsoft.com/office/drawing/2014/main" id="{9550B541-C6DC-7332-E0E8-6DA441CBE181}"/>
              </a:ext>
            </a:extLst>
          </p:cNvPr>
          <p:cNvSpPr>
            <a:spLocks noGrp="1"/>
          </p:cNvSpPr>
          <p:nvPr>
            <p:ph type="title"/>
          </p:nvPr>
        </p:nvSpPr>
        <p:spPr>
          <a:xfrm>
            <a:off x="1371600" y="285750"/>
            <a:ext cx="9601200" cy="1160278"/>
          </a:xfrm>
        </p:spPr>
        <p:txBody>
          <a:bodyPr>
            <a:normAutofit fontScale="90000"/>
          </a:bodyPr>
          <a:lstStyle/>
          <a:p>
            <a:pPr algn="l"/>
            <a:r>
              <a:rPr lang="en-IN" b="1" i="0" dirty="0">
                <a:solidFill>
                  <a:srgbClr val="0F1114"/>
                </a:solidFill>
                <a:effectLst/>
                <a:latin typeface="Source Sans Pro" panose="020B0503030403020204" pitchFamily="34" charset="0"/>
              </a:rPr>
              <a:t>Real-World Data Analytics Applications Examples</a:t>
            </a:r>
            <a:br>
              <a:rPr lang="en-IN" b="1" i="0" dirty="0">
                <a:solidFill>
                  <a:srgbClr val="0F1114"/>
                </a:solidFill>
                <a:effectLst/>
                <a:latin typeface="Source Sans Pro" panose="020B0503030403020204" pitchFamily="34" charset="0"/>
              </a:rPr>
            </a:br>
            <a:r>
              <a:rPr lang="en-IN" b="0" i="0" dirty="0">
                <a:solidFill>
                  <a:srgbClr val="0F1114"/>
                </a:solidFill>
                <a:effectLst/>
                <a:latin typeface="Source Sans Pro" panose="020B0503030403020204" pitchFamily="34" charset="0"/>
              </a:rPr>
              <a:t/>
            </a:r>
            <a:br>
              <a:rPr lang="en-IN" b="0" i="0" dirty="0">
                <a:solidFill>
                  <a:srgbClr val="0F1114"/>
                </a:solidFill>
                <a:effectLst/>
                <a:latin typeface="Source Sans Pro" panose="020B0503030403020204" pitchFamily="34" charset="0"/>
              </a:rPr>
            </a:br>
            <a:endParaRPr lang="en-IN" dirty="0"/>
          </a:p>
        </p:txBody>
      </p:sp>
    </p:spTree>
    <p:extLst>
      <p:ext uri="{BB962C8B-B14F-4D97-AF65-F5344CB8AC3E}">
        <p14:creationId xmlns:p14="http://schemas.microsoft.com/office/powerpoint/2010/main" val="1277999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AEE21-1900-7E9D-AAB5-9FE2D44B184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2F36F83-35F6-F8FB-BBE1-1791A6E70090}"/>
              </a:ext>
            </a:extLst>
          </p:cNvPr>
          <p:cNvSpPr>
            <a:spLocks noGrp="1"/>
          </p:cNvSpPr>
          <p:nvPr>
            <p:ph idx="1"/>
          </p:nvPr>
        </p:nvSpPr>
        <p:spPr>
          <a:xfrm>
            <a:off x="1222744" y="1446028"/>
            <a:ext cx="10242919" cy="5030529"/>
          </a:xfrm>
        </p:spPr>
        <p:txBody>
          <a:bodyPr>
            <a:normAutofit fontScale="92500" lnSpcReduction="10000"/>
          </a:bodyPr>
          <a:lstStyle/>
          <a:p>
            <a:pPr algn="l"/>
            <a:r>
              <a:rPr lang="en-IN" b="1" i="0" dirty="0">
                <a:solidFill>
                  <a:srgbClr val="04003F"/>
                </a:solidFill>
                <a:effectLst/>
                <a:latin typeface="Montserrat" panose="00000500000000000000" pitchFamily="2" charset="0"/>
              </a:rPr>
              <a:t>5. </a:t>
            </a:r>
            <a:r>
              <a:rPr lang="en-IN" b="1" i="0" dirty="0" err="1">
                <a:solidFill>
                  <a:srgbClr val="04003F"/>
                </a:solidFill>
                <a:effectLst/>
                <a:latin typeface="Montserrat" panose="00000500000000000000" pitchFamily="2" charset="0"/>
              </a:rPr>
              <a:t>Modeling</a:t>
            </a:r>
            <a:r>
              <a:rPr lang="en-IN" b="1" i="0" dirty="0">
                <a:solidFill>
                  <a:srgbClr val="04003F"/>
                </a:solidFill>
                <a:effectLst/>
                <a:latin typeface="Montserrat" panose="00000500000000000000" pitchFamily="2" charset="0"/>
              </a:rPr>
              <a:t> Traffic Patterns</a:t>
            </a:r>
          </a:p>
          <a:p>
            <a:pPr algn="l"/>
            <a:r>
              <a:rPr lang="en-IN" b="0" i="0" dirty="0">
                <a:solidFill>
                  <a:srgbClr val="3A3B41"/>
                </a:solidFill>
                <a:effectLst/>
                <a:latin typeface="Georgia" panose="02040502050405020303" pitchFamily="18" charset="0"/>
              </a:rPr>
              <a:t>StreetLight uses data science to model traffic patterns for cars, bikes and pedestrians on North American streets. Based on a monthly influx of trillions of data points from smartphones, in-vehicle navigation devices and more, Streetlight’s traffic maps stay up-to-date. They can even identify groups of commuters who use multiple transit modes to get to work, like a train followed by a scooter. The company’s maps inform various city planning enterprises, including commuter transit design.</a:t>
            </a:r>
          </a:p>
          <a:p>
            <a:pPr marL="0" indent="0" algn="l">
              <a:buNone/>
            </a:pPr>
            <a:endParaRPr lang="en-IN" b="0" i="0" dirty="0">
              <a:solidFill>
                <a:srgbClr val="3A3B41"/>
              </a:solidFill>
              <a:effectLst/>
              <a:latin typeface="Montserrat" panose="00000500000000000000" pitchFamily="2" charset="0"/>
            </a:endParaRPr>
          </a:p>
          <a:p>
            <a:pPr algn="l"/>
            <a:r>
              <a:rPr lang="en-IN" b="1" i="0" dirty="0">
                <a:solidFill>
                  <a:srgbClr val="04003F"/>
                </a:solidFill>
                <a:effectLst/>
                <a:latin typeface="Montserrat" panose="00000500000000000000" pitchFamily="2" charset="0"/>
              </a:rPr>
              <a:t>6. Optimizing Food Delivery</a:t>
            </a:r>
          </a:p>
          <a:p>
            <a:pPr algn="l"/>
            <a:r>
              <a:rPr lang="en-IN" b="0" i="0" dirty="0">
                <a:solidFill>
                  <a:srgbClr val="3A3B41"/>
                </a:solidFill>
                <a:effectLst/>
                <a:latin typeface="Georgia" panose="02040502050405020303" pitchFamily="18" charset="0"/>
              </a:rPr>
              <a:t>The data scientists at UberEats have a fairly simple goal: getting hot food delivered quickly. Making that happen across the country, though, takes machine learning, advanced statistical modelling and staff meteorologists. In order to optimize the full delivery process, the team has to predict how every possible variable — from storms to holiday rushes — will impact traffic and cooking time.</a:t>
            </a:r>
          </a:p>
          <a:p>
            <a:pPr marL="0" indent="0">
              <a:buNone/>
            </a:pPr>
            <a:r>
              <a:rPr lang="en-IN" dirty="0"/>
              <a:t/>
            </a:r>
            <a:br>
              <a:rPr lang="en-IN" dirty="0"/>
            </a:br>
            <a:endParaRPr lang="en-IN" dirty="0"/>
          </a:p>
        </p:txBody>
      </p:sp>
      <p:sp>
        <p:nvSpPr>
          <p:cNvPr id="7" name="Title 1">
            <a:extLst>
              <a:ext uri="{FF2B5EF4-FFF2-40B4-BE49-F238E27FC236}">
                <a16:creationId xmlns:a16="http://schemas.microsoft.com/office/drawing/2014/main" id="{0BA6534D-268F-4825-D0EE-75EEC3B9D54F}"/>
              </a:ext>
            </a:extLst>
          </p:cNvPr>
          <p:cNvSpPr>
            <a:spLocks noGrp="1"/>
          </p:cNvSpPr>
          <p:nvPr>
            <p:ph type="title"/>
          </p:nvPr>
        </p:nvSpPr>
        <p:spPr>
          <a:xfrm>
            <a:off x="1371600" y="285750"/>
            <a:ext cx="9601200" cy="1160278"/>
          </a:xfrm>
        </p:spPr>
        <p:txBody>
          <a:bodyPr>
            <a:normAutofit fontScale="90000"/>
          </a:bodyPr>
          <a:lstStyle/>
          <a:p>
            <a:pPr algn="l"/>
            <a:r>
              <a:rPr lang="en-IN" b="1" i="0" dirty="0">
                <a:solidFill>
                  <a:srgbClr val="0F1114"/>
                </a:solidFill>
                <a:effectLst/>
                <a:latin typeface="Source Sans Pro" panose="020B0503030403020204" pitchFamily="34" charset="0"/>
              </a:rPr>
              <a:t>Real-World Data Analytics Applications Examples</a:t>
            </a:r>
            <a:br>
              <a:rPr lang="en-IN" b="1" i="0" dirty="0">
                <a:solidFill>
                  <a:srgbClr val="0F1114"/>
                </a:solidFill>
                <a:effectLst/>
                <a:latin typeface="Source Sans Pro" panose="020B0503030403020204" pitchFamily="34" charset="0"/>
              </a:rPr>
            </a:br>
            <a:r>
              <a:rPr lang="en-IN" b="0" i="0" dirty="0">
                <a:solidFill>
                  <a:srgbClr val="0F1114"/>
                </a:solidFill>
                <a:effectLst/>
                <a:latin typeface="Source Sans Pro" panose="020B0503030403020204" pitchFamily="34" charset="0"/>
              </a:rPr>
              <a:t/>
            </a:r>
            <a:br>
              <a:rPr lang="en-IN" b="0" i="0" dirty="0">
                <a:solidFill>
                  <a:srgbClr val="0F1114"/>
                </a:solidFill>
                <a:effectLst/>
                <a:latin typeface="Source Sans Pro" panose="020B0503030403020204" pitchFamily="34" charset="0"/>
              </a:rPr>
            </a:br>
            <a:endParaRPr lang="en-IN" dirty="0"/>
          </a:p>
        </p:txBody>
      </p:sp>
    </p:spTree>
    <p:extLst>
      <p:ext uri="{BB962C8B-B14F-4D97-AF65-F5344CB8AC3E}">
        <p14:creationId xmlns:p14="http://schemas.microsoft.com/office/powerpoint/2010/main" val="135066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4C2B9-AB1A-5B01-52AD-C177D075728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E19C80D-95BD-DBA9-5D6B-BB338B9593C1}"/>
              </a:ext>
            </a:extLst>
          </p:cNvPr>
          <p:cNvSpPr>
            <a:spLocks noGrp="1"/>
          </p:cNvSpPr>
          <p:nvPr>
            <p:ph idx="1"/>
          </p:nvPr>
        </p:nvSpPr>
        <p:spPr>
          <a:xfrm>
            <a:off x="1297172" y="1541721"/>
            <a:ext cx="10242919" cy="5030529"/>
          </a:xfrm>
        </p:spPr>
        <p:txBody>
          <a:bodyPr>
            <a:normAutofit fontScale="92500" lnSpcReduction="10000"/>
          </a:bodyPr>
          <a:lstStyle/>
          <a:p>
            <a:pPr algn="l"/>
            <a:r>
              <a:rPr lang="en-IN" b="1" i="0" dirty="0">
                <a:solidFill>
                  <a:srgbClr val="04003F"/>
                </a:solidFill>
                <a:effectLst/>
                <a:latin typeface="Montserrat" panose="00000500000000000000" pitchFamily="2" charset="0"/>
              </a:rPr>
              <a:t>7. Improving Package Delivery</a:t>
            </a:r>
          </a:p>
          <a:p>
            <a:pPr algn="l"/>
            <a:r>
              <a:rPr lang="en-IN" b="0" i="0" dirty="0">
                <a:solidFill>
                  <a:srgbClr val="3A3B41"/>
                </a:solidFill>
                <a:effectLst/>
                <a:latin typeface="Georgia" panose="02040502050405020303" pitchFamily="18" charset="0"/>
              </a:rPr>
              <a:t>UPS uses data science to optimize package transport from drop-off to delivery. The company’s integrated navigation system ORION helps drivers choose over 66,000 fuel-efficient routes. ORION has saved UPS approximately 100 million miles and 10 million gallons of fuel per year with the use of advanced algorithms, AI and machine learning. The company plans to continue to update its ORION system, with the last version having been rolled out in 2021. The latest update allowed drivers to reduce their routes by two to four miles.</a:t>
            </a:r>
          </a:p>
          <a:p>
            <a:pPr marL="0" indent="0" algn="l">
              <a:buNone/>
            </a:pPr>
            <a:endParaRPr lang="en-IN" b="0" i="0" dirty="0">
              <a:solidFill>
                <a:srgbClr val="3A3B41"/>
              </a:solidFill>
              <a:effectLst/>
              <a:latin typeface="Georgia" panose="02040502050405020303" pitchFamily="18" charset="0"/>
            </a:endParaRPr>
          </a:p>
          <a:p>
            <a:pPr algn="l"/>
            <a:r>
              <a:rPr lang="en-IN" b="1" i="0" dirty="0">
                <a:solidFill>
                  <a:srgbClr val="04003F"/>
                </a:solidFill>
                <a:effectLst/>
                <a:latin typeface="Montserrat" panose="00000500000000000000" pitchFamily="2" charset="0"/>
              </a:rPr>
              <a:t>8. Enhancing Supply Chain Management</a:t>
            </a:r>
          </a:p>
          <a:p>
            <a:pPr algn="l"/>
            <a:r>
              <a:rPr lang="en-IN" b="0" i="0" dirty="0">
                <a:solidFill>
                  <a:srgbClr val="3A3B41"/>
                </a:solidFill>
                <a:effectLst/>
                <a:latin typeface="Georgia" panose="02040502050405020303" pitchFamily="18" charset="0"/>
              </a:rPr>
              <a:t>XPO Logistics has embraced a data analytics-first approach to manage ingoing and outgoing orders more effectively. With historical shipment data, the company can predict where it will need to build infrastructure to support more orders and allocate human personnel accordingly. In addition, XPO Logistics has replaced manual data entry with scanners that help workers determine where shipments need to go within the company’s supply chain network.  </a:t>
            </a:r>
            <a:r>
              <a:rPr lang="en-IN" dirty="0"/>
              <a:t/>
            </a:r>
            <a:br>
              <a:rPr lang="en-IN" dirty="0"/>
            </a:br>
            <a:endParaRPr lang="en-IN" dirty="0"/>
          </a:p>
        </p:txBody>
      </p:sp>
      <p:sp>
        <p:nvSpPr>
          <p:cNvPr id="7" name="Title 1">
            <a:extLst>
              <a:ext uri="{FF2B5EF4-FFF2-40B4-BE49-F238E27FC236}">
                <a16:creationId xmlns:a16="http://schemas.microsoft.com/office/drawing/2014/main" id="{C702F2B8-D828-F4C7-84EE-134A570148C5}"/>
              </a:ext>
            </a:extLst>
          </p:cNvPr>
          <p:cNvSpPr>
            <a:spLocks noGrp="1"/>
          </p:cNvSpPr>
          <p:nvPr>
            <p:ph type="title"/>
          </p:nvPr>
        </p:nvSpPr>
        <p:spPr>
          <a:xfrm>
            <a:off x="1371600" y="285750"/>
            <a:ext cx="9601200" cy="1160278"/>
          </a:xfrm>
        </p:spPr>
        <p:txBody>
          <a:bodyPr>
            <a:normAutofit fontScale="90000"/>
          </a:bodyPr>
          <a:lstStyle/>
          <a:p>
            <a:pPr algn="l"/>
            <a:r>
              <a:rPr lang="en-IN" b="1" i="0" dirty="0">
                <a:solidFill>
                  <a:srgbClr val="0F1114"/>
                </a:solidFill>
                <a:effectLst/>
                <a:latin typeface="Source Sans Pro" panose="020B0503030403020204" pitchFamily="34" charset="0"/>
              </a:rPr>
              <a:t>Real-World Data Analytics Applications Examples</a:t>
            </a:r>
            <a:br>
              <a:rPr lang="en-IN" b="1" i="0" dirty="0">
                <a:solidFill>
                  <a:srgbClr val="0F1114"/>
                </a:solidFill>
                <a:effectLst/>
                <a:latin typeface="Source Sans Pro" panose="020B0503030403020204" pitchFamily="34" charset="0"/>
              </a:rPr>
            </a:br>
            <a:r>
              <a:rPr lang="en-IN" b="0" i="0" dirty="0">
                <a:solidFill>
                  <a:srgbClr val="0F1114"/>
                </a:solidFill>
                <a:effectLst/>
                <a:latin typeface="Source Sans Pro" panose="020B0503030403020204" pitchFamily="34" charset="0"/>
              </a:rPr>
              <a:t/>
            </a:r>
            <a:br>
              <a:rPr lang="en-IN" b="0" i="0" dirty="0">
                <a:solidFill>
                  <a:srgbClr val="0F1114"/>
                </a:solidFill>
                <a:effectLst/>
                <a:latin typeface="Source Sans Pro" panose="020B0503030403020204" pitchFamily="34" charset="0"/>
              </a:rPr>
            </a:br>
            <a:endParaRPr lang="en-IN" dirty="0"/>
          </a:p>
        </p:txBody>
      </p:sp>
    </p:spTree>
    <p:extLst>
      <p:ext uri="{BB962C8B-B14F-4D97-AF65-F5344CB8AC3E}">
        <p14:creationId xmlns:p14="http://schemas.microsoft.com/office/powerpoint/2010/main" val="12913668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3F95A-0079-C279-9427-50917310C94B}"/>
              </a:ext>
            </a:extLst>
          </p:cNvPr>
          <p:cNvSpPr>
            <a:spLocks noGrp="1"/>
          </p:cNvSpPr>
          <p:nvPr>
            <p:ph idx="1"/>
          </p:nvPr>
        </p:nvSpPr>
        <p:spPr>
          <a:xfrm>
            <a:off x="1371600" y="1276349"/>
            <a:ext cx="9601200" cy="5429251"/>
          </a:xfrm>
        </p:spPr>
        <p:txBody>
          <a:bodyPr>
            <a:normAutofit fontScale="92500" lnSpcReduction="10000"/>
          </a:bodyPr>
          <a:lstStyle/>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Understand the data</a:t>
            </a:r>
            <a:r>
              <a:rPr lang="en-IN" b="0" i="0" dirty="0">
                <a:solidFill>
                  <a:srgbClr val="001D35"/>
                </a:solidFill>
                <a:effectLst/>
                <a:latin typeface="Google Sans"/>
              </a:rPr>
              <a:t>: Know the context of the data to avoid misinterpreting it.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Back up the data</a:t>
            </a:r>
            <a:r>
              <a:rPr lang="en-IN" b="0" i="0" dirty="0">
                <a:solidFill>
                  <a:srgbClr val="001D35"/>
                </a:solidFill>
                <a:effectLst/>
                <a:latin typeface="Google Sans"/>
              </a:rPr>
              <a:t>: Always back up your data before cleaning.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Remove outliers</a:t>
            </a:r>
            <a:r>
              <a:rPr lang="en-IN" b="0" i="0" dirty="0">
                <a:solidFill>
                  <a:srgbClr val="001D35"/>
                </a:solidFill>
                <a:effectLst/>
                <a:latin typeface="Google Sans"/>
              </a:rPr>
              <a:t>: Outliers can distort your view of a variable and negatively impact your model.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Fill missing values</a:t>
            </a:r>
            <a:r>
              <a:rPr lang="en-IN" b="0" i="0" dirty="0">
                <a:solidFill>
                  <a:srgbClr val="001D35"/>
                </a:solidFill>
                <a:effectLst/>
                <a:latin typeface="Google Sans"/>
              </a:rPr>
              <a:t>: Missing values can be caused by poor data records or data entry errors.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Clear formatting</a:t>
            </a:r>
            <a:r>
              <a:rPr lang="en-IN" b="0" i="0" dirty="0">
                <a:solidFill>
                  <a:srgbClr val="001D35"/>
                </a:solidFill>
                <a:effectLst/>
                <a:latin typeface="Google Sans"/>
              </a:rPr>
              <a:t>: Databases from different systems may have unique formatting that can disrupt your spreadsheet.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Transform and organize data</a:t>
            </a:r>
            <a:r>
              <a:rPr lang="en-IN" b="0" i="0" dirty="0">
                <a:solidFill>
                  <a:srgbClr val="001D35"/>
                </a:solidFill>
                <a:effectLst/>
                <a:latin typeface="Google Sans"/>
              </a:rPr>
              <a:t>: Reshape and rearrange your data to make it easier to analyse and interpret.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Format the text</a:t>
            </a:r>
            <a:r>
              <a:rPr lang="en-IN" b="0" i="0" dirty="0">
                <a:solidFill>
                  <a:srgbClr val="001D35"/>
                </a:solidFill>
                <a:effectLst/>
                <a:latin typeface="Google Sans"/>
              </a:rPr>
              <a:t>: Fix extra spaces, typing mistakes, and inconsistent casing.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Use data validation</a:t>
            </a:r>
            <a:r>
              <a:rPr lang="en-IN" b="0" i="0" dirty="0">
                <a:solidFill>
                  <a:srgbClr val="001D35"/>
                </a:solidFill>
                <a:effectLst/>
                <a:latin typeface="Google Sans"/>
              </a:rPr>
              <a:t>: Only allow valid values to be entered into cells.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Use the TRIM function</a:t>
            </a:r>
            <a:r>
              <a:rPr lang="en-IN" b="0" i="0" dirty="0">
                <a:solidFill>
                  <a:srgbClr val="001D35"/>
                </a:solidFill>
                <a:effectLst/>
                <a:latin typeface="Google Sans"/>
              </a:rPr>
              <a:t>: Remove extra spaces in text strings. </a:t>
            </a:r>
          </a:p>
          <a:p>
            <a:pPr algn="l">
              <a:spcBef>
                <a:spcPts val="750"/>
              </a:spcBef>
              <a:spcAft>
                <a:spcPts val="1500"/>
              </a:spcAft>
              <a:buFont typeface="Arial" panose="020B0604020202020204" pitchFamily="34" charset="0"/>
              <a:buChar char="•"/>
            </a:pPr>
            <a:r>
              <a:rPr lang="en-IN" b="1" i="0" dirty="0">
                <a:solidFill>
                  <a:srgbClr val="001D35"/>
                </a:solidFill>
                <a:effectLst/>
                <a:latin typeface="Google Sans"/>
              </a:rPr>
              <a:t>Use the Text to Columns feature</a:t>
            </a:r>
            <a:r>
              <a:rPr lang="en-IN" b="0" i="0" dirty="0">
                <a:solidFill>
                  <a:srgbClr val="001D35"/>
                </a:solidFill>
                <a:effectLst/>
                <a:latin typeface="Google Sans"/>
              </a:rPr>
              <a:t>: Split concatenated data within a cell into separate columns. </a:t>
            </a:r>
            <a:endParaRPr lang="en-IN" dirty="0"/>
          </a:p>
        </p:txBody>
      </p:sp>
      <p:sp>
        <p:nvSpPr>
          <p:cNvPr id="4" name="Title 1">
            <a:extLst>
              <a:ext uri="{FF2B5EF4-FFF2-40B4-BE49-F238E27FC236}">
                <a16:creationId xmlns:a16="http://schemas.microsoft.com/office/drawing/2014/main" id="{75F7DCDD-DCD8-34B9-66C4-7CF1DA67A56F}"/>
              </a:ext>
            </a:extLst>
          </p:cNvPr>
          <p:cNvSpPr>
            <a:spLocks noGrp="1"/>
          </p:cNvSpPr>
          <p:nvPr>
            <p:ph type="title"/>
          </p:nvPr>
        </p:nvSpPr>
        <p:spPr>
          <a:xfrm>
            <a:off x="1371600" y="285750"/>
            <a:ext cx="9601200" cy="1485900"/>
          </a:xfrm>
        </p:spPr>
        <p:txBody>
          <a:bodyPr/>
          <a:lstStyle/>
          <a:p>
            <a:r>
              <a:rPr lang="en-IN" dirty="0"/>
              <a:t>Understand the Data File:</a:t>
            </a:r>
          </a:p>
        </p:txBody>
      </p:sp>
    </p:spTree>
    <p:extLst>
      <p:ext uri="{BB962C8B-B14F-4D97-AF65-F5344CB8AC3E}">
        <p14:creationId xmlns:p14="http://schemas.microsoft.com/office/powerpoint/2010/main" val="4145949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A76C-B650-5D80-8F04-FA21700EF129}"/>
              </a:ext>
            </a:extLst>
          </p:cNvPr>
          <p:cNvSpPr>
            <a:spLocks noGrp="1"/>
          </p:cNvSpPr>
          <p:nvPr>
            <p:ph type="title"/>
          </p:nvPr>
        </p:nvSpPr>
        <p:spPr>
          <a:xfrm>
            <a:off x="1371600" y="685800"/>
            <a:ext cx="9601200" cy="723900"/>
          </a:xfrm>
        </p:spPr>
        <p:txBody>
          <a:bodyPr/>
          <a:lstStyle/>
          <a:p>
            <a:r>
              <a:rPr lang="en-IN" dirty="0"/>
              <a:t>Sample Excel Data</a:t>
            </a:r>
          </a:p>
        </p:txBody>
      </p:sp>
      <p:sp>
        <p:nvSpPr>
          <p:cNvPr id="3" name="Content Placeholder 2">
            <a:extLst>
              <a:ext uri="{FF2B5EF4-FFF2-40B4-BE49-F238E27FC236}">
                <a16:creationId xmlns:a16="http://schemas.microsoft.com/office/drawing/2014/main" id="{FBF14DE4-9925-53F1-30A1-34D6EC237C72}"/>
              </a:ext>
            </a:extLst>
          </p:cNvPr>
          <p:cNvSpPr>
            <a:spLocks noGrp="1"/>
          </p:cNvSpPr>
          <p:nvPr>
            <p:ph idx="1"/>
          </p:nvPr>
        </p:nvSpPr>
        <p:spPr/>
        <p:txBody>
          <a:bodyPr/>
          <a:lstStyle/>
          <a:p>
            <a:r>
              <a:rPr lang="en-IN" dirty="0"/>
              <a:t>Discuss about Retail Sales Analysis data file to understand what are all the Sheets and fields are present.</a:t>
            </a:r>
          </a:p>
        </p:txBody>
      </p:sp>
      <p:graphicFrame>
        <p:nvGraphicFramePr>
          <p:cNvPr id="6" name="Object 5">
            <a:extLst>
              <a:ext uri="{FF2B5EF4-FFF2-40B4-BE49-F238E27FC236}">
                <a16:creationId xmlns:a16="http://schemas.microsoft.com/office/drawing/2014/main" id="{F0CFF213-1F3B-7444-FD34-94A8064625E5}"/>
              </a:ext>
            </a:extLst>
          </p:cNvPr>
          <p:cNvGraphicFramePr>
            <a:graphicFrameLocks noChangeAspect="1"/>
          </p:cNvGraphicFramePr>
          <p:nvPr>
            <p:extLst>
              <p:ext uri="{D42A27DB-BD31-4B8C-83A1-F6EECF244321}">
                <p14:modId xmlns:p14="http://schemas.microsoft.com/office/powerpoint/2010/main" val="1413875315"/>
              </p:ext>
            </p:extLst>
          </p:nvPr>
        </p:nvGraphicFramePr>
        <p:xfrm>
          <a:off x="4124325" y="3382962"/>
          <a:ext cx="1601573" cy="1387475"/>
        </p:xfrm>
        <a:graphic>
          <a:graphicData uri="http://schemas.openxmlformats.org/presentationml/2006/ole">
            <mc:AlternateContent xmlns:mc="http://schemas.openxmlformats.org/markup-compatibility/2006">
              <mc:Choice xmlns:v="urn:schemas-microsoft-com:vml" Requires="v">
                <p:oleObj spid="_x0000_s1027" name="Worksheet" showAsIcon="1" r:id="rId3" imgW="914400" imgH="792685" progId="Excel.Sheet.12">
                  <p:embed/>
                </p:oleObj>
              </mc:Choice>
              <mc:Fallback>
                <p:oleObj name="Worksheet" showAsIcon="1" r:id="rId3" imgW="914400" imgH="792685" progId="Excel.Sheet.12">
                  <p:embed/>
                  <p:pic>
                    <p:nvPicPr>
                      <p:cNvPr id="0" name=""/>
                      <p:cNvPicPr/>
                      <p:nvPr/>
                    </p:nvPicPr>
                    <p:blipFill>
                      <a:blip r:embed="rId4"/>
                      <a:stretch>
                        <a:fillRect/>
                      </a:stretch>
                    </p:blipFill>
                    <p:spPr>
                      <a:xfrm>
                        <a:off x="4124325" y="3382962"/>
                        <a:ext cx="1601573" cy="1387475"/>
                      </a:xfrm>
                      <a:prstGeom prst="rect">
                        <a:avLst/>
                      </a:prstGeom>
                    </p:spPr>
                  </p:pic>
                </p:oleObj>
              </mc:Fallback>
            </mc:AlternateContent>
          </a:graphicData>
        </a:graphic>
      </p:graphicFrame>
    </p:spTree>
    <p:extLst>
      <p:ext uri="{BB962C8B-B14F-4D97-AF65-F5344CB8AC3E}">
        <p14:creationId xmlns:p14="http://schemas.microsoft.com/office/powerpoint/2010/main" val="42250901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1D847-6EB7-A018-0681-6DB5D30B9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C80A1-E300-0A5C-ADC6-5164A2414A5A}"/>
              </a:ext>
            </a:extLst>
          </p:cNvPr>
          <p:cNvSpPr>
            <a:spLocks noGrp="1"/>
          </p:cNvSpPr>
          <p:nvPr>
            <p:ph type="title"/>
          </p:nvPr>
        </p:nvSpPr>
        <p:spPr>
          <a:xfrm>
            <a:off x="1295400" y="2686050"/>
            <a:ext cx="9601200" cy="1485900"/>
          </a:xfrm>
        </p:spPr>
        <p:txBody>
          <a:bodyPr>
            <a:normAutofit/>
          </a:bodyPr>
          <a:lstStyle/>
          <a:p>
            <a:r>
              <a:rPr lang="en-US" b="1" dirty="0"/>
              <a:t>Day 3</a:t>
            </a:r>
            <a:r>
              <a:rPr lang="en-US" dirty="0"/>
              <a:t>: </a:t>
            </a:r>
            <a:r>
              <a:rPr lang="en-IN" dirty="0"/>
              <a:t>Cleaning and formatting data using Excel</a:t>
            </a:r>
            <a:endParaRPr lang="en-US" dirty="0"/>
          </a:p>
        </p:txBody>
      </p:sp>
    </p:spTree>
    <p:extLst>
      <p:ext uri="{BB962C8B-B14F-4D97-AF65-F5344CB8AC3E}">
        <p14:creationId xmlns:p14="http://schemas.microsoft.com/office/powerpoint/2010/main" val="16382847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B198-650A-52C7-76AA-3A6D43071AA9}"/>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E905D59-6B00-298A-874E-5FD7636EC6E8}"/>
              </a:ext>
            </a:extLst>
          </p:cNvPr>
          <p:cNvPicPr>
            <a:picLocks noGrp="1" noChangeAspect="1"/>
          </p:cNvPicPr>
          <p:nvPr>
            <p:ph idx="1"/>
          </p:nvPr>
        </p:nvPicPr>
        <p:blipFill>
          <a:blip r:embed="rId2"/>
          <a:stretch>
            <a:fillRect/>
          </a:stretch>
        </p:blipFill>
        <p:spPr>
          <a:xfrm>
            <a:off x="1371600" y="559837"/>
            <a:ext cx="10058400" cy="5612363"/>
          </a:xfrm>
        </p:spPr>
      </p:pic>
    </p:spTree>
    <p:extLst>
      <p:ext uri="{BB962C8B-B14F-4D97-AF65-F5344CB8AC3E}">
        <p14:creationId xmlns:p14="http://schemas.microsoft.com/office/powerpoint/2010/main" val="4107706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8E903-F180-D141-AEE2-E50CF15EB7C6}"/>
              </a:ext>
            </a:extLst>
          </p:cNvPr>
          <p:cNvSpPr>
            <a:spLocks noGrp="1"/>
          </p:cNvSpPr>
          <p:nvPr>
            <p:ph type="title"/>
          </p:nvPr>
        </p:nvSpPr>
        <p:spPr>
          <a:xfrm>
            <a:off x="1371600" y="685800"/>
            <a:ext cx="9601200" cy="1059024"/>
          </a:xfrm>
        </p:spPr>
        <p:txBody>
          <a:bodyPr/>
          <a:lstStyle/>
          <a:p>
            <a:pPr algn="ctr"/>
            <a:r>
              <a:rPr lang="en-IN" dirty="0"/>
              <a:t>Data Analytics with EXCEL</a:t>
            </a:r>
          </a:p>
        </p:txBody>
      </p:sp>
      <p:sp>
        <p:nvSpPr>
          <p:cNvPr id="3" name="Content Placeholder 2">
            <a:extLst>
              <a:ext uri="{FF2B5EF4-FFF2-40B4-BE49-F238E27FC236}">
                <a16:creationId xmlns:a16="http://schemas.microsoft.com/office/drawing/2014/main" id="{61254C02-2299-4BC2-77AE-89FE03CF67D9}"/>
              </a:ext>
            </a:extLst>
          </p:cNvPr>
          <p:cNvSpPr>
            <a:spLocks noGrp="1"/>
          </p:cNvSpPr>
          <p:nvPr>
            <p:ph idx="1"/>
          </p:nvPr>
        </p:nvSpPr>
        <p:spPr/>
        <p:txBody>
          <a:bodyPr/>
          <a:lstStyle/>
          <a:p>
            <a:r>
              <a:rPr lang="en-IN" dirty="0"/>
              <a:t>Data analytics importance, and application areas.</a:t>
            </a:r>
          </a:p>
          <a:p>
            <a:r>
              <a:rPr lang="en-IN" dirty="0"/>
              <a:t>Cleaning and formatting data using Excel, </a:t>
            </a:r>
          </a:p>
          <a:p>
            <a:r>
              <a:rPr lang="en-IN" dirty="0"/>
              <a:t>handling missing values, and outlier detection.</a:t>
            </a:r>
          </a:p>
          <a:p>
            <a:r>
              <a:rPr lang="en-IN" dirty="0"/>
              <a:t>Using formulas, pivot tables, and conditional formatting for analysis</a:t>
            </a:r>
          </a:p>
        </p:txBody>
      </p:sp>
    </p:spTree>
    <p:extLst>
      <p:ext uri="{BB962C8B-B14F-4D97-AF65-F5344CB8AC3E}">
        <p14:creationId xmlns:p14="http://schemas.microsoft.com/office/powerpoint/2010/main" val="42492482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AB4A-ADD3-A4D8-CFF4-5F03A497A2F3}"/>
              </a:ext>
            </a:extLst>
          </p:cNvPr>
          <p:cNvSpPr>
            <a:spLocks noGrp="1"/>
          </p:cNvSpPr>
          <p:nvPr>
            <p:ph type="title"/>
          </p:nvPr>
        </p:nvSpPr>
        <p:spPr/>
        <p:txBody>
          <a:bodyPr/>
          <a:lstStyle/>
          <a:p>
            <a:r>
              <a:rPr lang="en-IN" dirty="0"/>
              <a:t>Cleaning and formatting data using Excel</a:t>
            </a:r>
          </a:p>
        </p:txBody>
      </p:sp>
      <p:sp>
        <p:nvSpPr>
          <p:cNvPr id="3" name="Content Placeholder 2">
            <a:extLst>
              <a:ext uri="{FF2B5EF4-FFF2-40B4-BE49-F238E27FC236}">
                <a16:creationId xmlns:a16="http://schemas.microsoft.com/office/drawing/2014/main" id="{DA1C7002-B2CA-9780-11FE-5DF4D9EB645C}"/>
              </a:ext>
            </a:extLst>
          </p:cNvPr>
          <p:cNvSpPr>
            <a:spLocks noGrp="1"/>
          </p:cNvSpPr>
          <p:nvPr>
            <p:ph idx="1"/>
          </p:nvPr>
        </p:nvSpPr>
        <p:spPr>
          <a:xfrm>
            <a:off x="1371600" y="2286000"/>
            <a:ext cx="9601200" cy="2857500"/>
          </a:xfrm>
        </p:spPr>
        <p:txBody>
          <a:bodyPr/>
          <a:lstStyle/>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Remove duplicates</a:t>
            </a:r>
            <a:r>
              <a:rPr lang="en-IN" b="0" i="0" dirty="0">
                <a:solidFill>
                  <a:srgbClr val="001D35"/>
                </a:solidFill>
                <a:effectLst/>
                <a:latin typeface="Google Sans"/>
              </a:rPr>
              <a:t>: Remove duplicate data from a list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Fix errors</a:t>
            </a:r>
            <a:r>
              <a:rPr lang="en-IN" b="0" i="0" dirty="0">
                <a:solidFill>
                  <a:srgbClr val="001D35"/>
                </a:solidFill>
                <a:effectLst/>
                <a:latin typeface="Google Sans"/>
              </a:rPr>
              <a:t>: Correct errors like missing or incorrect email addresses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Convert data types</a:t>
            </a:r>
            <a:r>
              <a:rPr lang="en-IN" b="0" i="0" dirty="0">
                <a:solidFill>
                  <a:srgbClr val="001D35"/>
                </a:solidFill>
                <a:effectLst/>
                <a:latin typeface="Google Sans"/>
              </a:rPr>
              <a:t>: Use Query to detect and change data types </a:t>
            </a:r>
          </a:p>
          <a:p>
            <a:pPr algn="l" fontAlgn="ctr">
              <a:spcBef>
                <a:spcPts val="750"/>
              </a:spcBef>
              <a:spcAft>
                <a:spcPts val="600"/>
              </a:spcAft>
              <a:buFont typeface="Arial" panose="020B0604020202020204" pitchFamily="34" charset="0"/>
              <a:buChar char="•"/>
            </a:pPr>
            <a:r>
              <a:rPr lang="en-IN" b="1" i="0" dirty="0">
                <a:solidFill>
                  <a:srgbClr val="001D35"/>
                </a:solidFill>
                <a:effectLst/>
                <a:latin typeface="Google Sans"/>
              </a:rPr>
              <a:t>Add formulas</a:t>
            </a:r>
            <a:r>
              <a:rPr lang="en-IN" b="0" i="0" dirty="0">
                <a:solidFill>
                  <a:srgbClr val="001D35"/>
                </a:solidFill>
                <a:effectLst/>
                <a:latin typeface="Google Sans"/>
              </a:rPr>
              <a:t>: Add a formula to a new column to transform data, then copy and paste the values into the new column </a:t>
            </a:r>
          </a:p>
          <a:p>
            <a:pPr algn="l" fontAlgn="ctr">
              <a:spcBef>
                <a:spcPts val="750"/>
              </a:spcBef>
              <a:spcAft>
                <a:spcPts val="1500"/>
              </a:spcAft>
              <a:buFont typeface="Arial" panose="020B0604020202020204" pitchFamily="34" charset="0"/>
              <a:buChar char="•"/>
            </a:pPr>
            <a:r>
              <a:rPr lang="en-IN" b="1" i="0" dirty="0">
                <a:solidFill>
                  <a:srgbClr val="001D35"/>
                </a:solidFill>
                <a:effectLst/>
                <a:latin typeface="Google Sans"/>
              </a:rPr>
              <a:t>Use add-ins</a:t>
            </a:r>
            <a:r>
              <a:rPr lang="en-IN" b="0" i="0" dirty="0">
                <a:solidFill>
                  <a:srgbClr val="001D35"/>
                </a:solidFill>
                <a:effectLst/>
                <a:latin typeface="Google Sans"/>
              </a:rPr>
              <a:t>: Use add-ins like Data Cleaner to automate data editing </a:t>
            </a:r>
          </a:p>
        </p:txBody>
      </p:sp>
    </p:spTree>
    <p:extLst>
      <p:ext uri="{BB962C8B-B14F-4D97-AF65-F5344CB8AC3E}">
        <p14:creationId xmlns:p14="http://schemas.microsoft.com/office/powerpoint/2010/main" val="1132965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66F4E-6580-F33C-87FE-1636A966CB71}"/>
              </a:ext>
            </a:extLst>
          </p:cNvPr>
          <p:cNvSpPr>
            <a:spLocks noGrp="1"/>
          </p:cNvSpPr>
          <p:nvPr>
            <p:ph type="title"/>
          </p:nvPr>
        </p:nvSpPr>
        <p:spPr/>
        <p:txBody>
          <a:bodyPr/>
          <a:lstStyle/>
          <a:p>
            <a:r>
              <a:rPr lang="en-IN" dirty="0"/>
              <a:t>Cleaning and formatting data using Excel</a:t>
            </a:r>
            <a:endParaRPr lang="en-US" dirty="0"/>
          </a:p>
        </p:txBody>
      </p:sp>
      <p:sp>
        <p:nvSpPr>
          <p:cNvPr id="7" name="TextBox 6">
            <a:extLst>
              <a:ext uri="{FF2B5EF4-FFF2-40B4-BE49-F238E27FC236}">
                <a16:creationId xmlns:a16="http://schemas.microsoft.com/office/drawing/2014/main" id="{4E253C06-7BDD-9A8C-43A6-62AEA1FCACB4}"/>
              </a:ext>
            </a:extLst>
          </p:cNvPr>
          <p:cNvSpPr txBox="1"/>
          <p:nvPr/>
        </p:nvSpPr>
        <p:spPr>
          <a:xfrm>
            <a:off x="1285292" y="2022070"/>
            <a:ext cx="6097554" cy="369332"/>
          </a:xfrm>
          <a:prstGeom prst="rect">
            <a:avLst/>
          </a:prstGeom>
          <a:noFill/>
        </p:spPr>
        <p:txBody>
          <a:bodyPr wrap="square">
            <a:spAutoFit/>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Method 1 – Remove Duplicate Rows</a:t>
            </a:r>
            <a:endParaRPr lang="en-IN" dirty="0"/>
          </a:p>
        </p:txBody>
      </p:sp>
      <p:pic>
        <p:nvPicPr>
          <p:cNvPr id="9" name="Picture 8">
            <a:extLst>
              <a:ext uri="{FF2B5EF4-FFF2-40B4-BE49-F238E27FC236}">
                <a16:creationId xmlns:a16="http://schemas.microsoft.com/office/drawing/2014/main" id="{272FA76D-585B-427C-4230-5578111C305F}"/>
              </a:ext>
            </a:extLst>
          </p:cNvPr>
          <p:cNvPicPr>
            <a:picLocks noChangeAspect="1"/>
          </p:cNvPicPr>
          <p:nvPr/>
        </p:nvPicPr>
        <p:blipFill>
          <a:blip r:embed="rId2"/>
          <a:stretch>
            <a:fillRect/>
          </a:stretch>
        </p:blipFill>
        <p:spPr>
          <a:xfrm>
            <a:off x="1556885" y="2568252"/>
            <a:ext cx="4188989" cy="4236098"/>
          </a:xfrm>
          <a:prstGeom prst="rect">
            <a:avLst/>
          </a:prstGeom>
        </p:spPr>
      </p:pic>
      <p:sp>
        <p:nvSpPr>
          <p:cNvPr id="11" name="TextBox 10">
            <a:extLst>
              <a:ext uri="{FF2B5EF4-FFF2-40B4-BE49-F238E27FC236}">
                <a16:creationId xmlns:a16="http://schemas.microsoft.com/office/drawing/2014/main" id="{49561C9A-50BB-6D56-FDCB-BAFF8F89E093}"/>
              </a:ext>
            </a:extLst>
          </p:cNvPr>
          <p:cNvSpPr txBox="1"/>
          <p:nvPr/>
        </p:nvSpPr>
        <p:spPr>
          <a:xfrm>
            <a:off x="6059912" y="1921921"/>
            <a:ext cx="6097554" cy="646331"/>
          </a:xfrm>
          <a:prstGeom prst="rect">
            <a:avLst/>
          </a:prstGeom>
          <a:noFill/>
        </p:spPr>
        <p:txBody>
          <a:bodyPr wrap="square">
            <a:spAutoFit/>
          </a:bodyPr>
          <a:lstStyle/>
          <a:p>
            <a:pPr algn="just" fontAlgn="base">
              <a:spcAft>
                <a:spcPts val="1125"/>
              </a:spcAft>
            </a:pPr>
            <a:r>
              <a:rPr lang="en-IN" b="0" i="0" dirty="0">
                <a:solidFill>
                  <a:srgbClr val="000000"/>
                </a:solidFill>
                <a:effectLst/>
                <a:latin typeface="Poppins" panose="00000500000000000000" pitchFamily="2" charset="0"/>
              </a:rPr>
              <a:t>Let’s replicate the column and remove the duplicates to compare them later on.</a:t>
            </a:r>
            <a:endParaRPr lang="en-IN" dirty="0"/>
          </a:p>
        </p:txBody>
      </p:sp>
      <p:pic>
        <p:nvPicPr>
          <p:cNvPr id="13" name="Picture 12">
            <a:extLst>
              <a:ext uri="{FF2B5EF4-FFF2-40B4-BE49-F238E27FC236}">
                <a16:creationId xmlns:a16="http://schemas.microsoft.com/office/drawing/2014/main" id="{23A9293B-FD55-39EA-F72E-5D71C15BE16D}"/>
              </a:ext>
            </a:extLst>
          </p:cNvPr>
          <p:cNvPicPr>
            <a:picLocks noChangeAspect="1"/>
          </p:cNvPicPr>
          <p:nvPr/>
        </p:nvPicPr>
        <p:blipFill>
          <a:blip r:embed="rId3"/>
          <a:stretch>
            <a:fillRect/>
          </a:stretch>
        </p:blipFill>
        <p:spPr>
          <a:xfrm>
            <a:off x="6446128" y="2568252"/>
            <a:ext cx="4358721" cy="4236098"/>
          </a:xfrm>
          <a:prstGeom prst="rect">
            <a:avLst/>
          </a:prstGeom>
        </p:spPr>
      </p:pic>
    </p:spTree>
    <p:extLst>
      <p:ext uri="{BB962C8B-B14F-4D97-AF65-F5344CB8AC3E}">
        <p14:creationId xmlns:p14="http://schemas.microsoft.com/office/powerpoint/2010/main" val="25977413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4EFC3-E6B0-CE04-CF1E-1F35FC6BE85F}"/>
              </a:ext>
            </a:extLst>
          </p:cNvPr>
          <p:cNvSpPr>
            <a:spLocks noGrp="1"/>
          </p:cNvSpPr>
          <p:nvPr>
            <p:ph idx="1"/>
          </p:nvPr>
        </p:nvSpPr>
        <p:spPr>
          <a:xfrm>
            <a:off x="1371600" y="177282"/>
            <a:ext cx="9601200" cy="5690118"/>
          </a:xfrm>
        </p:spPr>
        <p:txBody>
          <a:bodyPr>
            <a:normAutofit/>
          </a:bodyPr>
          <a:lstStyle/>
          <a:p>
            <a:pPr algn="just" fontAlgn="base">
              <a:spcAft>
                <a:spcPts val="1125"/>
              </a:spcAft>
            </a:pPr>
            <a:r>
              <a:rPr lang="en-IN" sz="1800" b="1" i="0" dirty="0">
                <a:solidFill>
                  <a:srgbClr val="000000"/>
                </a:solidFill>
                <a:effectLst/>
                <a:latin typeface="inherit"/>
              </a:rPr>
              <a:t>Steps:</a:t>
            </a:r>
            <a:endParaRPr lang="en-IN" b="0" i="0" dirty="0">
              <a:solidFill>
                <a:srgbClr val="000000"/>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the column you want to remove the duplicates from.</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Go to the </a:t>
            </a:r>
            <a:r>
              <a:rPr lang="en-IN" b="1" i="0" dirty="0">
                <a:solidFill>
                  <a:srgbClr val="333333"/>
                </a:solidFill>
                <a:effectLst/>
                <a:latin typeface="inherit"/>
              </a:rPr>
              <a:t>Data </a:t>
            </a:r>
            <a:r>
              <a:rPr lang="en-IN" b="0" i="0" dirty="0">
                <a:solidFill>
                  <a:srgbClr val="333333"/>
                </a:solidFill>
                <a:effectLst/>
                <a:latin typeface="Poppins" panose="00000500000000000000" pitchFamily="2" charset="0"/>
              </a:rPr>
              <a:t>tab on your ribbon.</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a:t>
            </a:r>
            <a:r>
              <a:rPr lang="en-IN" b="1" i="0" dirty="0">
                <a:solidFill>
                  <a:srgbClr val="333333"/>
                </a:solidFill>
                <a:effectLst/>
                <a:latin typeface="inherit"/>
              </a:rPr>
              <a:t>Remove Duplicates </a:t>
            </a:r>
            <a:r>
              <a:rPr lang="en-IN" b="0" i="0" dirty="0">
                <a:solidFill>
                  <a:srgbClr val="333333"/>
                </a:solidFill>
                <a:effectLst/>
                <a:latin typeface="Poppins" panose="00000500000000000000" pitchFamily="2" charset="0"/>
              </a:rPr>
              <a:t>from the </a:t>
            </a:r>
            <a:r>
              <a:rPr lang="en-IN" b="1" i="0" dirty="0">
                <a:solidFill>
                  <a:srgbClr val="333333"/>
                </a:solidFill>
                <a:effectLst/>
                <a:latin typeface="inherit"/>
              </a:rPr>
              <a:t>Data Tools </a:t>
            </a:r>
            <a:r>
              <a:rPr lang="en-IN" b="0" i="0" dirty="0">
                <a:solidFill>
                  <a:srgbClr val="333333"/>
                </a:solidFill>
                <a:effectLst/>
                <a:latin typeface="Poppins" panose="00000500000000000000" pitchFamily="2" charset="0"/>
              </a:rPr>
              <a:t>group.</a:t>
            </a: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Wingdings" panose="05000000000000000000" pitchFamily="2" charset="2"/>
              <a:buChar char="§"/>
            </a:pPr>
            <a:endParaRPr lang="en-IN" b="0" i="0" dirty="0">
              <a:solidFill>
                <a:srgbClr val="333333"/>
              </a:solidFill>
              <a:effectLst/>
              <a:latin typeface="Poppins" panose="00000500000000000000" pitchFamily="2" charset="0"/>
            </a:endParaRPr>
          </a:p>
          <a:p>
            <a:pPr algn="l" fontAlgn="base">
              <a:spcAft>
                <a:spcPts val="375"/>
              </a:spcAft>
              <a:buFont typeface="Wingdings" panose="05000000000000000000" pitchFamily="2" charset="2"/>
              <a:buChar char="§"/>
            </a:pPr>
            <a:endParaRPr lang="en-IN" b="0" i="0" dirty="0">
              <a:solidFill>
                <a:srgbClr val="333333"/>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the </a:t>
            </a:r>
            <a:r>
              <a:rPr lang="en-IN" b="1" i="0" dirty="0">
                <a:solidFill>
                  <a:srgbClr val="333333"/>
                </a:solidFill>
                <a:effectLst/>
                <a:latin typeface="inherit"/>
              </a:rPr>
              <a:t>Continue with the current selection </a:t>
            </a:r>
            <a:r>
              <a:rPr lang="en-IN" b="0" i="0" dirty="0">
                <a:solidFill>
                  <a:srgbClr val="333333"/>
                </a:solidFill>
                <a:effectLst/>
                <a:latin typeface="Poppins" panose="00000500000000000000" pitchFamily="2" charset="0"/>
              </a:rPr>
              <a:t>option in the pop-up box and click on </a:t>
            </a:r>
            <a:r>
              <a:rPr lang="en-IN" b="1" i="0" dirty="0">
                <a:solidFill>
                  <a:srgbClr val="333333"/>
                </a:solidFill>
                <a:effectLst/>
                <a:latin typeface="inherit"/>
              </a:rPr>
              <a:t>Remove Duplicates</a:t>
            </a:r>
            <a:r>
              <a:rPr lang="en-IN" b="0" i="0" dirty="0">
                <a:solidFill>
                  <a:srgbClr val="333333"/>
                </a:solidFill>
                <a:effectLst/>
                <a:latin typeface="Poppins" panose="00000500000000000000" pitchFamily="2" charset="0"/>
              </a:rPr>
              <a:t>.</a:t>
            </a:r>
            <a:r>
              <a:rPr lang="en-IN" dirty="0"/>
              <a:t/>
            </a:r>
            <a:br>
              <a:rPr lang="en-IN" dirty="0"/>
            </a:br>
            <a:r>
              <a:rPr lang="en-IN" dirty="0"/>
              <a:t/>
            </a:r>
            <a:br>
              <a:rPr lang="en-IN" dirty="0"/>
            </a:br>
            <a:endParaRPr lang="en-IN" dirty="0"/>
          </a:p>
        </p:txBody>
      </p:sp>
      <p:pic>
        <p:nvPicPr>
          <p:cNvPr id="7" name="Picture 6">
            <a:extLst>
              <a:ext uri="{FF2B5EF4-FFF2-40B4-BE49-F238E27FC236}">
                <a16:creationId xmlns:a16="http://schemas.microsoft.com/office/drawing/2014/main" id="{69D6AC11-CE77-7267-6017-60628F70FE86}"/>
              </a:ext>
            </a:extLst>
          </p:cNvPr>
          <p:cNvPicPr>
            <a:picLocks noChangeAspect="1"/>
          </p:cNvPicPr>
          <p:nvPr/>
        </p:nvPicPr>
        <p:blipFill>
          <a:blip r:embed="rId2"/>
          <a:stretch>
            <a:fillRect/>
          </a:stretch>
        </p:blipFill>
        <p:spPr>
          <a:xfrm>
            <a:off x="1540027" y="2079484"/>
            <a:ext cx="9601200" cy="942857"/>
          </a:xfrm>
          <a:prstGeom prst="rect">
            <a:avLst/>
          </a:prstGeom>
        </p:spPr>
      </p:pic>
      <p:pic>
        <p:nvPicPr>
          <p:cNvPr id="9" name="Picture 8">
            <a:extLst>
              <a:ext uri="{FF2B5EF4-FFF2-40B4-BE49-F238E27FC236}">
                <a16:creationId xmlns:a16="http://schemas.microsoft.com/office/drawing/2014/main" id="{6F2C18D2-5CA7-D3C7-68DA-E9FD887216E7}"/>
              </a:ext>
            </a:extLst>
          </p:cNvPr>
          <p:cNvPicPr>
            <a:picLocks noChangeAspect="1"/>
          </p:cNvPicPr>
          <p:nvPr/>
        </p:nvPicPr>
        <p:blipFill>
          <a:blip r:embed="rId3"/>
          <a:stretch>
            <a:fillRect/>
          </a:stretch>
        </p:blipFill>
        <p:spPr>
          <a:xfrm>
            <a:off x="1775110" y="4138945"/>
            <a:ext cx="6846376" cy="1879300"/>
          </a:xfrm>
          <a:prstGeom prst="rect">
            <a:avLst/>
          </a:prstGeom>
        </p:spPr>
      </p:pic>
    </p:spTree>
    <p:extLst>
      <p:ext uri="{BB962C8B-B14F-4D97-AF65-F5344CB8AC3E}">
        <p14:creationId xmlns:p14="http://schemas.microsoft.com/office/powerpoint/2010/main" val="7834559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593C8-CC75-6B77-36DE-F8D630A0BEFF}"/>
              </a:ext>
            </a:extLst>
          </p:cNvPr>
          <p:cNvSpPr>
            <a:spLocks noGrp="1"/>
          </p:cNvSpPr>
          <p:nvPr>
            <p:ph idx="1"/>
          </p:nvPr>
        </p:nvSpPr>
        <p:spPr>
          <a:xfrm>
            <a:off x="1371600" y="83976"/>
            <a:ext cx="9601200" cy="5783424"/>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Click on </a:t>
            </a:r>
            <a:r>
              <a:rPr lang="en-IN" b="1" i="0" dirty="0">
                <a:solidFill>
                  <a:srgbClr val="333333"/>
                </a:solidFill>
                <a:effectLst/>
                <a:latin typeface="inherit"/>
              </a:rPr>
              <a:t>OK</a:t>
            </a:r>
            <a:r>
              <a:rPr lang="en-IN" dirty="0">
                <a:solidFill>
                  <a:srgbClr val="333333"/>
                </a:solidFill>
                <a:latin typeface="Poppins" panose="00000500000000000000" pitchFamily="2" charset="0"/>
              </a:rPr>
              <a:t>.</a:t>
            </a: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This will remove all the duplicates from the selection.</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7905D0F1-572F-D2B3-E135-03F80A7A35BF}"/>
              </a:ext>
            </a:extLst>
          </p:cNvPr>
          <p:cNvPicPr>
            <a:picLocks noChangeAspect="1"/>
          </p:cNvPicPr>
          <p:nvPr/>
        </p:nvPicPr>
        <p:blipFill>
          <a:blip r:embed="rId2"/>
          <a:stretch>
            <a:fillRect/>
          </a:stretch>
        </p:blipFill>
        <p:spPr>
          <a:xfrm>
            <a:off x="3315445" y="445363"/>
            <a:ext cx="2684139" cy="1305369"/>
          </a:xfrm>
          <a:prstGeom prst="rect">
            <a:avLst/>
          </a:prstGeom>
        </p:spPr>
      </p:pic>
      <p:pic>
        <p:nvPicPr>
          <p:cNvPr id="7" name="Picture 6">
            <a:extLst>
              <a:ext uri="{FF2B5EF4-FFF2-40B4-BE49-F238E27FC236}">
                <a16:creationId xmlns:a16="http://schemas.microsoft.com/office/drawing/2014/main" id="{E54B4F62-A1BA-DCFA-7088-206976B6545E}"/>
              </a:ext>
            </a:extLst>
          </p:cNvPr>
          <p:cNvPicPr>
            <a:picLocks noChangeAspect="1"/>
          </p:cNvPicPr>
          <p:nvPr/>
        </p:nvPicPr>
        <p:blipFill>
          <a:blip r:embed="rId3"/>
          <a:stretch>
            <a:fillRect/>
          </a:stretch>
        </p:blipFill>
        <p:spPr>
          <a:xfrm>
            <a:off x="2216791" y="2360646"/>
            <a:ext cx="4138139" cy="3868142"/>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B975CF02-72BF-1C42-C756-FD48AE42ADB9}"/>
                  </a:ext>
                </a:extLst>
              </p14:cNvPr>
              <p14:cNvContentPartPr/>
              <p14:nvPr/>
            </p14:nvContentPartPr>
            <p14:xfrm>
              <a:off x="4767509" y="3059390"/>
              <a:ext cx="1046520" cy="48240"/>
            </p14:xfrm>
          </p:contentPart>
        </mc:Choice>
        <mc:Fallback xmlns="">
          <p:pic>
            <p:nvPicPr>
              <p:cNvPr id="11" name="Ink 10">
                <a:extLst>
                  <a:ext uri="{FF2B5EF4-FFF2-40B4-BE49-F238E27FC236}">
                    <a16:creationId xmlns:a16="http://schemas.microsoft.com/office/drawing/2014/main" id="{B975CF02-72BF-1C42-C756-FD48AE42ADB9}"/>
                  </a:ext>
                </a:extLst>
              </p:cNvPr>
              <p:cNvPicPr/>
              <p:nvPr/>
            </p:nvPicPr>
            <p:blipFill>
              <a:blip r:embed="rId5"/>
              <a:stretch>
                <a:fillRect/>
              </a:stretch>
            </p:blipFill>
            <p:spPr>
              <a:xfrm>
                <a:off x="4713869" y="2951750"/>
                <a:ext cx="1154160" cy="263880"/>
              </a:xfrm>
              <a:prstGeom prst="rect">
                <a:avLst/>
              </a:prstGeom>
            </p:spPr>
          </p:pic>
        </mc:Fallback>
      </mc:AlternateContent>
    </p:spTree>
    <p:extLst>
      <p:ext uri="{BB962C8B-B14F-4D97-AF65-F5344CB8AC3E}">
        <p14:creationId xmlns:p14="http://schemas.microsoft.com/office/powerpoint/2010/main" val="19013780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CB0CC-D1FE-3E3B-1CCE-5EE30B03F897}"/>
              </a:ext>
            </a:extLst>
          </p:cNvPr>
          <p:cNvSpPr>
            <a:spLocks noGrp="1"/>
          </p:cNvSpPr>
          <p:nvPr>
            <p:ph type="title"/>
          </p:nvPr>
        </p:nvSpPr>
        <p:spPr>
          <a:xfrm>
            <a:off x="1371600" y="685800"/>
            <a:ext cx="9601200" cy="853751"/>
          </a:xfrm>
        </p:spPr>
        <p:txBody>
          <a:bodyPr>
            <a:normAutofit/>
          </a:bodyPr>
          <a:lstStyle/>
          <a:p>
            <a:r>
              <a:rPr lang="en-IN" b="0" i="0" dirty="0">
                <a:solidFill>
                  <a:srgbClr val="383838"/>
                </a:solidFill>
                <a:effectLst/>
                <a:latin typeface="Inter"/>
              </a:rPr>
              <a:t>Conditional Formatting: An Overview</a:t>
            </a:r>
            <a:endParaRPr lang="en-IN" dirty="0"/>
          </a:p>
        </p:txBody>
      </p:sp>
      <p:sp>
        <p:nvSpPr>
          <p:cNvPr id="3" name="Content Placeholder 2">
            <a:extLst>
              <a:ext uri="{FF2B5EF4-FFF2-40B4-BE49-F238E27FC236}">
                <a16:creationId xmlns:a16="http://schemas.microsoft.com/office/drawing/2014/main" id="{B6BF8F55-CD0F-AAC5-A3CE-3CA6701452E9}"/>
              </a:ext>
            </a:extLst>
          </p:cNvPr>
          <p:cNvSpPr>
            <a:spLocks noGrp="1"/>
          </p:cNvSpPr>
          <p:nvPr>
            <p:ph idx="1"/>
          </p:nvPr>
        </p:nvSpPr>
        <p:spPr>
          <a:xfrm>
            <a:off x="1371600" y="1448578"/>
            <a:ext cx="9601200" cy="5788988"/>
          </a:xfrm>
        </p:spPr>
        <p:txBody>
          <a:bodyPr/>
          <a:lstStyle/>
          <a:p>
            <a:pPr algn="l">
              <a:lnSpc>
                <a:spcPts val="2700"/>
              </a:lnSpc>
            </a:pPr>
            <a:r>
              <a:rPr lang="en-IN" b="0" i="0" dirty="0">
                <a:solidFill>
                  <a:srgbClr val="383838"/>
                </a:solidFill>
                <a:effectLst/>
                <a:latin typeface="Inter"/>
              </a:rPr>
              <a:t>Conditional Formatting allows you to apply specific formatting—such as </a:t>
            </a:r>
            <a:r>
              <a:rPr lang="en-IN" b="0" i="0" dirty="0" err="1">
                <a:solidFill>
                  <a:srgbClr val="383838"/>
                </a:solidFill>
                <a:effectLst/>
                <a:latin typeface="Inter"/>
              </a:rPr>
              <a:t>colors</a:t>
            </a:r>
            <a:r>
              <a:rPr lang="en-IN" b="0" i="0" dirty="0">
                <a:solidFill>
                  <a:srgbClr val="383838"/>
                </a:solidFill>
                <a:effectLst/>
                <a:latin typeface="Inter"/>
              </a:rPr>
              <a:t>, icons, or data bars—to cells based on the values they contain. This automatic formatting is triggered by rules you define, making it easy to spot critical data points or trends without manually sifting through numbers.</a:t>
            </a:r>
          </a:p>
          <a:p>
            <a:pPr marL="0" indent="0">
              <a:buNone/>
            </a:pPr>
            <a:endParaRPr lang="en-IN" dirty="0"/>
          </a:p>
        </p:txBody>
      </p:sp>
      <p:pic>
        <p:nvPicPr>
          <p:cNvPr id="5" name="Picture 4">
            <a:extLst>
              <a:ext uri="{FF2B5EF4-FFF2-40B4-BE49-F238E27FC236}">
                <a16:creationId xmlns:a16="http://schemas.microsoft.com/office/drawing/2014/main" id="{571EEF2A-31B6-1EBD-70E6-390F2312DA8C}"/>
              </a:ext>
            </a:extLst>
          </p:cNvPr>
          <p:cNvPicPr>
            <a:picLocks noChangeAspect="1"/>
          </p:cNvPicPr>
          <p:nvPr/>
        </p:nvPicPr>
        <p:blipFill>
          <a:blip r:embed="rId2"/>
          <a:stretch>
            <a:fillRect/>
          </a:stretch>
        </p:blipFill>
        <p:spPr>
          <a:xfrm>
            <a:off x="2952567" y="2963794"/>
            <a:ext cx="5678250" cy="3695273"/>
          </a:xfrm>
          <a:prstGeom prst="rect">
            <a:avLst/>
          </a:prstGeom>
        </p:spPr>
      </p:pic>
      <p:sp>
        <p:nvSpPr>
          <p:cNvPr id="6" name="Rectangle 5">
            <a:extLst>
              <a:ext uri="{FF2B5EF4-FFF2-40B4-BE49-F238E27FC236}">
                <a16:creationId xmlns:a16="http://schemas.microsoft.com/office/drawing/2014/main" id="{639E7D0A-65D9-2998-F8E0-A3E0AAF90757}"/>
              </a:ext>
            </a:extLst>
          </p:cNvPr>
          <p:cNvSpPr/>
          <p:nvPr/>
        </p:nvSpPr>
        <p:spPr>
          <a:xfrm>
            <a:off x="6428792" y="2985796"/>
            <a:ext cx="2118049" cy="242362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46387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0656F7-7B48-AACA-4E94-8BD7F98A67E8}"/>
              </a:ext>
            </a:extLst>
          </p:cNvPr>
          <p:cNvSpPr>
            <a:spLocks noGrp="1"/>
          </p:cNvSpPr>
          <p:nvPr>
            <p:ph idx="1"/>
          </p:nvPr>
        </p:nvSpPr>
        <p:spPr>
          <a:xfrm>
            <a:off x="1371600" y="1231641"/>
            <a:ext cx="9601200" cy="5302461"/>
          </a:xfrm>
        </p:spPr>
        <p:txBody>
          <a:bodyPr>
            <a:normAutofit/>
          </a:bodyPr>
          <a:lstStyle/>
          <a:p>
            <a:pPr algn="just" fontAlgn="base">
              <a:spcAft>
                <a:spcPts val="1125"/>
              </a:spcAft>
            </a:pPr>
            <a:r>
              <a:rPr lang="en-IN" b="0" i="0" dirty="0">
                <a:solidFill>
                  <a:srgbClr val="000000"/>
                </a:solidFill>
                <a:effectLst/>
                <a:latin typeface="Poppins" panose="00000500000000000000" pitchFamily="2" charset="0"/>
              </a:rPr>
              <a:t>We’ll use the following dataset.</a:t>
            </a:r>
          </a:p>
          <a:p>
            <a:pPr marL="0" indent="0" algn="just" fontAlgn="base">
              <a:spcAft>
                <a:spcPts val="1125"/>
              </a:spcAft>
              <a:buNone/>
            </a:pPr>
            <a:endParaRPr lang="en-IN" b="0" i="0" dirty="0">
              <a:solidFill>
                <a:srgbClr val="000000"/>
              </a:solidFill>
              <a:effectLst/>
              <a:latin typeface="Poppins" panose="00000500000000000000" pitchFamily="2"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r>
              <a:rPr lang="en-IN" dirty="0"/>
              <a:t/>
            </a:r>
            <a:br>
              <a:rPr lang="en-IN" dirty="0"/>
            </a:br>
            <a:endParaRPr lang="en-IN" dirty="0"/>
          </a:p>
        </p:txBody>
      </p:sp>
      <p:sp>
        <p:nvSpPr>
          <p:cNvPr id="5" name="TextBox 4">
            <a:extLst>
              <a:ext uri="{FF2B5EF4-FFF2-40B4-BE49-F238E27FC236}">
                <a16:creationId xmlns:a16="http://schemas.microsoft.com/office/drawing/2014/main" id="{D4A0A245-DC7E-98F7-BC06-848BAD67617E}"/>
              </a:ext>
            </a:extLst>
          </p:cNvPr>
          <p:cNvSpPr txBox="1"/>
          <p:nvPr/>
        </p:nvSpPr>
        <p:spPr>
          <a:xfrm>
            <a:off x="1296956" y="323898"/>
            <a:ext cx="6097554" cy="838691"/>
          </a:xfrm>
          <a:prstGeom prst="rect">
            <a:avLst/>
          </a:prstGeom>
          <a:noFill/>
        </p:spPr>
        <p:txBody>
          <a:bodyPr wrap="square">
            <a:spAutoFit/>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Method 2 – Highlight Duplicate Values</a:t>
            </a:r>
          </a:p>
          <a:p>
            <a:pPr algn="just" fontAlgn="base">
              <a:spcAft>
                <a:spcPts val="1125"/>
              </a:spcAft>
            </a:pPr>
            <a:r>
              <a:rPr lang="en-IN" sz="1800" b="1" i="0" dirty="0">
                <a:solidFill>
                  <a:srgbClr val="008000"/>
                </a:solidFill>
                <a:effectLst/>
                <a:latin typeface="inherit"/>
              </a:rPr>
              <a:t>Utilizing Conditional Formatting</a:t>
            </a:r>
            <a:endParaRPr lang="en-IN" b="0" i="0" dirty="0">
              <a:solidFill>
                <a:srgbClr val="000000"/>
              </a:solidFill>
              <a:effectLst/>
              <a:latin typeface="Poppins" panose="00000500000000000000" pitchFamily="2" charset="0"/>
            </a:endParaRPr>
          </a:p>
        </p:txBody>
      </p:sp>
      <p:pic>
        <p:nvPicPr>
          <p:cNvPr id="7" name="Picture 6">
            <a:extLst>
              <a:ext uri="{FF2B5EF4-FFF2-40B4-BE49-F238E27FC236}">
                <a16:creationId xmlns:a16="http://schemas.microsoft.com/office/drawing/2014/main" id="{3B0F1410-ED9D-3ABA-06C6-D5BAEB838F60}"/>
              </a:ext>
            </a:extLst>
          </p:cNvPr>
          <p:cNvPicPr>
            <a:picLocks noChangeAspect="1"/>
          </p:cNvPicPr>
          <p:nvPr/>
        </p:nvPicPr>
        <p:blipFill>
          <a:blip r:embed="rId2"/>
          <a:stretch>
            <a:fillRect/>
          </a:stretch>
        </p:blipFill>
        <p:spPr>
          <a:xfrm>
            <a:off x="1811262" y="1629687"/>
            <a:ext cx="5345317" cy="4656524"/>
          </a:xfrm>
          <a:prstGeom prst="rect">
            <a:avLst/>
          </a:prstGeom>
        </p:spPr>
      </p:pic>
    </p:spTree>
    <p:extLst>
      <p:ext uri="{BB962C8B-B14F-4D97-AF65-F5344CB8AC3E}">
        <p14:creationId xmlns:p14="http://schemas.microsoft.com/office/powerpoint/2010/main" val="27802559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FF745E-2A40-D664-B26E-E9ABDBDA0CB4}"/>
              </a:ext>
            </a:extLst>
          </p:cNvPr>
          <p:cNvSpPr>
            <a:spLocks noGrp="1"/>
          </p:cNvSpPr>
          <p:nvPr>
            <p:ph idx="1"/>
          </p:nvPr>
        </p:nvSpPr>
        <p:spPr>
          <a:xfrm>
            <a:off x="1371600" y="102637"/>
            <a:ext cx="9601200" cy="5764763"/>
          </a:xfrm>
        </p:spPr>
        <p:txBody>
          <a:bodyPr/>
          <a:lstStyle/>
          <a:p>
            <a:pPr algn="just" fontAlgn="base">
              <a:spcAft>
                <a:spcPts val="1125"/>
              </a:spcAft>
            </a:pPr>
            <a:r>
              <a:rPr lang="en-IN" sz="1800" b="1" i="0" dirty="0">
                <a:solidFill>
                  <a:srgbClr val="000000"/>
                </a:solidFill>
                <a:effectLst/>
                <a:latin typeface="inherit"/>
              </a:rPr>
              <a:t>Steps:</a:t>
            </a:r>
            <a:endParaRPr lang="en-IN" b="0" i="0" dirty="0">
              <a:solidFill>
                <a:srgbClr val="000000"/>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the cells that we want to highlight. In this case, it is D5:D18.</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Go to </a:t>
            </a:r>
            <a:r>
              <a:rPr lang="en-IN" b="1" i="0" dirty="0">
                <a:solidFill>
                  <a:srgbClr val="333333"/>
                </a:solidFill>
                <a:effectLst/>
                <a:latin typeface="inherit"/>
              </a:rPr>
              <a:t>Home</a:t>
            </a:r>
            <a:r>
              <a:rPr lang="en-IN" b="0" i="0" dirty="0">
                <a:solidFill>
                  <a:srgbClr val="333333"/>
                </a:solidFill>
                <a:effectLst/>
                <a:latin typeface="Poppins" panose="00000500000000000000" pitchFamily="2" charset="0"/>
              </a:rPr>
              <a:t> and choose </a:t>
            </a:r>
            <a:r>
              <a:rPr lang="en-IN" b="1" i="0" dirty="0">
                <a:solidFill>
                  <a:srgbClr val="333333"/>
                </a:solidFill>
                <a:effectLst/>
                <a:latin typeface="inherit"/>
              </a:rPr>
              <a:t>Conditional Formatting.</a:t>
            </a:r>
            <a:endParaRPr lang="en-IN" b="0" i="0" dirty="0">
              <a:solidFill>
                <a:srgbClr val="333333"/>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Go to </a:t>
            </a:r>
            <a:r>
              <a:rPr lang="en-IN" b="1" i="0" dirty="0">
                <a:solidFill>
                  <a:srgbClr val="333333"/>
                </a:solidFill>
                <a:effectLst/>
                <a:latin typeface="inherit"/>
              </a:rPr>
              <a:t>Highlight Cells Rules</a:t>
            </a:r>
            <a:r>
              <a:rPr lang="en-IN" b="0" i="0" dirty="0">
                <a:solidFill>
                  <a:srgbClr val="333333"/>
                </a:solidFill>
                <a:effectLst/>
                <a:latin typeface="Poppins" panose="00000500000000000000" pitchFamily="2" charset="0"/>
              </a:rPr>
              <a:t> and select </a:t>
            </a:r>
            <a:r>
              <a:rPr lang="en-IN" b="1" i="0" dirty="0">
                <a:solidFill>
                  <a:srgbClr val="333333"/>
                </a:solidFill>
                <a:effectLst/>
                <a:latin typeface="inherit"/>
              </a:rPr>
              <a:t>Duplicate Values</a:t>
            </a:r>
            <a:r>
              <a:rPr lang="en-IN" b="0" i="0" dirty="0">
                <a:solidFill>
                  <a:srgbClr val="333333"/>
                </a:solidFill>
                <a:effectLst/>
                <a:latin typeface="Poppins" panose="00000500000000000000" pitchFamily="2" charset="0"/>
              </a:rPr>
              <a:t>.</a:t>
            </a:r>
          </a:p>
          <a:p>
            <a:pPr marL="0" indent="0">
              <a:buNone/>
            </a:pPr>
            <a:r>
              <a:rPr lang="en-IN" b="0" i="0" dirty="0">
                <a:solidFill>
                  <a:srgbClr val="333333"/>
                </a:solidFill>
                <a:effectLst/>
                <a:latin typeface="Poppins" panose="00000500000000000000" pitchFamily="2" charset="0"/>
              </a:rPr>
              <a:t/>
            </a:r>
            <a:br>
              <a:rPr lang="en-IN" b="0" i="0" dirty="0">
                <a:solidFill>
                  <a:srgbClr val="333333"/>
                </a:solidFill>
                <a:effectLst/>
                <a:latin typeface="Poppins" panose="00000500000000000000" pitchFamily="2" charset="0"/>
              </a:rPr>
            </a:br>
            <a:endParaRPr lang="en-IN" dirty="0"/>
          </a:p>
        </p:txBody>
      </p:sp>
      <p:pic>
        <p:nvPicPr>
          <p:cNvPr id="5" name="Picture 4">
            <a:extLst>
              <a:ext uri="{FF2B5EF4-FFF2-40B4-BE49-F238E27FC236}">
                <a16:creationId xmlns:a16="http://schemas.microsoft.com/office/drawing/2014/main" id="{AD96B5CB-5A68-F105-9EBD-3F3BBC267578}"/>
              </a:ext>
            </a:extLst>
          </p:cNvPr>
          <p:cNvPicPr>
            <a:picLocks noChangeAspect="1"/>
          </p:cNvPicPr>
          <p:nvPr/>
        </p:nvPicPr>
        <p:blipFill>
          <a:blip r:embed="rId2"/>
          <a:stretch>
            <a:fillRect/>
          </a:stretch>
        </p:blipFill>
        <p:spPr>
          <a:xfrm>
            <a:off x="1950574" y="2000733"/>
            <a:ext cx="7619048" cy="3866667"/>
          </a:xfrm>
          <a:prstGeom prst="rect">
            <a:avLst/>
          </a:prstGeom>
        </p:spPr>
      </p:pic>
    </p:spTree>
    <p:extLst>
      <p:ext uri="{BB962C8B-B14F-4D97-AF65-F5344CB8AC3E}">
        <p14:creationId xmlns:p14="http://schemas.microsoft.com/office/powerpoint/2010/main" val="3608251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0ECCA-04FE-84B2-179A-8EEFD906D089}"/>
              </a:ext>
            </a:extLst>
          </p:cNvPr>
          <p:cNvSpPr>
            <a:spLocks noGrp="1"/>
          </p:cNvSpPr>
          <p:nvPr>
            <p:ph idx="1"/>
          </p:nvPr>
        </p:nvSpPr>
        <p:spPr>
          <a:xfrm>
            <a:off x="1371599" y="363894"/>
            <a:ext cx="10077061" cy="6643396"/>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A </a:t>
            </a:r>
            <a:r>
              <a:rPr lang="en-IN" b="1" i="0" dirty="0">
                <a:solidFill>
                  <a:srgbClr val="333333"/>
                </a:solidFill>
                <a:effectLst/>
                <a:latin typeface="inherit"/>
              </a:rPr>
              <a:t>Duplicate Values</a:t>
            </a:r>
            <a:r>
              <a:rPr lang="en-IN" b="0" i="0" dirty="0">
                <a:solidFill>
                  <a:srgbClr val="333333"/>
                </a:solidFill>
                <a:effectLst/>
                <a:latin typeface="Poppins" panose="00000500000000000000" pitchFamily="2" charset="0"/>
              </a:rPr>
              <a:t> window will appear. Choose </a:t>
            </a:r>
            <a:r>
              <a:rPr lang="en-IN" b="1" i="0" dirty="0">
                <a:solidFill>
                  <a:srgbClr val="333333"/>
                </a:solidFill>
                <a:effectLst/>
                <a:latin typeface="inherit"/>
              </a:rPr>
              <a:t>Duplicate</a:t>
            </a:r>
            <a:r>
              <a:rPr lang="en-IN" b="0" i="0" dirty="0">
                <a:solidFill>
                  <a:srgbClr val="333333"/>
                </a:solidFill>
                <a:effectLst/>
                <a:latin typeface="Poppins" panose="00000500000000000000" pitchFamily="2" charset="0"/>
              </a:rPr>
              <a:t>.</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any </a:t>
            </a:r>
            <a:r>
              <a:rPr lang="en-IN" b="0" i="0" dirty="0" err="1">
                <a:solidFill>
                  <a:srgbClr val="333333"/>
                </a:solidFill>
                <a:effectLst/>
                <a:latin typeface="Poppins" panose="00000500000000000000" pitchFamily="2" charset="0"/>
              </a:rPr>
              <a:t>color</a:t>
            </a:r>
            <a:r>
              <a:rPr lang="en-IN" b="0" i="0" dirty="0">
                <a:solidFill>
                  <a:srgbClr val="333333"/>
                </a:solidFill>
                <a:effectLst/>
                <a:latin typeface="Poppins" panose="00000500000000000000" pitchFamily="2" charset="0"/>
              </a:rPr>
              <a:t> options after </a:t>
            </a:r>
            <a:r>
              <a:rPr lang="en-IN" b="1" i="0" dirty="0">
                <a:solidFill>
                  <a:srgbClr val="333333"/>
                </a:solidFill>
                <a:effectLst/>
                <a:latin typeface="inherit"/>
              </a:rPr>
              <a:t>values with.</a:t>
            </a:r>
            <a:r>
              <a:rPr lang="en-IN" b="0" i="0" dirty="0">
                <a:solidFill>
                  <a:srgbClr val="333333"/>
                </a:solidFill>
                <a:effectLst/>
                <a:latin typeface="Poppins" panose="00000500000000000000" pitchFamily="2" charset="0"/>
              </a:rPr>
              <a:t> We have selected </a:t>
            </a:r>
            <a:r>
              <a:rPr lang="en-IN" b="1" i="0" dirty="0">
                <a:solidFill>
                  <a:srgbClr val="333333"/>
                </a:solidFill>
                <a:effectLst/>
                <a:latin typeface="inherit"/>
              </a:rPr>
              <a:t>Light Red Fill with Dark Red Text</a:t>
            </a:r>
            <a:r>
              <a:rPr lang="en-IN" b="0" i="0" dirty="0">
                <a:solidFill>
                  <a:srgbClr val="333333"/>
                </a:solidFill>
                <a:effectLst/>
                <a:latin typeface="Poppins" panose="00000500000000000000" pitchFamily="2" charset="0"/>
              </a:rPr>
              <a:t>.</a:t>
            </a: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The duplicate values in the </a:t>
            </a:r>
            <a:r>
              <a:rPr lang="en-IN" b="1" i="0" dirty="0">
                <a:solidFill>
                  <a:srgbClr val="333333"/>
                </a:solidFill>
                <a:effectLst/>
                <a:latin typeface="inherit"/>
              </a:rPr>
              <a:t>D</a:t>
            </a:r>
            <a:r>
              <a:rPr lang="en-IN" b="0" i="0" dirty="0">
                <a:solidFill>
                  <a:srgbClr val="333333"/>
                </a:solidFill>
                <a:effectLst/>
                <a:latin typeface="Poppins" panose="00000500000000000000" pitchFamily="2" charset="0"/>
              </a:rPr>
              <a:t> column</a:t>
            </a:r>
          </a:p>
          <a:p>
            <a:pPr marL="0" indent="0" algn="l" fontAlgn="base">
              <a:spcAft>
                <a:spcPts val="375"/>
              </a:spcAft>
              <a:buNone/>
            </a:pPr>
            <a:r>
              <a:rPr lang="en-IN" b="0" i="0" dirty="0">
                <a:solidFill>
                  <a:srgbClr val="333333"/>
                </a:solidFill>
                <a:effectLst/>
                <a:latin typeface="Poppins" panose="00000500000000000000" pitchFamily="2" charset="0"/>
              </a:rPr>
              <a:t>are highlighted.</a:t>
            </a:r>
          </a:p>
          <a:p>
            <a:pPr marL="0" indent="0">
              <a:buNone/>
            </a:pPr>
            <a:endParaRPr lang="en-IN" dirty="0"/>
          </a:p>
        </p:txBody>
      </p:sp>
      <p:pic>
        <p:nvPicPr>
          <p:cNvPr id="5" name="Picture 4">
            <a:extLst>
              <a:ext uri="{FF2B5EF4-FFF2-40B4-BE49-F238E27FC236}">
                <a16:creationId xmlns:a16="http://schemas.microsoft.com/office/drawing/2014/main" id="{9856A30D-0600-7DA4-99E6-A316A91651F9}"/>
              </a:ext>
            </a:extLst>
          </p:cNvPr>
          <p:cNvPicPr>
            <a:picLocks noChangeAspect="1"/>
          </p:cNvPicPr>
          <p:nvPr/>
        </p:nvPicPr>
        <p:blipFill>
          <a:blip r:embed="rId2"/>
          <a:stretch>
            <a:fillRect/>
          </a:stretch>
        </p:blipFill>
        <p:spPr>
          <a:xfrm>
            <a:off x="3955461" y="1308429"/>
            <a:ext cx="3446498" cy="1383453"/>
          </a:xfrm>
          <a:prstGeom prst="rect">
            <a:avLst/>
          </a:prstGeom>
        </p:spPr>
      </p:pic>
      <p:pic>
        <p:nvPicPr>
          <p:cNvPr id="7" name="Picture 6">
            <a:extLst>
              <a:ext uri="{FF2B5EF4-FFF2-40B4-BE49-F238E27FC236}">
                <a16:creationId xmlns:a16="http://schemas.microsoft.com/office/drawing/2014/main" id="{28814A7B-BDF0-106D-FD33-3BE0C7927E4B}"/>
              </a:ext>
            </a:extLst>
          </p:cNvPr>
          <p:cNvPicPr>
            <a:picLocks noChangeAspect="1"/>
          </p:cNvPicPr>
          <p:nvPr/>
        </p:nvPicPr>
        <p:blipFill>
          <a:blip r:embed="rId3"/>
          <a:stretch>
            <a:fillRect/>
          </a:stretch>
        </p:blipFill>
        <p:spPr>
          <a:xfrm>
            <a:off x="6612346" y="2896220"/>
            <a:ext cx="4360454" cy="3906731"/>
          </a:xfrm>
          <a:prstGeom prst="rect">
            <a:avLst/>
          </a:prstGeom>
        </p:spPr>
      </p:pic>
    </p:spTree>
    <p:extLst>
      <p:ext uri="{BB962C8B-B14F-4D97-AF65-F5344CB8AC3E}">
        <p14:creationId xmlns:p14="http://schemas.microsoft.com/office/powerpoint/2010/main" val="7085957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EB531-8D22-19E1-042C-8EC2254C40D9}"/>
              </a:ext>
            </a:extLst>
          </p:cNvPr>
          <p:cNvSpPr>
            <a:spLocks noGrp="1"/>
          </p:cNvSpPr>
          <p:nvPr>
            <p:ph idx="1"/>
          </p:nvPr>
        </p:nvSpPr>
        <p:spPr>
          <a:xfrm>
            <a:off x="1371600" y="606490"/>
            <a:ext cx="9601200" cy="5260910"/>
          </a:xfrm>
        </p:spPr>
        <p:txBody>
          <a:bodyPr/>
          <a:lstStyle/>
          <a:p>
            <a:pPr marL="0" indent="0" algn="just" fontAlgn="base">
              <a:spcAft>
                <a:spcPts val="1125"/>
              </a:spcAft>
              <a:buNone/>
            </a:pPr>
            <a:r>
              <a:rPr lang="en-IN" sz="1800" b="1" i="0" dirty="0">
                <a:solidFill>
                  <a:srgbClr val="000000"/>
                </a:solidFill>
                <a:effectLst/>
                <a:latin typeface="inherit"/>
              </a:rPr>
              <a:t>Steps:</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Go to </a:t>
            </a:r>
            <a:r>
              <a:rPr lang="en-IN" b="1" i="0" dirty="0">
                <a:solidFill>
                  <a:srgbClr val="333333"/>
                </a:solidFill>
                <a:effectLst/>
                <a:latin typeface="inherit"/>
              </a:rPr>
              <a:t>New Formatting Rule</a:t>
            </a:r>
            <a:r>
              <a:rPr lang="en-IN" b="0" i="0" dirty="0">
                <a:solidFill>
                  <a:srgbClr val="333333"/>
                </a:solidFill>
                <a:effectLst/>
                <a:latin typeface="Poppins" panose="00000500000000000000" pitchFamily="2" charset="0"/>
              </a:rPr>
              <a:t> through the </a:t>
            </a:r>
            <a:r>
              <a:rPr lang="en-IN" b="1" i="0" dirty="0">
                <a:solidFill>
                  <a:srgbClr val="333333"/>
                </a:solidFill>
                <a:effectLst/>
                <a:latin typeface="inherit"/>
              </a:rPr>
              <a:t>Conditional Formatting</a:t>
            </a:r>
            <a:r>
              <a:rPr lang="en-IN" b="0" i="0" dirty="0">
                <a:solidFill>
                  <a:srgbClr val="333333"/>
                </a:solidFill>
                <a:effectLst/>
                <a:latin typeface="Poppins" panose="00000500000000000000" pitchFamily="2" charset="0"/>
              </a:rPr>
              <a:t> option.</a:t>
            </a:r>
          </a:p>
          <a:p>
            <a:pPr marL="0" indent="0">
              <a:buNone/>
            </a:pPr>
            <a:endParaRPr lang="en-IN" b="0" i="0" dirty="0">
              <a:solidFill>
                <a:srgbClr val="000000"/>
              </a:solidFill>
              <a:effectLst/>
              <a:latin typeface="Poppins" panose="00000500000000000000" pitchFamily="2" charset="0"/>
            </a:endParaRPr>
          </a:p>
        </p:txBody>
      </p:sp>
      <p:sp>
        <p:nvSpPr>
          <p:cNvPr id="5" name="TextBox 4">
            <a:extLst>
              <a:ext uri="{FF2B5EF4-FFF2-40B4-BE49-F238E27FC236}">
                <a16:creationId xmlns:a16="http://schemas.microsoft.com/office/drawing/2014/main" id="{4A267B27-225E-0BA6-76DE-8914649B0DC3}"/>
              </a:ext>
            </a:extLst>
          </p:cNvPr>
          <p:cNvSpPr txBox="1"/>
          <p:nvPr/>
        </p:nvSpPr>
        <p:spPr>
          <a:xfrm>
            <a:off x="1371600" y="284232"/>
            <a:ext cx="6097554" cy="1341393"/>
          </a:xfrm>
          <a:prstGeom prst="rect">
            <a:avLst/>
          </a:prstGeom>
          <a:noFill/>
        </p:spPr>
        <p:txBody>
          <a:bodyPr wrap="square">
            <a:spAutoFit/>
          </a:bodyPr>
          <a:lstStyle/>
          <a:p>
            <a:pPr algn="just" fontAlgn="base">
              <a:spcAft>
                <a:spcPts val="1125"/>
              </a:spcAft>
            </a:pPr>
            <a:r>
              <a:rPr lang="en-IN" sz="1800" b="1" i="0" dirty="0">
                <a:solidFill>
                  <a:srgbClr val="008000"/>
                </a:solidFill>
                <a:effectLst/>
                <a:latin typeface="inherit"/>
              </a:rPr>
              <a:t>Highlighting Duplicates Including First Occurrence</a:t>
            </a:r>
            <a:endParaRPr lang="en-IN" b="0" i="0" dirty="0">
              <a:solidFill>
                <a:srgbClr val="000000"/>
              </a:solidFill>
              <a:effectLst/>
              <a:latin typeface="Poppins" panose="00000500000000000000" pitchFamily="2" charset="0"/>
            </a:endParaRPr>
          </a:p>
          <a:p>
            <a:r>
              <a:rPr lang="en-IN" dirty="0"/>
              <a:t/>
            </a:r>
            <a:br>
              <a:rPr lang="en-IN" dirty="0"/>
            </a:br>
            <a:r>
              <a:rPr lang="en-IN" dirty="0"/>
              <a:t/>
            </a:r>
            <a:br>
              <a:rPr lang="en-IN" dirty="0"/>
            </a:br>
            <a:endParaRPr lang="en-IN" dirty="0"/>
          </a:p>
        </p:txBody>
      </p:sp>
      <p:pic>
        <p:nvPicPr>
          <p:cNvPr id="9" name="Picture 8">
            <a:extLst>
              <a:ext uri="{FF2B5EF4-FFF2-40B4-BE49-F238E27FC236}">
                <a16:creationId xmlns:a16="http://schemas.microsoft.com/office/drawing/2014/main" id="{4DAE1F1E-B74A-D63D-1956-368D0AF34A68}"/>
              </a:ext>
            </a:extLst>
          </p:cNvPr>
          <p:cNvPicPr>
            <a:picLocks noChangeAspect="1"/>
          </p:cNvPicPr>
          <p:nvPr/>
        </p:nvPicPr>
        <p:blipFill>
          <a:blip r:embed="rId2"/>
          <a:stretch>
            <a:fillRect/>
          </a:stretch>
        </p:blipFill>
        <p:spPr>
          <a:xfrm>
            <a:off x="1540027" y="1576477"/>
            <a:ext cx="8947581" cy="4788839"/>
          </a:xfrm>
          <a:prstGeom prst="rect">
            <a:avLst/>
          </a:prstGeom>
        </p:spPr>
      </p:pic>
    </p:spTree>
    <p:extLst>
      <p:ext uri="{BB962C8B-B14F-4D97-AF65-F5344CB8AC3E}">
        <p14:creationId xmlns:p14="http://schemas.microsoft.com/office/powerpoint/2010/main" val="3342727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BFAF9E-2676-B22F-E600-0A42CF997DBB}"/>
              </a:ext>
            </a:extLst>
          </p:cNvPr>
          <p:cNvSpPr>
            <a:spLocks noGrp="1"/>
          </p:cNvSpPr>
          <p:nvPr>
            <p:ph idx="1"/>
          </p:nvPr>
        </p:nvSpPr>
        <p:spPr>
          <a:xfrm>
            <a:off x="1371600" y="251928"/>
            <a:ext cx="9601200" cy="5673012"/>
          </a:xfrm>
        </p:spPr>
        <p:txBody>
          <a:bodyPr>
            <a:normAutofit/>
          </a:bodyPr>
          <a:lstStyle/>
          <a:p>
            <a:pPr fontAlgn="base">
              <a:spcAft>
                <a:spcPts val="375"/>
              </a:spcAft>
              <a:buFont typeface="Wingdings" panose="05000000000000000000" pitchFamily="2" charset="2"/>
              <a:buChar char="§"/>
            </a:pPr>
            <a:r>
              <a:rPr lang="en-IN" dirty="0">
                <a:effectLst/>
              </a:rPr>
              <a:t>Select </a:t>
            </a:r>
            <a:r>
              <a:rPr lang="en-IN" b="1" dirty="0">
                <a:effectLst/>
                <a:latin typeface="inherit"/>
              </a:rPr>
              <a:t>Use a formula to determine which cells to format</a:t>
            </a:r>
            <a:r>
              <a:rPr lang="en-IN" dirty="0">
                <a:effectLst/>
              </a:rPr>
              <a:t>.</a:t>
            </a:r>
          </a:p>
          <a:p>
            <a:pPr fontAlgn="base">
              <a:spcAft>
                <a:spcPts val="375"/>
              </a:spcAft>
              <a:buFont typeface="Wingdings" panose="05000000000000000000" pitchFamily="2" charset="2"/>
              <a:buChar char="§"/>
            </a:pPr>
            <a:r>
              <a:rPr lang="en-IN" dirty="0">
                <a:effectLst/>
              </a:rPr>
              <a:t>Use the following formula in the formula box.</a:t>
            </a:r>
          </a:p>
          <a:p>
            <a:pPr fontAlgn="base">
              <a:spcAft>
                <a:spcPts val="375"/>
              </a:spcAft>
              <a:buFont typeface="Wingdings" panose="05000000000000000000" pitchFamily="2" charset="2"/>
              <a:buChar char="§"/>
            </a:pPr>
            <a:r>
              <a:rPr kumimoji="0" lang="en-IN" altLang="en-US" sz="2000" b="1" i="0" u="none" strike="noStrike" cap="none" normalizeH="0" baseline="0" dirty="0">
                <a:ln>
                  <a:noFill/>
                </a:ln>
                <a:solidFill>
                  <a:srgbClr val="393E47"/>
                </a:solidFill>
                <a:effectLst/>
                <a:latin typeface="inherit"/>
                <a:cs typeface="Poppins" panose="00000500000000000000" pitchFamily="2" charset="0"/>
              </a:rPr>
              <a:t>=COUNTIF($D$5:$E$16,$D5)&gt;1</a:t>
            </a:r>
            <a:r>
              <a:rPr kumimoji="0" lang="en-US" altLang="en-US" sz="2000" b="1" i="0" u="none" strike="noStrike" cap="none" normalizeH="0" baseline="0" dirty="0">
                <a:ln>
                  <a:noFill/>
                </a:ln>
                <a:solidFill>
                  <a:srgbClr val="393E47"/>
                </a:solidFill>
                <a:effectLst/>
                <a:latin typeface="inherit"/>
                <a:cs typeface="Poppins" panose="00000500000000000000" pitchFamily="2" charset="0"/>
              </a:rPr>
              <a:t>			</a:t>
            </a:r>
            <a:r>
              <a:rPr lang="en-IN" sz="2000" b="1" dirty="0"/>
              <a:t>Result</a:t>
            </a:r>
            <a:r>
              <a:rPr lang="en-IN" dirty="0"/>
              <a:t>:</a:t>
            </a:r>
            <a:endParaRPr lang="en-IN" sz="2000" dirty="0"/>
          </a:p>
          <a:p>
            <a:pPr fontAlgn="base">
              <a:spcAft>
                <a:spcPts val="375"/>
              </a:spcAft>
              <a:buFont typeface="Arial" panose="020B0604020202020204" pitchFamily="34" charset="0"/>
              <a:buChar char="•"/>
            </a:pPr>
            <a:endParaRPr kumimoji="0" lang="en-US" altLang="en-US" sz="20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r>
              <a:rPr lang="en-IN" dirty="0"/>
              <a:t>Click OK for the result.</a:t>
            </a:r>
            <a:endParaRPr lang="en-US" altLang="en-US" dirty="0"/>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endParaRPr kumimoji="0" lang="en-US" altLang="en-US" sz="1200" b="0" i="0" u="none" strike="noStrike" cap="none" normalizeH="0" baseline="0" dirty="0">
              <a:ln>
                <a:noFill/>
              </a:ln>
              <a:solidFill>
                <a:schemeClr val="tx1"/>
              </a:solidFill>
              <a:effectLst/>
            </a:endParaRPr>
          </a:p>
          <a:p>
            <a:pPr marL="0" indent="0" fontAlgn="base">
              <a:spcAft>
                <a:spcPts val="375"/>
              </a:spcAft>
              <a:buNone/>
            </a:pPr>
            <a:endParaRPr lang="en-IN" dirty="0">
              <a:effectLst/>
            </a:endParaRPr>
          </a:p>
          <a:p>
            <a:pPr fontAlgn="base">
              <a:spcAft>
                <a:spcPts val="375"/>
              </a:spcAft>
              <a:buFont typeface="Arial" panose="020B0604020202020204" pitchFamily="34" charset="0"/>
              <a:buChar char="•"/>
            </a:pPr>
            <a:endParaRPr lang="en-IN" dirty="0">
              <a:effectLst/>
            </a:endParaRPr>
          </a:p>
          <a:p>
            <a:pPr marL="0" indent="0">
              <a:buNone/>
            </a:pPr>
            <a:endParaRPr lang="en-IN" dirty="0"/>
          </a:p>
        </p:txBody>
      </p:sp>
      <p:sp>
        <p:nvSpPr>
          <p:cNvPr id="7" name="Rectangle 4">
            <a:extLst>
              <a:ext uri="{FF2B5EF4-FFF2-40B4-BE49-F238E27FC236}">
                <a16:creationId xmlns:a16="http://schemas.microsoft.com/office/drawing/2014/main" id="{7F69B15C-6569-8151-D314-00B4A093117E}"/>
              </a:ext>
            </a:extLst>
          </p:cNvPr>
          <p:cNvSpPr>
            <a:spLocks noChangeArrowheads="1"/>
          </p:cNvSpPr>
          <p:nvPr/>
        </p:nvSpPr>
        <p:spPr bwMode="auto">
          <a:xfrm>
            <a:off x="0" y="-48399"/>
            <a:ext cx="65" cy="553998"/>
          </a:xfrm>
          <a:prstGeom prst="rect">
            <a:avLst/>
          </a:prstGeom>
          <a:solidFill>
            <a:srgbClr val="F9F9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a:extLst>
              <a:ext uri="{FF2B5EF4-FFF2-40B4-BE49-F238E27FC236}">
                <a16:creationId xmlns:a16="http://schemas.microsoft.com/office/drawing/2014/main" id="{628323CB-032D-089D-ED43-8952537DEEE1}"/>
              </a:ext>
            </a:extLst>
          </p:cNvPr>
          <p:cNvPicPr>
            <a:picLocks noChangeAspect="1"/>
          </p:cNvPicPr>
          <p:nvPr/>
        </p:nvPicPr>
        <p:blipFill>
          <a:blip r:embed="rId2"/>
          <a:stretch>
            <a:fillRect/>
          </a:stretch>
        </p:blipFill>
        <p:spPr>
          <a:xfrm>
            <a:off x="1778644" y="1569663"/>
            <a:ext cx="4136963" cy="3775303"/>
          </a:xfrm>
          <a:prstGeom prst="rect">
            <a:avLst/>
          </a:prstGeom>
        </p:spPr>
      </p:pic>
      <p:pic>
        <p:nvPicPr>
          <p:cNvPr id="14" name="Picture 13">
            <a:extLst>
              <a:ext uri="{FF2B5EF4-FFF2-40B4-BE49-F238E27FC236}">
                <a16:creationId xmlns:a16="http://schemas.microsoft.com/office/drawing/2014/main" id="{5F0508F1-07D7-4F33-F64B-DB08B8A3FDD2}"/>
              </a:ext>
            </a:extLst>
          </p:cNvPr>
          <p:cNvPicPr>
            <a:picLocks noChangeAspect="1"/>
          </p:cNvPicPr>
          <p:nvPr/>
        </p:nvPicPr>
        <p:blipFill>
          <a:blip r:embed="rId3"/>
          <a:stretch>
            <a:fillRect/>
          </a:stretch>
        </p:blipFill>
        <p:spPr>
          <a:xfrm>
            <a:off x="6964529" y="1569663"/>
            <a:ext cx="4415315" cy="4028975"/>
          </a:xfrm>
          <a:prstGeom prst="rect">
            <a:avLst/>
          </a:prstGeom>
        </p:spPr>
      </p:pic>
    </p:spTree>
    <p:extLst>
      <p:ext uri="{BB962C8B-B14F-4D97-AF65-F5344CB8AC3E}">
        <p14:creationId xmlns:p14="http://schemas.microsoft.com/office/powerpoint/2010/main" val="13921243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11F2C-D0A9-B978-4D9D-B636765CCE05}"/>
              </a:ext>
            </a:extLst>
          </p:cNvPr>
          <p:cNvSpPr>
            <a:spLocks noGrp="1"/>
          </p:cNvSpPr>
          <p:nvPr>
            <p:ph idx="1"/>
          </p:nvPr>
        </p:nvSpPr>
        <p:spPr>
          <a:xfrm>
            <a:off x="1371600" y="951722"/>
            <a:ext cx="9601200" cy="4915678"/>
          </a:xfrm>
        </p:spPr>
        <p:txBody>
          <a:bodyPr/>
          <a:lstStyle/>
          <a:p>
            <a:pPr marL="0" indent="0" algn="just" fontAlgn="base">
              <a:spcAft>
                <a:spcPts val="1125"/>
              </a:spcAft>
              <a:buNone/>
            </a:pPr>
            <a:r>
              <a:rPr lang="en-IN" sz="1800" b="1" i="0" dirty="0">
                <a:solidFill>
                  <a:srgbClr val="000000"/>
                </a:solidFill>
                <a:effectLst/>
                <a:latin typeface="inherit"/>
              </a:rPr>
              <a:t>Steps:</a:t>
            </a:r>
            <a:endParaRPr lang="en-IN" b="0" i="0" dirty="0">
              <a:solidFill>
                <a:srgbClr val="000000"/>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Go to </a:t>
            </a:r>
            <a:r>
              <a:rPr lang="en-IN" b="1" i="0" dirty="0">
                <a:solidFill>
                  <a:srgbClr val="333333"/>
                </a:solidFill>
                <a:effectLst/>
                <a:latin typeface="inherit"/>
              </a:rPr>
              <a:t>New Formatting Rule</a:t>
            </a:r>
            <a:r>
              <a:rPr lang="en-IN" b="0" i="0" dirty="0">
                <a:solidFill>
                  <a:srgbClr val="333333"/>
                </a:solidFill>
                <a:effectLst/>
                <a:latin typeface="Poppins" panose="00000500000000000000" pitchFamily="2" charset="0"/>
              </a:rPr>
              <a:t> through the </a:t>
            </a:r>
            <a:r>
              <a:rPr lang="en-IN" b="1" i="0" dirty="0">
                <a:solidFill>
                  <a:srgbClr val="333333"/>
                </a:solidFill>
                <a:effectLst/>
                <a:latin typeface="inherit"/>
              </a:rPr>
              <a:t>Conditional Formatting</a:t>
            </a:r>
            <a:r>
              <a:rPr lang="en-IN" b="0" i="0" dirty="0">
                <a:solidFill>
                  <a:srgbClr val="333333"/>
                </a:solidFill>
                <a:effectLst/>
                <a:latin typeface="Poppins" panose="00000500000000000000" pitchFamily="2" charset="0"/>
              </a:rPr>
              <a:t> option.</a:t>
            </a:r>
          </a:p>
          <a:p>
            <a:pPr marL="0" indent="0">
              <a:buNone/>
            </a:pPr>
            <a:r>
              <a:rPr lang="en-IN" dirty="0"/>
              <a:t/>
            </a:r>
            <a:br>
              <a:rPr lang="en-IN" dirty="0"/>
            </a:br>
            <a:endParaRPr lang="en-IN" dirty="0"/>
          </a:p>
        </p:txBody>
      </p:sp>
      <p:pic>
        <p:nvPicPr>
          <p:cNvPr id="9" name="Picture 8">
            <a:extLst>
              <a:ext uri="{FF2B5EF4-FFF2-40B4-BE49-F238E27FC236}">
                <a16:creationId xmlns:a16="http://schemas.microsoft.com/office/drawing/2014/main" id="{775A9AF2-FF7A-DB85-84AE-363EAC08E246}"/>
              </a:ext>
            </a:extLst>
          </p:cNvPr>
          <p:cNvPicPr>
            <a:picLocks noChangeAspect="1"/>
          </p:cNvPicPr>
          <p:nvPr/>
        </p:nvPicPr>
        <p:blipFill>
          <a:blip r:embed="rId2"/>
          <a:stretch>
            <a:fillRect/>
          </a:stretch>
        </p:blipFill>
        <p:spPr>
          <a:xfrm>
            <a:off x="1978566" y="1922497"/>
            <a:ext cx="8425067" cy="4338344"/>
          </a:xfrm>
          <a:prstGeom prst="rect">
            <a:avLst/>
          </a:prstGeom>
        </p:spPr>
      </p:pic>
      <p:sp>
        <p:nvSpPr>
          <p:cNvPr id="4" name="TextBox 3">
            <a:extLst>
              <a:ext uri="{FF2B5EF4-FFF2-40B4-BE49-F238E27FC236}">
                <a16:creationId xmlns:a16="http://schemas.microsoft.com/office/drawing/2014/main" id="{06A27E25-9F2C-972B-CB91-797BF58F29FA}"/>
              </a:ext>
            </a:extLst>
          </p:cNvPr>
          <p:cNvSpPr txBox="1"/>
          <p:nvPr/>
        </p:nvSpPr>
        <p:spPr>
          <a:xfrm>
            <a:off x="1371600" y="284232"/>
            <a:ext cx="6097554" cy="369332"/>
          </a:xfrm>
          <a:prstGeom prst="rect">
            <a:avLst/>
          </a:prstGeom>
          <a:noFill/>
        </p:spPr>
        <p:txBody>
          <a:bodyPr wrap="square">
            <a:spAutoFit/>
          </a:bodyPr>
          <a:lstStyle/>
          <a:p>
            <a:pPr algn="just" fontAlgn="base">
              <a:spcAft>
                <a:spcPts val="1125"/>
              </a:spcAft>
            </a:pPr>
            <a:r>
              <a:rPr lang="en-IN" sz="1800" b="1" i="0" dirty="0">
                <a:solidFill>
                  <a:srgbClr val="008000"/>
                </a:solidFill>
                <a:effectLst/>
                <a:latin typeface="inherit"/>
              </a:rPr>
              <a:t>Highlighting Duplicates Excluding First Occurrence</a:t>
            </a:r>
            <a:endParaRPr lang="en-IN" b="0" i="0" dirty="0">
              <a:solidFill>
                <a:srgbClr val="000000"/>
              </a:solidFill>
              <a:effectLst/>
              <a:latin typeface="Poppins" panose="00000500000000000000" pitchFamily="2" charset="0"/>
            </a:endParaRPr>
          </a:p>
        </p:txBody>
      </p:sp>
    </p:spTree>
    <p:extLst>
      <p:ext uri="{BB962C8B-B14F-4D97-AF65-F5344CB8AC3E}">
        <p14:creationId xmlns:p14="http://schemas.microsoft.com/office/powerpoint/2010/main" val="31202870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4CA6594D-121F-0032-8786-A3E8BE0194F7}"/>
              </a:ext>
            </a:extLst>
          </p:cNvPr>
          <p:cNvSpPr>
            <a:spLocks noGrp="1"/>
          </p:cNvSpPr>
          <p:nvPr>
            <p:ph idx="1"/>
          </p:nvPr>
        </p:nvSpPr>
        <p:spPr>
          <a:xfrm>
            <a:off x="1371600" y="251928"/>
            <a:ext cx="9601200" cy="5673012"/>
          </a:xfrm>
        </p:spPr>
        <p:txBody>
          <a:bodyPr>
            <a:normAutofit/>
          </a:bodyPr>
          <a:lstStyle/>
          <a:p>
            <a:pPr fontAlgn="base">
              <a:spcAft>
                <a:spcPts val="375"/>
              </a:spcAft>
              <a:buFont typeface="Wingdings" panose="05000000000000000000" pitchFamily="2" charset="2"/>
              <a:buChar char="§"/>
            </a:pPr>
            <a:r>
              <a:rPr lang="en-IN" dirty="0">
                <a:effectLst/>
              </a:rPr>
              <a:t>Select </a:t>
            </a:r>
            <a:r>
              <a:rPr lang="en-IN" b="1" dirty="0">
                <a:effectLst/>
                <a:latin typeface="inherit"/>
              </a:rPr>
              <a:t>Use a formula to determine which cells to format</a:t>
            </a:r>
            <a:r>
              <a:rPr lang="en-IN" dirty="0">
                <a:effectLst/>
              </a:rPr>
              <a:t>.</a:t>
            </a:r>
          </a:p>
          <a:p>
            <a:pPr fontAlgn="base">
              <a:spcAft>
                <a:spcPts val="375"/>
              </a:spcAft>
              <a:buFont typeface="Wingdings" panose="05000000000000000000" pitchFamily="2" charset="2"/>
              <a:buChar char="§"/>
            </a:pPr>
            <a:r>
              <a:rPr lang="en-IN" dirty="0">
                <a:effectLst/>
              </a:rPr>
              <a:t>Use the following formula in the formula box.</a:t>
            </a:r>
          </a:p>
          <a:p>
            <a:pPr fontAlgn="base">
              <a:spcAft>
                <a:spcPts val="375"/>
              </a:spcAft>
              <a:buFont typeface="Wingdings" panose="05000000000000000000" pitchFamily="2" charset="2"/>
              <a:buChar char="§"/>
            </a:pPr>
            <a:r>
              <a:rPr kumimoji="0" lang="en-US" altLang="en-US" sz="2000" b="1" i="0" u="none" strike="noStrike" cap="none" normalizeH="0" baseline="0" dirty="0">
                <a:ln>
                  <a:noFill/>
                </a:ln>
                <a:solidFill>
                  <a:srgbClr val="393E47"/>
                </a:solidFill>
                <a:effectLst/>
                <a:latin typeface="inherit"/>
                <a:cs typeface="Poppins" panose="00000500000000000000" pitchFamily="2" charset="0"/>
              </a:rPr>
              <a:t>=COUNTIF($D$5:$D5,$D5)&gt;1			</a:t>
            </a:r>
            <a:r>
              <a:rPr lang="en-IN" sz="2000" b="1" dirty="0"/>
              <a:t>Result</a:t>
            </a:r>
            <a:r>
              <a:rPr lang="en-IN" dirty="0"/>
              <a:t>:</a:t>
            </a:r>
            <a:endParaRPr lang="en-IN" sz="2000" dirty="0"/>
          </a:p>
          <a:p>
            <a:pPr fontAlgn="base">
              <a:spcAft>
                <a:spcPts val="375"/>
              </a:spcAft>
              <a:buFont typeface="Arial" panose="020B0604020202020204" pitchFamily="34" charset="0"/>
              <a:buChar char="•"/>
            </a:pPr>
            <a:endParaRPr kumimoji="0" lang="en-US" altLang="en-US" sz="20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r>
              <a:rPr lang="en-IN" dirty="0"/>
              <a:t>Click OK for the result.</a:t>
            </a:r>
            <a:endParaRPr lang="en-US" altLang="en-US" dirty="0"/>
          </a:p>
          <a:p>
            <a:pPr fontAlgn="base">
              <a:spcAft>
                <a:spcPts val="375"/>
              </a:spcAft>
              <a:buFont typeface="Arial" panose="020B0604020202020204" pitchFamily="34" charset="0"/>
              <a:buChar char="•"/>
            </a:pPr>
            <a:endParaRPr lang="en-US" altLang="en-US" sz="1200" b="1" dirty="0">
              <a:solidFill>
                <a:srgbClr val="393E47"/>
              </a:solidFill>
              <a:latin typeface="inherit"/>
              <a:cs typeface="Poppins" panose="00000500000000000000" pitchFamily="2" charset="0"/>
            </a:endParaRPr>
          </a:p>
          <a:p>
            <a:pPr fontAlgn="base">
              <a:spcAft>
                <a:spcPts val="375"/>
              </a:spcAft>
              <a:buFont typeface="Arial" panose="020B0604020202020204" pitchFamily="34" charset="0"/>
              <a:buChar char="•"/>
            </a:pPr>
            <a:endParaRPr kumimoji="0" lang="en-US" altLang="en-US" sz="1200" b="1" i="0" u="none" strike="noStrike" cap="none" normalizeH="0" baseline="0" dirty="0">
              <a:ln>
                <a:noFill/>
              </a:ln>
              <a:solidFill>
                <a:srgbClr val="393E47"/>
              </a:solidFill>
              <a:effectLst/>
              <a:latin typeface="inherit"/>
              <a:cs typeface="Poppins" panose="00000500000000000000" pitchFamily="2" charset="0"/>
            </a:endParaRPr>
          </a:p>
          <a:p>
            <a:endParaRPr kumimoji="0" lang="en-US" altLang="en-US" sz="1200" b="0" i="0" u="none" strike="noStrike" cap="none" normalizeH="0" baseline="0" dirty="0">
              <a:ln>
                <a:noFill/>
              </a:ln>
              <a:solidFill>
                <a:schemeClr val="tx1"/>
              </a:solidFill>
              <a:effectLst/>
            </a:endParaRPr>
          </a:p>
          <a:p>
            <a:pPr marL="0" indent="0" fontAlgn="base">
              <a:spcAft>
                <a:spcPts val="375"/>
              </a:spcAft>
              <a:buNone/>
            </a:pPr>
            <a:endParaRPr lang="en-IN" dirty="0">
              <a:effectLst/>
            </a:endParaRPr>
          </a:p>
          <a:p>
            <a:pPr fontAlgn="base">
              <a:spcAft>
                <a:spcPts val="375"/>
              </a:spcAft>
              <a:buFont typeface="Arial" panose="020B0604020202020204" pitchFamily="34" charset="0"/>
              <a:buChar char="•"/>
            </a:pPr>
            <a:endParaRPr lang="en-IN" dirty="0">
              <a:effectLst/>
            </a:endParaRPr>
          </a:p>
          <a:p>
            <a:pPr marL="0" indent="0">
              <a:buNone/>
            </a:pPr>
            <a:endParaRPr lang="en-IN" dirty="0"/>
          </a:p>
        </p:txBody>
      </p:sp>
      <p:pic>
        <p:nvPicPr>
          <p:cNvPr id="3" name="Picture 2">
            <a:extLst>
              <a:ext uri="{FF2B5EF4-FFF2-40B4-BE49-F238E27FC236}">
                <a16:creationId xmlns:a16="http://schemas.microsoft.com/office/drawing/2014/main" id="{CE1AECEE-2352-0965-91CD-E7076A8DA4DE}"/>
              </a:ext>
            </a:extLst>
          </p:cNvPr>
          <p:cNvPicPr>
            <a:picLocks noChangeAspect="1"/>
          </p:cNvPicPr>
          <p:nvPr/>
        </p:nvPicPr>
        <p:blipFill>
          <a:blip r:embed="rId2"/>
          <a:stretch>
            <a:fillRect/>
          </a:stretch>
        </p:blipFill>
        <p:spPr>
          <a:xfrm>
            <a:off x="1517581" y="1639198"/>
            <a:ext cx="5014114" cy="3585945"/>
          </a:xfrm>
          <a:prstGeom prst="rect">
            <a:avLst/>
          </a:prstGeom>
        </p:spPr>
      </p:pic>
      <p:pic>
        <p:nvPicPr>
          <p:cNvPr id="5" name="Picture 4">
            <a:extLst>
              <a:ext uri="{FF2B5EF4-FFF2-40B4-BE49-F238E27FC236}">
                <a16:creationId xmlns:a16="http://schemas.microsoft.com/office/drawing/2014/main" id="{9C2ED27C-45B3-C760-42F8-F83E90F1BCAD}"/>
              </a:ext>
            </a:extLst>
          </p:cNvPr>
          <p:cNvPicPr>
            <a:picLocks noChangeAspect="1"/>
          </p:cNvPicPr>
          <p:nvPr/>
        </p:nvPicPr>
        <p:blipFill>
          <a:blip r:embed="rId3"/>
          <a:stretch>
            <a:fillRect/>
          </a:stretch>
        </p:blipFill>
        <p:spPr>
          <a:xfrm>
            <a:off x="6857840" y="1511560"/>
            <a:ext cx="4525507" cy="4198776"/>
          </a:xfrm>
          <a:prstGeom prst="rect">
            <a:avLst/>
          </a:prstGeom>
        </p:spPr>
      </p:pic>
    </p:spTree>
    <p:extLst>
      <p:ext uri="{BB962C8B-B14F-4D97-AF65-F5344CB8AC3E}">
        <p14:creationId xmlns:p14="http://schemas.microsoft.com/office/powerpoint/2010/main" val="26040539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1394-3662-B879-F87D-21226698D200}"/>
              </a:ext>
            </a:extLst>
          </p:cNvPr>
          <p:cNvSpPr>
            <a:spLocks noGrp="1"/>
          </p:cNvSpPr>
          <p:nvPr>
            <p:ph type="title"/>
          </p:nvPr>
        </p:nvSpPr>
        <p:spPr>
          <a:xfrm>
            <a:off x="1371600" y="685800"/>
            <a:ext cx="9601200" cy="424543"/>
          </a:xfrm>
        </p:spPr>
        <p:txBody>
          <a:bodyPr>
            <a:normAutofit/>
          </a:bodyPr>
          <a:lstStyle/>
          <a:p>
            <a:pPr fontAlgn="base">
              <a:spcBef>
                <a:spcPts val="1500"/>
              </a:spcBef>
              <a:spcAft>
                <a:spcPts val="1500"/>
              </a:spcAft>
            </a:pPr>
            <a:r>
              <a:rPr lang="en-IN" sz="1800" b="1" i="0" dirty="0">
                <a:solidFill>
                  <a:srgbClr val="243966"/>
                </a:solidFill>
                <a:effectLst/>
                <a:latin typeface="Poppins" panose="00000500000000000000" pitchFamily="2" charset="0"/>
              </a:rPr>
              <a:t>Method 3 – Split Text into Multiple Cells</a:t>
            </a:r>
            <a:endParaRPr lang="en-IN" dirty="0"/>
          </a:p>
        </p:txBody>
      </p:sp>
      <p:sp>
        <p:nvSpPr>
          <p:cNvPr id="3" name="Content Placeholder 2">
            <a:extLst>
              <a:ext uri="{FF2B5EF4-FFF2-40B4-BE49-F238E27FC236}">
                <a16:creationId xmlns:a16="http://schemas.microsoft.com/office/drawing/2014/main" id="{2EF6E875-4B45-9D98-9AD1-C4701B89E7DC}"/>
              </a:ext>
            </a:extLst>
          </p:cNvPr>
          <p:cNvSpPr>
            <a:spLocks noGrp="1"/>
          </p:cNvSpPr>
          <p:nvPr>
            <p:ph idx="1"/>
          </p:nvPr>
        </p:nvSpPr>
        <p:spPr>
          <a:xfrm>
            <a:off x="1371600" y="1177501"/>
            <a:ext cx="9601200" cy="3581400"/>
          </a:xfrm>
        </p:spPr>
        <p:txBody>
          <a:bodyPr/>
          <a:lstStyle/>
          <a:p>
            <a:pPr algn="just" fontAlgn="base">
              <a:spcAft>
                <a:spcPts val="1125"/>
              </a:spcAft>
            </a:pPr>
            <a:r>
              <a:rPr lang="en-IN" b="0" i="0" dirty="0">
                <a:solidFill>
                  <a:srgbClr val="000000"/>
                </a:solidFill>
                <a:effectLst/>
                <a:latin typeface="Poppins" panose="00000500000000000000" pitchFamily="2" charset="0"/>
              </a:rPr>
              <a:t>Here’s a dataset where each cell has multiple values that need to be split.</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2043B6DA-5E3E-087B-F3AE-2E6A21FEC79E}"/>
              </a:ext>
            </a:extLst>
          </p:cNvPr>
          <p:cNvPicPr>
            <a:picLocks noChangeAspect="1"/>
          </p:cNvPicPr>
          <p:nvPr/>
        </p:nvPicPr>
        <p:blipFill>
          <a:blip r:embed="rId2"/>
          <a:stretch>
            <a:fillRect/>
          </a:stretch>
        </p:blipFill>
        <p:spPr>
          <a:xfrm>
            <a:off x="2067633" y="1921770"/>
            <a:ext cx="7766832" cy="3758729"/>
          </a:xfrm>
          <a:prstGeom prst="rect">
            <a:avLst/>
          </a:prstGeom>
        </p:spPr>
      </p:pic>
    </p:spTree>
    <p:extLst>
      <p:ext uri="{BB962C8B-B14F-4D97-AF65-F5344CB8AC3E}">
        <p14:creationId xmlns:p14="http://schemas.microsoft.com/office/powerpoint/2010/main" val="38156755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BD50D-E4E8-5EE7-F9DB-F93BB2458871}"/>
              </a:ext>
            </a:extLst>
          </p:cNvPr>
          <p:cNvSpPr>
            <a:spLocks noGrp="1"/>
          </p:cNvSpPr>
          <p:nvPr>
            <p:ph idx="1"/>
          </p:nvPr>
        </p:nvSpPr>
        <p:spPr>
          <a:xfrm>
            <a:off x="1371600" y="615820"/>
            <a:ext cx="9601200" cy="5251580"/>
          </a:xfrm>
        </p:spPr>
        <p:txBody>
          <a:bodyPr/>
          <a:lstStyle/>
          <a:p>
            <a:pPr marL="0" indent="0" algn="just" fontAlgn="base">
              <a:spcAft>
                <a:spcPts val="1125"/>
              </a:spcAft>
              <a:buNone/>
            </a:pPr>
            <a:r>
              <a:rPr lang="en-IN" sz="1800" b="1" i="0" dirty="0">
                <a:solidFill>
                  <a:srgbClr val="000000"/>
                </a:solidFill>
                <a:effectLst/>
                <a:latin typeface="inherit"/>
              </a:rPr>
              <a:t>Steps:</a:t>
            </a:r>
            <a:endParaRPr lang="en-IN" b="0" i="0" dirty="0">
              <a:solidFill>
                <a:srgbClr val="000000"/>
              </a:solidFill>
              <a:effectLst/>
              <a:latin typeface="Poppins" panose="00000500000000000000" pitchFamily="2" charset="0"/>
            </a:endParaRP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the range you want to split text from.</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Go to the </a:t>
            </a:r>
            <a:r>
              <a:rPr lang="en-IN" b="1" i="0" dirty="0">
                <a:solidFill>
                  <a:srgbClr val="333333"/>
                </a:solidFill>
                <a:effectLst/>
                <a:latin typeface="inherit"/>
              </a:rPr>
              <a:t>Data </a:t>
            </a:r>
            <a:r>
              <a:rPr lang="en-IN" b="0" i="0" dirty="0">
                <a:solidFill>
                  <a:srgbClr val="333333"/>
                </a:solidFill>
                <a:effectLst/>
                <a:latin typeface="Poppins" panose="00000500000000000000" pitchFamily="2" charset="0"/>
              </a:rPr>
              <a:t>tab on your ribbon.</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From the </a:t>
            </a:r>
            <a:r>
              <a:rPr lang="en-IN" b="1" i="0" dirty="0">
                <a:solidFill>
                  <a:srgbClr val="333333"/>
                </a:solidFill>
                <a:effectLst/>
                <a:latin typeface="inherit"/>
              </a:rPr>
              <a:t>Data Tools </a:t>
            </a:r>
            <a:r>
              <a:rPr lang="en-IN" b="0" i="0" dirty="0">
                <a:solidFill>
                  <a:srgbClr val="333333"/>
                </a:solidFill>
                <a:effectLst/>
                <a:latin typeface="Poppins" panose="00000500000000000000" pitchFamily="2" charset="0"/>
              </a:rPr>
              <a:t>group, select </a:t>
            </a:r>
            <a:r>
              <a:rPr lang="en-IN" b="1" i="0" dirty="0">
                <a:solidFill>
                  <a:srgbClr val="333333"/>
                </a:solidFill>
                <a:effectLst/>
                <a:latin typeface="inherit"/>
              </a:rPr>
              <a:t>Text to Columns</a:t>
            </a:r>
            <a:r>
              <a:rPr lang="en-IN" b="0" i="0" dirty="0">
                <a:solidFill>
                  <a:srgbClr val="333333"/>
                </a:solidFill>
                <a:effectLst/>
                <a:latin typeface="Poppins" panose="00000500000000000000" pitchFamily="2" charset="0"/>
              </a:rPr>
              <a:t>.</a:t>
            </a:r>
          </a:p>
          <a:p>
            <a:pPr marL="0" indent="0">
              <a:buNone/>
            </a:pPr>
            <a:endParaRPr lang="en-IN" dirty="0"/>
          </a:p>
          <a:p>
            <a:pPr marL="0" indent="0">
              <a:buNone/>
            </a:pPr>
            <a:endParaRPr lang="en-IN" dirty="0"/>
          </a:p>
          <a:p>
            <a:pPr marL="0" indent="0">
              <a:buNone/>
            </a:pPr>
            <a:endParaRPr lang="en-IN" dirty="0"/>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marL="0" indent="0">
              <a:buNone/>
            </a:pPr>
            <a:endParaRPr lang="en-IN" dirty="0"/>
          </a:p>
        </p:txBody>
      </p:sp>
      <p:pic>
        <p:nvPicPr>
          <p:cNvPr id="7" name="Picture 6">
            <a:extLst>
              <a:ext uri="{FF2B5EF4-FFF2-40B4-BE49-F238E27FC236}">
                <a16:creationId xmlns:a16="http://schemas.microsoft.com/office/drawing/2014/main" id="{0D38DEAB-F618-F442-CECC-73065F03CA65}"/>
              </a:ext>
            </a:extLst>
          </p:cNvPr>
          <p:cNvPicPr>
            <a:picLocks noChangeAspect="1"/>
          </p:cNvPicPr>
          <p:nvPr/>
        </p:nvPicPr>
        <p:blipFill>
          <a:blip r:embed="rId2"/>
          <a:stretch>
            <a:fillRect/>
          </a:stretch>
        </p:blipFill>
        <p:spPr>
          <a:xfrm>
            <a:off x="1219200" y="2524045"/>
            <a:ext cx="10061510" cy="2393188"/>
          </a:xfrm>
          <a:prstGeom prst="rect">
            <a:avLst/>
          </a:prstGeom>
        </p:spPr>
      </p:pic>
    </p:spTree>
    <p:extLst>
      <p:ext uri="{BB962C8B-B14F-4D97-AF65-F5344CB8AC3E}">
        <p14:creationId xmlns:p14="http://schemas.microsoft.com/office/powerpoint/2010/main" val="28897272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1FF082-C49C-6B91-A132-B09D6F6F44BF}"/>
              </a:ext>
            </a:extLst>
          </p:cNvPr>
          <p:cNvSpPr>
            <a:spLocks noGrp="1"/>
          </p:cNvSpPr>
          <p:nvPr>
            <p:ph idx="1"/>
          </p:nvPr>
        </p:nvSpPr>
        <p:spPr>
          <a:xfrm>
            <a:off x="1295400" y="242596"/>
            <a:ext cx="9601200" cy="3581400"/>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a:t>
            </a:r>
            <a:r>
              <a:rPr lang="en-IN" b="1" i="0" dirty="0">
                <a:solidFill>
                  <a:srgbClr val="333333"/>
                </a:solidFill>
                <a:effectLst/>
                <a:latin typeface="inherit"/>
              </a:rPr>
              <a:t>Delimited </a:t>
            </a:r>
            <a:r>
              <a:rPr lang="en-IN" b="0" i="0" dirty="0">
                <a:solidFill>
                  <a:srgbClr val="333333"/>
                </a:solidFill>
                <a:effectLst/>
                <a:latin typeface="Poppins" panose="00000500000000000000" pitchFamily="2" charset="0"/>
              </a:rPr>
              <a:t>in the next box.</a:t>
            </a:r>
            <a:r>
              <a:rPr lang="en-IN" dirty="0"/>
              <a:t/>
            </a:r>
            <a:br>
              <a:rPr lang="en-IN" dirty="0"/>
            </a:br>
            <a:endParaRPr lang="en-IN" dirty="0"/>
          </a:p>
        </p:txBody>
      </p:sp>
      <p:pic>
        <p:nvPicPr>
          <p:cNvPr id="7" name="Picture 6">
            <a:extLst>
              <a:ext uri="{FF2B5EF4-FFF2-40B4-BE49-F238E27FC236}">
                <a16:creationId xmlns:a16="http://schemas.microsoft.com/office/drawing/2014/main" id="{1EAB5F3D-DBA7-2DE5-F75B-4711B458C226}"/>
              </a:ext>
            </a:extLst>
          </p:cNvPr>
          <p:cNvPicPr>
            <a:picLocks noChangeAspect="1"/>
          </p:cNvPicPr>
          <p:nvPr/>
        </p:nvPicPr>
        <p:blipFill>
          <a:blip r:embed="rId2"/>
          <a:stretch>
            <a:fillRect/>
          </a:stretch>
        </p:blipFill>
        <p:spPr>
          <a:xfrm>
            <a:off x="1600068" y="1001906"/>
            <a:ext cx="7219048" cy="5171429"/>
          </a:xfrm>
          <a:prstGeom prst="rect">
            <a:avLst/>
          </a:prstGeom>
        </p:spPr>
      </p:pic>
    </p:spTree>
    <p:extLst>
      <p:ext uri="{BB962C8B-B14F-4D97-AF65-F5344CB8AC3E}">
        <p14:creationId xmlns:p14="http://schemas.microsoft.com/office/powerpoint/2010/main" val="26011944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2090AB-7386-2222-859A-D6A54B042BA1}"/>
              </a:ext>
            </a:extLst>
          </p:cNvPr>
          <p:cNvSpPr>
            <a:spLocks noGrp="1"/>
          </p:cNvSpPr>
          <p:nvPr>
            <p:ph idx="1"/>
          </p:nvPr>
        </p:nvSpPr>
        <p:spPr>
          <a:xfrm>
            <a:off x="1295400" y="363894"/>
            <a:ext cx="9601200" cy="6578082"/>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After clicking on </a:t>
            </a:r>
            <a:r>
              <a:rPr lang="en-IN" b="1" i="0" dirty="0">
                <a:solidFill>
                  <a:srgbClr val="333333"/>
                </a:solidFill>
                <a:effectLst/>
                <a:latin typeface="inherit"/>
              </a:rPr>
              <a:t>Next</a:t>
            </a:r>
            <a:r>
              <a:rPr lang="en-IN" b="0" i="0" dirty="0">
                <a:solidFill>
                  <a:srgbClr val="333333"/>
                </a:solidFill>
                <a:effectLst/>
                <a:latin typeface="Poppins" panose="00000500000000000000" pitchFamily="2" charset="0"/>
              </a:rPr>
              <a:t>, another box will appear.</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a:t>
            </a:r>
            <a:r>
              <a:rPr lang="en-IN" b="1" i="0" dirty="0">
                <a:solidFill>
                  <a:srgbClr val="333333"/>
                </a:solidFill>
                <a:effectLst/>
                <a:latin typeface="inherit"/>
              </a:rPr>
              <a:t>Space</a:t>
            </a:r>
            <a:r>
              <a:rPr lang="en-IN" b="0" i="0" dirty="0">
                <a:solidFill>
                  <a:srgbClr val="333333"/>
                </a:solidFill>
                <a:effectLst/>
                <a:latin typeface="Poppins" panose="00000500000000000000" pitchFamily="2" charset="0"/>
              </a:rPr>
              <a:t> under </a:t>
            </a:r>
            <a:r>
              <a:rPr lang="en-IN" b="1" i="0" dirty="0">
                <a:solidFill>
                  <a:srgbClr val="333333"/>
                </a:solidFill>
                <a:effectLst/>
                <a:latin typeface="inherit"/>
              </a:rPr>
              <a:t>Delimiter </a:t>
            </a:r>
            <a:r>
              <a:rPr lang="en-IN" b="0" i="0" dirty="0">
                <a:solidFill>
                  <a:srgbClr val="333333"/>
                </a:solidFill>
                <a:effectLst/>
                <a:latin typeface="Poppins" panose="00000500000000000000" pitchFamily="2" charset="0"/>
              </a:rPr>
              <a:t>options as the text is divided by spaces.</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Click on </a:t>
            </a:r>
            <a:r>
              <a:rPr lang="en-IN" b="1" i="0" dirty="0">
                <a:solidFill>
                  <a:srgbClr val="333333"/>
                </a:solidFill>
                <a:effectLst/>
                <a:latin typeface="inherit"/>
              </a:rPr>
              <a:t>Next</a:t>
            </a:r>
            <a:r>
              <a:rPr lang="en-IN" b="0" i="0" dirty="0">
                <a:solidFill>
                  <a:srgbClr val="333333"/>
                </a:solidFill>
                <a:effectLst/>
                <a:latin typeface="Poppins" panose="00000500000000000000" pitchFamily="2" charset="0"/>
              </a:rPr>
              <a:t>.</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876D5D64-FF13-6A45-417D-7EBFC8F9FB9B}"/>
              </a:ext>
            </a:extLst>
          </p:cNvPr>
          <p:cNvPicPr>
            <a:picLocks noChangeAspect="1"/>
          </p:cNvPicPr>
          <p:nvPr/>
        </p:nvPicPr>
        <p:blipFill>
          <a:blip r:embed="rId2"/>
          <a:stretch>
            <a:fillRect/>
          </a:stretch>
        </p:blipFill>
        <p:spPr>
          <a:xfrm>
            <a:off x="2323095" y="1716595"/>
            <a:ext cx="6690278" cy="4777511"/>
          </a:xfrm>
          <a:prstGeom prst="rect">
            <a:avLst/>
          </a:prstGeom>
        </p:spPr>
      </p:pic>
    </p:spTree>
    <p:extLst>
      <p:ext uri="{BB962C8B-B14F-4D97-AF65-F5344CB8AC3E}">
        <p14:creationId xmlns:p14="http://schemas.microsoft.com/office/powerpoint/2010/main" val="27248037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5EC8E-5C84-36C7-F884-8211D5A83F14}"/>
              </a:ext>
            </a:extLst>
          </p:cNvPr>
          <p:cNvSpPr>
            <a:spLocks noGrp="1"/>
          </p:cNvSpPr>
          <p:nvPr>
            <p:ph idx="1"/>
          </p:nvPr>
        </p:nvSpPr>
        <p:spPr>
          <a:xfrm>
            <a:off x="1371600" y="429208"/>
            <a:ext cx="9601200" cy="6092890"/>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Click on </a:t>
            </a:r>
            <a:r>
              <a:rPr lang="en-IN" b="1" i="0" dirty="0">
                <a:solidFill>
                  <a:srgbClr val="333333"/>
                </a:solidFill>
                <a:effectLst/>
                <a:latin typeface="inherit"/>
              </a:rPr>
              <a:t>Finish</a:t>
            </a:r>
            <a:r>
              <a:rPr lang="en-IN" b="0" i="0" dirty="0">
                <a:solidFill>
                  <a:srgbClr val="333333"/>
                </a:solidFill>
                <a:effectLst/>
                <a:latin typeface="Poppins" panose="00000500000000000000" pitchFamily="2" charset="0"/>
              </a:rPr>
              <a:t>.</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493E43AE-48E5-7C15-07C1-D7EF4FD86B9E}"/>
              </a:ext>
            </a:extLst>
          </p:cNvPr>
          <p:cNvPicPr>
            <a:picLocks noChangeAspect="1"/>
          </p:cNvPicPr>
          <p:nvPr/>
        </p:nvPicPr>
        <p:blipFill>
          <a:blip r:embed="rId2"/>
          <a:stretch>
            <a:fillRect/>
          </a:stretch>
        </p:blipFill>
        <p:spPr>
          <a:xfrm>
            <a:off x="2476952" y="848047"/>
            <a:ext cx="7238095" cy="5019353"/>
          </a:xfrm>
          <a:prstGeom prst="rect">
            <a:avLst/>
          </a:prstGeom>
        </p:spPr>
      </p:pic>
    </p:spTree>
    <p:extLst>
      <p:ext uri="{BB962C8B-B14F-4D97-AF65-F5344CB8AC3E}">
        <p14:creationId xmlns:p14="http://schemas.microsoft.com/office/powerpoint/2010/main" val="21172067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9F0872-4D71-7212-593E-0F378E5165E1}"/>
              </a:ext>
            </a:extLst>
          </p:cNvPr>
          <p:cNvSpPr>
            <a:spLocks noGrp="1"/>
          </p:cNvSpPr>
          <p:nvPr>
            <p:ph idx="1"/>
          </p:nvPr>
        </p:nvSpPr>
        <p:spPr>
          <a:xfrm>
            <a:off x="1129004" y="783771"/>
            <a:ext cx="9601200" cy="5477070"/>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The text will be split.</a:t>
            </a:r>
          </a:p>
          <a:p>
            <a:pPr marL="0" indent="0">
              <a:buNone/>
            </a:pPr>
            <a:r>
              <a:rPr lang="en-IN" dirty="0"/>
              <a:t/>
            </a:r>
            <a:br>
              <a:rPr lang="en-IN" dirty="0"/>
            </a:br>
            <a:endParaRPr lang="en-IN" dirty="0"/>
          </a:p>
        </p:txBody>
      </p:sp>
      <p:pic>
        <p:nvPicPr>
          <p:cNvPr id="7" name="Picture 6">
            <a:extLst>
              <a:ext uri="{FF2B5EF4-FFF2-40B4-BE49-F238E27FC236}">
                <a16:creationId xmlns:a16="http://schemas.microsoft.com/office/drawing/2014/main" id="{F589C7CD-35C5-DD41-F350-31BB9F4707F5}"/>
              </a:ext>
            </a:extLst>
          </p:cNvPr>
          <p:cNvPicPr>
            <a:picLocks noChangeAspect="1"/>
          </p:cNvPicPr>
          <p:nvPr/>
        </p:nvPicPr>
        <p:blipFill>
          <a:blip r:embed="rId2"/>
          <a:stretch>
            <a:fillRect/>
          </a:stretch>
        </p:blipFill>
        <p:spPr>
          <a:xfrm>
            <a:off x="2034549" y="1571346"/>
            <a:ext cx="7072128" cy="4297610"/>
          </a:xfrm>
          <a:prstGeom prst="rect">
            <a:avLst/>
          </a:prstGeom>
        </p:spPr>
      </p:pic>
    </p:spTree>
    <p:extLst>
      <p:ext uri="{BB962C8B-B14F-4D97-AF65-F5344CB8AC3E}">
        <p14:creationId xmlns:p14="http://schemas.microsoft.com/office/powerpoint/2010/main" val="29277718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E6E9F1-B0B6-3F41-630A-F62A48B5026F}"/>
              </a:ext>
            </a:extLst>
          </p:cNvPr>
          <p:cNvSpPr>
            <a:spLocks noGrp="1"/>
          </p:cNvSpPr>
          <p:nvPr>
            <p:ph idx="1"/>
          </p:nvPr>
        </p:nvSpPr>
        <p:spPr>
          <a:xfrm>
            <a:off x="1371600" y="419878"/>
            <a:ext cx="9601200" cy="5447522"/>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Let’s make some modifications to make the data more presentable.</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071287A8-D81E-8691-417B-BD6C4351D89A}"/>
              </a:ext>
            </a:extLst>
          </p:cNvPr>
          <p:cNvPicPr>
            <a:picLocks noChangeAspect="1"/>
          </p:cNvPicPr>
          <p:nvPr/>
        </p:nvPicPr>
        <p:blipFill>
          <a:blip r:embed="rId2"/>
          <a:stretch>
            <a:fillRect/>
          </a:stretch>
        </p:blipFill>
        <p:spPr>
          <a:xfrm>
            <a:off x="2286476" y="991676"/>
            <a:ext cx="7619048" cy="4800000"/>
          </a:xfrm>
          <a:prstGeom prst="rect">
            <a:avLst/>
          </a:prstGeom>
        </p:spPr>
      </p:pic>
    </p:spTree>
    <p:extLst>
      <p:ext uri="{BB962C8B-B14F-4D97-AF65-F5344CB8AC3E}">
        <p14:creationId xmlns:p14="http://schemas.microsoft.com/office/powerpoint/2010/main" val="31711152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59294-9076-329B-E7D8-7D01B5215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E9E47-662B-675B-9B4F-46121199749C}"/>
              </a:ext>
            </a:extLst>
          </p:cNvPr>
          <p:cNvSpPr>
            <a:spLocks noGrp="1"/>
          </p:cNvSpPr>
          <p:nvPr>
            <p:ph type="title"/>
          </p:nvPr>
        </p:nvSpPr>
        <p:spPr>
          <a:xfrm>
            <a:off x="1295400" y="2686050"/>
            <a:ext cx="9601200" cy="1485900"/>
          </a:xfrm>
        </p:spPr>
        <p:txBody>
          <a:bodyPr>
            <a:normAutofit/>
          </a:bodyPr>
          <a:lstStyle/>
          <a:p>
            <a:r>
              <a:rPr lang="en-US" b="1" dirty="0"/>
              <a:t>Day 4</a:t>
            </a:r>
            <a:r>
              <a:rPr lang="en-US" dirty="0"/>
              <a:t>: </a:t>
            </a:r>
            <a:r>
              <a:rPr lang="en-IN" dirty="0"/>
              <a:t>handling missing values, and outlier detection in  EXCEL</a:t>
            </a:r>
            <a:endParaRPr lang="en-US" dirty="0"/>
          </a:p>
        </p:txBody>
      </p:sp>
    </p:spTree>
    <p:extLst>
      <p:ext uri="{BB962C8B-B14F-4D97-AF65-F5344CB8AC3E}">
        <p14:creationId xmlns:p14="http://schemas.microsoft.com/office/powerpoint/2010/main" val="25757023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97AC-02AA-0BF6-692C-31C212AB9DB4}"/>
              </a:ext>
            </a:extLst>
          </p:cNvPr>
          <p:cNvSpPr>
            <a:spLocks noGrp="1"/>
          </p:cNvSpPr>
          <p:nvPr>
            <p:ph type="title"/>
          </p:nvPr>
        </p:nvSpPr>
        <p:spPr>
          <a:xfrm>
            <a:off x="1371600" y="685800"/>
            <a:ext cx="9601200" cy="573833"/>
          </a:xfrm>
        </p:spPr>
        <p:txBody>
          <a:bodyPr>
            <a:normAutofit fontScale="90000"/>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Method 1 – Using Combination of IF and COUNTIF Functions</a:t>
            </a:r>
            <a:br>
              <a:rPr lang="en-IN" sz="1800" b="1" i="0" dirty="0">
                <a:solidFill>
                  <a:srgbClr val="243966"/>
                </a:solidFill>
                <a:effectLst/>
                <a:latin typeface="Poppins" panose="00000500000000000000" pitchFamily="2" charset="0"/>
              </a:rPr>
            </a:br>
            <a:r>
              <a:rPr lang="en-IN" sz="900" dirty="0"/>
              <a:t/>
            </a:r>
            <a:br>
              <a:rPr lang="en-IN" sz="900" dirty="0"/>
            </a:br>
            <a:endParaRPr lang="en-IN" dirty="0"/>
          </a:p>
        </p:txBody>
      </p:sp>
      <p:sp>
        <p:nvSpPr>
          <p:cNvPr id="3" name="Content Placeholder 2">
            <a:extLst>
              <a:ext uri="{FF2B5EF4-FFF2-40B4-BE49-F238E27FC236}">
                <a16:creationId xmlns:a16="http://schemas.microsoft.com/office/drawing/2014/main" id="{4011DE39-E27C-36B9-BDC1-EC6ABA423241}"/>
              </a:ext>
            </a:extLst>
          </p:cNvPr>
          <p:cNvSpPr>
            <a:spLocks noGrp="1"/>
          </p:cNvSpPr>
          <p:nvPr>
            <p:ph idx="1"/>
          </p:nvPr>
        </p:nvSpPr>
        <p:spPr>
          <a:xfrm>
            <a:off x="1371600" y="1147665"/>
            <a:ext cx="9601200" cy="4719735"/>
          </a:xfrm>
        </p:spPr>
        <p:txBody>
          <a:bodyPr>
            <a:normAutofit/>
          </a:bodyPr>
          <a:lstStyle/>
          <a:p>
            <a:pPr algn="just" fontAlgn="base">
              <a:spcAft>
                <a:spcPts val="1125"/>
              </a:spcAft>
            </a:pPr>
            <a:r>
              <a:rPr lang="en-IN" sz="1800" b="1" dirty="0">
                <a:solidFill>
                  <a:srgbClr val="800080"/>
                </a:solidFill>
                <a:effectLst/>
                <a:latin typeface="inherit"/>
              </a:rPr>
              <a:t>Steps:</a:t>
            </a:r>
            <a:endParaRPr lang="en-IN" dirty="0">
              <a:solidFill>
                <a:srgbClr val="000000"/>
              </a:solidFill>
              <a:effectLst/>
              <a:latin typeface="Poppins" panose="00000500000000000000" pitchFamily="2" charset="0"/>
            </a:endParaRPr>
          </a:p>
          <a:p>
            <a:pPr fontAlgn="base">
              <a:spcAft>
                <a:spcPts val="375"/>
              </a:spcAft>
              <a:buFont typeface="Arial" panose="020B0604020202020204" pitchFamily="34" charset="0"/>
              <a:buChar char="•"/>
            </a:pPr>
            <a:r>
              <a:rPr lang="en-IN" dirty="0">
                <a:effectLst/>
              </a:rPr>
              <a:t>Select the </a:t>
            </a:r>
            <a:r>
              <a:rPr lang="en-IN" b="1" dirty="0">
                <a:effectLst/>
                <a:latin typeface="inherit"/>
              </a:rPr>
              <a:t>F5</a:t>
            </a:r>
            <a:r>
              <a:rPr lang="en-IN" dirty="0">
                <a:effectLst/>
              </a:rPr>
              <a:t> cell and write the following formula:</a:t>
            </a:r>
          </a:p>
          <a:p>
            <a:r>
              <a:rPr lang="en-IN" dirty="0"/>
              <a:t>=IF(COUNTIF(B5:B10,E5),"</a:t>
            </a:r>
            <a:r>
              <a:rPr lang="en-IN" dirty="0" err="1"/>
              <a:t>Found","Missing</a:t>
            </a:r>
            <a:r>
              <a:rPr lang="en-IN" dirty="0"/>
              <a:t>")</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pPr marL="0" indent="0">
              <a:buNone/>
            </a:pPr>
            <a:endParaRPr lang="en-IN" dirty="0"/>
          </a:p>
          <a:p>
            <a:endParaRPr lang="en-IN" dirty="0"/>
          </a:p>
        </p:txBody>
      </p:sp>
      <p:pic>
        <p:nvPicPr>
          <p:cNvPr id="6" name="Picture 5">
            <a:extLst>
              <a:ext uri="{FF2B5EF4-FFF2-40B4-BE49-F238E27FC236}">
                <a16:creationId xmlns:a16="http://schemas.microsoft.com/office/drawing/2014/main" id="{1597CDF3-4260-891C-6AA9-940983745CFE}"/>
              </a:ext>
            </a:extLst>
          </p:cNvPr>
          <p:cNvPicPr>
            <a:picLocks noChangeAspect="1"/>
          </p:cNvPicPr>
          <p:nvPr/>
        </p:nvPicPr>
        <p:blipFill>
          <a:blip r:embed="rId2"/>
          <a:stretch>
            <a:fillRect/>
          </a:stretch>
        </p:blipFill>
        <p:spPr>
          <a:xfrm>
            <a:off x="1933326" y="3088204"/>
            <a:ext cx="6666667" cy="3552381"/>
          </a:xfrm>
          <a:prstGeom prst="rect">
            <a:avLst/>
          </a:prstGeom>
        </p:spPr>
      </p:pic>
    </p:spTree>
    <p:extLst>
      <p:ext uri="{BB962C8B-B14F-4D97-AF65-F5344CB8AC3E}">
        <p14:creationId xmlns:p14="http://schemas.microsoft.com/office/powerpoint/2010/main" val="3352210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4E1B9-1927-1CB1-3C2B-72109FFFCA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B20378-2C47-9F83-0DE9-F0BA30C8AAF7}"/>
              </a:ext>
            </a:extLst>
          </p:cNvPr>
          <p:cNvSpPr>
            <a:spLocks noGrp="1"/>
          </p:cNvSpPr>
          <p:nvPr>
            <p:ph idx="1"/>
          </p:nvPr>
        </p:nvSpPr>
        <p:spPr>
          <a:xfrm>
            <a:off x="1371600" y="1147665"/>
            <a:ext cx="9601200" cy="4719735"/>
          </a:xfrm>
        </p:spPr>
        <p:txBody>
          <a:bodyPr>
            <a:normAutofit/>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You will find the values that are missing from the </a:t>
            </a:r>
            <a:r>
              <a:rPr lang="en-IN" b="1" i="0" dirty="0">
                <a:solidFill>
                  <a:srgbClr val="333333"/>
                </a:solidFill>
                <a:effectLst/>
                <a:latin typeface="inherit"/>
              </a:rPr>
              <a:t>Employee ID</a:t>
            </a:r>
            <a:r>
              <a:rPr lang="en-IN" b="0" i="0" dirty="0">
                <a:solidFill>
                  <a:srgbClr val="333333"/>
                </a:solidFill>
                <a:effectLst/>
                <a:latin typeface="Poppins" panose="00000500000000000000" pitchFamily="2" charset="0"/>
              </a:rPr>
              <a:t> list.</a:t>
            </a:r>
          </a:p>
          <a:p>
            <a:pPr marL="0" indent="0">
              <a:buNone/>
            </a:pPr>
            <a:endParaRPr lang="en-IN" dirty="0"/>
          </a:p>
          <a:p>
            <a:endParaRPr lang="en-IN" dirty="0"/>
          </a:p>
        </p:txBody>
      </p:sp>
      <p:pic>
        <p:nvPicPr>
          <p:cNvPr id="8" name="Picture 7">
            <a:extLst>
              <a:ext uri="{FF2B5EF4-FFF2-40B4-BE49-F238E27FC236}">
                <a16:creationId xmlns:a16="http://schemas.microsoft.com/office/drawing/2014/main" id="{B9CB41D4-6986-95E4-B3C6-A23EDF821D03}"/>
              </a:ext>
            </a:extLst>
          </p:cNvPr>
          <p:cNvPicPr>
            <a:picLocks noChangeAspect="1"/>
          </p:cNvPicPr>
          <p:nvPr/>
        </p:nvPicPr>
        <p:blipFill>
          <a:blip r:embed="rId2"/>
          <a:stretch>
            <a:fillRect/>
          </a:stretch>
        </p:blipFill>
        <p:spPr>
          <a:xfrm>
            <a:off x="2347996" y="1810009"/>
            <a:ext cx="6666667" cy="4152381"/>
          </a:xfrm>
          <a:prstGeom prst="rect">
            <a:avLst/>
          </a:prstGeom>
        </p:spPr>
      </p:pic>
    </p:spTree>
    <p:extLst>
      <p:ext uri="{BB962C8B-B14F-4D97-AF65-F5344CB8AC3E}">
        <p14:creationId xmlns:p14="http://schemas.microsoft.com/office/powerpoint/2010/main" val="18035290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4891D-8719-542C-EB7E-6733AAA3F9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ABC62C-EBD2-FC9C-21ED-99AD057077B4}"/>
              </a:ext>
            </a:extLst>
          </p:cNvPr>
          <p:cNvSpPr>
            <a:spLocks noGrp="1"/>
          </p:cNvSpPr>
          <p:nvPr>
            <p:ph idx="1"/>
          </p:nvPr>
        </p:nvSpPr>
        <p:spPr>
          <a:xfrm>
            <a:off x="1371600" y="1147665"/>
            <a:ext cx="9601200" cy="4719735"/>
          </a:xfrm>
        </p:spPr>
        <p:txBody>
          <a:bodyPr>
            <a:normAutofit fontScale="92500" lnSpcReduction="10000"/>
          </a:bodyPr>
          <a:lstStyle/>
          <a:p>
            <a:pPr algn="just" fontAlgn="base">
              <a:spcAft>
                <a:spcPts val="1125"/>
              </a:spcAft>
            </a:pPr>
            <a:r>
              <a:rPr lang="en-IN" sz="1800" b="1" i="0" dirty="0">
                <a:solidFill>
                  <a:srgbClr val="800080"/>
                </a:solidFill>
                <a:effectLst/>
                <a:latin typeface="inherit"/>
              </a:rPr>
              <a:t>Formula Breakdown:</a:t>
            </a:r>
            <a:endParaRPr lang="en-IN" b="0" i="0" dirty="0">
              <a:solidFill>
                <a:srgbClr val="000000"/>
              </a:solidFill>
              <a:effectLst/>
              <a:latin typeface="Poppins" panose="00000500000000000000" pitchFamily="2" charset="0"/>
            </a:endParaRPr>
          </a:p>
          <a:p>
            <a:pPr algn="l" fontAlgn="base">
              <a:spcAft>
                <a:spcPts val="375"/>
              </a:spcAft>
              <a:buFont typeface="Arial" panose="020B0604020202020204" pitchFamily="34" charset="0"/>
              <a:buChar char="•"/>
            </a:pPr>
            <a:r>
              <a:rPr lang="en-IN" b="1" i="1" dirty="0">
                <a:solidFill>
                  <a:srgbClr val="008000"/>
                </a:solidFill>
                <a:effectLst/>
                <a:latin typeface="inherit"/>
              </a:rPr>
              <a:t>COUNTIF(B5:B10,E5):</a:t>
            </a:r>
            <a:r>
              <a:rPr lang="en-IN" b="0" i="0" dirty="0">
                <a:solidFill>
                  <a:srgbClr val="363636"/>
                </a:solidFill>
                <a:effectLst/>
                <a:latin typeface="Poppins" panose="00000500000000000000" pitchFamily="2" charset="0"/>
              </a:rPr>
              <a:t> </a:t>
            </a:r>
            <a:r>
              <a:rPr lang="en-IN" b="1" i="1" dirty="0">
                <a:solidFill>
                  <a:srgbClr val="363636"/>
                </a:solidFill>
                <a:effectLst/>
                <a:latin typeface="inherit"/>
              </a:rPr>
              <a:t>The COUNTIF function </a:t>
            </a:r>
            <a:r>
              <a:rPr lang="en-IN" b="0" i="0" dirty="0">
                <a:solidFill>
                  <a:srgbClr val="363636"/>
                </a:solidFill>
                <a:effectLst/>
                <a:latin typeface="Poppins" panose="00000500000000000000" pitchFamily="2" charset="0"/>
              </a:rPr>
              <a:t>counts the number of cells that satisfy a specified criterion. It returns zero if no cells satisfy the requirement. In this case, the function will go through the range </a:t>
            </a:r>
            <a:r>
              <a:rPr lang="en-IN" b="0" i="1" dirty="0">
                <a:solidFill>
                  <a:srgbClr val="363636"/>
                </a:solidFill>
                <a:effectLst/>
                <a:latin typeface="inherit"/>
              </a:rPr>
              <a:t>(</a:t>
            </a:r>
            <a:r>
              <a:rPr lang="en-IN" b="1" i="1" dirty="0">
                <a:solidFill>
                  <a:srgbClr val="363636"/>
                </a:solidFill>
                <a:effectLst/>
                <a:latin typeface="inherit"/>
              </a:rPr>
              <a:t>B5:B10</a:t>
            </a:r>
            <a:r>
              <a:rPr lang="en-IN" b="0" i="1" dirty="0">
                <a:solidFill>
                  <a:srgbClr val="363636"/>
                </a:solidFill>
                <a:effectLst/>
                <a:latin typeface="inherit"/>
              </a:rPr>
              <a:t>)</a:t>
            </a:r>
            <a:r>
              <a:rPr lang="en-IN" b="0" i="0" dirty="0">
                <a:solidFill>
                  <a:srgbClr val="363636"/>
                </a:solidFill>
                <a:effectLst/>
                <a:latin typeface="Poppins" panose="00000500000000000000" pitchFamily="2" charset="0"/>
              </a:rPr>
              <a:t> and look for the value in the </a:t>
            </a:r>
            <a:r>
              <a:rPr lang="en-IN" b="1" i="1" dirty="0">
                <a:solidFill>
                  <a:srgbClr val="363636"/>
                </a:solidFill>
                <a:effectLst/>
                <a:latin typeface="inherit"/>
              </a:rPr>
              <a:t>E5 </a:t>
            </a:r>
            <a:r>
              <a:rPr lang="en-IN" b="0" i="0" dirty="0">
                <a:solidFill>
                  <a:srgbClr val="363636"/>
                </a:solidFill>
                <a:effectLst/>
                <a:latin typeface="Poppins" panose="00000500000000000000" pitchFamily="2" charset="0"/>
              </a:rPr>
              <a:t>If it finds it, then it will return </a:t>
            </a:r>
            <a:r>
              <a:rPr lang="en-IN" b="1" i="1" dirty="0">
                <a:solidFill>
                  <a:srgbClr val="363636"/>
                </a:solidFill>
                <a:effectLst/>
                <a:latin typeface="inherit"/>
              </a:rPr>
              <a:t>1</a:t>
            </a:r>
            <a:r>
              <a:rPr lang="en-IN" b="0" i="0" dirty="0">
                <a:solidFill>
                  <a:srgbClr val="363636"/>
                </a:solidFill>
                <a:effectLst/>
                <a:latin typeface="Poppins" panose="00000500000000000000" pitchFamily="2" charset="0"/>
              </a:rPr>
              <a:t>. Otherwise, it will return </a:t>
            </a:r>
            <a:r>
              <a:rPr lang="en-IN" b="1" i="1" dirty="0">
                <a:solidFill>
                  <a:srgbClr val="363636"/>
                </a:solidFill>
                <a:effectLst/>
                <a:latin typeface="inherit"/>
              </a:rPr>
              <a:t>zero</a:t>
            </a:r>
            <a:r>
              <a:rPr lang="en-IN" b="0" i="0" dirty="0">
                <a:solidFill>
                  <a:srgbClr val="363636"/>
                </a:solidFill>
                <a:effectLst/>
                <a:latin typeface="Poppins" panose="00000500000000000000" pitchFamily="2" charset="0"/>
              </a:rPr>
              <a:t>.</a:t>
            </a:r>
          </a:p>
          <a:p>
            <a:pPr algn="l" fontAlgn="base">
              <a:spcAft>
                <a:spcPts val="375"/>
              </a:spcAft>
              <a:buFont typeface="Arial" panose="020B0604020202020204" pitchFamily="34" charset="0"/>
              <a:buChar char="•"/>
            </a:pPr>
            <a:r>
              <a:rPr lang="en-IN" b="1" i="1" dirty="0">
                <a:solidFill>
                  <a:srgbClr val="008000"/>
                </a:solidFill>
                <a:effectLst/>
                <a:latin typeface="inherit"/>
              </a:rPr>
              <a:t>IF(COUNTIF(B5:B10,E5),”</a:t>
            </a:r>
            <a:r>
              <a:rPr lang="en-IN" b="1" i="1" dirty="0" err="1">
                <a:solidFill>
                  <a:srgbClr val="008000"/>
                </a:solidFill>
                <a:effectLst/>
                <a:latin typeface="inherit"/>
              </a:rPr>
              <a:t>Found”,”Missing</a:t>
            </a:r>
            <a:r>
              <a:rPr lang="en-IN" b="1" i="1" dirty="0">
                <a:solidFill>
                  <a:srgbClr val="008000"/>
                </a:solidFill>
                <a:effectLst/>
                <a:latin typeface="inherit"/>
              </a:rPr>
              <a:t>”):</a:t>
            </a:r>
            <a:r>
              <a:rPr lang="en-IN" b="0" i="0" dirty="0">
                <a:solidFill>
                  <a:srgbClr val="363636"/>
                </a:solidFill>
                <a:effectLst/>
                <a:latin typeface="Poppins" panose="00000500000000000000" pitchFamily="2" charset="0"/>
              </a:rPr>
              <a:t> Any non-zero value will be treated as </a:t>
            </a:r>
            <a:r>
              <a:rPr lang="en-IN" b="1" i="1" dirty="0">
                <a:solidFill>
                  <a:srgbClr val="363636"/>
                </a:solidFill>
                <a:effectLst/>
                <a:latin typeface="inherit"/>
              </a:rPr>
              <a:t>TRUE </a:t>
            </a:r>
            <a:r>
              <a:rPr lang="en-IN" b="0" i="0" dirty="0">
                <a:solidFill>
                  <a:srgbClr val="363636"/>
                </a:solidFill>
                <a:effectLst/>
                <a:latin typeface="Poppins" panose="00000500000000000000" pitchFamily="2" charset="0"/>
              </a:rPr>
              <a:t>by the</a:t>
            </a:r>
            <a:r>
              <a:rPr lang="en-IN" b="1" i="1" dirty="0">
                <a:solidFill>
                  <a:srgbClr val="363636"/>
                </a:solidFill>
                <a:effectLst/>
                <a:latin typeface="inherit"/>
              </a:rPr>
              <a:t> IF </a:t>
            </a:r>
            <a:r>
              <a:rPr lang="en-IN" b="0" i="0" dirty="0">
                <a:solidFill>
                  <a:srgbClr val="363636"/>
                </a:solidFill>
                <a:effectLst/>
                <a:latin typeface="Poppins" panose="00000500000000000000" pitchFamily="2" charset="0"/>
              </a:rPr>
              <a:t>function, and zero will be treated as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 In the formula, the </a:t>
            </a:r>
            <a:r>
              <a:rPr lang="en-IN" b="1" i="1" dirty="0">
                <a:solidFill>
                  <a:srgbClr val="363636"/>
                </a:solidFill>
                <a:effectLst/>
                <a:latin typeface="inherit"/>
              </a:rPr>
              <a:t>COUNTIF </a:t>
            </a:r>
            <a:r>
              <a:rPr lang="en-IN" b="0" i="0" dirty="0">
                <a:solidFill>
                  <a:srgbClr val="363636"/>
                </a:solidFill>
                <a:effectLst/>
                <a:latin typeface="Poppins" panose="00000500000000000000" pitchFamily="2" charset="0"/>
              </a:rPr>
              <a:t>function will either return zero or one. If it returns zero, the </a:t>
            </a:r>
            <a:r>
              <a:rPr lang="en-IN" b="1" i="1" dirty="0">
                <a:solidFill>
                  <a:srgbClr val="363636"/>
                </a:solidFill>
                <a:effectLst/>
                <a:latin typeface="inherit"/>
              </a:rPr>
              <a:t>IF</a:t>
            </a:r>
            <a:r>
              <a:rPr lang="en-IN" b="0" i="0" dirty="0">
                <a:solidFill>
                  <a:srgbClr val="363636"/>
                </a:solidFill>
                <a:effectLst/>
                <a:latin typeface="Poppins" panose="00000500000000000000" pitchFamily="2" charset="0"/>
              </a:rPr>
              <a:t> function will treat it as </a:t>
            </a:r>
            <a:r>
              <a:rPr lang="en-IN" b="1" i="1" dirty="0">
                <a:solidFill>
                  <a:srgbClr val="363636"/>
                </a:solidFill>
                <a:effectLst/>
                <a:latin typeface="inherit"/>
              </a:rPr>
              <a:t>FALSE </a:t>
            </a:r>
            <a:r>
              <a:rPr lang="en-IN" b="0" i="0" dirty="0">
                <a:solidFill>
                  <a:srgbClr val="363636"/>
                </a:solidFill>
                <a:effectLst/>
                <a:latin typeface="Poppins" panose="00000500000000000000" pitchFamily="2" charset="0"/>
              </a:rPr>
              <a:t>and will return</a:t>
            </a:r>
            <a:r>
              <a:rPr lang="en-IN" b="1" i="1" dirty="0">
                <a:solidFill>
                  <a:srgbClr val="363636"/>
                </a:solidFill>
                <a:effectLst/>
                <a:latin typeface="inherit"/>
              </a:rPr>
              <a:t> “Missing”</a:t>
            </a:r>
            <a:r>
              <a:rPr lang="en-IN" b="0" i="0" dirty="0">
                <a:solidFill>
                  <a:srgbClr val="363636"/>
                </a:solidFill>
                <a:effectLst/>
                <a:latin typeface="Poppins" panose="00000500000000000000" pitchFamily="2" charset="0"/>
              </a:rPr>
              <a:t>, the second output. And if the </a:t>
            </a:r>
            <a:r>
              <a:rPr lang="en-IN" b="1" i="1" dirty="0">
                <a:solidFill>
                  <a:srgbClr val="363636"/>
                </a:solidFill>
                <a:effectLst/>
                <a:latin typeface="inherit"/>
              </a:rPr>
              <a:t>COUNTIF</a:t>
            </a:r>
            <a:r>
              <a:rPr lang="en-IN" b="0" i="0" dirty="0">
                <a:solidFill>
                  <a:srgbClr val="363636"/>
                </a:solidFill>
                <a:effectLst/>
                <a:latin typeface="Poppins" panose="00000500000000000000" pitchFamily="2" charset="0"/>
              </a:rPr>
              <a:t> function returns one, then the IF function will return </a:t>
            </a:r>
            <a:r>
              <a:rPr lang="en-IN" b="1" i="1" dirty="0">
                <a:solidFill>
                  <a:srgbClr val="363636"/>
                </a:solidFill>
                <a:effectLst/>
                <a:latin typeface="inherit"/>
              </a:rPr>
              <a:t>“Found”</a:t>
            </a:r>
            <a:r>
              <a:rPr lang="en-IN" b="0" i="0" dirty="0">
                <a:solidFill>
                  <a:srgbClr val="363636"/>
                </a:solidFill>
                <a:effectLst/>
                <a:latin typeface="Poppins" panose="00000500000000000000" pitchFamily="2" charset="0"/>
              </a:rPr>
              <a:t>. In this particular case, the COUNTIF function will return </a:t>
            </a:r>
            <a:r>
              <a:rPr lang="en-IN" b="1" i="1" dirty="0">
                <a:solidFill>
                  <a:srgbClr val="363636"/>
                </a:solidFill>
                <a:effectLst/>
                <a:latin typeface="inherit"/>
              </a:rPr>
              <a:t>1,</a:t>
            </a:r>
            <a:r>
              <a:rPr lang="en-IN" b="0" i="0" dirty="0">
                <a:solidFill>
                  <a:srgbClr val="363636"/>
                </a:solidFill>
                <a:effectLst/>
                <a:latin typeface="Poppins" panose="00000500000000000000" pitchFamily="2" charset="0"/>
              </a:rPr>
              <a:t> and thus the</a:t>
            </a:r>
            <a:r>
              <a:rPr lang="en-IN" b="1" i="1" dirty="0">
                <a:solidFill>
                  <a:srgbClr val="363636"/>
                </a:solidFill>
                <a:effectLst/>
                <a:latin typeface="inherit"/>
              </a:rPr>
              <a:t> IF </a:t>
            </a:r>
            <a:r>
              <a:rPr lang="en-IN" b="0" i="0" dirty="0">
                <a:solidFill>
                  <a:srgbClr val="363636"/>
                </a:solidFill>
                <a:effectLst/>
                <a:latin typeface="Poppins" panose="00000500000000000000" pitchFamily="2" charset="0"/>
              </a:rPr>
              <a:t>function will return</a:t>
            </a:r>
            <a:r>
              <a:rPr lang="en-IN" b="1" i="1" dirty="0">
                <a:solidFill>
                  <a:srgbClr val="363636"/>
                </a:solidFill>
                <a:effectLst/>
                <a:latin typeface="inherit"/>
              </a:rPr>
              <a:t> “Found”</a:t>
            </a:r>
            <a:r>
              <a:rPr lang="en-IN" b="0" i="0" dirty="0">
                <a:solidFill>
                  <a:srgbClr val="363636"/>
                </a:solidFill>
                <a:effectLst/>
                <a:latin typeface="Poppins" panose="00000500000000000000" pitchFamily="2" charset="0"/>
              </a:rPr>
              <a:t>.</a:t>
            </a:r>
          </a:p>
          <a:p>
            <a:pPr marL="0" indent="0">
              <a:buNone/>
            </a:pPr>
            <a:endParaRPr lang="en-IN" dirty="0"/>
          </a:p>
          <a:p>
            <a:endParaRPr lang="en-IN" dirty="0"/>
          </a:p>
        </p:txBody>
      </p:sp>
    </p:spTree>
    <p:extLst>
      <p:ext uri="{BB962C8B-B14F-4D97-AF65-F5344CB8AC3E}">
        <p14:creationId xmlns:p14="http://schemas.microsoft.com/office/powerpoint/2010/main" val="15516717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E9073-D5F0-4E0D-044F-EB734C552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55430-ACE0-2A7B-26F8-89FF7BF7E286}"/>
              </a:ext>
            </a:extLst>
          </p:cNvPr>
          <p:cNvSpPr>
            <a:spLocks noGrp="1"/>
          </p:cNvSpPr>
          <p:nvPr>
            <p:ph type="title"/>
          </p:nvPr>
        </p:nvSpPr>
        <p:spPr>
          <a:xfrm>
            <a:off x="1371600" y="685800"/>
            <a:ext cx="9601200" cy="573833"/>
          </a:xfrm>
        </p:spPr>
        <p:txBody>
          <a:bodyPr>
            <a:normAutofit fontScale="90000"/>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Method 2 – Combining IF, ISNA, and MATCH Functions</a:t>
            </a:r>
            <a:br>
              <a:rPr lang="en-IN" sz="1800" b="1" i="0" dirty="0">
                <a:solidFill>
                  <a:srgbClr val="243966"/>
                </a:solidFill>
                <a:effectLst/>
                <a:latin typeface="Poppins" panose="00000500000000000000" pitchFamily="2" charset="0"/>
              </a:rPr>
            </a:br>
            <a:r>
              <a:rPr lang="en-IN" sz="900" dirty="0"/>
              <a:t/>
            </a:r>
            <a:br>
              <a:rPr lang="en-IN" sz="900" dirty="0"/>
            </a:br>
            <a:endParaRPr lang="en-IN" dirty="0"/>
          </a:p>
        </p:txBody>
      </p:sp>
      <p:sp>
        <p:nvSpPr>
          <p:cNvPr id="3" name="Content Placeholder 2">
            <a:extLst>
              <a:ext uri="{FF2B5EF4-FFF2-40B4-BE49-F238E27FC236}">
                <a16:creationId xmlns:a16="http://schemas.microsoft.com/office/drawing/2014/main" id="{A9C00CCB-E86F-2E9F-7443-ED3328F1E0D3}"/>
              </a:ext>
            </a:extLst>
          </p:cNvPr>
          <p:cNvSpPr>
            <a:spLocks noGrp="1"/>
          </p:cNvSpPr>
          <p:nvPr>
            <p:ph idx="1"/>
          </p:nvPr>
        </p:nvSpPr>
        <p:spPr>
          <a:xfrm>
            <a:off x="1371600" y="1147665"/>
            <a:ext cx="9601200" cy="4719735"/>
          </a:xfrm>
        </p:spPr>
        <p:txBody>
          <a:bodyPr>
            <a:normAutofit/>
          </a:bodyPr>
          <a:lstStyle/>
          <a:p>
            <a:pPr algn="just" fontAlgn="base">
              <a:spcAft>
                <a:spcPts val="1125"/>
              </a:spcAft>
            </a:pPr>
            <a:r>
              <a:rPr lang="en-IN" sz="1800" b="1" dirty="0">
                <a:solidFill>
                  <a:srgbClr val="800080"/>
                </a:solidFill>
                <a:effectLst/>
                <a:latin typeface="inherit"/>
              </a:rPr>
              <a:t>Steps:</a:t>
            </a:r>
            <a:endParaRPr lang="en-IN" sz="1600" dirty="0">
              <a:solidFill>
                <a:srgbClr val="000000"/>
              </a:solidFill>
              <a:effectLst/>
              <a:latin typeface="Poppins" panose="00000500000000000000" pitchFamily="2" charset="0"/>
            </a:endParaRPr>
          </a:p>
          <a:p>
            <a:pPr fontAlgn="base">
              <a:spcAft>
                <a:spcPts val="375"/>
              </a:spcAft>
              <a:buFont typeface="Arial" panose="020B0604020202020204" pitchFamily="34" charset="0"/>
              <a:buChar char="•"/>
            </a:pPr>
            <a:r>
              <a:rPr lang="en-IN" sz="1600" dirty="0">
                <a:effectLst/>
              </a:rPr>
              <a:t>Choose cell </a:t>
            </a:r>
            <a:r>
              <a:rPr lang="en-IN" sz="1600" b="1" dirty="0">
                <a:effectLst/>
                <a:latin typeface="inherit"/>
              </a:rPr>
              <a:t>F5</a:t>
            </a:r>
            <a:r>
              <a:rPr lang="en-IN" sz="1600" dirty="0">
                <a:effectLst/>
              </a:rPr>
              <a:t> and enter the following formula:</a:t>
            </a:r>
          </a:p>
          <a:p>
            <a:r>
              <a:rPr lang="en-IN" dirty="0"/>
              <a:t>=IF(ISNA(MATCH(E5,B5:B10)),"</a:t>
            </a:r>
            <a:r>
              <a:rPr lang="en-IN" dirty="0" err="1"/>
              <a:t>Missing","Found</a:t>
            </a:r>
            <a:r>
              <a:rPr lang="en-IN" dirty="0"/>
              <a:t>")</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pPr marL="0" indent="0">
              <a:buNone/>
            </a:pPr>
            <a:endParaRPr lang="en-IN" dirty="0"/>
          </a:p>
          <a:p>
            <a:endParaRPr lang="en-IN" dirty="0"/>
          </a:p>
        </p:txBody>
      </p:sp>
      <p:pic>
        <p:nvPicPr>
          <p:cNvPr id="5" name="Picture 4">
            <a:extLst>
              <a:ext uri="{FF2B5EF4-FFF2-40B4-BE49-F238E27FC236}">
                <a16:creationId xmlns:a16="http://schemas.microsoft.com/office/drawing/2014/main" id="{642B0924-64E9-14BE-CECE-A248BBF84DEC}"/>
              </a:ext>
            </a:extLst>
          </p:cNvPr>
          <p:cNvPicPr>
            <a:picLocks noChangeAspect="1"/>
          </p:cNvPicPr>
          <p:nvPr/>
        </p:nvPicPr>
        <p:blipFill>
          <a:blip r:embed="rId2"/>
          <a:stretch>
            <a:fillRect/>
          </a:stretch>
        </p:blipFill>
        <p:spPr>
          <a:xfrm>
            <a:off x="1986489" y="3080444"/>
            <a:ext cx="6666667" cy="3419048"/>
          </a:xfrm>
          <a:prstGeom prst="rect">
            <a:avLst/>
          </a:prstGeom>
        </p:spPr>
      </p:pic>
    </p:spTree>
    <p:extLst>
      <p:ext uri="{BB962C8B-B14F-4D97-AF65-F5344CB8AC3E}">
        <p14:creationId xmlns:p14="http://schemas.microsoft.com/office/powerpoint/2010/main" val="4990401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BB145-A545-D867-5659-B6A870F4CD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7B894-2189-8A07-C09C-0A431A55C4B1}"/>
              </a:ext>
            </a:extLst>
          </p:cNvPr>
          <p:cNvSpPr>
            <a:spLocks noGrp="1"/>
          </p:cNvSpPr>
          <p:nvPr>
            <p:ph idx="1"/>
          </p:nvPr>
        </p:nvSpPr>
        <p:spPr>
          <a:xfrm>
            <a:off x="1371600" y="1147665"/>
            <a:ext cx="9601200" cy="4719735"/>
          </a:xfrm>
        </p:spPr>
        <p:txBody>
          <a:bodyPr>
            <a:normAutofit/>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You will discover the missing values from the </a:t>
            </a:r>
            <a:r>
              <a:rPr lang="en-IN" b="1" i="0" dirty="0">
                <a:solidFill>
                  <a:srgbClr val="333333"/>
                </a:solidFill>
                <a:effectLst/>
                <a:latin typeface="inherit"/>
              </a:rPr>
              <a:t>Employee </a:t>
            </a:r>
            <a:r>
              <a:rPr lang="en-IN" b="1" i="0" dirty="0" err="1">
                <a:solidFill>
                  <a:srgbClr val="333333"/>
                </a:solidFill>
                <a:effectLst/>
                <a:latin typeface="inherit"/>
              </a:rPr>
              <a:t>ID</a:t>
            </a:r>
            <a:r>
              <a:rPr lang="en-IN" b="0" i="0" dirty="0" err="1">
                <a:solidFill>
                  <a:srgbClr val="333333"/>
                </a:solidFill>
                <a:effectLst/>
                <a:latin typeface="Poppins" panose="00000500000000000000" pitchFamily="2" charset="0"/>
              </a:rPr>
              <a:t>column</a:t>
            </a:r>
            <a:r>
              <a:rPr lang="en-IN" b="0" i="0" dirty="0">
                <a:solidFill>
                  <a:srgbClr val="333333"/>
                </a:solidFill>
                <a:effectLst/>
                <a:latin typeface="Poppins" panose="00000500000000000000" pitchFamily="2" charset="0"/>
              </a:rPr>
              <a:t>.</a:t>
            </a:r>
          </a:p>
          <a:p>
            <a:pPr marL="0" indent="0">
              <a:buNone/>
            </a:pPr>
            <a:endParaRPr lang="en-IN" b="0" i="0" dirty="0">
              <a:solidFill>
                <a:srgbClr val="333333"/>
              </a:solidFill>
              <a:effectLst/>
              <a:latin typeface="Poppins" panose="00000500000000000000" pitchFamily="2" charset="0"/>
            </a:endParaRPr>
          </a:p>
          <a:p>
            <a:pPr marL="0" indent="0">
              <a:buNone/>
            </a:pPr>
            <a:endParaRPr lang="en-IN" dirty="0"/>
          </a:p>
          <a:p>
            <a:endParaRPr lang="en-IN" dirty="0"/>
          </a:p>
        </p:txBody>
      </p:sp>
      <p:pic>
        <p:nvPicPr>
          <p:cNvPr id="6" name="Picture 5">
            <a:extLst>
              <a:ext uri="{FF2B5EF4-FFF2-40B4-BE49-F238E27FC236}">
                <a16:creationId xmlns:a16="http://schemas.microsoft.com/office/drawing/2014/main" id="{8E0AAB7B-39B0-82DF-F865-E8E0E23D870A}"/>
              </a:ext>
            </a:extLst>
          </p:cNvPr>
          <p:cNvPicPr>
            <a:picLocks noChangeAspect="1"/>
          </p:cNvPicPr>
          <p:nvPr/>
        </p:nvPicPr>
        <p:blipFill>
          <a:blip r:embed="rId2"/>
          <a:stretch>
            <a:fillRect/>
          </a:stretch>
        </p:blipFill>
        <p:spPr>
          <a:xfrm>
            <a:off x="1956392" y="1538943"/>
            <a:ext cx="9016408" cy="5654575"/>
          </a:xfrm>
          <a:prstGeom prst="rect">
            <a:avLst/>
          </a:prstGeom>
        </p:spPr>
      </p:pic>
    </p:spTree>
    <p:extLst>
      <p:ext uri="{BB962C8B-B14F-4D97-AF65-F5344CB8AC3E}">
        <p14:creationId xmlns:p14="http://schemas.microsoft.com/office/powerpoint/2010/main" val="34754654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4A45-04FD-EFB3-EE76-A2532B30DCB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5ECF7B-9CBF-CB53-402A-7805D96EC964}"/>
              </a:ext>
            </a:extLst>
          </p:cNvPr>
          <p:cNvSpPr>
            <a:spLocks noGrp="1"/>
          </p:cNvSpPr>
          <p:nvPr>
            <p:ph idx="1"/>
          </p:nvPr>
        </p:nvSpPr>
        <p:spPr>
          <a:xfrm>
            <a:off x="1371600" y="1147665"/>
            <a:ext cx="9601200" cy="4719735"/>
          </a:xfrm>
        </p:spPr>
        <p:txBody>
          <a:bodyPr>
            <a:normAutofit fontScale="92500" lnSpcReduction="20000"/>
          </a:bodyPr>
          <a:lstStyle/>
          <a:p>
            <a:pPr algn="just" fontAlgn="base">
              <a:spcAft>
                <a:spcPts val="1125"/>
              </a:spcAft>
            </a:pPr>
            <a:r>
              <a:rPr lang="en-IN" sz="1800" b="1" i="0" dirty="0">
                <a:solidFill>
                  <a:srgbClr val="800080"/>
                </a:solidFill>
                <a:effectLst/>
                <a:latin typeface="inherit"/>
              </a:rPr>
              <a:t>Formula Breakdown:</a:t>
            </a:r>
            <a:endParaRPr lang="en-IN" b="0" i="0" dirty="0">
              <a:solidFill>
                <a:srgbClr val="000000"/>
              </a:solidFill>
              <a:effectLst/>
              <a:latin typeface="Poppins" panose="00000500000000000000" pitchFamily="2" charset="0"/>
            </a:endParaRPr>
          </a:p>
          <a:p>
            <a:pPr algn="l" fontAlgn="base">
              <a:spcAft>
                <a:spcPts val="375"/>
              </a:spcAft>
              <a:buFont typeface="Arial" panose="020B0604020202020204" pitchFamily="34" charset="0"/>
              <a:buChar char="•"/>
            </a:pPr>
            <a:r>
              <a:rPr lang="en-IN" b="1" i="0" dirty="0">
                <a:solidFill>
                  <a:srgbClr val="008000"/>
                </a:solidFill>
                <a:effectLst/>
                <a:latin typeface="inherit"/>
              </a:rPr>
              <a:t>MATCH(E5,B5:B10):</a:t>
            </a:r>
            <a:r>
              <a:rPr lang="en-IN" b="0" i="0" dirty="0">
                <a:solidFill>
                  <a:srgbClr val="363636"/>
                </a:solidFill>
                <a:effectLst/>
                <a:latin typeface="Poppins" panose="00000500000000000000" pitchFamily="2" charset="0"/>
              </a:rPr>
              <a:t> </a:t>
            </a:r>
            <a:r>
              <a:rPr lang="en-IN" b="1" i="1" dirty="0">
                <a:solidFill>
                  <a:srgbClr val="363636"/>
                </a:solidFill>
                <a:effectLst/>
                <a:latin typeface="inherit"/>
              </a:rPr>
              <a:t>The MATCH function</a:t>
            </a:r>
            <a:r>
              <a:rPr lang="en-IN" b="0" i="0" dirty="0">
                <a:solidFill>
                  <a:srgbClr val="363636"/>
                </a:solidFill>
                <a:effectLst/>
                <a:latin typeface="Poppins" panose="00000500000000000000" pitchFamily="2" charset="0"/>
              </a:rPr>
              <a:t> goes through a range looking for a particular value. If it finds the value, then it returns the position of the value in numeric value. In this case, </a:t>
            </a:r>
            <a:r>
              <a:rPr lang="en-IN" b="1" i="1" dirty="0">
                <a:solidFill>
                  <a:srgbClr val="363636"/>
                </a:solidFill>
                <a:effectLst/>
                <a:latin typeface="inherit"/>
              </a:rPr>
              <a:t>the MATCH function</a:t>
            </a:r>
            <a:r>
              <a:rPr lang="en-IN" b="0" i="0" dirty="0">
                <a:solidFill>
                  <a:srgbClr val="363636"/>
                </a:solidFill>
                <a:effectLst/>
                <a:latin typeface="Poppins" panose="00000500000000000000" pitchFamily="2" charset="0"/>
              </a:rPr>
              <a:t> will find a match in the range (</a:t>
            </a:r>
            <a:r>
              <a:rPr lang="en-IN" b="1" i="1" dirty="0">
                <a:solidFill>
                  <a:srgbClr val="363636"/>
                </a:solidFill>
                <a:effectLst/>
                <a:latin typeface="inherit"/>
              </a:rPr>
              <a:t>B5:B10</a:t>
            </a:r>
            <a:r>
              <a:rPr lang="en-IN" b="0" i="1" dirty="0">
                <a:solidFill>
                  <a:srgbClr val="363636"/>
                </a:solidFill>
                <a:effectLst/>
                <a:latin typeface="inherit"/>
              </a:rPr>
              <a:t>)</a:t>
            </a:r>
            <a:r>
              <a:rPr lang="en-IN" b="0" i="0" dirty="0">
                <a:solidFill>
                  <a:srgbClr val="363636"/>
                </a:solidFill>
                <a:effectLst/>
                <a:latin typeface="Poppins" panose="00000500000000000000" pitchFamily="2" charset="0"/>
              </a:rPr>
              <a:t> for the value in the </a:t>
            </a:r>
            <a:r>
              <a:rPr lang="en-IN" b="1" i="1" dirty="0">
                <a:solidFill>
                  <a:srgbClr val="363636"/>
                </a:solidFill>
                <a:effectLst/>
                <a:latin typeface="inherit"/>
              </a:rPr>
              <a:t>E5 </a:t>
            </a:r>
            <a:r>
              <a:rPr lang="en-IN" b="0" i="0" dirty="0">
                <a:solidFill>
                  <a:srgbClr val="363636"/>
                </a:solidFill>
                <a:effectLst/>
                <a:latin typeface="Poppins" panose="00000500000000000000" pitchFamily="2" charset="0"/>
              </a:rPr>
              <a:t>cell and will return a numeric value as its position in the range.</a:t>
            </a:r>
          </a:p>
          <a:p>
            <a:pPr algn="l" fontAlgn="base">
              <a:spcAft>
                <a:spcPts val="375"/>
              </a:spcAft>
              <a:buFont typeface="Arial" panose="020B0604020202020204" pitchFamily="34" charset="0"/>
              <a:buChar char="•"/>
            </a:pPr>
            <a:r>
              <a:rPr lang="en-IN" b="1" i="0" dirty="0">
                <a:solidFill>
                  <a:srgbClr val="008000"/>
                </a:solidFill>
                <a:effectLst/>
                <a:latin typeface="inherit"/>
              </a:rPr>
              <a:t>ISNA(MATCH(E5,B5:B10)):</a:t>
            </a:r>
            <a:r>
              <a:rPr lang="en-IN" b="0" i="0" dirty="0">
                <a:solidFill>
                  <a:srgbClr val="363636"/>
                </a:solidFill>
                <a:effectLst/>
                <a:latin typeface="Poppins" panose="00000500000000000000" pitchFamily="2" charset="0"/>
              </a:rPr>
              <a:t> </a:t>
            </a:r>
            <a:r>
              <a:rPr lang="en-IN" b="1" i="1" dirty="0">
                <a:solidFill>
                  <a:srgbClr val="363636"/>
                </a:solidFill>
                <a:effectLst/>
                <a:latin typeface="inherit"/>
              </a:rPr>
              <a:t>The ISNA function</a:t>
            </a:r>
            <a:r>
              <a:rPr lang="en-IN" b="0" i="0" dirty="0">
                <a:solidFill>
                  <a:srgbClr val="363636"/>
                </a:solidFill>
                <a:effectLst/>
                <a:latin typeface="Poppins" panose="00000500000000000000" pitchFamily="2" charset="0"/>
              </a:rPr>
              <a:t> returns </a:t>
            </a:r>
            <a:r>
              <a:rPr lang="en-IN" b="1" i="1" dirty="0">
                <a:solidFill>
                  <a:srgbClr val="363636"/>
                </a:solidFill>
                <a:effectLst/>
                <a:latin typeface="inherit"/>
              </a:rPr>
              <a:t>TRUE</a:t>
            </a:r>
            <a:r>
              <a:rPr lang="en-IN" b="0" i="0" dirty="0">
                <a:solidFill>
                  <a:srgbClr val="363636"/>
                </a:solidFill>
                <a:effectLst/>
                <a:latin typeface="Poppins" panose="00000500000000000000" pitchFamily="2" charset="0"/>
              </a:rPr>
              <a:t> if a formula returns the </a:t>
            </a:r>
            <a:r>
              <a:rPr lang="en-IN" b="1" i="1" dirty="0">
                <a:solidFill>
                  <a:srgbClr val="363636"/>
                </a:solidFill>
                <a:effectLst/>
                <a:latin typeface="inherit"/>
              </a:rPr>
              <a:t>#N/A</a:t>
            </a:r>
            <a:r>
              <a:rPr lang="en-IN" b="0" i="0" dirty="0">
                <a:solidFill>
                  <a:srgbClr val="363636"/>
                </a:solidFill>
                <a:effectLst/>
                <a:latin typeface="Poppins" panose="00000500000000000000" pitchFamily="2" charset="0"/>
              </a:rPr>
              <a:t> error value; otherwise, it returns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 Here,</a:t>
            </a:r>
            <a:r>
              <a:rPr lang="en-IN" b="1" i="1" dirty="0">
                <a:solidFill>
                  <a:srgbClr val="363636"/>
                </a:solidFill>
                <a:effectLst/>
                <a:latin typeface="inherit"/>
              </a:rPr>
              <a:t> the MATCH function</a:t>
            </a:r>
            <a:r>
              <a:rPr lang="en-IN" b="0" i="0" dirty="0">
                <a:solidFill>
                  <a:srgbClr val="363636"/>
                </a:solidFill>
                <a:effectLst/>
                <a:latin typeface="Poppins" panose="00000500000000000000" pitchFamily="2" charset="0"/>
              </a:rPr>
              <a:t> will return a numeric value and so</a:t>
            </a:r>
            <a:r>
              <a:rPr lang="en-IN" b="1" i="1" dirty="0">
                <a:solidFill>
                  <a:srgbClr val="363636"/>
                </a:solidFill>
                <a:effectLst/>
                <a:latin typeface="inherit"/>
              </a:rPr>
              <a:t> the ISNA function</a:t>
            </a:r>
            <a:r>
              <a:rPr lang="en-IN" b="0" i="0" dirty="0">
                <a:solidFill>
                  <a:srgbClr val="363636"/>
                </a:solidFill>
                <a:effectLst/>
                <a:latin typeface="Poppins" panose="00000500000000000000" pitchFamily="2" charset="0"/>
              </a:rPr>
              <a:t> will assign FALSE to that value.</a:t>
            </a:r>
          </a:p>
          <a:p>
            <a:pPr algn="l" fontAlgn="base">
              <a:spcAft>
                <a:spcPts val="375"/>
              </a:spcAft>
              <a:buFont typeface="Arial" panose="020B0604020202020204" pitchFamily="34" charset="0"/>
              <a:buChar char="•"/>
            </a:pPr>
            <a:r>
              <a:rPr lang="en-IN" b="1" i="0" dirty="0">
                <a:solidFill>
                  <a:srgbClr val="008000"/>
                </a:solidFill>
                <a:effectLst/>
                <a:latin typeface="inherit"/>
              </a:rPr>
              <a:t>IF(ISNA(MATCH(E5,B5:B10)),”</a:t>
            </a:r>
            <a:r>
              <a:rPr lang="en-IN" b="1" i="0" dirty="0" err="1">
                <a:solidFill>
                  <a:srgbClr val="008000"/>
                </a:solidFill>
                <a:effectLst/>
                <a:latin typeface="inherit"/>
              </a:rPr>
              <a:t>Missing”,”Found</a:t>
            </a:r>
            <a:r>
              <a:rPr lang="en-IN" b="1" i="0" dirty="0">
                <a:solidFill>
                  <a:srgbClr val="008000"/>
                </a:solidFill>
                <a:effectLst/>
                <a:latin typeface="inherit"/>
              </a:rPr>
              <a:t>”):</a:t>
            </a:r>
            <a:r>
              <a:rPr lang="en-IN" b="0" i="0" dirty="0">
                <a:solidFill>
                  <a:srgbClr val="363636"/>
                </a:solidFill>
                <a:effectLst/>
                <a:latin typeface="Poppins" panose="00000500000000000000" pitchFamily="2" charset="0"/>
              </a:rPr>
              <a:t> </a:t>
            </a:r>
            <a:r>
              <a:rPr lang="en-IN" b="1" i="1" dirty="0">
                <a:solidFill>
                  <a:srgbClr val="363636"/>
                </a:solidFill>
                <a:effectLst/>
                <a:latin typeface="inherit"/>
              </a:rPr>
              <a:t>The IF function</a:t>
            </a:r>
            <a:r>
              <a:rPr lang="en-IN" b="0" i="0" dirty="0">
                <a:solidFill>
                  <a:srgbClr val="363636"/>
                </a:solidFill>
                <a:effectLst/>
                <a:latin typeface="Poppins" panose="00000500000000000000" pitchFamily="2" charset="0"/>
              </a:rPr>
              <a:t> evaluates the first argument. If the argument is </a:t>
            </a:r>
            <a:r>
              <a:rPr lang="en-IN" b="1" i="1" dirty="0">
                <a:solidFill>
                  <a:srgbClr val="363636"/>
                </a:solidFill>
                <a:effectLst/>
                <a:latin typeface="inherit"/>
              </a:rPr>
              <a:t>TRUE</a:t>
            </a:r>
            <a:r>
              <a:rPr lang="en-IN" b="0" i="0" dirty="0">
                <a:solidFill>
                  <a:srgbClr val="363636"/>
                </a:solidFill>
                <a:effectLst/>
                <a:latin typeface="Poppins" panose="00000500000000000000" pitchFamily="2" charset="0"/>
              </a:rPr>
              <a:t> then it returns the second argument and if not, it returns the third argument. Here, </a:t>
            </a:r>
            <a:r>
              <a:rPr lang="en-IN" b="1" i="1" dirty="0">
                <a:solidFill>
                  <a:srgbClr val="363636"/>
                </a:solidFill>
                <a:effectLst/>
                <a:latin typeface="inherit"/>
              </a:rPr>
              <a:t>the ISNA function</a:t>
            </a:r>
            <a:r>
              <a:rPr lang="en-IN" b="0" i="0" dirty="0">
                <a:solidFill>
                  <a:srgbClr val="363636"/>
                </a:solidFill>
                <a:effectLst/>
                <a:latin typeface="Poppins" panose="00000500000000000000" pitchFamily="2" charset="0"/>
              </a:rPr>
              <a:t> will return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 and so the IF function will return </a:t>
            </a:r>
            <a:r>
              <a:rPr lang="en-IN" b="1" i="1" dirty="0">
                <a:solidFill>
                  <a:srgbClr val="363636"/>
                </a:solidFill>
                <a:effectLst/>
                <a:latin typeface="inherit"/>
              </a:rPr>
              <a:t>“Found”</a:t>
            </a:r>
            <a:r>
              <a:rPr lang="en-IN" b="0" i="0" dirty="0">
                <a:solidFill>
                  <a:srgbClr val="363636"/>
                </a:solidFill>
                <a:effectLst/>
                <a:latin typeface="Poppins" panose="00000500000000000000" pitchFamily="2" charset="0"/>
              </a:rPr>
              <a:t>. This means the value is present in the </a:t>
            </a:r>
            <a:r>
              <a:rPr lang="en-IN" b="0" i="1" dirty="0">
                <a:solidFill>
                  <a:srgbClr val="363636"/>
                </a:solidFill>
                <a:effectLst/>
                <a:latin typeface="inherit"/>
              </a:rPr>
              <a:t>(</a:t>
            </a:r>
            <a:r>
              <a:rPr lang="en-IN" b="1" i="1" dirty="0">
                <a:solidFill>
                  <a:srgbClr val="363636"/>
                </a:solidFill>
                <a:effectLst/>
                <a:latin typeface="inherit"/>
              </a:rPr>
              <a:t>B5:B10</a:t>
            </a:r>
            <a:r>
              <a:rPr lang="en-IN" b="0" i="1" dirty="0">
                <a:solidFill>
                  <a:srgbClr val="363636"/>
                </a:solidFill>
                <a:effectLst/>
                <a:latin typeface="inherit"/>
              </a:rPr>
              <a:t>)</a:t>
            </a:r>
            <a:endParaRPr lang="en-IN" b="0" i="0" dirty="0">
              <a:solidFill>
                <a:srgbClr val="363636"/>
              </a:solidFill>
              <a:effectLst/>
              <a:latin typeface="Poppins" panose="00000500000000000000" pitchFamily="2" charset="0"/>
            </a:endParaRPr>
          </a:p>
          <a:p>
            <a:endParaRPr lang="en-IN" b="0" i="0" dirty="0">
              <a:solidFill>
                <a:srgbClr val="333333"/>
              </a:solidFill>
              <a:effectLst/>
              <a:latin typeface="Poppins" panose="00000500000000000000" pitchFamily="2" charset="0"/>
            </a:endParaRPr>
          </a:p>
          <a:p>
            <a:pPr marL="0" indent="0">
              <a:buNone/>
            </a:pPr>
            <a:endParaRPr lang="en-IN" dirty="0"/>
          </a:p>
          <a:p>
            <a:endParaRPr lang="en-IN" dirty="0"/>
          </a:p>
        </p:txBody>
      </p:sp>
    </p:spTree>
    <p:extLst>
      <p:ext uri="{BB962C8B-B14F-4D97-AF65-F5344CB8AC3E}">
        <p14:creationId xmlns:p14="http://schemas.microsoft.com/office/powerpoint/2010/main" val="3520175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E47F9-0911-BC1A-CAD8-E87B671A6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1EF47-232B-25CE-0FB5-B2441EC4E6D6}"/>
              </a:ext>
            </a:extLst>
          </p:cNvPr>
          <p:cNvSpPr>
            <a:spLocks noGrp="1"/>
          </p:cNvSpPr>
          <p:nvPr>
            <p:ph type="title"/>
          </p:nvPr>
        </p:nvSpPr>
        <p:spPr>
          <a:xfrm>
            <a:off x="1371600" y="685800"/>
            <a:ext cx="9601200" cy="573833"/>
          </a:xfrm>
        </p:spPr>
        <p:txBody>
          <a:bodyPr>
            <a:normAutofit fontScale="90000"/>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Method 3 – Applying IF, ISNA, and VLOOKUP Functions in Conjunction</a:t>
            </a:r>
            <a:br>
              <a:rPr lang="en-IN" sz="1800" b="1" i="0" dirty="0">
                <a:solidFill>
                  <a:srgbClr val="243966"/>
                </a:solidFill>
                <a:effectLst/>
                <a:latin typeface="Poppins" panose="00000500000000000000" pitchFamily="2" charset="0"/>
              </a:rPr>
            </a:br>
            <a:r>
              <a:rPr lang="en-IN" sz="900" dirty="0"/>
              <a:t/>
            </a:r>
            <a:br>
              <a:rPr lang="en-IN" sz="900" dirty="0"/>
            </a:br>
            <a:endParaRPr lang="en-IN" dirty="0"/>
          </a:p>
        </p:txBody>
      </p:sp>
      <p:sp>
        <p:nvSpPr>
          <p:cNvPr id="3" name="Content Placeholder 2">
            <a:extLst>
              <a:ext uri="{FF2B5EF4-FFF2-40B4-BE49-F238E27FC236}">
                <a16:creationId xmlns:a16="http://schemas.microsoft.com/office/drawing/2014/main" id="{03D1A821-FFA7-F4C5-0914-958DC2CEB3DE}"/>
              </a:ext>
            </a:extLst>
          </p:cNvPr>
          <p:cNvSpPr>
            <a:spLocks noGrp="1"/>
          </p:cNvSpPr>
          <p:nvPr>
            <p:ph idx="1"/>
          </p:nvPr>
        </p:nvSpPr>
        <p:spPr>
          <a:xfrm>
            <a:off x="1371600" y="1147665"/>
            <a:ext cx="9601200" cy="4719735"/>
          </a:xfrm>
        </p:spPr>
        <p:txBody>
          <a:bodyPr>
            <a:normAutofit/>
          </a:bodyPr>
          <a:lstStyle/>
          <a:p>
            <a:pPr algn="just" fontAlgn="base">
              <a:spcAft>
                <a:spcPts val="1125"/>
              </a:spcAft>
            </a:pPr>
            <a:r>
              <a:rPr lang="en-IN" sz="1800" b="1" dirty="0">
                <a:solidFill>
                  <a:srgbClr val="800080"/>
                </a:solidFill>
                <a:effectLst/>
                <a:latin typeface="inherit"/>
              </a:rPr>
              <a:t>Steps:</a:t>
            </a:r>
            <a:endParaRPr lang="en-IN" sz="1600" dirty="0">
              <a:solidFill>
                <a:srgbClr val="000000"/>
              </a:solidFill>
              <a:effectLst/>
              <a:latin typeface="Poppins" panose="00000500000000000000" pitchFamily="2" charset="0"/>
            </a:endParaRPr>
          </a:p>
          <a:p>
            <a:pPr fontAlgn="base">
              <a:spcAft>
                <a:spcPts val="375"/>
              </a:spcAft>
              <a:buFont typeface="Arial" panose="020B0604020202020204" pitchFamily="34" charset="0"/>
              <a:buChar char="•"/>
            </a:pPr>
            <a:r>
              <a:rPr lang="en-IN" sz="1600" dirty="0">
                <a:effectLst/>
              </a:rPr>
              <a:t>=IF(ISNA(VLOOKUP(E5,B5:B10,1,FALSE)),"</a:t>
            </a:r>
            <a:r>
              <a:rPr lang="en-IN" sz="1600" dirty="0" err="1">
                <a:effectLst/>
              </a:rPr>
              <a:t>Missing","Found</a:t>
            </a:r>
            <a:r>
              <a:rPr lang="en-IN" sz="1600" dirty="0">
                <a:effectLst/>
              </a:rPr>
              <a:t>")</a:t>
            </a:r>
          </a:p>
          <a:p>
            <a:pPr algn="l" fontAlgn="base">
              <a:spcAft>
                <a:spcPts val="375"/>
              </a:spcAft>
              <a:buFont typeface="Arial" panose="020B0604020202020204" pitchFamily="34" charset="0"/>
              <a:buChar char="•"/>
            </a:pPr>
            <a:r>
              <a:rPr lang="en-IN" sz="1600" b="0" i="0" dirty="0">
                <a:solidFill>
                  <a:srgbClr val="333333"/>
                </a:solidFill>
                <a:effectLst/>
                <a:latin typeface="Poppins" panose="00000500000000000000" pitchFamily="2" charset="0"/>
              </a:rPr>
              <a:t>Press the </a:t>
            </a:r>
            <a:r>
              <a:rPr lang="en-IN" sz="1600" b="1" i="0" dirty="0">
                <a:solidFill>
                  <a:srgbClr val="333333"/>
                </a:solidFill>
                <a:effectLst/>
                <a:latin typeface="inherit"/>
              </a:rPr>
              <a:t>Enter </a:t>
            </a:r>
            <a:r>
              <a:rPr lang="en-IN" sz="1600" b="0" i="0" dirty="0">
                <a:solidFill>
                  <a:srgbClr val="333333"/>
                </a:solidFill>
                <a:effectLst/>
                <a:latin typeface="Poppins" panose="00000500000000000000" pitchFamily="2" charset="0"/>
              </a:rPr>
              <a:t>button.</a:t>
            </a:r>
          </a:p>
          <a:p>
            <a:pPr marL="0" indent="0">
              <a:buNone/>
            </a:pPr>
            <a:endParaRPr lang="en-IN" b="0" i="0" dirty="0">
              <a:solidFill>
                <a:srgbClr val="333333"/>
              </a:solidFill>
              <a:effectLst/>
              <a:latin typeface="Poppins" panose="00000500000000000000" pitchFamily="2" charset="0"/>
            </a:endParaRPr>
          </a:p>
          <a:p>
            <a:pPr marL="0" indent="0">
              <a:buNone/>
            </a:pPr>
            <a:endParaRPr lang="en-IN" dirty="0"/>
          </a:p>
          <a:p>
            <a:endParaRPr lang="en-IN" dirty="0"/>
          </a:p>
        </p:txBody>
      </p:sp>
      <p:pic>
        <p:nvPicPr>
          <p:cNvPr id="7" name="Picture 6">
            <a:extLst>
              <a:ext uri="{FF2B5EF4-FFF2-40B4-BE49-F238E27FC236}">
                <a16:creationId xmlns:a16="http://schemas.microsoft.com/office/drawing/2014/main" id="{0C16EAD8-D134-58C2-8524-C7CD4311BE73}"/>
              </a:ext>
            </a:extLst>
          </p:cNvPr>
          <p:cNvPicPr>
            <a:picLocks noChangeAspect="1"/>
          </p:cNvPicPr>
          <p:nvPr/>
        </p:nvPicPr>
        <p:blipFill>
          <a:blip r:embed="rId2"/>
          <a:stretch>
            <a:fillRect/>
          </a:stretch>
        </p:blipFill>
        <p:spPr>
          <a:xfrm>
            <a:off x="1954591" y="2521878"/>
            <a:ext cx="8671211" cy="3963982"/>
          </a:xfrm>
          <a:prstGeom prst="rect">
            <a:avLst/>
          </a:prstGeom>
        </p:spPr>
      </p:pic>
    </p:spTree>
    <p:extLst>
      <p:ext uri="{BB962C8B-B14F-4D97-AF65-F5344CB8AC3E}">
        <p14:creationId xmlns:p14="http://schemas.microsoft.com/office/powerpoint/2010/main" val="17848381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F8E2C-06B7-40E5-CEF0-CE77C0FFB5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6A44FC-D115-657F-FB8B-AAB9E0867397}"/>
              </a:ext>
            </a:extLst>
          </p:cNvPr>
          <p:cNvSpPr>
            <a:spLocks noGrp="1"/>
          </p:cNvSpPr>
          <p:nvPr>
            <p:ph idx="1"/>
          </p:nvPr>
        </p:nvSpPr>
        <p:spPr>
          <a:xfrm>
            <a:off x="1371600" y="1147665"/>
            <a:ext cx="9601200" cy="4719735"/>
          </a:xfrm>
        </p:spPr>
        <p:txBody>
          <a:bodyPr>
            <a:normAutofit/>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You will see what values are missing from the </a:t>
            </a:r>
            <a:r>
              <a:rPr lang="en-IN" b="1" i="0" dirty="0">
                <a:solidFill>
                  <a:srgbClr val="333333"/>
                </a:solidFill>
                <a:effectLst/>
                <a:latin typeface="inherit"/>
              </a:rPr>
              <a:t>Employee ID </a:t>
            </a:r>
            <a:r>
              <a:rPr lang="en-IN" b="0" i="0" dirty="0">
                <a:solidFill>
                  <a:srgbClr val="333333"/>
                </a:solidFill>
                <a:effectLst/>
                <a:latin typeface="Poppins" panose="00000500000000000000" pitchFamily="2" charset="0"/>
              </a:rPr>
              <a:t>column.</a:t>
            </a:r>
          </a:p>
          <a:p>
            <a:pPr marL="0" indent="0">
              <a:buNone/>
            </a:pPr>
            <a:endParaRPr lang="en-IN" b="0" i="0" dirty="0">
              <a:solidFill>
                <a:srgbClr val="333333"/>
              </a:solidFill>
              <a:effectLst/>
              <a:latin typeface="Poppins" panose="00000500000000000000" pitchFamily="2" charset="0"/>
            </a:endParaRPr>
          </a:p>
          <a:p>
            <a:pPr marL="0" indent="0">
              <a:buNone/>
            </a:pPr>
            <a:endParaRPr lang="en-IN" dirty="0"/>
          </a:p>
          <a:p>
            <a:endParaRPr lang="en-IN" dirty="0"/>
          </a:p>
        </p:txBody>
      </p:sp>
      <p:pic>
        <p:nvPicPr>
          <p:cNvPr id="11" name="Picture 10">
            <a:extLst>
              <a:ext uri="{FF2B5EF4-FFF2-40B4-BE49-F238E27FC236}">
                <a16:creationId xmlns:a16="http://schemas.microsoft.com/office/drawing/2014/main" id="{04E22082-5FEE-9048-861E-009E229D0BAE}"/>
              </a:ext>
            </a:extLst>
          </p:cNvPr>
          <p:cNvPicPr>
            <a:picLocks noChangeAspect="1"/>
          </p:cNvPicPr>
          <p:nvPr/>
        </p:nvPicPr>
        <p:blipFill>
          <a:blip r:embed="rId2"/>
          <a:stretch>
            <a:fillRect/>
          </a:stretch>
        </p:blipFill>
        <p:spPr>
          <a:xfrm>
            <a:off x="1758789" y="1629128"/>
            <a:ext cx="8826822" cy="5132166"/>
          </a:xfrm>
          <a:prstGeom prst="rect">
            <a:avLst/>
          </a:prstGeom>
        </p:spPr>
      </p:pic>
    </p:spTree>
    <p:extLst>
      <p:ext uri="{BB962C8B-B14F-4D97-AF65-F5344CB8AC3E}">
        <p14:creationId xmlns:p14="http://schemas.microsoft.com/office/powerpoint/2010/main" val="419006608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FE9A0-DBCD-5556-0642-30DCEC5B95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FF7F85-4423-7E74-75AD-486B94672AD5}"/>
              </a:ext>
            </a:extLst>
          </p:cNvPr>
          <p:cNvSpPr>
            <a:spLocks noGrp="1"/>
          </p:cNvSpPr>
          <p:nvPr>
            <p:ph idx="1"/>
          </p:nvPr>
        </p:nvSpPr>
        <p:spPr>
          <a:xfrm>
            <a:off x="1371600" y="1147665"/>
            <a:ext cx="9601200" cy="4719735"/>
          </a:xfrm>
        </p:spPr>
        <p:txBody>
          <a:bodyPr>
            <a:normAutofit fontScale="92500"/>
          </a:bodyPr>
          <a:lstStyle/>
          <a:p>
            <a:pPr algn="just" fontAlgn="base">
              <a:spcAft>
                <a:spcPts val="1125"/>
              </a:spcAft>
            </a:pPr>
            <a:r>
              <a:rPr lang="en-IN" sz="1800" b="1" i="0" dirty="0">
                <a:solidFill>
                  <a:srgbClr val="800080"/>
                </a:solidFill>
                <a:effectLst/>
                <a:latin typeface="inherit"/>
              </a:rPr>
              <a:t>Formula Breakdown:</a:t>
            </a:r>
            <a:endParaRPr lang="en-IN" b="0" i="0" dirty="0">
              <a:solidFill>
                <a:srgbClr val="000000"/>
              </a:solidFill>
              <a:effectLst/>
              <a:latin typeface="Poppins" panose="00000500000000000000" pitchFamily="2" charset="0"/>
            </a:endParaRPr>
          </a:p>
          <a:p>
            <a:pPr algn="l" fontAlgn="base">
              <a:spcAft>
                <a:spcPts val="375"/>
              </a:spcAft>
              <a:buFont typeface="Arial" panose="020B0604020202020204" pitchFamily="34" charset="0"/>
              <a:buChar char="•"/>
            </a:pPr>
            <a:r>
              <a:rPr lang="en-IN" b="1" i="0" dirty="0">
                <a:solidFill>
                  <a:srgbClr val="008000"/>
                </a:solidFill>
                <a:effectLst/>
                <a:latin typeface="inherit"/>
              </a:rPr>
              <a:t>VLOOKUP(E5,B5:B10,1,FALSE):</a:t>
            </a:r>
            <a:r>
              <a:rPr lang="en-IN" b="0" i="0" dirty="0">
                <a:solidFill>
                  <a:srgbClr val="363636"/>
                </a:solidFill>
                <a:effectLst/>
                <a:latin typeface="Poppins" panose="00000500000000000000" pitchFamily="2" charset="0"/>
              </a:rPr>
              <a:t> Here, </a:t>
            </a:r>
            <a:r>
              <a:rPr lang="en-IN" b="1" i="1" dirty="0">
                <a:solidFill>
                  <a:srgbClr val="363636"/>
                </a:solidFill>
                <a:effectLst/>
                <a:latin typeface="inherit"/>
              </a:rPr>
              <a:t>the VLOOKUP function</a:t>
            </a:r>
            <a:r>
              <a:rPr lang="en-IN" b="0" i="0" dirty="0">
                <a:solidFill>
                  <a:srgbClr val="363636"/>
                </a:solidFill>
                <a:effectLst/>
                <a:latin typeface="Poppins" panose="00000500000000000000" pitchFamily="2" charset="0"/>
              </a:rPr>
              <a:t> will look for the value in the E5 cell in the (</a:t>
            </a:r>
            <a:r>
              <a:rPr lang="en-IN" b="1" i="1" dirty="0">
                <a:solidFill>
                  <a:srgbClr val="363636"/>
                </a:solidFill>
                <a:effectLst/>
                <a:latin typeface="inherit"/>
              </a:rPr>
              <a:t>B5:B10</a:t>
            </a:r>
            <a:r>
              <a:rPr lang="en-IN" b="0" i="1" dirty="0">
                <a:solidFill>
                  <a:srgbClr val="363636"/>
                </a:solidFill>
                <a:effectLst/>
                <a:latin typeface="inherit"/>
              </a:rPr>
              <a:t>)</a:t>
            </a:r>
            <a:r>
              <a:rPr lang="en-IN" b="0" i="0" dirty="0">
                <a:solidFill>
                  <a:srgbClr val="363636"/>
                </a:solidFill>
                <a:effectLst/>
                <a:latin typeface="Poppins" panose="00000500000000000000" pitchFamily="2" charset="0"/>
              </a:rPr>
              <a:t> If it finds the value, then it will return</a:t>
            </a:r>
            <a:r>
              <a:rPr lang="en-IN" b="1" i="1" dirty="0">
                <a:solidFill>
                  <a:srgbClr val="363636"/>
                </a:solidFill>
                <a:effectLst/>
                <a:latin typeface="inherit"/>
              </a:rPr>
              <a:t> 1</a:t>
            </a:r>
            <a:r>
              <a:rPr lang="en-IN" b="0" i="0" dirty="0">
                <a:solidFill>
                  <a:srgbClr val="363636"/>
                </a:solidFill>
                <a:effectLst/>
                <a:latin typeface="Poppins" panose="00000500000000000000" pitchFamily="2" charset="0"/>
              </a:rPr>
              <a:t>, otherwise, it will return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a:t>
            </a:r>
          </a:p>
          <a:p>
            <a:pPr algn="l" fontAlgn="base">
              <a:spcAft>
                <a:spcPts val="375"/>
              </a:spcAft>
              <a:buFont typeface="Arial" panose="020B0604020202020204" pitchFamily="34" charset="0"/>
              <a:buChar char="•"/>
            </a:pPr>
            <a:r>
              <a:rPr lang="en-IN" b="1" i="0" dirty="0">
                <a:solidFill>
                  <a:srgbClr val="008000"/>
                </a:solidFill>
                <a:effectLst/>
                <a:latin typeface="inherit"/>
              </a:rPr>
              <a:t>ISNA(VLOOKUP(E5,B5:B10,1,FALSE))</a:t>
            </a:r>
            <a:r>
              <a:rPr lang="en-IN" b="0" i="0" dirty="0">
                <a:solidFill>
                  <a:srgbClr val="008000"/>
                </a:solidFill>
                <a:effectLst/>
                <a:latin typeface="Poppins" panose="00000500000000000000" pitchFamily="2" charset="0"/>
              </a:rPr>
              <a:t>:</a:t>
            </a:r>
            <a:r>
              <a:rPr lang="en-IN" b="0" i="0" dirty="0">
                <a:solidFill>
                  <a:srgbClr val="363636"/>
                </a:solidFill>
                <a:effectLst/>
                <a:latin typeface="Poppins" panose="00000500000000000000" pitchFamily="2" charset="0"/>
              </a:rPr>
              <a:t> </a:t>
            </a:r>
            <a:r>
              <a:rPr lang="en-IN" b="1" i="1" dirty="0">
                <a:solidFill>
                  <a:srgbClr val="363636"/>
                </a:solidFill>
                <a:effectLst/>
                <a:latin typeface="inherit"/>
              </a:rPr>
              <a:t>The ISNA function </a:t>
            </a:r>
            <a:r>
              <a:rPr lang="en-IN" b="0" i="0" dirty="0">
                <a:solidFill>
                  <a:srgbClr val="363636"/>
                </a:solidFill>
                <a:effectLst/>
                <a:latin typeface="Poppins" panose="00000500000000000000" pitchFamily="2" charset="0"/>
              </a:rPr>
              <a:t>returns </a:t>
            </a:r>
            <a:r>
              <a:rPr lang="en-IN" b="1" i="1" dirty="0">
                <a:solidFill>
                  <a:srgbClr val="363636"/>
                </a:solidFill>
                <a:effectLst/>
                <a:latin typeface="inherit"/>
              </a:rPr>
              <a:t>TRUE </a:t>
            </a:r>
            <a:r>
              <a:rPr lang="en-IN" b="0" i="0" dirty="0">
                <a:solidFill>
                  <a:srgbClr val="363636"/>
                </a:solidFill>
                <a:effectLst/>
                <a:latin typeface="Poppins" panose="00000500000000000000" pitchFamily="2" charset="0"/>
              </a:rPr>
              <a:t>if a formula returns the</a:t>
            </a:r>
            <a:r>
              <a:rPr lang="en-IN" b="1" i="1" dirty="0">
                <a:solidFill>
                  <a:srgbClr val="363636"/>
                </a:solidFill>
                <a:effectLst/>
                <a:latin typeface="inherit"/>
              </a:rPr>
              <a:t> #N/A</a:t>
            </a:r>
            <a:r>
              <a:rPr lang="en-IN" b="0" i="0" dirty="0">
                <a:solidFill>
                  <a:srgbClr val="363636"/>
                </a:solidFill>
                <a:effectLst/>
                <a:latin typeface="Poppins" panose="00000500000000000000" pitchFamily="2" charset="0"/>
              </a:rPr>
              <a:t> error value; otherwise, it returns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 Here,</a:t>
            </a:r>
            <a:r>
              <a:rPr lang="en-IN" b="1" i="1" dirty="0">
                <a:solidFill>
                  <a:srgbClr val="363636"/>
                </a:solidFill>
                <a:effectLst/>
                <a:latin typeface="inherit"/>
              </a:rPr>
              <a:t> the VLOOKUP function </a:t>
            </a:r>
            <a:r>
              <a:rPr lang="en-IN" b="0" i="0" dirty="0">
                <a:solidFill>
                  <a:srgbClr val="363636"/>
                </a:solidFill>
                <a:effectLst/>
                <a:latin typeface="Poppins" panose="00000500000000000000" pitchFamily="2" charset="0"/>
              </a:rPr>
              <a:t>will return </a:t>
            </a:r>
            <a:r>
              <a:rPr lang="en-IN" b="1" i="1" dirty="0">
                <a:solidFill>
                  <a:srgbClr val="363636"/>
                </a:solidFill>
                <a:effectLst/>
                <a:latin typeface="inherit"/>
              </a:rPr>
              <a:t>1</a:t>
            </a:r>
            <a:r>
              <a:rPr lang="en-IN" b="0" i="0" dirty="0">
                <a:solidFill>
                  <a:srgbClr val="363636"/>
                </a:solidFill>
                <a:effectLst/>
                <a:latin typeface="Poppins" panose="00000500000000000000" pitchFamily="2" charset="0"/>
              </a:rPr>
              <a:t> and so </a:t>
            </a:r>
            <a:r>
              <a:rPr lang="en-IN" b="1" i="1" dirty="0">
                <a:solidFill>
                  <a:srgbClr val="363636"/>
                </a:solidFill>
                <a:effectLst/>
                <a:latin typeface="inherit"/>
              </a:rPr>
              <a:t>the ISNA function</a:t>
            </a:r>
            <a:r>
              <a:rPr lang="en-IN" b="0" i="0" dirty="0">
                <a:solidFill>
                  <a:srgbClr val="363636"/>
                </a:solidFill>
                <a:effectLst/>
                <a:latin typeface="Poppins" panose="00000500000000000000" pitchFamily="2" charset="0"/>
              </a:rPr>
              <a:t> will assign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 to that value.</a:t>
            </a:r>
          </a:p>
          <a:p>
            <a:pPr algn="l" fontAlgn="base">
              <a:spcAft>
                <a:spcPts val="375"/>
              </a:spcAft>
              <a:buFont typeface="Arial" panose="020B0604020202020204" pitchFamily="34" charset="0"/>
              <a:buChar char="•"/>
            </a:pPr>
            <a:r>
              <a:rPr lang="en-IN" b="1" i="0" dirty="0">
                <a:solidFill>
                  <a:srgbClr val="008000"/>
                </a:solidFill>
                <a:effectLst/>
                <a:latin typeface="inherit"/>
              </a:rPr>
              <a:t>IF(ISNA(MATCH(E5,B5:B10)),”</a:t>
            </a:r>
            <a:r>
              <a:rPr lang="en-IN" b="1" i="0" dirty="0" err="1">
                <a:solidFill>
                  <a:srgbClr val="008000"/>
                </a:solidFill>
                <a:effectLst/>
                <a:latin typeface="inherit"/>
              </a:rPr>
              <a:t>Missing”,”Found</a:t>
            </a:r>
            <a:r>
              <a:rPr lang="en-IN" b="1" i="0" dirty="0">
                <a:solidFill>
                  <a:srgbClr val="008000"/>
                </a:solidFill>
                <a:effectLst/>
                <a:latin typeface="inherit"/>
              </a:rPr>
              <a:t>”):</a:t>
            </a:r>
            <a:r>
              <a:rPr lang="en-IN" b="0" i="0" dirty="0">
                <a:solidFill>
                  <a:srgbClr val="363636"/>
                </a:solidFill>
                <a:effectLst/>
                <a:latin typeface="Poppins" panose="00000500000000000000" pitchFamily="2" charset="0"/>
              </a:rPr>
              <a:t> The initial argument is assessed by the IF function. If the argument is </a:t>
            </a:r>
            <a:r>
              <a:rPr lang="en-IN" b="1" i="1" dirty="0">
                <a:solidFill>
                  <a:srgbClr val="363636"/>
                </a:solidFill>
                <a:effectLst/>
                <a:latin typeface="inherit"/>
              </a:rPr>
              <a:t>TRUE </a:t>
            </a:r>
            <a:r>
              <a:rPr lang="en-IN" b="0" i="0" dirty="0">
                <a:solidFill>
                  <a:srgbClr val="363636"/>
                </a:solidFill>
                <a:effectLst/>
                <a:latin typeface="Poppins" panose="00000500000000000000" pitchFamily="2" charset="0"/>
              </a:rPr>
              <a:t>then it returns the second argument, and if not, it returns the third argument. Here,</a:t>
            </a:r>
            <a:r>
              <a:rPr lang="en-IN" b="1" i="1" dirty="0">
                <a:solidFill>
                  <a:srgbClr val="363636"/>
                </a:solidFill>
                <a:effectLst/>
                <a:latin typeface="inherit"/>
              </a:rPr>
              <a:t> the ISNA function</a:t>
            </a:r>
            <a:r>
              <a:rPr lang="en-IN" b="0" i="0" dirty="0">
                <a:solidFill>
                  <a:srgbClr val="363636"/>
                </a:solidFill>
                <a:effectLst/>
                <a:latin typeface="Poppins" panose="00000500000000000000" pitchFamily="2" charset="0"/>
              </a:rPr>
              <a:t> will return </a:t>
            </a:r>
            <a:r>
              <a:rPr lang="en-IN" b="1" i="1" dirty="0">
                <a:solidFill>
                  <a:srgbClr val="363636"/>
                </a:solidFill>
                <a:effectLst/>
                <a:latin typeface="inherit"/>
              </a:rPr>
              <a:t>FALSE</a:t>
            </a:r>
            <a:r>
              <a:rPr lang="en-IN" b="0" i="0" dirty="0">
                <a:solidFill>
                  <a:srgbClr val="363636"/>
                </a:solidFill>
                <a:effectLst/>
                <a:latin typeface="Poppins" panose="00000500000000000000" pitchFamily="2" charset="0"/>
              </a:rPr>
              <a:t>, and so the IF function will return</a:t>
            </a:r>
            <a:r>
              <a:rPr lang="en-IN" b="1" i="1" dirty="0">
                <a:solidFill>
                  <a:srgbClr val="363636"/>
                </a:solidFill>
                <a:effectLst/>
                <a:latin typeface="inherit"/>
              </a:rPr>
              <a:t> “Found”</a:t>
            </a:r>
            <a:r>
              <a:rPr lang="en-IN" b="0" i="0" dirty="0">
                <a:solidFill>
                  <a:srgbClr val="363636"/>
                </a:solidFill>
                <a:effectLst/>
                <a:latin typeface="Poppins" panose="00000500000000000000" pitchFamily="2" charset="0"/>
              </a:rPr>
              <a:t>. This means the value is present in the </a:t>
            </a:r>
            <a:r>
              <a:rPr lang="en-IN" b="0" i="1" dirty="0">
                <a:solidFill>
                  <a:srgbClr val="363636"/>
                </a:solidFill>
                <a:effectLst/>
                <a:latin typeface="inherit"/>
              </a:rPr>
              <a:t>(</a:t>
            </a:r>
            <a:r>
              <a:rPr lang="en-IN" b="1" i="1" dirty="0">
                <a:solidFill>
                  <a:srgbClr val="363636"/>
                </a:solidFill>
                <a:effectLst/>
                <a:latin typeface="inherit"/>
              </a:rPr>
              <a:t>B5:B10</a:t>
            </a:r>
            <a:r>
              <a:rPr lang="en-IN" b="0" i="1" dirty="0">
                <a:solidFill>
                  <a:srgbClr val="363636"/>
                </a:solidFill>
                <a:effectLst/>
                <a:latin typeface="inherit"/>
              </a:rPr>
              <a:t>)</a:t>
            </a:r>
            <a:endParaRPr lang="en-IN" b="0" i="0" dirty="0">
              <a:solidFill>
                <a:srgbClr val="363636"/>
              </a:solidFill>
              <a:effectLst/>
              <a:latin typeface="Poppins" panose="00000500000000000000" pitchFamily="2" charset="0"/>
            </a:endParaRPr>
          </a:p>
        </p:txBody>
      </p:sp>
    </p:spTree>
    <p:extLst>
      <p:ext uri="{BB962C8B-B14F-4D97-AF65-F5344CB8AC3E}">
        <p14:creationId xmlns:p14="http://schemas.microsoft.com/office/powerpoint/2010/main" val="24777018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7CF1A-078E-A850-CD9C-3633C8424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A8478-482C-225D-52FE-1A33B88956A8}"/>
              </a:ext>
            </a:extLst>
          </p:cNvPr>
          <p:cNvSpPr>
            <a:spLocks noGrp="1"/>
          </p:cNvSpPr>
          <p:nvPr>
            <p:ph type="title"/>
          </p:nvPr>
        </p:nvSpPr>
        <p:spPr>
          <a:xfrm>
            <a:off x="1371600" y="685800"/>
            <a:ext cx="9601200" cy="573833"/>
          </a:xfrm>
        </p:spPr>
        <p:txBody>
          <a:bodyPr>
            <a:normAutofit/>
          </a:bodyPr>
          <a:lstStyle/>
          <a:p>
            <a:pPr fontAlgn="base">
              <a:spcBef>
                <a:spcPts val="1500"/>
              </a:spcBef>
              <a:spcAft>
                <a:spcPts val="1500"/>
              </a:spcAft>
            </a:pPr>
            <a:r>
              <a:rPr lang="en-IN" sz="1800" b="1" i="0" dirty="0">
                <a:solidFill>
                  <a:srgbClr val="243966"/>
                </a:solidFill>
                <a:effectLst/>
                <a:latin typeface="Poppins" panose="00000500000000000000" pitchFamily="2" charset="0"/>
              </a:rPr>
              <a:t>Method 4 – Transforming Data with Formulas</a:t>
            </a:r>
            <a:endParaRPr lang="en-IN" dirty="0"/>
          </a:p>
        </p:txBody>
      </p:sp>
      <p:sp>
        <p:nvSpPr>
          <p:cNvPr id="3" name="Content Placeholder 2">
            <a:extLst>
              <a:ext uri="{FF2B5EF4-FFF2-40B4-BE49-F238E27FC236}">
                <a16:creationId xmlns:a16="http://schemas.microsoft.com/office/drawing/2014/main" id="{7DE783B8-7A23-FA5F-53C7-08CA99336FA6}"/>
              </a:ext>
            </a:extLst>
          </p:cNvPr>
          <p:cNvSpPr>
            <a:spLocks noGrp="1"/>
          </p:cNvSpPr>
          <p:nvPr>
            <p:ph idx="1"/>
          </p:nvPr>
        </p:nvSpPr>
        <p:spPr>
          <a:xfrm>
            <a:off x="1371600" y="1147665"/>
            <a:ext cx="9601200" cy="4719735"/>
          </a:xfrm>
        </p:spPr>
        <p:txBody>
          <a:bodyPr>
            <a:normAutofit/>
          </a:bodyPr>
          <a:lstStyle/>
          <a:p>
            <a:pPr algn="just" fontAlgn="base">
              <a:spcAft>
                <a:spcPts val="1125"/>
              </a:spcAft>
            </a:pPr>
            <a:r>
              <a:rPr lang="en-IN" b="0" i="0" dirty="0">
                <a:solidFill>
                  <a:srgbClr val="000000"/>
                </a:solidFill>
                <a:effectLst/>
                <a:latin typeface="Poppins" panose="00000500000000000000" pitchFamily="2" charset="0"/>
              </a:rPr>
              <a:t>The three formulas to change text are:</a:t>
            </a:r>
          </a:p>
          <a:p>
            <a:pPr algn="just" fontAlgn="base">
              <a:spcAft>
                <a:spcPts val="1125"/>
              </a:spcAft>
            </a:pPr>
            <a:r>
              <a:rPr lang="en-IN" b="1" i="0" dirty="0">
                <a:solidFill>
                  <a:srgbClr val="000000"/>
                </a:solidFill>
                <a:effectLst/>
                <a:latin typeface="inherit"/>
              </a:rPr>
              <a:t>UPPER</a:t>
            </a:r>
            <a:r>
              <a:rPr lang="en-IN" b="0" i="0" dirty="0">
                <a:solidFill>
                  <a:srgbClr val="000000"/>
                </a:solidFill>
                <a:effectLst/>
                <a:latin typeface="Poppins" panose="00000500000000000000" pitchFamily="2" charset="0"/>
              </a:rPr>
              <a:t>: This formula converts the text to ALL UPPERCASE.</a:t>
            </a:r>
          </a:p>
          <a:p>
            <a:pPr algn="just" fontAlgn="base">
              <a:spcAft>
                <a:spcPts val="1125"/>
              </a:spcAft>
            </a:pPr>
            <a:r>
              <a:rPr lang="en-IN" b="1" i="0" dirty="0">
                <a:solidFill>
                  <a:srgbClr val="000000"/>
                </a:solidFill>
                <a:effectLst/>
                <a:latin typeface="inherit"/>
              </a:rPr>
              <a:t>LOWER</a:t>
            </a:r>
            <a:r>
              <a:rPr lang="en-IN" b="0" i="0" dirty="0">
                <a:solidFill>
                  <a:srgbClr val="000000"/>
                </a:solidFill>
                <a:effectLst/>
                <a:latin typeface="Poppins" panose="00000500000000000000" pitchFamily="2" charset="0"/>
              </a:rPr>
              <a:t>: This formula converts the text to all lowercase.</a:t>
            </a:r>
          </a:p>
          <a:p>
            <a:pPr algn="just" fontAlgn="base">
              <a:spcAft>
                <a:spcPts val="1125"/>
              </a:spcAft>
            </a:pPr>
            <a:r>
              <a:rPr lang="en-IN" b="1" i="0" dirty="0">
                <a:solidFill>
                  <a:srgbClr val="000000"/>
                </a:solidFill>
                <a:effectLst/>
                <a:latin typeface="inherit"/>
              </a:rPr>
              <a:t>PROPER</a:t>
            </a:r>
            <a:r>
              <a:rPr lang="en-IN" b="0" i="0" dirty="0">
                <a:solidFill>
                  <a:srgbClr val="000000"/>
                </a:solidFill>
                <a:effectLst/>
                <a:latin typeface="Poppins" panose="00000500000000000000" pitchFamily="2" charset="0"/>
              </a:rPr>
              <a:t>: This one converts the text to Proper Case (the first letter in each word will be capitalized, as in a proper name).</a:t>
            </a:r>
          </a:p>
          <a:p>
            <a:pPr algn="just" fontAlgn="base">
              <a:spcAft>
                <a:spcPts val="1125"/>
              </a:spcAft>
            </a:pPr>
            <a:r>
              <a:rPr lang="en-IN" b="0" i="0" dirty="0">
                <a:solidFill>
                  <a:srgbClr val="000000"/>
                </a:solidFill>
                <a:effectLst/>
                <a:latin typeface="Poppins" panose="00000500000000000000" pitchFamily="2" charset="0"/>
              </a:rPr>
              <a:t>We will use the following dataset.</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DE29FB25-52A9-2954-956F-631EF24F79AD}"/>
              </a:ext>
            </a:extLst>
          </p:cNvPr>
          <p:cNvPicPr>
            <a:picLocks noChangeAspect="1"/>
          </p:cNvPicPr>
          <p:nvPr/>
        </p:nvPicPr>
        <p:blipFill>
          <a:blip r:embed="rId2"/>
          <a:stretch>
            <a:fillRect/>
          </a:stretch>
        </p:blipFill>
        <p:spPr>
          <a:xfrm>
            <a:off x="2781719" y="4063888"/>
            <a:ext cx="5333581" cy="2431932"/>
          </a:xfrm>
          <a:prstGeom prst="rect">
            <a:avLst/>
          </a:prstGeom>
        </p:spPr>
      </p:pic>
    </p:spTree>
    <p:extLst>
      <p:ext uri="{BB962C8B-B14F-4D97-AF65-F5344CB8AC3E}">
        <p14:creationId xmlns:p14="http://schemas.microsoft.com/office/powerpoint/2010/main" val="11417848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04D7A-2093-3DC6-0428-D57D5721DD54}"/>
              </a:ext>
            </a:extLst>
          </p:cNvPr>
          <p:cNvSpPr>
            <a:spLocks noGrp="1"/>
          </p:cNvSpPr>
          <p:nvPr>
            <p:ph type="title"/>
          </p:nvPr>
        </p:nvSpPr>
        <p:spPr>
          <a:xfrm>
            <a:off x="1371600" y="685800"/>
            <a:ext cx="9601200" cy="611155"/>
          </a:xfrm>
        </p:spPr>
        <p:txBody>
          <a:bodyPr>
            <a:normAutofit/>
          </a:bodyPr>
          <a:lstStyle/>
          <a:p>
            <a:pPr fontAlgn="base">
              <a:spcAft>
                <a:spcPts val="1125"/>
              </a:spcAft>
            </a:pPr>
            <a:r>
              <a:rPr lang="en-IN" sz="1800" b="1" i="0" dirty="0">
                <a:solidFill>
                  <a:srgbClr val="008000"/>
                </a:solidFill>
                <a:effectLst/>
                <a:latin typeface="inherit"/>
              </a:rPr>
              <a:t>Changing to Upper Case</a:t>
            </a:r>
            <a:endParaRPr lang="en-IN" dirty="0"/>
          </a:p>
        </p:txBody>
      </p:sp>
      <p:sp>
        <p:nvSpPr>
          <p:cNvPr id="3" name="Content Placeholder 2">
            <a:extLst>
              <a:ext uri="{FF2B5EF4-FFF2-40B4-BE49-F238E27FC236}">
                <a16:creationId xmlns:a16="http://schemas.microsoft.com/office/drawing/2014/main" id="{01A8FF64-5D10-5C1B-9881-13E388E8724B}"/>
              </a:ext>
            </a:extLst>
          </p:cNvPr>
          <p:cNvSpPr>
            <a:spLocks noGrp="1"/>
          </p:cNvSpPr>
          <p:nvPr>
            <p:ph idx="1"/>
          </p:nvPr>
        </p:nvSpPr>
        <p:spPr>
          <a:xfrm>
            <a:off x="1371600" y="1203649"/>
            <a:ext cx="9601200" cy="4663751"/>
          </a:xfrm>
        </p:spPr>
        <p:txBody>
          <a:bodyPr/>
          <a:lstStyle/>
          <a:p>
            <a:pPr algn="just" fontAlgn="base">
              <a:spcAft>
                <a:spcPts val="1125"/>
              </a:spcAft>
              <a:buFont typeface="Wingdings" panose="05000000000000000000" pitchFamily="2" charset="2"/>
              <a:buChar char="§"/>
            </a:pPr>
            <a:r>
              <a:rPr lang="en-IN" sz="1800" b="1" dirty="0">
                <a:solidFill>
                  <a:srgbClr val="000000"/>
                </a:solidFill>
                <a:effectLst/>
                <a:latin typeface="inherit"/>
              </a:rPr>
              <a:t>Steps:</a:t>
            </a:r>
            <a:endParaRPr lang="en-IN" dirty="0">
              <a:solidFill>
                <a:srgbClr val="000000"/>
              </a:solidFill>
              <a:effectLst/>
              <a:latin typeface="Poppins" panose="00000500000000000000" pitchFamily="2" charset="0"/>
            </a:endParaRPr>
          </a:p>
          <a:p>
            <a:pPr fontAlgn="base">
              <a:spcAft>
                <a:spcPts val="375"/>
              </a:spcAft>
              <a:buFont typeface="Wingdings" panose="05000000000000000000" pitchFamily="2" charset="2"/>
              <a:buChar char="§"/>
            </a:pPr>
            <a:r>
              <a:rPr lang="en-IN" dirty="0">
                <a:effectLst/>
              </a:rPr>
              <a:t>Select cell </a:t>
            </a:r>
            <a:r>
              <a:rPr lang="en-IN" b="1" dirty="0">
                <a:effectLst/>
                <a:latin typeface="inherit"/>
              </a:rPr>
              <a:t>C5</a:t>
            </a:r>
            <a:r>
              <a:rPr lang="en-IN" dirty="0">
                <a:effectLst/>
              </a:rPr>
              <a:t>.</a:t>
            </a:r>
          </a:p>
          <a:p>
            <a:pPr fontAlgn="base">
              <a:spcAft>
                <a:spcPts val="375"/>
              </a:spcAft>
              <a:buFont typeface="Wingdings" panose="05000000000000000000" pitchFamily="2" charset="2"/>
              <a:buChar char="§"/>
            </a:pPr>
            <a:r>
              <a:rPr lang="en-IN" dirty="0">
                <a:effectLst/>
              </a:rPr>
              <a:t>Use the following formula in it.</a:t>
            </a:r>
          </a:p>
          <a:p>
            <a:pPr>
              <a:buFont typeface="Wingdings" panose="05000000000000000000" pitchFamily="2" charset="2"/>
              <a:buChar char="§"/>
            </a:pPr>
            <a:r>
              <a:rPr lang="en-IN" sz="1800" b="1" dirty="0">
                <a:solidFill>
                  <a:srgbClr val="000000"/>
                </a:solidFill>
                <a:latin typeface="inherit"/>
              </a:rPr>
              <a:t>=UPPER(B5)</a:t>
            </a:r>
            <a:endParaRPr lang="en-IN" dirty="0"/>
          </a:p>
        </p:txBody>
      </p:sp>
      <p:pic>
        <p:nvPicPr>
          <p:cNvPr id="5" name="Picture 4">
            <a:extLst>
              <a:ext uri="{FF2B5EF4-FFF2-40B4-BE49-F238E27FC236}">
                <a16:creationId xmlns:a16="http://schemas.microsoft.com/office/drawing/2014/main" id="{D4C8CC80-F469-C64E-8ECA-7BB38257411A}"/>
              </a:ext>
            </a:extLst>
          </p:cNvPr>
          <p:cNvPicPr>
            <a:picLocks noChangeAspect="1"/>
          </p:cNvPicPr>
          <p:nvPr/>
        </p:nvPicPr>
        <p:blipFill>
          <a:blip r:embed="rId2"/>
          <a:stretch>
            <a:fillRect/>
          </a:stretch>
        </p:blipFill>
        <p:spPr>
          <a:xfrm>
            <a:off x="1953101" y="3111494"/>
            <a:ext cx="7619048" cy="2542857"/>
          </a:xfrm>
          <a:prstGeom prst="rect">
            <a:avLst/>
          </a:prstGeom>
        </p:spPr>
      </p:pic>
    </p:spTree>
    <p:extLst>
      <p:ext uri="{BB962C8B-B14F-4D97-AF65-F5344CB8AC3E}">
        <p14:creationId xmlns:p14="http://schemas.microsoft.com/office/powerpoint/2010/main" val="27270735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1370DF-8328-340F-25F8-EB566864BB52}"/>
              </a:ext>
            </a:extLst>
          </p:cNvPr>
          <p:cNvSpPr>
            <a:spLocks noGrp="1"/>
          </p:cNvSpPr>
          <p:nvPr>
            <p:ph idx="1"/>
          </p:nvPr>
        </p:nvSpPr>
        <p:spPr>
          <a:xfrm>
            <a:off x="1381125" y="481012"/>
            <a:ext cx="9601200" cy="5895975"/>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endParaRPr lang="en-IN" dirty="0"/>
          </a:p>
          <a:p>
            <a:endParaRPr lang="en-IN" dirty="0"/>
          </a:p>
          <a:p>
            <a:endParaRPr lang="en-IN" dirty="0"/>
          </a:p>
          <a:p>
            <a:endParaRPr lang="en-IN" dirty="0"/>
          </a:p>
          <a:p>
            <a:endParaRPr lang="en-IN" dirty="0"/>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the cell again and click and drag the fill handle icon down to fill the rest of the cells with the formula.</a:t>
            </a:r>
          </a:p>
          <a:p>
            <a:pPr marL="0" indent="0">
              <a:buNone/>
            </a:pPr>
            <a:endParaRPr lang="en-IN" dirty="0"/>
          </a:p>
        </p:txBody>
      </p:sp>
      <p:pic>
        <p:nvPicPr>
          <p:cNvPr id="5" name="Picture 4">
            <a:extLst>
              <a:ext uri="{FF2B5EF4-FFF2-40B4-BE49-F238E27FC236}">
                <a16:creationId xmlns:a16="http://schemas.microsoft.com/office/drawing/2014/main" id="{1029544F-CF09-2E9E-6B40-C0CE648C9B59}"/>
              </a:ext>
            </a:extLst>
          </p:cNvPr>
          <p:cNvPicPr>
            <a:picLocks noChangeAspect="1"/>
          </p:cNvPicPr>
          <p:nvPr/>
        </p:nvPicPr>
        <p:blipFill>
          <a:blip r:embed="rId2"/>
          <a:stretch>
            <a:fillRect/>
          </a:stretch>
        </p:blipFill>
        <p:spPr>
          <a:xfrm>
            <a:off x="1800701" y="957423"/>
            <a:ext cx="7619048" cy="2052478"/>
          </a:xfrm>
          <a:prstGeom prst="rect">
            <a:avLst/>
          </a:prstGeom>
        </p:spPr>
      </p:pic>
      <p:pic>
        <p:nvPicPr>
          <p:cNvPr id="7" name="Picture 6">
            <a:extLst>
              <a:ext uri="{FF2B5EF4-FFF2-40B4-BE49-F238E27FC236}">
                <a16:creationId xmlns:a16="http://schemas.microsoft.com/office/drawing/2014/main" id="{A0E44AC6-B2C5-C437-AE28-8BB1A907809E}"/>
              </a:ext>
            </a:extLst>
          </p:cNvPr>
          <p:cNvPicPr>
            <a:picLocks noChangeAspect="1"/>
          </p:cNvPicPr>
          <p:nvPr/>
        </p:nvPicPr>
        <p:blipFill>
          <a:blip r:embed="rId3"/>
          <a:stretch>
            <a:fillRect/>
          </a:stretch>
        </p:blipFill>
        <p:spPr>
          <a:xfrm>
            <a:off x="1800701" y="3848100"/>
            <a:ext cx="7619048" cy="2380919"/>
          </a:xfrm>
          <a:prstGeom prst="rect">
            <a:avLst/>
          </a:prstGeom>
        </p:spPr>
      </p:pic>
    </p:spTree>
    <p:extLst>
      <p:ext uri="{BB962C8B-B14F-4D97-AF65-F5344CB8AC3E}">
        <p14:creationId xmlns:p14="http://schemas.microsoft.com/office/powerpoint/2010/main" val="24292889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685A1-A42E-3C13-AB35-30619981F87F}"/>
              </a:ext>
            </a:extLst>
          </p:cNvPr>
          <p:cNvSpPr>
            <a:spLocks noGrp="1"/>
          </p:cNvSpPr>
          <p:nvPr>
            <p:ph type="title"/>
          </p:nvPr>
        </p:nvSpPr>
        <p:spPr>
          <a:xfrm>
            <a:off x="1371600" y="685800"/>
            <a:ext cx="9601200" cy="495300"/>
          </a:xfrm>
        </p:spPr>
        <p:txBody>
          <a:bodyPr>
            <a:normAutofit/>
          </a:bodyPr>
          <a:lstStyle/>
          <a:p>
            <a:pPr fontAlgn="base">
              <a:spcAft>
                <a:spcPts val="1125"/>
              </a:spcAft>
            </a:pPr>
            <a:r>
              <a:rPr lang="en-IN" sz="1800" b="1" i="0" dirty="0">
                <a:solidFill>
                  <a:srgbClr val="008000"/>
                </a:solidFill>
                <a:effectLst/>
                <a:latin typeface="inherit"/>
              </a:rPr>
              <a:t>Changing to Lower Case</a:t>
            </a:r>
            <a:endParaRPr lang="en-IN" dirty="0"/>
          </a:p>
        </p:txBody>
      </p:sp>
      <p:sp>
        <p:nvSpPr>
          <p:cNvPr id="3" name="Content Placeholder 2">
            <a:extLst>
              <a:ext uri="{FF2B5EF4-FFF2-40B4-BE49-F238E27FC236}">
                <a16:creationId xmlns:a16="http://schemas.microsoft.com/office/drawing/2014/main" id="{9595F5AF-3637-6158-7D15-5F1E50C66FDD}"/>
              </a:ext>
            </a:extLst>
          </p:cNvPr>
          <p:cNvSpPr>
            <a:spLocks noGrp="1"/>
          </p:cNvSpPr>
          <p:nvPr>
            <p:ph idx="1"/>
          </p:nvPr>
        </p:nvSpPr>
        <p:spPr>
          <a:xfrm>
            <a:off x="1466850" y="1181099"/>
            <a:ext cx="9601200" cy="5591175"/>
          </a:xfrm>
        </p:spPr>
        <p:txBody>
          <a:bodyPr/>
          <a:lstStyle/>
          <a:p>
            <a:pPr algn="just" fontAlgn="base">
              <a:spcAft>
                <a:spcPts val="1125"/>
              </a:spcAft>
              <a:buFont typeface="Wingdings" panose="05000000000000000000" pitchFamily="2" charset="2"/>
              <a:buChar char="§"/>
            </a:pPr>
            <a:r>
              <a:rPr lang="en-IN" sz="1800" b="1" dirty="0">
                <a:solidFill>
                  <a:srgbClr val="000000"/>
                </a:solidFill>
                <a:effectLst/>
                <a:latin typeface="inherit"/>
              </a:rPr>
              <a:t>Steps:</a:t>
            </a:r>
            <a:endParaRPr lang="en-IN" dirty="0">
              <a:solidFill>
                <a:srgbClr val="000000"/>
              </a:solidFill>
              <a:effectLst/>
              <a:latin typeface="Poppins" panose="00000500000000000000" pitchFamily="2" charset="0"/>
            </a:endParaRPr>
          </a:p>
          <a:p>
            <a:pPr fontAlgn="base">
              <a:spcAft>
                <a:spcPts val="375"/>
              </a:spcAft>
              <a:buFont typeface="Wingdings" panose="05000000000000000000" pitchFamily="2" charset="2"/>
              <a:buChar char="§"/>
            </a:pPr>
            <a:r>
              <a:rPr lang="en-IN" dirty="0">
                <a:effectLst/>
              </a:rPr>
              <a:t>Select cell </a:t>
            </a:r>
            <a:r>
              <a:rPr lang="en-IN" b="1" dirty="0">
                <a:effectLst/>
                <a:latin typeface="inherit"/>
              </a:rPr>
              <a:t>D5</a:t>
            </a:r>
            <a:r>
              <a:rPr lang="en-IN" dirty="0">
                <a:effectLst/>
              </a:rPr>
              <a:t>.</a:t>
            </a:r>
          </a:p>
          <a:p>
            <a:pPr fontAlgn="base">
              <a:spcAft>
                <a:spcPts val="375"/>
              </a:spcAft>
              <a:buFont typeface="Wingdings" panose="05000000000000000000" pitchFamily="2" charset="2"/>
              <a:buChar char="§"/>
            </a:pPr>
            <a:r>
              <a:rPr lang="en-IN" dirty="0">
                <a:effectLst/>
              </a:rPr>
              <a:t>Use the following formula in it.</a:t>
            </a:r>
          </a:p>
          <a:p>
            <a:pPr>
              <a:buFont typeface="Wingdings" panose="05000000000000000000" pitchFamily="2" charset="2"/>
              <a:buChar char="§"/>
            </a:pPr>
            <a:r>
              <a:rPr lang="en-IN" sz="1800" b="1" dirty="0">
                <a:solidFill>
                  <a:srgbClr val="000000"/>
                </a:solidFill>
                <a:latin typeface="inherit"/>
              </a:rPr>
              <a:t>=LOWER(B5)</a:t>
            </a:r>
            <a:endParaRPr lang="en-IN" dirty="0"/>
          </a:p>
        </p:txBody>
      </p:sp>
      <p:pic>
        <p:nvPicPr>
          <p:cNvPr id="5" name="Picture 4">
            <a:extLst>
              <a:ext uri="{FF2B5EF4-FFF2-40B4-BE49-F238E27FC236}">
                <a16:creationId xmlns:a16="http://schemas.microsoft.com/office/drawing/2014/main" id="{319F134D-505C-D03A-79E4-6A67182E38C1}"/>
              </a:ext>
            </a:extLst>
          </p:cNvPr>
          <p:cNvPicPr>
            <a:picLocks noChangeAspect="1"/>
          </p:cNvPicPr>
          <p:nvPr/>
        </p:nvPicPr>
        <p:blipFill>
          <a:blip r:embed="rId2"/>
          <a:stretch>
            <a:fillRect/>
          </a:stretch>
        </p:blipFill>
        <p:spPr>
          <a:xfrm>
            <a:off x="2000726" y="3195770"/>
            <a:ext cx="7619048" cy="2123810"/>
          </a:xfrm>
          <a:prstGeom prst="rect">
            <a:avLst/>
          </a:prstGeom>
        </p:spPr>
      </p:pic>
    </p:spTree>
    <p:extLst>
      <p:ext uri="{BB962C8B-B14F-4D97-AF65-F5344CB8AC3E}">
        <p14:creationId xmlns:p14="http://schemas.microsoft.com/office/powerpoint/2010/main" val="28389180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AE034-C09C-1E61-31AE-83B0BC124AAB}"/>
              </a:ext>
            </a:extLst>
          </p:cNvPr>
          <p:cNvSpPr>
            <a:spLocks noGrp="1"/>
          </p:cNvSpPr>
          <p:nvPr>
            <p:ph idx="1"/>
          </p:nvPr>
        </p:nvSpPr>
        <p:spPr>
          <a:xfrm>
            <a:off x="1371600" y="428625"/>
            <a:ext cx="9601200" cy="5438775"/>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endParaRPr lang="en-IN" dirty="0"/>
          </a:p>
          <a:p>
            <a:endParaRPr lang="en-IN" dirty="0"/>
          </a:p>
          <a:p>
            <a:endParaRPr lang="en-IN" dirty="0"/>
          </a:p>
          <a:p>
            <a:endParaRPr lang="en-IN" dirty="0"/>
          </a:p>
          <a:p>
            <a:endParaRPr lang="en-IN" dirty="0"/>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Select the cell again and click and drag the fill handle icon down to fill the rest of the cells with the formula.</a:t>
            </a:r>
          </a:p>
          <a:p>
            <a:pPr marL="0" indent="0">
              <a:buNone/>
            </a:pP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E88132BC-5738-8103-B8DF-3B832E1433B8}"/>
              </a:ext>
            </a:extLst>
          </p:cNvPr>
          <p:cNvPicPr>
            <a:picLocks noChangeAspect="1"/>
          </p:cNvPicPr>
          <p:nvPr/>
        </p:nvPicPr>
        <p:blipFill>
          <a:blip r:embed="rId2"/>
          <a:stretch>
            <a:fillRect/>
          </a:stretch>
        </p:blipFill>
        <p:spPr>
          <a:xfrm>
            <a:off x="1762601" y="895482"/>
            <a:ext cx="7619048" cy="2114286"/>
          </a:xfrm>
          <a:prstGeom prst="rect">
            <a:avLst/>
          </a:prstGeom>
        </p:spPr>
      </p:pic>
      <p:pic>
        <p:nvPicPr>
          <p:cNvPr id="7" name="Picture 6">
            <a:extLst>
              <a:ext uri="{FF2B5EF4-FFF2-40B4-BE49-F238E27FC236}">
                <a16:creationId xmlns:a16="http://schemas.microsoft.com/office/drawing/2014/main" id="{3716DA41-5D6C-0F09-847F-486935171767}"/>
              </a:ext>
            </a:extLst>
          </p:cNvPr>
          <p:cNvPicPr>
            <a:picLocks noChangeAspect="1"/>
          </p:cNvPicPr>
          <p:nvPr/>
        </p:nvPicPr>
        <p:blipFill>
          <a:blip r:embed="rId3"/>
          <a:stretch>
            <a:fillRect/>
          </a:stretch>
        </p:blipFill>
        <p:spPr>
          <a:xfrm>
            <a:off x="1905476" y="3848233"/>
            <a:ext cx="7619048" cy="2171429"/>
          </a:xfrm>
          <a:prstGeom prst="rect">
            <a:avLst/>
          </a:prstGeom>
        </p:spPr>
      </p:pic>
    </p:spTree>
    <p:extLst>
      <p:ext uri="{BB962C8B-B14F-4D97-AF65-F5344CB8AC3E}">
        <p14:creationId xmlns:p14="http://schemas.microsoft.com/office/powerpoint/2010/main" val="18301156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364E6-5845-2333-2662-60159B4B3926}"/>
              </a:ext>
            </a:extLst>
          </p:cNvPr>
          <p:cNvSpPr>
            <a:spLocks noGrp="1"/>
          </p:cNvSpPr>
          <p:nvPr>
            <p:ph type="title"/>
          </p:nvPr>
        </p:nvSpPr>
        <p:spPr>
          <a:xfrm>
            <a:off x="1371600" y="685800"/>
            <a:ext cx="9601200" cy="457200"/>
          </a:xfrm>
        </p:spPr>
        <p:txBody>
          <a:bodyPr>
            <a:normAutofit/>
          </a:bodyPr>
          <a:lstStyle/>
          <a:p>
            <a:pPr fontAlgn="base">
              <a:spcAft>
                <a:spcPts val="1125"/>
              </a:spcAft>
            </a:pPr>
            <a:r>
              <a:rPr lang="en-IN" sz="1800" b="1" dirty="0">
                <a:solidFill>
                  <a:srgbClr val="008000"/>
                </a:solidFill>
                <a:effectLst/>
                <a:latin typeface="inherit"/>
              </a:rPr>
              <a:t>Changing to Proper Case</a:t>
            </a:r>
            <a:endParaRPr lang="en-IN" dirty="0"/>
          </a:p>
        </p:txBody>
      </p:sp>
      <p:sp>
        <p:nvSpPr>
          <p:cNvPr id="3" name="Content Placeholder 2">
            <a:extLst>
              <a:ext uri="{FF2B5EF4-FFF2-40B4-BE49-F238E27FC236}">
                <a16:creationId xmlns:a16="http://schemas.microsoft.com/office/drawing/2014/main" id="{4460E69C-9660-634E-BFEA-00DF91DF2314}"/>
              </a:ext>
            </a:extLst>
          </p:cNvPr>
          <p:cNvSpPr>
            <a:spLocks noGrp="1"/>
          </p:cNvSpPr>
          <p:nvPr>
            <p:ph idx="1"/>
          </p:nvPr>
        </p:nvSpPr>
        <p:spPr>
          <a:xfrm>
            <a:off x="1371600" y="990600"/>
            <a:ext cx="9972675" cy="5867400"/>
          </a:xfrm>
        </p:spPr>
        <p:txBody>
          <a:bodyPr>
            <a:noAutofit/>
          </a:bodyPr>
          <a:lstStyle/>
          <a:p>
            <a:pPr marL="0" indent="0" algn="just" fontAlgn="base">
              <a:spcAft>
                <a:spcPts val="1125"/>
              </a:spcAft>
              <a:buNone/>
            </a:pPr>
            <a:r>
              <a:rPr lang="en-IN" sz="1600" b="1" dirty="0">
                <a:solidFill>
                  <a:srgbClr val="000000"/>
                </a:solidFill>
                <a:effectLst/>
                <a:latin typeface="inherit"/>
              </a:rPr>
              <a:t>Steps:</a:t>
            </a:r>
          </a:p>
          <a:p>
            <a:pPr algn="just" fontAlgn="base">
              <a:spcAft>
                <a:spcPts val="1125"/>
              </a:spcAft>
              <a:buFont typeface="Wingdings" panose="05000000000000000000" pitchFamily="2" charset="2"/>
              <a:buChar char="§"/>
            </a:pPr>
            <a:r>
              <a:rPr lang="en-IN" sz="1600" dirty="0">
                <a:effectLst/>
              </a:rPr>
              <a:t>Select cell </a:t>
            </a:r>
            <a:r>
              <a:rPr lang="en-IN" sz="1600" b="1" dirty="0">
                <a:effectLst/>
                <a:latin typeface="inherit"/>
              </a:rPr>
              <a:t>E5</a:t>
            </a:r>
            <a:r>
              <a:rPr lang="en-IN" sz="1600" dirty="0">
                <a:effectLst/>
              </a:rPr>
              <a:t>.Use the following formula in it.</a:t>
            </a:r>
          </a:p>
          <a:p>
            <a:pPr>
              <a:buFont typeface="Wingdings" panose="05000000000000000000" pitchFamily="2" charset="2"/>
              <a:buChar char="§"/>
            </a:pPr>
            <a:r>
              <a:rPr lang="en-IN" sz="1600" b="1" dirty="0">
                <a:solidFill>
                  <a:srgbClr val="000000"/>
                </a:solidFill>
                <a:latin typeface="inherit"/>
              </a:rPr>
              <a:t>=PROPER(B5) , </a:t>
            </a:r>
            <a:r>
              <a:rPr lang="en-IN" sz="1600" b="0" i="0" dirty="0">
                <a:solidFill>
                  <a:srgbClr val="333333"/>
                </a:solidFill>
                <a:effectLst/>
                <a:latin typeface="Poppins" panose="00000500000000000000" pitchFamily="2" charset="0"/>
              </a:rPr>
              <a:t>Press </a:t>
            </a:r>
            <a:r>
              <a:rPr lang="en-IN" sz="1600" b="1" i="0" dirty="0">
                <a:solidFill>
                  <a:srgbClr val="333333"/>
                </a:solidFill>
                <a:effectLst/>
                <a:latin typeface="inherit"/>
              </a:rPr>
              <a:t>Enter</a:t>
            </a:r>
            <a:r>
              <a:rPr lang="en-IN" sz="1600" b="0" i="0" dirty="0">
                <a:solidFill>
                  <a:srgbClr val="333333"/>
                </a:solidFill>
                <a:effectLst/>
                <a:latin typeface="Poppins" panose="00000500000000000000" pitchFamily="2" charset="0"/>
              </a:rPr>
              <a:t>.</a:t>
            </a:r>
          </a:p>
          <a:p>
            <a:endParaRPr lang="en-IN" sz="1600" dirty="0">
              <a:solidFill>
                <a:srgbClr val="333333"/>
              </a:solidFill>
              <a:latin typeface="Poppins" panose="00000500000000000000" pitchFamily="2" charset="0"/>
            </a:endParaRPr>
          </a:p>
          <a:p>
            <a:endParaRPr lang="en-IN" sz="1600" b="0" i="0" dirty="0">
              <a:solidFill>
                <a:srgbClr val="333333"/>
              </a:solidFill>
              <a:effectLst/>
              <a:latin typeface="Poppins" panose="00000500000000000000" pitchFamily="2" charset="0"/>
            </a:endParaRPr>
          </a:p>
          <a:p>
            <a:endParaRPr lang="en-IN" sz="1600" dirty="0">
              <a:solidFill>
                <a:srgbClr val="333333"/>
              </a:solidFill>
              <a:latin typeface="Poppins" panose="00000500000000000000" pitchFamily="2" charset="0"/>
            </a:endParaRPr>
          </a:p>
          <a:p>
            <a:endParaRPr lang="en-IN" sz="1600" b="0" i="0" dirty="0">
              <a:solidFill>
                <a:srgbClr val="333333"/>
              </a:solidFill>
              <a:effectLst/>
              <a:latin typeface="Poppins" panose="00000500000000000000" pitchFamily="2" charset="0"/>
            </a:endParaRPr>
          </a:p>
          <a:p>
            <a:endParaRPr lang="en-IN" sz="1600" dirty="0">
              <a:solidFill>
                <a:srgbClr val="333333"/>
              </a:solidFill>
              <a:latin typeface="Poppins" panose="00000500000000000000" pitchFamily="2" charset="0"/>
            </a:endParaRPr>
          </a:p>
          <a:p>
            <a:pPr algn="l" fontAlgn="base">
              <a:spcAft>
                <a:spcPts val="375"/>
              </a:spcAft>
              <a:buFont typeface="Wingdings" panose="05000000000000000000" pitchFamily="2" charset="2"/>
              <a:buChar char="§"/>
            </a:pPr>
            <a:r>
              <a:rPr lang="en-IN" sz="1600" b="0" i="0" dirty="0">
                <a:solidFill>
                  <a:srgbClr val="333333"/>
                </a:solidFill>
                <a:effectLst/>
                <a:latin typeface="Poppins" panose="00000500000000000000" pitchFamily="2" charset="0"/>
              </a:rPr>
              <a:t>Select the cell again and click and drag the fill handle icon down to fill out the rest of the cells.</a:t>
            </a:r>
          </a:p>
          <a:p>
            <a:pPr marL="0" indent="0">
              <a:buNone/>
            </a:pPr>
            <a:r>
              <a:rPr lang="en-IN" sz="1600" dirty="0"/>
              <a:t/>
            </a:r>
            <a:br>
              <a:rPr lang="en-IN" sz="1600" dirty="0"/>
            </a:br>
            <a:endParaRPr lang="en-IN" sz="1600" b="0" i="0" dirty="0">
              <a:solidFill>
                <a:srgbClr val="333333"/>
              </a:solidFill>
              <a:effectLst/>
              <a:latin typeface="Poppins" panose="00000500000000000000" pitchFamily="2" charset="0"/>
            </a:endParaRPr>
          </a:p>
          <a:p>
            <a:pPr marL="0" indent="0">
              <a:buNone/>
            </a:pPr>
            <a:r>
              <a:rPr lang="en-IN" sz="1600" dirty="0"/>
              <a:t/>
            </a:r>
            <a:br>
              <a:rPr lang="en-IN" sz="1600" dirty="0"/>
            </a:br>
            <a:r>
              <a:rPr lang="en-IN" sz="1600" b="1" i="0" dirty="0">
                <a:solidFill>
                  <a:srgbClr val="000000"/>
                </a:solidFill>
                <a:effectLst/>
                <a:latin typeface="inherit"/>
              </a:rPr>
              <a:t/>
            </a:r>
            <a:br>
              <a:rPr lang="en-IN" sz="1600" b="1" i="0" dirty="0">
                <a:solidFill>
                  <a:srgbClr val="000000"/>
                </a:solidFill>
                <a:effectLst/>
                <a:latin typeface="inherit"/>
              </a:rPr>
            </a:br>
            <a:endParaRPr lang="en-IN" sz="1600" dirty="0"/>
          </a:p>
        </p:txBody>
      </p:sp>
      <p:pic>
        <p:nvPicPr>
          <p:cNvPr id="5" name="Picture 4">
            <a:extLst>
              <a:ext uri="{FF2B5EF4-FFF2-40B4-BE49-F238E27FC236}">
                <a16:creationId xmlns:a16="http://schemas.microsoft.com/office/drawing/2014/main" id="{2339D972-0CEB-D3B6-FD6D-14F6689486B4}"/>
              </a:ext>
            </a:extLst>
          </p:cNvPr>
          <p:cNvPicPr>
            <a:picLocks noChangeAspect="1"/>
          </p:cNvPicPr>
          <p:nvPr/>
        </p:nvPicPr>
        <p:blipFill>
          <a:blip r:embed="rId2"/>
          <a:stretch>
            <a:fillRect/>
          </a:stretch>
        </p:blipFill>
        <p:spPr>
          <a:xfrm>
            <a:off x="1829276" y="2439872"/>
            <a:ext cx="7962900" cy="1627303"/>
          </a:xfrm>
          <a:prstGeom prst="rect">
            <a:avLst/>
          </a:prstGeom>
        </p:spPr>
      </p:pic>
      <p:pic>
        <p:nvPicPr>
          <p:cNvPr id="7" name="Picture 6">
            <a:extLst>
              <a:ext uri="{FF2B5EF4-FFF2-40B4-BE49-F238E27FC236}">
                <a16:creationId xmlns:a16="http://schemas.microsoft.com/office/drawing/2014/main" id="{81EE74ED-0721-D0B2-B1A5-8B8D84A0AF10}"/>
              </a:ext>
            </a:extLst>
          </p:cNvPr>
          <p:cNvPicPr>
            <a:picLocks noChangeAspect="1"/>
          </p:cNvPicPr>
          <p:nvPr/>
        </p:nvPicPr>
        <p:blipFill>
          <a:blip r:embed="rId3"/>
          <a:stretch>
            <a:fillRect/>
          </a:stretch>
        </p:blipFill>
        <p:spPr>
          <a:xfrm>
            <a:off x="1762601" y="4808145"/>
            <a:ext cx="8029575" cy="2049855"/>
          </a:xfrm>
          <a:prstGeom prst="rect">
            <a:avLst/>
          </a:prstGeom>
        </p:spPr>
      </p:pic>
    </p:spTree>
    <p:extLst>
      <p:ext uri="{BB962C8B-B14F-4D97-AF65-F5344CB8AC3E}">
        <p14:creationId xmlns:p14="http://schemas.microsoft.com/office/powerpoint/2010/main" val="21073097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42B60-B2D7-4E09-4364-E3B82260C7A5}"/>
              </a:ext>
            </a:extLst>
          </p:cNvPr>
          <p:cNvSpPr>
            <a:spLocks noGrp="1"/>
          </p:cNvSpPr>
          <p:nvPr>
            <p:ph type="title"/>
          </p:nvPr>
        </p:nvSpPr>
        <p:spPr>
          <a:xfrm>
            <a:off x="1371600" y="685800"/>
            <a:ext cx="9601200" cy="581025"/>
          </a:xfrm>
        </p:spPr>
        <p:txBody>
          <a:bodyPr>
            <a:normAutofit/>
          </a:bodyPr>
          <a:lstStyle/>
          <a:p>
            <a:pPr fontAlgn="base">
              <a:spcBef>
                <a:spcPts val="1500"/>
              </a:spcBef>
              <a:spcAft>
                <a:spcPts val="1500"/>
              </a:spcAft>
            </a:pPr>
            <a:r>
              <a:rPr lang="en-IN" sz="1800" b="1" i="0" dirty="0">
                <a:solidFill>
                  <a:srgbClr val="243966"/>
                </a:solidFill>
                <a:effectLst/>
                <a:latin typeface="Poppins" panose="00000500000000000000" pitchFamily="2" charset="0"/>
              </a:rPr>
              <a:t>Method 5 – Remove Extra Spaces</a:t>
            </a:r>
            <a:endParaRPr lang="en-IN" dirty="0"/>
          </a:p>
        </p:txBody>
      </p:sp>
      <p:sp>
        <p:nvSpPr>
          <p:cNvPr id="3" name="Content Placeholder 2">
            <a:extLst>
              <a:ext uri="{FF2B5EF4-FFF2-40B4-BE49-F238E27FC236}">
                <a16:creationId xmlns:a16="http://schemas.microsoft.com/office/drawing/2014/main" id="{47F5703F-2C9C-9006-D045-61757BD0E60F}"/>
              </a:ext>
            </a:extLst>
          </p:cNvPr>
          <p:cNvSpPr>
            <a:spLocks noGrp="1"/>
          </p:cNvSpPr>
          <p:nvPr>
            <p:ph idx="1"/>
          </p:nvPr>
        </p:nvSpPr>
        <p:spPr>
          <a:xfrm>
            <a:off x="1371600" y="1143000"/>
            <a:ext cx="9601200" cy="4724400"/>
          </a:xfrm>
        </p:spPr>
        <p:txBody>
          <a:bodyPr>
            <a:normAutofit fontScale="77500" lnSpcReduction="20000"/>
          </a:bodyPr>
          <a:lstStyle/>
          <a:p>
            <a:pPr algn="just" fontAlgn="base">
              <a:spcAft>
                <a:spcPts val="1125"/>
              </a:spcAft>
            </a:pPr>
            <a:r>
              <a:rPr lang="en-IN" b="0" i="0" dirty="0">
                <a:solidFill>
                  <a:srgbClr val="000000"/>
                </a:solidFill>
                <a:effectLst/>
                <a:latin typeface="Poppins" panose="00000500000000000000" pitchFamily="2" charset="0"/>
              </a:rPr>
              <a:t>We have a dataset where the values have extra spaces between them.</a:t>
            </a:r>
          </a:p>
          <a:p>
            <a:pPr algn="just" fontAlgn="base">
              <a:spcAft>
                <a:spcPts val="1125"/>
              </a:spcAft>
            </a:pPr>
            <a:endParaRPr lang="en-IN" dirty="0">
              <a:solidFill>
                <a:srgbClr val="000000"/>
              </a:solidFill>
              <a:latin typeface="Poppins" panose="00000500000000000000" pitchFamily="2" charset="0"/>
            </a:endParaRPr>
          </a:p>
          <a:p>
            <a:pPr algn="just" fontAlgn="base">
              <a:spcAft>
                <a:spcPts val="1125"/>
              </a:spcAft>
            </a:pPr>
            <a:endParaRPr lang="en-IN" b="0" i="0" dirty="0">
              <a:solidFill>
                <a:srgbClr val="000000"/>
              </a:solidFill>
              <a:effectLst/>
              <a:latin typeface="Poppins" panose="00000500000000000000" pitchFamily="2" charset="0"/>
            </a:endParaRPr>
          </a:p>
          <a:p>
            <a:pPr algn="just" fontAlgn="base">
              <a:spcAft>
                <a:spcPts val="1125"/>
              </a:spcAft>
            </a:pPr>
            <a:endParaRPr lang="en-IN" dirty="0">
              <a:solidFill>
                <a:srgbClr val="000000"/>
              </a:solidFill>
              <a:latin typeface="Poppins" panose="00000500000000000000" pitchFamily="2" charset="0"/>
            </a:endParaRPr>
          </a:p>
          <a:p>
            <a:pPr algn="just" fontAlgn="base">
              <a:spcAft>
                <a:spcPts val="1125"/>
              </a:spcAft>
            </a:pPr>
            <a:endParaRPr lang="en-IN" b="0" i="0" dirty="0">
              <a:solidFill>
                <a:srgbClr val="000000"/>
              </a:solidFill>
              <a:effectLst/>
              <a:latin typeface="Poppins" panose="00000500000000000000" pitchFamily="2" charset="0"/>
            </a:endParaRPr>
          </a:p>
          <a:p>
            <a:pPr algn="just" fontAlgn="base">
              <a:spcAft>
                <a:spcPts val="1125"/>
              </a:spcAft>
            </a:pPr>
            <a:endParaRPr lang="en-IN" sz="1800" b="1" i="0" dirty="0">
              <a:solidFill>
                <a:srgbClr val="008000"/>
              </a:solidFill>
              <a:effectLst/>
              <a:latin typeface="inherit"/>
            </a:endParaRPr>
          </a:p>
          <a:p>
            <a:pPr algn="just" fontAlgn="base">
              <a:spcAft>
                <a:spcPts val="1125"/>
              </a:spcAft>
            </a:pPr>
            <a:endParaRPr lang="en-IN" sz="1800" b="1" i="0" dirty="0">
              <a:solidFill>
                <a:srgbClr val="008000"/>
              </a:solidFill>
              <a:effectLst/>
              <a:latin typeface="inherit"/>
            </a:endParaRPr>
          </a:p>
          <a:p>
            <a:pPr algn="just" fontAlgn="base">
              <a:spcAft>
                <a:spcPts val="1125"/>
              </a:spcAft>
            </a:pPr>
            <a:r>
              <a:rPr lang="en-IN" sz="1800" b="1" i="0" dirty="0">
                <a:solidFill>
                  <a:srgbClr val="008000"/>
                </a:solidFill>
                <a:effectLst/>
                <a:latin typeface="inherit"/>
              </a:rPr>
              <a:t>Using the TRIM Function</a:t>
            </a:r>
            <a:endParaRPr lang="en-IN" b="0" i="0" dirty="0">
              <a:solidFill>
                <a:srgbClr val="000000"/>
              </a:solidFill>
              <a:effectLst/>
              <a:latin typeface="Poppins" panose="00000500000000000000" pitchFamily="2" charset="0"/>
            </a:endParaRPr>
          </a:p>
          <a:p>
            <a:pPr algn="just" fontAlgn="base">
              <a:spcAft>
                <a:spcPts val="1125"/>
              </a:spcAft>
            </a:pPr>
            <a:r>
              <a:rPr lang="en-IN" b="1" i="0" u="none" strike="noStrike" dirty="0">
                <a:solidFill>
                  <a:srgbClr val="0B5394"/>
                </a:solidFill>
                <a:effectLst/>
                <a:latin typeface="inherit"/>
              </a:rPr>
              <a:t>The TRIM function</a:t>
            </a:r>
            <a:r>
              <a:rPr lang="en-IN" b="0" i="0" dirty="0">
                <a:solidFill>
                  <a:srgbClr val="000000"/>
                </a:solidFill>
                <a:effectLst/>
                <a:latin typeface="Poppins" panose="00000500000000000000" pitchFamily="2" charset="0"/>
              </a:rPr>
              <a:t> removes all leading and trailing spaces from a text and replaces multiple spaces with a single space.</a:t>
            </a:r>
          </a:p>
          <a:p>
            <a:pPr marL="0" indent="0">
              <a:buNone/>
            </a:pPr>
            <a:r>
              <a:rPr lang="en-IN" dirty="0"/>
              <a:t/>
            </a:r>
            <a:br>
              <a:rPr lang="en-IN" dirty="0"/>
            </a:br>
            <a:endParaRPr lang="en-IN" b="0" i="0" dirty="0">
              <a:solidFill>
                <a:srgbClr val="000000"/>
              </a:solidFill>
              <a:effectLst/>
              <a:latin typeface="Poppins" panose="00000500000000000000" pitchFamily="2" charset="0"/>
            </a:endParaRPr>
          </a:p>
          <a:p>
            <a:pPr marL="0" indent="0">
              <a:buNone/>
            </a:pPr>
            <a:endParaRPr lang="en-IN" dirty="0"/>
          </a:p>
        </p:txBody>
      </p:sp>
      <p:pic>
        <p:nvPicPr>
          <p:cNvPr id="5" name="Picture 4">
            <a:extLst>
              <a:ext uri="{FF2B5EF4-FFF2-40B4-BE49-F238E27FC236}">
                <a16:creationId xmlns:a16="http://schemas.microsoft.com/office/drawing/2014/main" id="{DA64CA6A-1345-EBBF-F9A9-8D4F45E7AE53}"/>
              </a:ext>
            </a:extLst>
          </p:cNvPr>
          <p:cNvPicPr>
            <a:picLocks noChangeAspect="1"/>
          </p:cNvPicPr>
          <p:nvPr/>
        </p:nvPicPr>
        <p:blipFill>
          <a:blip r:embed="rId2"/>
          <a:stretch>
            <a:fillRect/>
          </a:stretch>
        </p:blipFill>
        <p:spPr>
          <a:xfrm>
            <a:off x="1957768" y="1543431"/>
            <a:ext cx="4900232" cy="2446282"/>
          </a:xfrm>
          <a:prstGeom prst="rect">
            <a:avLst/>
          </a:prstGeom>
        </p:spPr>
      </p:pic>
    </p:spTree>
    <p:extLst>
      <p:ext uri="{BB962C8B-B14F-4D97-AF65-F5344CB8AC3E}">
        <p14:creationId xmlns:p14="http://schemas.microsoft.com/office/powerpoint/2010/main" val="18516652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58DA3-03C0-7CD0-58F5-B241C2D767C4}"/>
              </a:ext>
            </a:extLst>
          </p:cNvPr>
          <p:cNvSpPr>
            <a:spLocks noGrp="1"/>
          </p:cNvSpPr>
          <p:nvPr>
            <p:ph idx="1"/>
          </p:nvPr>
        </p:nvSpPr>
        <p:spPr>
          <a:xfrm>
            <a:off x="1371600" y="647700"/>
            <a:ext cx="9601200" cy="5219700"/>
          </a:xfrm>
        </p:spPr>
        <p:txBody>
          <a:bodyPr/>
          <a:lstStyle/>
          <a:p>
            <a:pPr marL="0" indent="0" algn="just" fontAlgn="base">
              <a:spcAft>
                <a:spcPts val="1125"/>
              </a:spcAft>
              <a:buNone/>
            </a:pPr>
            <a:r>
              <a:rPr lang="en-IN" sz="1800" b="1" dirty="0">
                <a:solidFill>
                  <a:srgbClr val="000000"/>
                </a:solidFill>
                <a:effectLst/>
                <a:latin typeface="inherit"/>
              </a:rPr>
              <a:t>Steps:</a:t>
            </a:r>
          </a:p>
          <a:p>
            <a:pPr algn="just" fontAlgn="base">
              <a:spcAft>
                <a:spcPts val="1125"/>
              </a:spcAft>
              <a:buFont typeface="Wingdings" panose="05000000000000000000" pitchFamily="2" charset="2"/>
              <a:buChar char="§"/>
            </a:pPr>
            <a:r>
              <a:rPr lang="en-IN" dirty="0">
                <a:effectLst/>
              </a:rPr>
              <a:t>Add a column D named </a:t>
            </a:r>
            <a:r>
              <a:rPr lang="en-IN" b="1" dirty="0">
                <a:effectLst/>
                <a:latin typeface="inherit"/>
              </a:rPr>
              <a:t>Updated Data</a:t>
            </a:r>
            <a:r>
              <a:rPr lang="en-IN" dirty="0">
                <a:effectLst/>
              </a:rPr>
              <a:t> to show the results.</a:t>
            </a:r>
          </a:p>
          <a:p>
            <a:pPr fontAlgn="base">
              <a:spcAft>
                <a:spcPts val="375"/>
              </a:spcAft>
              <a:buFont typeface="Wingdings" panose="05000000000000000000" pitchFamily="2" charset="2"/>
              <a:buChar char="§"/>
            </a:pPr>
            <a:r>
              <a:rPr lang="en-IN" dirty="0">
                <a:effectLst/>
              </a:rPr>
              <a:t>Click on cell </a:t>
            </a:r>
            <a:r>
              <a:rPr lang="en-IN" b="1" dirty="0">
                <a:effectLst/>
                <a:latin typeface="inherit"/>
              </a:rPr>
              <a:t>D5</a:t>
            </a:r>
            <a:r>
              <a:rPr lang="en-IN" dirty="0">
                <a:effectLst/>
              </a:rPr>
              <a:t>.</a:t>
            </a:r>
          </a:p>
          <a:p>
            <a:pPr fontAlgn="base">
              <a:spcAft>
                <a:spcPts val="375"/>
              </a:spcAft>
              <a:buFont typeface="Wingdings" panose="05000000000000000000" pitchFamily="2" charset="2"/>
              <a:buChar char="§"/>
            </a:pPr>
            <a:r>
              <a:rPr lang="en-IN" dirty="0">
                <a:effectLst/>
              </a:rPr>
              <a:t>Type =TRIM and select Cell </a:t>
            </a:r>
            <a:r>
              <a:rPr lang="en-IN" b="1" dirty="0">
                <a:effectLst/>
                <a:latin typeface="inherit"/>
              </a:rPr>
              <a:t>C5</a:t>
            </a:r>
            <a:r>
              <a:rPr lang="en-IN" dirty="0">
                <a:effectLst/>
              </a:rPr>
              <a:t> in the first argument. Close the parenthesis.</a:t>
            </a:r>
          </a:p>
          <a:p>
            <a:pPr fontAlgn="base">
              <a:spcAft>
                <a:spcPts val="375"/>
              </a:spcAft>
              <a:buFont typeface="Wingdings" panose="05000000000000000000" pitchFamily="2" charset="2"/>
              <a:buChar char="§"/>
            </a:pPr>
            <a:r>
              <a:rPr lang="en-IN" dirty="0">
                <a:effectLst/>
              </a:rPr>
              <a:t>The formula becomes:</a:t>
            </a:r>
          </a:p>
          <a:p>
            <a:pPr algn="l" fontAlgn="base">
              <a:spcAft>
                <a:spcPts val="375"/>
              </a:spcAft>
              <a:buFont typeface="Wingdings" panose="05000000000000000000" pitchFamily="2" charset="2"/>
              <a:buChar char="§"/>
            </a:pPr>
            <a:r>
              <a:rPr lang="en-IN" dirty="0"/>
              <a:t>=TRIM(D5), </a:t>
            </a: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pPr marL="0" indent="0">
              <a:buNone/>
            </a:pPr>
            <a:endParaRPr lang="en-IN" dirty="0">
              <a:effectLst/>
            </a:endParaRPr>
          </a:p>
        </p:txBody>
      </p:sp>
      <p:pic>
        <p:nvPicPr>
          <p:cNvPr id="6" name="Picture 5">
            <a:extLst>
              <a:ext uri="{FF2B5EF4-FFF2-40B4-BE49-F238E27FC236}">
                <a16:creationId xmlns:a16="http://schemas.microsoft.com/office/drawing/2014/main" id="{159E63EE-F425-4189-D1A1-3A95020DF069}"/>
              </a:ext>
            </a:extLst>
          </p:cNvPr>
          <p:cNvPicPr>
            <a:picLocks noChangeAspect="1"/>
          </p:cNvPicPr>
          <p:nvPr/>
        </p:nvPicPr>
        <p:blipFill>
          <a:blip r:embed="rId2"/>
          <a:stretch>
            <a:fillRect/>
          </a:stretch>
        </p:blipFill>
        <p:spPr>
          <a:xfrm>
            <a:off x="1943100" y="3505200"/>
            <a:ext cx="7176709" cy="2476500"/>
          </a:xfrm>
          <a:prstGeom prst="rect">
            <a:avLst/>
          </a:prstGeom>
        </p:spPr>
      </p:pic>
    </p:spTree>
    <p:extLst>
      <p:ext uri="{BB962C8B-B14F-4D97-AF65-F5344CB8AC3E}">
        <p14:creationId xmlns:p14="http://schemas.microsoft.com/office/powerpoint/2010/main" val="34560941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FF93E-FFAB-191F-CE92-E849A643B849}"/>
              </a:ext>
            </a:extLst>
          </p:cNvPr>
          <p:cNvSpPr>
            <a:spLocks noGrp="1"/>
          </p:cNvSpPr>
          <p:nvPr>
            <p:ph idx="1"/>
          </p:nvPr>
        </p:nvSpPr>
        <p:spPr>
          <a:xfrm>
            <a:off x="1371600" y="685800"/>
            <a:ext cx="9601200" cy="5181600"/>
          </a:xfrm>
        </p:spPr>
        <p:txBody>
          <a:bodyPr/>
          <a:lstStyle/>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Drag the Fill Handle icon down to the last cell.</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3C78E62F-57C9-C821-56E3-55B90C7D3ACD}"/>
              </a:ext>
            </a:extLst>
          </p:cNvPr>
          <p:cNvPicPr>
            <a:picLocks noChangeAspect="1"/>
          </p:cNvPicPr>
          <p:nvPr/>
        </p:nvPicPr>
        <p:blipFill>
          <a:blip r:embed="rId2"/>
          <a:stretch>
            <a:fillRect/>
          </a:stretch>
        </p:blipFill>
        <p:spPr>
          <a:xfrm>
            <a:off x="1848245" y="1167014"/>
            <a:ext cx="8172055" cy="4172178"/>
          </a:xfrm>
          <a:prstGeom prst="rect">
            <a:avLst/>
          </a:prstGeom>
        </p:spPr>
      </p:pic>
    </p:spTree>
    <p:extLst>
      <p:ext uri="{BB962C8B-B14F-4D97-AF65-F5344CB8AC3E}">
        <p14:creationId xmlns:p14="http://schemas.microsoft.com/office/powerpoint/2010/main" val="40164191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9B5F5-4FDB-858B-F8AF-C5FD9C1013E6}"/>
              </a:ext>
            </a:extLst>
          </p:cNvPr>
          <p:cNvSpPr>
            <a:spLocks noGrp="1"/>
          </p:cNvSpPr>
          <p:nvPr>
            <p:ph type="title"/>
          </p:nvPr>
        </p:nvSpPr>
        <p:spPr/>
        <p:txBody>
          <a:bodyPr>
            <a:normAutofit fontScale="90000"/>
          </a:bodyPr>
          <a:lstStyle/>
          <a:p>
            <a:pPr fontAlgn="base">
              <a:spcBef>
                <a:spcPts val="1500"/>
              </a:spcBef>
              <a:spcAft>
                <a:spcPts val="1500"/>
              </a:spcAft>
            </a:pPr>
            <a:r>
              <a:rPr lang="en-IN" sz="1800" b="1" i="0" dirty="0">
                <a:solidFill>
                  <a:srgbClr val="243966"/>
                </a:solidFill>
                <a:effectLst/>
                <a:latin typeface="Poppins" panose="00000500000000000000" pitchFamily="2" charset="0"/>
              </a:rPr>
              <a:t>Method 6 – Convert Values</a:t>
            </a:r>
            <a:br>
              <a:rPr lang="en-IN" sz="1800" b="1" i="0" dirty="0">
                <a:solidFill>
                  <a:srgbClr val="243966"/>
                </a:solidFill>
                <a:effectLst/>
                <a:latin typeface="Poppins" panose="00000500000000000000"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50863FCA-6FA0-AA4A-930D-1A0A27007539}"/>
              </a:ext>
            </a:extLst>
          </p:cNvPr>
          <p:cNvSpPr>
            <a:spLocks noGrp="1"/>
          </p:cNvSpPr>
          <p:nvPr>
            <p:ph idx="1"/>
          </p:nvPr>
        </p:nvSpPr>
        <p:spPr>
          <a:xfrm>
            <a:off x="1371600" y="1082351"/>
            <a:ext cx="9601200" cy="4785049"/>
          </a:xfrm>
        </p:spPr>
        <p:txBody>
          <a:bodyPr/>
          <a:lstStyle/>
          <a:p>
            <a:pPr algn="just" fontAlgn="base">
              <a:spcAft>
                <a:spcPts val="1125"/>
              </a:spcAft>
            </a:pPr>
            <a:r>
              <a:rPr lang="en-IN" b="0" i="0" dirty="0">
                <a:solidFill>
                  <a:srgbClr val="000000"/>
                </a:solidFill>
                <a:effectLst/>
                <a:latin typeface="Poppins" panose="00000500000000000000" pitchFamily="2" charset="0"/>
              </a:rPr>
              <a:t>Let’s look at a dataset of temperatures that we need to convert between Celsius and Fahrenheit.</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3FB5A9D9-7EB8-3E58-DBFE-1890E703F053}"/>
              </a:ext>
            </a:extLst>
          </p:cNvPr>
          <p:cNvPicPr>
            <a:picLocks noChangeAspect="1"/>
          </p:cNvPicPr>
          <p:nvPr/>
        </p:nvPicPr>
        <p:blipFill>
          <a:blip r:embed="rId2"/>
          <a:stretch>
            <a:fillRect/>
          </a:stretch>
        </p:blipFill>
        <p:spPr>
          <a:xfrm>
            <a:off x="1791521" y="1919550"/>
            <a:ext cx="5361905" cy="4200000"/>
          </a:xfrm>
          <a:prstGeom prst="rect">
            <a:avLst/>
          </a:prstGeom>
        </p:spPr>
      </p:pic>
    </p:spTree>
    <p:extLst>
      <p:ext uri="{BB962C8B-B14F-4D97-AF65-F5344CB8AC3E}">
        <p14:creationId xmlns:p14="http://schemas.microsoft.com/office/powerpoint/2010/main" val="41165064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BC681-453E-C24C-BBDD-3C44C47DE9CE}"/>
              </a:ext>
            </a:extLst>
          </p:cNvPr>
          <p:cNvSpPr>
            <a:spLocks noGrp="1"/>
          </p:cNvSpPr>
          <p:nvPr>
            <p:ph idx="1"/>
          </p:nvPr>
        </p:nvSpPr>
        <p:spPr>
          <a:xfrm>
            <a:off x="1371600" y="513184"/>
            <a:ext cx="9601200" cy="6008914"/>
          </a:xfrm>
        </p:spPr>
        <p:txBody>
          <a:bodyPr>
            <a:normAutofit lnSpcReduction="10000"/>
          </a:bodyPr>
          <a:lstStyle/>
          <a:p>
            <a:pPr algn="just" fontAlgn="base">
              <a:spcAft>
                <a:spcPts val="1125"/>
              </a:spcAft>
            </a:pPr>
            <a:r>
              <a:rPr lang="en-IN" sz="1800" b="1" dirty="0">
                <a:solidFill>
                  <a:srgbClr val="000000"/>
                </a:solidFill>
                <a:effectLst/>
                <a:latin typeface="inherit"/>
              </a:rPr>
              <a:t>Steps:</a:t>
            </a:r>
            <a:endParaRPr lang="en-IN" dirty="0">
              <a:solidFill>
                <a:srgbClr val="000000"/>
              </a:solidFill>
              <a:effectLst/>
              <a:latin typeface="Poppins" panose="00000500000000000000" pitchFamily="2" charset="0"/>
            </a:endParaRPr>
          </a:p>
          <a:p>
            <a:pPr fontAlgn="base">
              <a:spcAft>
                <a:spcPts val="375"/>
              </a:spcAft>
              <a:buFont typeface="Wingdings" panose="05000000000000000000" pitchFamily="2" charset="2"/>
              <a:buChar char="§"/>
            </a:pPr>
            <a:r>
              <a:rPr lang="en-IN" dirty="0">
                <a:effectLst/>
              </a:rPr>
              <a:t>Select the output cell </a:t>
            </a:r>
            <a:r>
              <a:rPr lang="en-IN" b="1" dirty="0">
                <a:effectLst/>
                <a:latin typeface="inherit"/>
              </a:rPr>
              <a:t>D5.</a:t>
            </a:r>
            <a:r>
              <a:rPr lang="en-IN" dirty="0">
                <a:effectLst/>
              </a:rPr>
              <a:t>Use the following formula:</a:t>
            </a:r>
          </a:p>
          <a:p>
            <a:pPr>
              <a:buFont typeface="Wingdings" panose="05000000000000000000" pitchFamily="2" charset="2"/>
              <a:buChar char="§"/>
            </a:pPr>
            <a:r>
              <a:rPr lang="en-IN" sz="1800" b="1" dirty="0">
                <a:solidFill>
                  <a:srgbClr val="000000"/>
                </a:solidFill>
                <a:latin typeface="inherit"/>
              </a:rPr>
              <a:t>=</a:t>
            </a:r>
            <a:r>
              <a:rPr lang="en-IN" sz="1800" b="1" i="0" dirty="0">
                <a:solidFill>
                  <a:srgbClr val="000000"/>
                </a:solidFill>
                <a:effectLst/>
                <a:latin typeface="inherit"/>
              </a:rPr>
              <a:t>CONVERT(C5,”C”</a:t>
            </a:r>
            <a:r>
              <a:rPr lang="en-IN" sz="1800" b="1" dirty="0">
                <a:solidFill>
                  <a:srgbClr val="000000"/>
                </a:solidFill>
                <a:latin typeface="inherit"/>
              </a:rPr>
              <a:t>,”F”)</a:t>
            </a:r>
          </a:p>
          <a:p>
            <a:pPr algn="l" fontAlgn="base">
              <a:spcAft>
                <a:spcPts val="375"/>
              </a:spcAft>
              <a:buFont typeface="Wingdings" panose="05000000000000000000" pitchFamily="2" charset="2"/>
              <a:buChar char="§"/>
            </a:pP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000000"/>
              </a:solidFill>
              <a:effectLst/>
              <a:latin typeface="Poppins" panose="00000500000000000000" pitchFamily="2" charset="0"/>
            </a:endParaRPr>
          </a:p>
          <a:p>
            <a:pPr algn="l" fontAlgn="base">
              <a:spcAft>
                <a:spcPts val="375"/>
              </a:spcAft>
              <a:buFont typeface="Arial" panose="020B0604020202020204" pitchFamily="34" charset="0"/>
              <a:buChar char="•"/>
            </a:pPr>
            <a:r>
              <a:rPr lang="en-IN" b="0" i="0" dirty="0">
                <a:solidFill>
                  <a:srgbClr val="000000"/>
                </a:solidFill>
                <a:effectLst/>
                <a:latin typeface="Poppins" panose="00000500000000000000" pitchFamily="2" charset="0"/>
              </a:rPr>
              <a:t>For other unit conversions, Learn the formulas and update </a:t>
            </a:r>
            <a:r>
              <a:rPr lang="en-IN" b="0" i="0" dirty="0" err="1">
                <a:solidFill>
                  <a:srgbClr val="000000"/>
                </a:solidFill>
                <a:effectLst/>
                <a:latin typeface="Poppins" panose="00000500000000000000" pitchFamily="2" charset="0"/>
              </a:rPr>
              <a:t>accodingly</a:t>
            </a:r>
            <a:endParaRPr lang="en-IN" b="0" i="0" dirty="0">
              <a:solidFill>
                <a:srgbClr val="333333"/>
              </a:solidFill>
              <a:effectLst/>
              <a:latin typeface="Poppins" panose="00000500000000000000" pitchFamily="2" charset="0"/>
            </a:endParaRPr>
          </a:p>
          <a:p>
            <a:pPr marL="0" indent="0">
              <a:buNone/>
            </a:pPr>
            <a:endParaRPr lang="en-IN" dirty="0"/>
          </a:p>
        </p:txBody>
      </p:sp>
      <p:pic>
        <p:nvPicPr>
          <p:cNvPr id="5" name="Picture 4">
            <a:extLst>
              <a:ext uri="{FF2B5EF4-FFF2-40B4-BE49-F238E27FC236}">
                <a16:creationId xmlns:a16="http://schemas.microsoft.com/office/drawing/2014/main" id="{B1C0A628-A760-F431-BBEA-62BF817D92FE}"/>
              </a:ext>
            </a:extLst>
          </p:cNvPr>
          <p:cNvPicPr>
            <a:picLocks noChangeAspect="1"/>
          </p:cNvPicPr>
          <p:nvPr/>
        </p:nvPicPr>
        <p:blipFill>
          <a:blip r:embed="rId2"/>
          <a:stretch>
            <a:fillRect/>
          </a:stretch>
        </p:blipFill>
        <p:spPr>
          <a:xfrm>
            <a:off x="2500068" y="2267337"/>
            <a:ext cx="5419048" cy="3662173"/>
          </a:xfrm>
          <a:prstGeom prst="rect">
            <a:avLst/>
          </a:prstGeom>
        </p:spPr>
      </p:pic>
    </p:spTree>
    <p:extLst>
      <p:ext uri="{BB962C8B-B14F-4D97-AF65-F5344CB8AC3E}">
        <p14:creationId xmlns:p14="http://schemas.microsoft.com/office/powerpoint/2010/main" val="11586576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699CB-BBE5-717D-E366-4B2D9CD81D8C}"/>
              </a:ext>
            </a:extLst>
          </p:cNvPr>
          <p:cNvSpPr>
            <a:spLocks noGrp="1"/>
          </p:cNvSpPr>
          <p:nvPr>
            <p:ph type="title"/>
          </p:nvPr>
        </p:nvSpPr>
        <p:spPr/>
        <p:txBody>
          <a:bodyPr>
            <a:normAutofit/>
          </a:bodyPr>
          <a:lstStyle/>
          <a:p>
            <a:pPr fontAlgn="base">
              <a:spcBef>
                <a:spcPts val="1500"/>
              </a:spcBef>
              <a:spcAft>
                <a:spcPts val="1500"/>
              </a:spcAft>
            </a:pPr>
            <a:r>
              <a:rPr lang="en-IN" sz="1800" b="1" i="0" dirty="0">
                <a:solidFill>
                  <a:srgbClr val="243966"/>
                </a:solidFill>
                <a:effectLst/>
                <a:latin typeface="Poppins" panose="00000500000000000000" pitchFamily="2" charset="0"/>
              </a:rPr>
              <a:t>Method 7 – Join Columns</a:t>
            </a:r>
            <a:endParaRPr lang="en-IN" dirty="0"/>
          </a:p>
        </p:txBody>
      </p:sp>
      <p:sp>
        <p:nvSpPr>
          <p:cNvPr id="3" name="Content Placeholder 2">
            <a:extLst>
              <a:ext uri="{FF2B5EF4-FFF2-40B4-BE49-F238E27FC236}">
                <a16:creationId xmlns:a16="http://schemas.microsoft.com/office/drawing/2014/main" id="{4ED41A2B-2092-5059-730D-1301308563BB}"/>
              </a:ext>
            </a:extLst>
          </p:cNvPr>
          <p:cNvSpPr>
            <a:spLocks noGrp="1"/>
          </p:cNvSpPr>
          <p:nvPr>
            <p:ph idx="1"/>
          </p:nvPr>
        </p:nvSpPr>
        <p:spPr>
          <a:xfrm>
            <a:off x="1371600" y="1229118"/>
            <a:ext cx="9601200" cy="5255657"/>
          </a:xfrm>
        </p:spPr>
        <p:txBody>
          <a:bodyPr/>
          <a:lstStyle/>
          <a:p>
            <a:pPr algn="just" fontAlgn="base">
              <a:spcAft>
                <a:spcPts val="1125"/>
              </a:spcAft>
            </a:pPr>
            <a:r>
              <a:rPr lang="en-IN" b="0" i="0" dirty="0">
                <a:solidFill>
                  <a:srgbClr val="000000"/>
                </a:solidFill>
                <a:effectLst/>
                <a:latin typeface="Poppins" panose="00000500000000000000" pitchFamily="2" charset="0"/>
              </a:rPr>
              <a:t>We’ll combine the first, middle, and last names in a single value for each entry in the list.</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7299059E-CDBA-E425-D493-DD87D540FC79}"/>
              </a:ext>
            </a:extLst>
          </p:cNvPr>
          <p:cNvPicPr>
            <a:picLocks noChangeAspect="1"/>
          </p:cNvPicPr>
          <p:nvPr/>
        </p:nvPicPr>
        <p:blipFill>
          <a:blip r:embed="rId2"/>
          <a:stretch>
            <a:fillRect/>
          </a:stretch>
        </p:blipFill>
        <p:spPr>
          <a:xfrm>
            <a:off x="1838607" y="2012113"/>
            <a:ext cx="7619048" cy="3152381"/>
          </a:xfrm>
          <a:prstGeom prst="rect">
            <a:avLst/>
          </a:prstGeom>
        </p:spPr>
      </p:pic>
    </p:spTree>
    <p:extLst>
      <p:ext uri="{BB962C8B-B14F-4D97-AF65-F5344CB8AC3E}">
        <p14:creationId xmlns:p14="http://schemas.microsoft.com/office/powerpoint/2010/main" val="8123092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4D21DE-BC05-4DA1-8A5A-830EB6DAFDBF}"/>
              </a:ext>
            </a:extLst>
          </p:cNvPr>
          <p:cNvSpPr>
            <a:spLocks noGrp="1"/>
          </p:cNvSpPr>
          <p:nvPr>
            <p:ph idx="1"/>
          </p:nvPr>
        </p:nvSpPr>
        <p:spPr>
          <a:xfrm>
            <a:off x="1371600" y="615820"/>
            <a:ext cx="9601200" cy="6242180"/>
          </a:xfrm>
        </p:spPr>
        <p:txBody>
          <a:bodyPr>
            <a:normAutofit/>
          </a:bodyPr>
          <a:lstStyle/>
          <a:p>
            <a:pPr algn="just" fontAlgn="base">
              <a:spcAft>
                <a:spcPts val="1125"/>
              </a:spcAft>
            </a:pPr>
            <a:r>
              <a:rPr lang="en-IN" sz="1800" b="1" dirty="0">
                <a:solidFill>
                  <a:srgbClr val="000000"/>
                </a:solidFill>
                <a:effectLst/>
                <a:latin typeface="inherit"/>
              </a:rPr>
              <a:t>Steps:</a:t>
            </a:r>
            <a:endParaRPr lang="en-IN" dirty="0">
              <a:solidFill>
                <a:srgbClr val="000000"/>
              </a:solidFill>
              <a:effectLst/>
              <a:latin typeface="Poppins" panose="00000500000000000000" pitchFamily="2" charset="0"/>
            </a:endParaRPr>
          </a:p>
          <a:p>
            <a:pPr fontAlgn="base">
              <a:spcAft>
                <a:spcPts val="375"/>
              </a:spcAft>
              <a:buFont typeface="Wingdings" panose="05000000000000000000" pitchFamily="2" charset="2"/>
              <a:buChar char="§"/>
            </a:pPr>
            <a:r>
              <a:rPr lang="en-IN" dirty="0">
                <a:effectLst/>
              </a:rPr>
              <a:t>Select cell </a:t>
            </a:r>
            <a:r>
              <a:rPr lang="en-IN" b="1" dirty="0">
                <a:effectLst/>
                <a:latin typeface="inherit"/>
              </a:rPr>
              <a:t>E5</a:t>
            </a:r>
            <a:r>
              <a:rPr lang="en-IN" dirty="0">
                <a:effectLst/>
              </a:rPr>
              <a:t>.Use the following formula.</a:t>
            </a:r>
          </a:p>
          <a:p>
            <a:pPr algn="l" fontAlgn="base">
              <a:spcAft>
                <a:spcPts val="375"/>
              </a:spcAft>
              <a:buFont typeface="Wingdings" panose="05000000000000000000" pitchFamily="2" charset="2"/>
              <a:buChar char="§"/>
            </a:pPr>
            <a:r>
              <a:rPr kumimoji="0" lang="en-US" altLang="en-US" sz="1800" b="1" i="0" u="none" strike="noStrike" cap="none" normalizeH="0" baseline="0" dirty="0">
                <a:ln>
                  <a:noFill/>
                </a:ln>
                <a:solidFill>
                  <a:srgbClr val="393E47"/>
                </a:solidFill>
                <a:effectLst/>
                <a:latin typeface="inherit"/>
                <a:cs typeface="Poppins" panose="00000500000000000000" pitchFamily="2" charset="0"/>
              </a:rPr>
              <a:t>=B5&amp;" "&amp;D5&amp;" "&amp;C5, </a:t>
            </a:r>
            <a:r>
              <a:rPr lang="en-IN" dirty="0"/>
              <a:t>Press Enter</a:t>
            </a:r>
            <a:r>
              <a:rPr lang="en-IN" sz="1050" b="0" i="0" dirty="0">
                <a:solidFill>
                  <a:srgbClr val="333333"/>
                </a:solidFill>
                <a:effectLst/>
                <a:latin typeface="Poppins" panose="00000500000000000000" pitchFamily="2" charset="0"/>
              </a:rPr>
              <a:t>.</a:t>
            </a:r>
          </a:p>
          <a:p>
            <a:pPr algn="l" fontAlgn="base">
              <a:spcAft>
                <a:spcPts val="375"/>
              </a:spcAft>
              <a:buFont typeface="Arial" panose="020B0604020202020204" pitchFamily="34" charset="0"/>
              <a:buChar char="•"/>
            </a:pPr>
            <a:endParaRPr lang="en-IN" sz="1050"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sz="1050"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sz="1050"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sz="1050"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sz="1050"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sz="1050" b="0" i="0" dirty="0">
              <a:solidFill>
                <a:srgbClr val="333333"/>
              </a:solidFill>
              <a:effectLst/>
              <a:latin typeface="Poppins" panose="00000500000000000000" pitchFamily="2" charset="0"/>
            </a:endParaRPr>
          </a:p>
          <a:p>
            <a:pPr algn="l" fontAlgn="base">
              <a:spcAft>
                <a:spcPts val="375"/>
              </a:spcAft>
              <a:buFont typeface="Wingdings" panose="05000000000000000000" pitchFamily="2" charset="2"/>
              <a:buChar char="§"/>
            </a:pPr>
            <a:r>
              <a:rPr lang="en-IN" sz="1600" b="0" i="0" dirty="0">
                <a:solidFill>
                  <a:srgbClr val="333333"/>
                </a:solidFill>
                <a:effectLst/>
                <a:latin typeface="Poppins" panose="00000500000000000000" pitchFamily="2" charset="0"/>
              </a:rPr>
              <a:t>Click and drag the fill handle icon to the end of the column to replicate the formula for the rest of the cells.</a:t>
            </a:r>
          </a:p>
          <a:p>
            <a:pPr marL="0" indent="0">
              <a:buNone/>
            </a:pPr>
            <a:r>
              <a:rPr lang="en-IN" sz="1000" dirty="0"/>
              <a:t/>
            </a:r>
            <a:br>
              <a:rPr lang="en-IN" sz="1000" dirty="0"/>
            </a:br>
            <a:endParaRPr lang="en-IN" sz="1050"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sz="1050" b="0" i="0" dirty="0">
              <a:solidFill>
                <a:srgbClr val="333333"/>
              </a:solidFill>
              <a:effectLst/>
              <a:latin typeface="Poppins" panose="00000500000000000000" pitchFamily="2" charset="0"/>
            </a:endParaRPr>
          </a:p>
          <a:p>
            <a:endParaRPr kumimoji="0" lang="en-US" altLang="en-US" sz="1100" b="0" i="0" u="none" strike="noStrike" cap="none" normalizeH="0" baseline="0" dirty="0">
              <a:ln>
                <a:noFill/>
              </a:ln>
              <a:solidFill>
                <a:schemeClr val="tx1"/>
              </a:solidFill>
              <a:effectLst/>
            </a:endParaRPr>
          </a:p>
          <a:p>
            <a:pPr marL="0" indent="0">
              <a:buNone/>
            </a:pPr>
            <a:r>
              <a:rPr lang="en-IN" sz="1800" b="1" i="0" dirty="0">
                <a:solidFill>
                  <a:srgbClr val="000000"/>
                </a:solidFill>
                <a:effectLst/>
                <a:latin typeface="inherit"/>
              </a:rPr>
              <a:t/>
            </a:r>
            <a:br>
              <a:rPr lang="en-IN" sz="1800" b="1" i="0" dirty="0">
                <a:solidFill>
                  <a:srgbClr val="000000"/>
                </a:solidFill>
                <a:effectLst/>
                <a:latin typeface="inherit"/>
              </a:rPr>
            </a:br>
            <a:endParaRPr lang="en-IN" dirty="0"/>
          </a:p>
        </p:txBody>
      </p:sp>
      <p:pic>
        <p:nvPicPr>
          <p:cNvPr id="6" name="Picture 5">
            <a:extLst>
              <a:ext uri="{FF2B5EF4-FFF2-40B4-BE49-F238E27FC236}">
                <a16:creationId xmlns:a16="http://schemas.microsoft.com/office/drawing/2014/main" id="{E5AEAEBE-4503-843B-CD37-33E48ADC7676}"/>
              </a:ext>
            </a:extLst>
          </p:cNvPr>
          <p:cNvPicPr>
            <a:picLocks noChangeAspect="1"/>
          </p:cNvPicPr>
          <p:nvPr/>
        </p:nvPicPr>
        <p:blipFill>
          <a:blip r:embed="rId2"/>
          <a:stretch>
            <a:fillRect/>
          </a:stretch>
        </p:blipFill>
        <p:spPr>
          <a:xfrm>
            <a:off x="1689317" y="1941440"/>
            <a:ext cx="7743932" cy="1940094"/>
          </a:xfrm>
          <a:prstGeom prst="rect">
            <a:avLst/>
          </a:prstGeom>
        </p:spPr>
      </p:pic>
      <p:pic>
        <p:nvPicPr>
          <p:cNvPr id="8" name="Picture 7">
            <a:extLst>
              <a:ext uri="{FF2B5EF4-FFF2-40B4-BE49-F238E27FC236}">
                <a16:creationId xmlns:a16="http://schemas.microsoft.com/office/drawing/2014/main" id="{68CCB544-0592-1131-CBB2-229BAABA0264}"/>
              </a:ext>
            </a:extLst>
          </p:cNvPr>
          <p:cNvPicPr>
            <a:picLocks noChangeAspect="1"/>
          </p:cNvPicPr>
          <p:nvPr/>
        </p:nvPicPr>
        <p:blipFill>
          <a:blip r:embed="rId3"/>
          <a:stretch>
            <a:fillRect/>
          </a:stretch>
        </p:blipFill>
        <p:spPr>
          <a:xfrm>
            <a:off x="1689317" y="4679062"/>
            <a:ext cx="7743932" cy="1929923"/>
          </a:xfrm>
          <a:prstGeom prst="rect">
            <a:avLst/>
          </a:prstGeom>
        </p:spPr>
      </p:pic>
    </p:spTree>
    <p:extLst>
      <p:ext uri="{BB962C8B-B14F-4D97-AF65-F5344CB8AC3E}">
        <p14:creationId xmlns:p14="http://schemas.microsoft.com/office/powerpoint/2010/main" val="41658893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222B5-504A-3DA8-25E1-D5295AAA7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81832-5A0B-248D-D743-B88B229A47A6}"/>
              </a:ext>
            </a:extLst>
          </p:cNvPr>
          <p:cNvSpPr>
            <a:spLocks noGrp="1"/>
          </p:cNvSpPr>
          <p:nvPr>
            <p:ph type="title"/>
          </p:nvPr>
        </p:nvSpPr>
        <p:spPr>
          <a:xfrm>
            <a:off x="1295400" y="2686050"/>
            <a:ext cx="9601200" cy="1485900"/>
          </a:xfrm>
        </p:spPr>
        <p:txBody>
          <a:bodyPr>
            <a:normAutofit/>
          </a:bodyPr>
          <a:lstStyle/>
          <a:p>
            <a:r>
              <a:rPr lang="en-US" b="1" dirty="0"/>
              <a:t>Day 5</a:t>
            </a:r>
            <a:r>
              <a:rPr lang="en-US" dirty="0"/>
              <a:t>: </a:t>
            </a:r>
            <a:r>
              <a:rPr lang="en-IN" dirty="0"/>
              <a:t>Pivot Tables for data Analysis in  EXCEL</a:t>
            </a:r>
            <a:endParaRPr lang="en-US" dirty="0"/>
          </a:p>
        </p:txBody>
      </p:sp>
    </p:spTree>
    <p:extLst>
      <p:ext uri="{BB962C8B-B14F-4D97-AF65-F5344CB8AC3E}">
        <p14:creationId xmlns:p14="http://schemas.microsoft.com/office/powerpoint/2010/main" val="36365706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2934-161B-A988-C2A9-D672BF857208}"/>
              </a:ext>
            </a:extLst>
          </p:cNvPr>
          <p:cNvSpPr>
            <a:spLocks noGrp="1"/>
          </p:cNvSpPr>
          <p:nvPr>
            <p:ph type="title"/>
          </p:nvPr>
        </p:nvSpPr>
        <p:spPr>
          <a:xfrm>
            <a:off x="1371600" y="685800"/>
            <a:ext cx="9601200" cy="723122"/>
          </a:xfrm>
        </p:spPr>
        <p:txBody>
          <a:bodyPr>
            <a:normAutofit fontScale="90000"/>
          </a:bodyPr>
          <a:lstStyle/>
          <a:p>
            <a:pPr fontAlgn="base"/>
            <a:r>
              <a:rPr lang="en-IN" b="0" i="0" dirty="0">
                <a:solidFill>
                  <a:srgbClr val="3E3530"/>
                </a:solidFill>
                <a:effectLst/>
                <a:latin typeface="BlinkMacSystemFont"/>
              </a:rPr>
              <a:t>Pivot Tables in Excel</a:t>
            </a:r>
            <a:br>
              <a:rPr lang="en-IN" b="0" i="0" dirty="0">
                <a:solidFill>
                  <a:srgbClr val="3E3530"/>
                </a:solidFill>
                <a:effectLst/>
                <a:latin typeface="BlinkMacSystemFont"/>
              </a:rPr>
            </a:br>
            <a:r>
              <a:rPr lang="en-IN" dirty="0"/>
              <a:t/>
            </a:r>
            <a:br>
              <a:rPr lang="en-IN" dirty="0"/>
            </a:br>
            <a:endParaRPr lang="en-IN" dirty="0"/>
          </a:p>
        </p:txBody>
      </p:sp>
      <p:sp>
        <p:nvSpPr>
          <p:cNvPr id="3" name="Content Placeholder 2">
            <a:extLst>
              <a:ext uri="{FF2B5EF4-FFF2-40B4-BE49-F238E27FC236}">
                <a16:creationId xmlns:a16="http://schemas.microsoft.com/office/drawing/2014/main" id="{1A830FE6-4806-DADF-5EDC-B08258D03E5E}"/>
              </a:ext>
            </a:extLst>
          </p:cNvPr>
          <p:cNvSpPr>
            <a:spLocks noGrp="1"/>
          </p:cNvSpPr>
          <p:nvPr>
            <p:ph idx="1"/>
          </p:nvPr>
        </p:nvSpPr>
        <p:spPr/>
        <p:txBody>
          <a:bodyPr/>
          <a:lstStyle/>
          <a:p>
            <a:pPr algn="l"/>
            <a:r>
              <a:rPr lang="en-IN" b="0" i="0" dirty="0">
                <a:solidFill>
                  <a:srgbClr val="000000"/>
                </a:solidFill>
                <a:effectLst/>
                <a:latin typeface="Verdana" panose="020B0604030504040204" pitchFamily="34" charset="0"/>
              </a:rPr>
              <a:t>PivotTable is a functionality in Excel which helps you organize and analyse data.</a:t>
            </a:r>
          </a:p>
          <a:p>
            <a:pPr algn="l"/>
            <a:r>
              <a:rPr lang="en-IN" b="0" i="0" dirty="0">
                <a:solidFill>
                  <a:srgbClr val="000000"/>
                </a:solidFill>
                <a:effectLst/>
                <a:latin typeface="Verdana" panose="020B0604030504040204" pitchFamily="34" charset="0"/>
              </a:rPr>
              <a:t>It lets you add and remove values, perform calculations, and to filter and sort data sets.</a:t>
            </a:r>
          </a:p>
          <a:p>
            <a:pPr algn="l"/>
            <a:r>
              <a:rPr lang="en-IN" b="0" i="0" dirty="0">
                <a:solidFill>
                  <a:srgbClr val="000000"/>
                </a:solidFill>
                <a:effectLst/>
                <a:latin typeface="Verdana" panose="020B0604030504040204" pitchFamily="34" charset="0"/>
              </a:rPr>
              <a:t>PivotTable helps you structure and organize data to understand large data sets.</a:t>
            </a:r>
          </a:p>
          <a:p>
            <a:pPr marL="0" indent="0">
              <a:buNone/>
            </a:pPr>
            <a:r>
              <a:rPr lang="en-IN" b="0" i="0" dirty="0">
                <a:solidFill>
                  <a:srgbClr val="000000"/>
                </a:solidFill>
                <a:effectLst/>
                <a:latin typeface="Verdana" panose="020B0604030504040204" pitchFamily="34" charset="0"/>
              </a:rPr>
              <a:t/>
            </a:r>
            <a:br>
              <a:rPr lang="en-IN" b="0" i="0" dirty="0">
                <a:solidFill>
                  <a:srgbClr val="000000"/>
                </a:solidFill>
                <a:effectLst/>
                <a:latin typeface="Verdana" panose="020B0604030504040204" pitchFamily="34" charset="0"/>
              </a:rPr>
            </a:br>
            <a:endParaRPr lang="en-IN" dirty="0"/>
          </a:p>
        </p:txBody>
      </p:sp>
    </p:spTree>
    <p:extLst>
      <p:ext uri="{BB962C8B-B14F-4D97-AF65-F5344CB8AC3E}">
        <p14:creationId xmlns:p14="http://schemas.microsoft.com/office/powerpoint/2010/main" val="12161209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A0919-7A89-840D-E3A0-D97AF0A4E828}"/>
              </a:ext>
            </a:extLst>
          </p:cNvPr>
          <p:cNvSpPr>
            <a:spLocks noGrp="1"/>
          </p:cNvSpPr>
          <p:nvPr>
            <p:ph type="title"/>
          </p:nvPr>
        </p:nvSpPr>
        <p:spPr/>
        <p:txBody>
          <a:bodyPr/>
          <a:lstStyle/>
          <a:p>
            <a:r>
              <a:rPr lang="en-IN" dirty="0"/>
              <a:t>Uses in Pivot Tables</a:t>
            </a:r>
          </a:p>
        </p:txBody>
      </p:sp>
      <p:sp>
        <p:nvSpPr>
          <p:cNvPr id="3" name="Content Placeholder 2">
            <a:extLst>
              <a:ext uri="{FF2B5EF4-FFF2-40B4-BE49-F238E27FC236}">
                <a16:creationId xmlns:a16="http://schemas.microsoft.com/office/drawing/2014/main" id="{34F8B673-2583-7542-3826-53114CC0BC2A}"/>
              </a:ext>
            </a:extLst>
          </p:cNvPr>
          <p:cNvSpPr>
            <a:spLocks noGrp="1"/>
          </p:cNvSpPr>
          <p:nvPr>
            <p:ph idx="1"/>
          </p:nvPr>
        </p:nvSpPr>
        <p:spPr>
          <a:xfrm>
            <a:off x="1371600" y="1586204"/>
            <a:ext cx="9601200" cy="4281196"/>
          </a:xfrm>
        </p:spPr>
        <p:txBody>
          <a:bodyPr/>
          <a:lstStyle/>
          <a:p>
            <a:pPr algn="l">
              <a:lnSpc>
                <a:spcPts val="2250"/>
              </a:lnSpc>
            </a:pPr>
            <a:r>
              <a:rPr lang="en-IN" b="0" i="0" dirty="0">
                <a:effectLst/>
                <a:latin typeface="TradeGothic"/>
              </a:rPr>
              <a:t>we know what pivot tables are, but what are they used for? Of course, pivot tables enable data analysts to summarize large datasets into a concise and meaningful table which can be consumed at a glance.</a:t>
            </a:r>
          </a:p>
          <a:p>
            <a:pPr algn="l">
              <a:lnSpc>
                <a:spcPts val="2250"/>
              </a:lnSpc>
            </a:pPr>
            <a:r>
              <a:rPr lang="en-IN" b="0" i="0" dirty="0">
                <a:effectLst/>
                <a:latin typeface="TradeGothic"/>
              </a:rPr>
              <a:t>Pivot tables are also used to:</a:t>
            </a:r>
          </a:p>
          <a:p>
            <a:pPr lvl="1">
              <a:lnSpc>
                <a:spcPts val="2250"/>
              </a:lnSpc>
              <a:spcBef>
                <a:spcPts val="300"/>
              </a:spcBef>
              <a:spcAft>
                <a:spcPts val="300"/>
              </a:spcAft>
              <a:buFont typeface="Wingdings" panose="05000000000000000000" pitchFamily="2" charset="2"/>
              <a:buChar char="§"/>
            </a:pPr>
            <a:r>
              <a:rPr lang="en-IN" b="0" i="0" dirty="0">
                <a:solidFill>
                  <a:srgbClr val="0E1633"/>
                </a:solidFill>
                <a:effectLst/>
                <a:latin typeface="TradeGothic"/>
              </a:rPr>
              <a:t>group data into categories</a:t>
            </a:r>
          </a:p>
          <a:p>
            <a:pPr lvl="1">
              <a:lnSpc>
                <a:spcPts val="2250"/>
              </a:lnSpc>
              <a:spcBef>
                <a:spcPts val="300"/>
              </a:spcBef>
              <a:spcAft>
                <a:spcPts val="300"/>
              </a:spcAft>
              <a:buFont typeface="Wingdings" panose="05000000000000000000" pitchFamily="2" charset="2"/>
              <a:buChar char="§"/>
            </a:pPr>
            <a:r>
              <a:rPr lang="en-IN" b="0" i="0" dirty="0">
                <a:solidFill>
                  <a:srgbClr val="0E1633"/>
                </a:solidFill>
                <a:effectLst/>
                <a:latin typeface="TradeGothic"/>
              </a:rPr>
              <a:t>count the number of items in each category</a:t>
            </a:r>
          </a:p>
          <a:p>
            <a:pPr lvl="1">
              <a:lnSpc>
                <a:spcPts val="2250"/>
              </a:lnSpc>
              <a:spcBef>
                <a:spcPts val="300"/>
              </a:spcBef>
              <a:spcAft>
                <a:spcPts val="300"/>
              </a:spcAft>
              <a:buFont typeface="Wingdings" panose="05000000000000000000" pitchFamily="2" charset="2"/>
              <a:buChar char="§"/>
            </a:pPr>
            <a:r>
              <a:rPr lang="en-IN" b="0" i="0" dirty="0">
                <a:solidFill>
                  <a:srgbClr val="0E1633"/>
                </a:solidFill>
                <a:effectLst/>
                <a:latin typeface="TradeGothic"/>
              </a:rPr>
              <a:t>sum the items value</a:t>
            </a:r>
          </a:p>
          <a:p>
            <a:pPr lvl="1">
              <a:lnSpc>
                <a:spcPts val="2250"/>
              </a:lnSpc>
              <a:spcBef>
                <a:spcPts val="300"/>
              </a:spcBef>
              <a:spcAft>
                <a:spcPts val="300"/>
              </a:spcAft>
              <a:buFont typeface="Wingdings" panose="05000000000000000000" pitchFamily="2" charset="2"/>
              <a:buChar char="§"/>
            </a:pPr>
            <a:r>
              <a:rPr lang="en-IN" b="0" i="0" dirty="0">
                <a:solidFill>
                  <a:srgbClr val="0E1633"/>
                </a:solidFill>
                <a:effectLst/>
                <a:latin typeface="TradeGothic"/>
              </a:rPr>
              <a:t>compute average, find minimal or maximal value, and so on</a:t>
            </a:r>
          </a:p>
          <a:p>
            <a:pPr algn="l">
              <a:lnSpc>
                <a:spcPts val="2250"/>
              </a:lnSpc>
            </a:pPr>
            <a:r>
              <a:rPr lang="en-IN" b="0" i="0" dirty="0">
                <a:effectLst/>
                <a:latin typeface="TradeGothic"/>
              </a:rPr>
              <a:t>There are several different tools you can use to create a pivot table</a:t>
            </a:r>
          </a:p>
          <a:p>
            <a:endParaRPr lang="en-IN" dirty="0"/>
          </a:p>
        </p:txBody>
      </p:sp>
    </p:spTree>
    <p:extLst>
      <p:ext uri="{BB962C8B-B14F-4D97-AF65-F5344CB8AC3E}">
        <p14:creationId xmlns:p14="http://schemas.microsoft.com/office/powerpoint/2010/main" val="188107301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CC291B-0596-22B9-9266-C24050AB227C}"/>
              </a:ext>
            </a:extLst>
          </p:cNvPr>
          <p:cNvSpPr>
            <a:spLocks noGrp="1"/>
          </p:cNvSpPr>
          <p:nvPr>
            <p:ph idx="1"/>
          </p:nvPr>
        </p:nvSpPr>
        <p:spPr>
          <a:xfrm>
            <a:off x="1371600" y="625151"/>
            <a:ext cx="9601200" cy="5290457"/>
          </a:xfrm>
        </p:spPr>
        <p:txBody>
          <a:bodyPr>
            <a:normAutofit/>
          </a:bodyPr>
          <a:lstStyle/>
          <a:p>
            <a:pPr algn="l" fontAlgn="base"/>
            <a:r>
              <a:rPr lang="en-IN" b="0" i="0" dirty="0">
                <a:solidFill>
                  <a:srgbClr val="3E3530"/>
                </a:solidFill>
                <a:effectLst/>
                <a:latin typeface="Arial" panose="020B0604020202020204" pitchFamily="34" charset="0"/>
              </a:rPr>
              <a:t>Insert a Pivot Table</a:t>
            </a:r>
          </a:p>
          <a:p>
            <a:pPr algn="l" fontAlgn="base">
              <a:lnSpc>
                <a:spcPts val="1980"/>
              </a:lnSpc>
              <a:spcAft>
                <a:spcPts val="675"/>
              </a:spcAft>
            </a:pPr>
            <a:r>
              <a:rPr lang="en-IN" b="0" i="0" dirty="0">
                <a:solidFill>
                  <a:srgbClr val="000000"/>
                </a:solidFill>
                <a:effectLst/>
                <a:latin typeface="BlinkMacSystemFont"/>
              </a:rPr>
              <a:t>To insert a </a:t>
            </a:r>
            <a:r>
              <a:rPr lang="en-IN" b="0" i="0" dirty="0">
                <a:solidFill>
                  <a:srgbClr val="000000"/>
                </a:solidFill>
                <a:effectLst/>
                <a:latin typeface="inherit"/>
              </a:rPr>
              <a:t>pivot table</a:t>
            </a:r>
            <a:r>
              <a:rPr lang="en-IN" b="0" i="0" dirty="0">
                <a:solidFill>
                  <a:srgbClr val="000000"/>
                </a:solidFill>
                <a:effectLst/>
                <a:latin typeface="BlinkMacSystemFont"/>
              </a:rPr>
              <a:t>, execute the following steps.</a:t>
            </a:r>
          </a:p>
          <a:p>
            <a:pPr algn="l" fontAlgn="base">
              <a:lnSpc>
                <a:spcPts val="1980"/>
              </a:lnSpc>
              <a:spcAft>
                <a:spcPts val="675"/>
              </a:spcAft>
            </a:pPr>
            <a:r>
              <a:rPr lang="en-IN" b="0" i="0" dirty="0">
                <a:solidFill>
                  <a:srgbClr val="000000"/>
                </a:solidFill>
                <a:effectLst/>
                <a:latin typeface="BlinkMacSystemFont"/>
              </a:rPr>
              <a:t>1. Click any single cell inside the data set.</a:t>
            </a:r>
          </a:p>
          <a:p>
            <a:pPr algn="l" fontAlgn="base">
              <a:lnSpc>
                <a:spcPts val="1980"/>
              </a:lnSpc>
              <a:spcAft>
                <a:spcPts val="675"/>
              </a:spcAft>
            </a:pPr>
            <a:r>
              <a:rPr lang="en-IN" b="0" i="0" dirty="0">
                <a:solidFill>
                  <a:srgbClr val="000000"/>
                </a:solidFill>
                <a:effectLst/>
                <a:latin typeface="BlinkMacSystemFont"/>
              </a:rPr>
              <a:t>2. On the Insert tab, in the Tables group, click PivotTable.</a:t>
            </a:r>
          </a:p>
          <a:p>
            <a:r>
              <a:rPr lang="en-IN" dirty="0"/>
              <a:t/>
            </a:r>
            <a:br>
              <a:rPr lang="en-IN" dirty="0"/>
            </a:br>
            <a:endParaRPr lang="en-IN" dirty="0"/>
          </a:p>
          <a:p>
            <a:pPr algn="l" fontAlgn="base">
              <a:lnSpc>
                <a:spcPts val="1980"/>
              </a:lnSpc>
              <a:spcAft>
                <a:spcPts val="675"/>
              </a:spcAft>
            </a:pPr>
            <a:endParaRPr lang="en-IN" b="0" i="0" dirty="0">
              <a:solidFill>
                <a:srgbClr val="000000"/>
              </a:solidFill>
              <a:effectLst/>
              <a:latin typeface="BlinkMacSystemFont"/>
            </a:endParaRPr>
          </a:p>
          <a:p>
            <a:pPr algn="l" fontAlgn="base">
              <a:lnSpc>
                <a:spcPts val="1980"/>
              </a:lnSpc>
              <a:spcAft>
                <a:spcPts val="675"/>
              </a:spcAft>
            </a:pPr>
            <a:endParaRPr lang="en-IN" b="0" i="0" dirty="0">
              <a:solidFill>
                <a:srgbClr val="000000"/>
              </a:solidFill>
              <a:effectLst/>
              <a:latin typeface="BlinkMacSystemFont"/>
            </a:endParaRPr>
          </a:p>
          <a:p>
            <a:pPr algn="l" fontAlgn="base">
              <a:lnSpc>
                <a:spcPts val="1980"/>
              </a:lnSpc>
              <a:spcAft>
                <a:spcPts val="675"/>
              </a:spcAft>
            </a:pPr>
            <a:r>
              <a:rPr lang="en-IN" b="0" i="0" dirty="0">
                <a:solidFill>
                  <a:srgbClr val="000000"/>
                </a:solidFill>
                <a:effectLst/>
                <a:latin typeface="BlinkMacSystemFont"/>
              </a:rPr>
              <a:t>The following dialog box appears. Excel automatically selects the data for you. The default location for a new pivot table is New Worksheet.</a:t>
            </a:r>
          </a:p>
          <a:p>
            <a:pPr marL="0" indent="0">
              <a:buNone/>
            </a:pPr>
            <a:endParaRPr lang="en-IN" b="0" i="0" dirty="0">
              <a:solidFill>
                <a:srgbClr val="000000"/>
              </a:solidFill>
              <a:effectLst/>
              <a:latin typeface="BlinkMacSystemFont"/>
            </a:endParaRPr>
          </a:p>
          <a:p>
            <a:pPr marL="0" indent="0">
              <a:buNone/>
            </a:pPr>
            <a:endParaRPr lang="en-IN" dirty="0"/>
          </a:p>
        </p:txBody>
      </p:sp>
      <p:pic>
        <p:nvPicPr>
          <p:cNvPr id="6" name="Picture 5">
            <a:extLst>
              <a:ext uri="{FF2B5EF4-FFF2-40B4-BE49-F238E27FC236}">
                <a16:creationId xmlns:a16="http://schemas.microsoft.com/office/drawing/2014/main" id="{C7FC3088-90CC-1A03-C8F5-0E5648D0555A}"/>
              </a:ext>
            </a:extLst>
          </p:cNvPr>
          <p:cNvPicPr>
            <a:picLocks noChangeAspect="1"/>
          </p:cNvPicPr>
          <p:nvPr/>
        </p:nvPicPr>
        <p:blipFill>
          <a:blip r:embed="rId2"/>
          <a:stretch>
            <a:fillRect/>
          </a:stretch>
        </p:blipFill>
        <p:spPr>
          <a:xfrm>
            <a:off x="1838131" y="2588856"/>
            <a:ext cx="3587232" cy="1432638"/>
          </a:xfrm>
          <a:prstGeom prst="rect">
            <a:avLst/>
          </a:prstGeom>
        </p:spPr>
      </p:pic>
    </p:spTree>
    <p:extLst>
      <p:ext uri="{BB962C8B-B14F-4D97-AF65-F5344CB8AC3E}">
        <p14:creationId xmlns:p14="http://schemas.microsoft.com/office/powerpoint/2010/main" val="12125439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EBDD5-4AD7-1677-1ACD-FF974390D6E2}"/>
              </a:ext>
            </a:extLst>
          </p:cNvPr>
          <p:cNvSpPr>
            <a:spLocks noGrp="1"/>
          </p:cNvSpPr>
          <p:nvPr>
            <p:ph idx="1"/>
          </p:nvPr>
        </p:nvSpPr>
        <p:spPr>
          <a:xfrm>
            <a:off x="1371600" y="485191"/>
            <a:ext cx="9601200" cy="5934269"/>
          </a:xfrm>
        </p:spPr>
        <p:txBody>
          <a:bodyPr/>
          <a:lstStyle/>
          <a:p>
            <a:pPr algn="l" fontAlgn="base">
              <a:lnSpc>
                <a:spcPts val="1980"/>
              </a:lnSpc>
              <a:spcAft>
                <a:spcPts val="675"/>
              </a:spcAft>
            </a:pPr>
            <a:r>
              <a:rPr lang="en-IN" b="0" i="0" dirty="0">
                <a:solidFill>
                  <a:srgbClr val="000000"/>
                </a:solidFill>
                <a:effectLst/>
                <a:latin typeface="BlinkMacSystemFont"/>
              </a:rPr>
              <a:t>Click OK.</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7B58F512-31FE-68C3-08E9-743A429888C9}"/>
              </a:ext>
            </a:extLst>
          </p:cNvPr>
          <p:cNvPicPr>
            <a:picLocks noChangeAspect="1"/>
          </p:cNvPicPr>
          <p:nvPr/>
        </p:nvPicPr>
        <p:blipFill>
          <a:blip r:embed="rId2"/>
          <a:stretch>
            <a:fillRect/>
          </a:stretch>
        </p:blipFill>
        <p:spPr>
          <a:xfrm>
            <a:off x="2610724" y="903904"/>
            <a:ext cx="5404272" cy="4831726"/>
          </a:xfrm>
          <a:prstGeom prst="rect">
            <a:avLst/>
          </a:prstGeom>
        </p:spPr>
      </p:pic>
    </p:spTree>
    <p:extLst>
      <p:ext uri="{BB962C8B-B14F-4D97-AF65-F5344CB8AC3E}">
        <p14:creationId xmlns:p14="http://schemas.microsoft.com/office/powerpoint/2010/main" val="29246781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4973D-641F-451A-EADA-42E13CB47515}"/>
              </a:ext>
            </a:extLst>
          </p:cNvPr>
          <p:cNvSpPr>
            <a:spLocks noGrp="1"/>
          </p:cNvSpPr>
          <p:nvPr>
            <p:ph type="title"/>
          </p:nvPr>
        </p:nvSpPr>
        <p:spPr/>
        <p:txBody>
          <a:bodyPr>
            <a:normAutofit fontScale="90000"/>
          </a:bodyPr>
          <a:lstStyle/>
          <a:p>
            <a:pPr fontAlgn="base"/>
            <a:r>
              <a:rPr lang="en-IN" b="0" i="0" dirty="0">
                <a:solidFill>
                  <a:srgbClr val="3E3530"/>
                </a:solidFill>
                <a:effectLst/>
                <a:latin typeface="Arial" panose="020B0604020202020204" pitchFamily="34" charset="0"/>
              </a:rPr>
              <a:t>Drag fields</a:t>
            </a:r>
            <a:br>
              <a:rPr lang="en-IN" b="0" i="0" dirty="0">
                <a:solidFill>
                  <a:srgbClr val="3E3530"/>
                </a:solidFill>
                <a:effectLst/>
                <a:latin typeface="Arial" panose="020B0604020202020204" pitchFamily="34" charset="0"/>
              </a:rPr>
            </a:br>
            <a:r>
              <a:rPr lang="en-IN" dirty="0"/>
              <a:t/>
            </a:r>
            <a:br>
              <a:rPr lang="en-IN" dirty="0"/>
            </a:br>
            <a:r>
              <a:rPr lang="en-IN" dirty="0"/>
              <a:t/>
            </a:r>
            <a:br>
              <a:rPr lang="en-IN" dirty="0"/>
            </a:br>
            <a:endParaRPr lang="en-IN" dirty="0"/>
          </a:p>
        </p:txBody>
      </p:sp>
      <p:sp>
        <p:nvSpPr>
          <p:cNvPr id="3" name="Content Placeholder 2">
            <a:extLst>
              <a:ext uri="{FF2B5EF4-FFF2-40B4-BE49-F238E27FC236}">
                <a16:creationId xmlns:a16="http://schemas.microsoft.com/office/drawing/2014/main" id="{13693C94-B1C7-A1F7-B794-B81E29B16F7E}"/>
              </a:ext>
            </a:extLst>
          </p:cNvPr>
          <p:cNvSpPr>
            <a:spLocks noGrp="1"/>
          </p:cNvSpPr>
          <p:nvPr>
            <p:ph idx="1"/>
          </p:nvPr>
        </p:nvSpPr>
        <p:spPr>
          <a:xfrm>
            <a:off x="1371600" y="1380931"/>
            <a:ext cx="9601200" cy="4486469"/>
          </a:xfrm>
        </p:spPr>
        <p:txBody>
          <a:bodyPr/>
          <a:lstStyle/>
          <a:p>
            <a:pPr algn="l" fontAlgn="base">
              <a:lnSpc>
                <a:spcPts val="1980"/>
              </a:lnSpc>
              <a:spcAft>
                <a:spcPts val="675"/>
              </a:spcAft>
            </a:pPr>
            <a:r>
              <a:rPr lang="en-IN" b="0" i="0" dirty="0">
                <a:solidFill>
                  <a:srgbClr val="000000"/>
                </a:solidFill>
                <a:effectLst/>
                <a:latin typeface="BlinkMacSystemFont"/>
              </a:rPr>
              <a:t>The </a:t>
            </a:r>
            <a:r>
              <a:rPr lang="en-IN" b="0" i="0" dirty="0">
                <a:solidFill>
                  <a:srgbClr val="000000"/>
                </a:solidFill>
                <a:effectLst/>
                <a:latin typeface="inherit"/>
              </a:rPr>
              <a:t>PivotTable Fields pane</a:t>
            </a:r>
            <a:r>
              <a:rPr lang="en-IN" b="0" i="0" dirty="0">
                <a:solidFill>
                  <a:srgbClr val="000000"/>
                </a:solidFill>
                <a:effectLst/>
                <a:latin typeface="BlinkMacSystemFont"/>
              </a:rPr>
              <a:t> appears. To get the total amount exported of each product, drag the following fields to the different areas.</a:t>
            </a:r>
          </a:p>
          <a:p>
            <a:pPr algn="l" fontAlgn="base">
              <a:lnSpc>
                <a:spcPts val="1980"/>
              </a:lnSpc>
              <a:spcAft>
                <a:spcPts val="675"/>
              </a:spcAft>
            </a:pPr>
            <a:r>
              <a:rPr lang="en-IN" b="0" i="0" dirty="0">
                <a:solidFill>
                  <a:srgbClr val="000000"/>
                </a:solidFill>
                <a:effectLst/>
                <a:latin typeface="BlinkMacSystemFont"/>
              </a:rPr>
              <a:t>1. Product field to the Rows area.</a:t>
            </a:r>
          </a:p>
          <a:p>
            <a:pPr algn="l" fontAlgn="base">
              <a:lnSpc>
                <a:spcPts val="1980"/>
              </a:lnSpc>
              <a:spcAft>
                <a:spcPts val="675"/>
              </a:spcAft>
            </a:pPr>
            <a:r>
              <a:rPr lang="en-IN" b="0" i="0" dirty="0">
                <a:solidFill>
                  <a:srgbClr val="000000"/>
                </a:solidFill>
                <a:effectLst/>
                <a:latin typeface="BlinkMacSystemFont"/>
              </a:rPr>
              <a:t>2. Amount field to the Values area.</a:t>
            </a:r>
          </a:p>
          <a:p>
            <a:pPr algn="l" fontAlgn="base">
              <a:lnSpc>
                <a:spcPts val="1980"/>
              </a:lnSpc>
              <a:spcAft>
                <a:spcPts val="675"/>
              </a:spcAft>
            </a:pPr>
            <a:r>
              <a:rPr lang="en-IN" b="0" i="0" dirty="0">
                <a:solidFill>
                  <a:srgbClr val="000000"/>
                </a:solidFill>
                <a:effectLst/>
                <a:latin typeface="BlinkMacSystemFont"/>
              </a:rPr>
              <a:t>3. Country field to the Filters area.</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23634063-E556-3727-4474-6F49CACE6179}"/>
              </a:ext>
            </a:extLst>
          </p:cNvPr>
          <p:cNvPicPr>
            <a:picLocks noChangeAspect="1"/>
          </p:cNvPicPr>
          <p:nvPr/>
        </p:nvPicPr>
        <p:blipFill>
          <a:blip r:embed="rId2"/>
          <a:stretch>
            <a:fillRect/>
          </a:stretch>
        </p:blipFill>
        <p:spPr>
          <a:xfrm>
            <a:off x="6960637" y="1648267"/>
            <a:ext cx="2575249" cy="4523933"/>
          </a:xfrm>
          <a:prstGeom prst="rect">
            <a:avLst/>
          </a:prstGeom>
        </p:spPr>
      </p:pic>
    </p:spTree>
    <p:extLst>
      <p:ext uri="{BB962C8B-B14F-4D97-AF65-F5344CB8AC3E}">
        <p14:creationId xmlns:p14="http://schemas.microsoft.com/office/powerpoint/2010/main" val="28464080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68BC50-E795-DB5A-9274-EF5AB23075C7}"/>
              </a:ext>
            </a:extLst>
          </p:cNvPr>
          <p:cNvSpPr>
            <a:spLocks noGrp="1"/>
          </p:cNvSpPr>
          <p:nvPr>
            <p:ph idx="1"/>
          </p:nvPr>
        </p:nvSpPr>
        <p:spPr>
          <a:xfrm>
            <a:off x="1371600" y="625151"/>
            <a:ext cx="9601200" cy="5242249"/>
          </a:xfrm>
        </p:spPr>
        <p:txBody>
          <a:bodyPr/>
          <a:lstStyle/>
          <a:p>
            <a:pPr algn="l" fontAlgn="base">
              <a:lnSpc>
                <a:spcPts val="1980"/>
              </a:lnSpc>
              <a:spcAft>
                <a:spcPts val="675"/>
              </a:spcAft>
            </a:pPr>
            <a:endParaRPr lang="en-IN" b="0" i="0" dirty="0">
              <a:solidFill>
                <a:srgbClr val="000000"/>
              </a:solidFill>
              <a:effectLst/>
              <a:latin typeface="BlinkMacSystemFont"/>
            </a:endParaRPr>
          </a:p>
          <a:p>
            <a:pPr algn="l" fontAlgn="base">
              <a:lnSpc>
                <a:spcPts val="1980"/>
              </a:lnSpc>
              <a:spcAft>
                <a:spcPts val="675"/>
              </a:spcAft>
            </a:pPr>
            <a:r>
              <a:rPr lang="en-IN" b="0" i="0" dirty="0">
                <a:solidFill>
                  <a:srgbClr val="000000"/>
                </a:solidFill>
                <a:effectLst/>
                <a:latin typeface="BlinkMacSystemFont"/>
              </a:rPr>
              <a:t>Below you can find the pivot table. Bananas are our main export product. That's how easy pivot tables can b</a:t>
            </a:r>
            <a:r>
              <a:rPr lang="en-IN" dirty="0"/>
              <a:t/>
            </a:r>
            <a:br>
              <a:rPr lang="en-IN" dirty="0"/>
            </a:br>
            <a:endParaRPr lang="en-IN" dirty="0"/>
          </a:p>
        </p:txBody>
      </p:sp>
      <p:pic>
        <p:nvPicPr>
          <p:cNvPr id="5" name="Picture 4">
            <a:extLst>
              <a:ext uri="{FF2B5EF4-FFF2-40B4-BE49-F238E27FC236}">
                <a16:creationId xmlns:a16="http://schemas.microsoft.com/office/drawing/2014/main" id="{573C01BA-DE46-0B5F-1FF4-F71F004FAAE8}"/>
              </a:ext>
            </a:extLst>
          </p:cNvPr>
          <p:cNvPicPr>
            <a:picLocks noChangeAspect="1"/>
          </p:cNvPicPr>
          <p:nvPr/>
        </p:nvPicPr>
        <p:blipFill>
          <a:blip r:embed="rId2"/>
          <a:stretch>
            <a:fillRect/>
          </a:stretch>
        </p:blipFill>
        <p:spPr>
          <a:xfrm>
            <a:off x="1920648" y="1996752"/>
            <a:ext cx="2733675" cy="3515016"/>
          </a:xfrm>
          <a:prstGeom prst="rect">
            <a:avLst/>
          </a:prstGeom>
        </p:spPr>
      </p:pic>
    </p:spTree>
    <p:extLst>
      <p:ext uri="{BB962C8B-B14F-4D97-AF65-F5344CB8AC3E}">
        <p14:creationId xmlns:p14="http://schemas.microsoft.com/office/powerpoint/2010/main" val="377411269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D367-996E-8742-9962-71A3E8C4B2B7}"/>
              </a:ext>
            </a:extLst>
          </p:cNvPr>
          <p:cNvSpPr>
            <a:spLocks noGrp="1"/>
          </p:cNvSpPr>
          <p:nvPr>
            <p:ph type="title"/>
          </p:nvPr>
        </p:nvSpPr>
        <p:spPr>
          <a:xfrm>
            <a:off x="1371600" y="299551"/>
            <a:ext cx="9601200" cy="909735"/>
          </a:xfrm>
        </p:spPr>
        <p:txBody>
          <a:bodyPr>
            <a:normAutofit fontScale="90000"/>
          </a:bodyPr>
          <a:lstStyle/>
          <a:p>
            <a:pPr fontAlgn="base"/>
            <a:r>
              <a:rPr lang="en-IN" b="0" i="0" dirty="0">
                <a:solidFill>
                  <a:srgbClr val="3E3530"/>
                </a:solidFill>
                <a:effectLst/>
                <a:latin typeface="Arial" panose="020B0604020202020204" pitchFamily="34" charset="0"/>
              </a:rPr>
              <a:t>Sort a Pivot Table</a:t>
            </a:r>
            <a:br>
              <a:rPr lang="en-IN" b="0" i="0" dirty="0">
                <a:solidFill>
                  <a:srgbClr val="3E3530"/>
                </a:solidFill>
                <a:effectLst/>
                <a:latin typeface="Arial" panose="020B0604020202020204" pitchFamily="34"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DC1F405D-A85D-062E-CF8A-E004E90638DF}"/>
              </a:ext>
            </a:extLst>
          </p:cNvPr>
          <p:cNvSpPr>
            <a:spLocks noGrp="1"/>
          </p:cNvSpPr>
          <p:nvPr>
            <p:ph idx="1"/>
          </p:nvPr>
        </p:nvSpPr>
        <p:spPr>
          <a:xfrm>
            <a:off x="1371600" y="1278294"/>
            <a:ext cx="9601200" cy="4589106"/>
          </a:xfrm>
        </p:spPr>
        <p:txBody>
          <a:bodyPr/>
          <a:lstStyle/>
          <a:p>
            <a:pPr algn="l" fontAlgn="base">
              <a:lnSpc>
                <a:spcPts val="1980"/>
              </a:lnSpc>
              <a:spcAft>
                <a:spcPts val="675"/>
              </a:spcAft>
            </a:pPr>
            <a:r>
              <a:rPr lang="en-IN" b="0" i="0" dirty="0">
                <a:solidFill>
                  <a:srgbClr val="000000"/>
                </a:solidFill>
                <a:effectLst/>
                <a:latin typeface="BlinkMacSystemFont"/>
              </a:rPr>
              <a:t>To get Banana at the top of the list, sort the pivot table.</a:t>
            </a:r>
          </a:p>
          <a:p>
            <a:pPr algn="l" fontAlgn="base">
              <a:lnSpc>
                <a:spcPts val="1980"/>
              </a:lnSpc>
              <a:spcAft>
                <a:spcPts val="675"/>
              </a:spcAft>
            </a:pPr>
            <a:r>
              <a:rPr lang="en-IN" b="0" i="0" dirty="0">
                <a:solidFill>
                  <a:srgbClr val="000000"/>
                </a:solidFill>
                <a:effectLst/>
                <a:latin typeface="BlinkMacSystemFont"/>
              </a:rPr>
              <a:t>1. Click any cell inside the Sum of Amount column.</a:t>
            </a:r>
          </a:p>
          <a:p>
            <a:pPr algn="l" fontAlgn="base">
              <a:lnSpc>
                <a:spcPts val="1980"/>
              </a:lnSpc>
              <a:spcAft>
                <a:spcPts val="675"/>
              </a:spcAft>
            </a:pPr>
            <a:r>
              <a:rPr lang="en-IN" b="0" i="0" dirty="0">
                <a:solidFill>
                  <a:srgbClr val="000000"/>
                </a:solidFill>
                <a:effectLst/>
                <a:latin typeface="BlinkMacSystemFont"/>
              </a:rPr>
              <a:t>2. Right click and click on Sort, Sort Largest to Smallest.</a:t>
            </a:r>
          </a:p>
          <a:p>
            <a:pPr lvl="8" fontAlgn="base">
              <a:lnSpc>
                <a:spcPts val="1980"/>
              </a:lnSpc>
              <a:spcAft>
                <a:spcPts val="675"/>
              </a:spcAft>
            </a:pPr>
            <a:r>
              <a:rPr lang="en-IN" b="1" i="0" dirty="0">
                <a:solidFill>
                  <a:srgbClr val="000000"/>
                </a:solidFill>
                <a:effectLst/>
                <a:latin typeface="BlinkMacSystemFont"/>
              </a:rPr>
              <a:t>Result:</a:t>
            </a:r>
            <a:r>
              <a:rPr lang="en-IN" b="1" dirty="0"/>
              <a:t/>
            </a:r>
            <a:br>
              <a:rPr lang="en-IN" b="1" dirty="0"/>
            </a:br>
            <a:endParaRPr lang="en-IN" b="1" dirty="0"/>
          </a:p>
        </p:txBody>
      </p:sp>
      <p:pic>
        <p:nvPicPr>
          <p:cNvPr id="5" name="Picture 4">
            <a:extLst>
              <a:ext uri="{FF2B5EF4-FFF2-40B4-BE49-F238E27FC236}">
                <a16:creationId xmlns:a16="http://schemas.microsoft.com/office/drawing/2014/main" id="{7751125F-BDB3-775C-61DD-9B0A2D2F85B2}"/>
              </a:ext>
            </a:extLst>
          </p:cNvPr>
          <p:cNvPicPr>
            <a:picLocks noChangeAspect="1"/>
          </p:cNvPicPr>
          <p:nvPr/>
        </p:nvPicPr>
        <p:blipFill>
          <a:blip r:embed="rId2"/>
          <a:stretch>
            <a:fillRect/>
          </a:stretch>
        </p:blipFill>
        <p:spPr>
          <a:xfrm>
            <a:off x="1804307" y="2695575"/>
            <a:ext cx="3619500" cy="2647950"/>
          </a:xfrm>
          <a:prstGeom prst="rect">
            <a:avLst/>
          </a:prstGeom>
        </p:spPr>
      </p:pic>
      <p:pic>
        <p:nvPicPr>
          <p:cNvPr id="7" name="Picture 6">
            <a:extLst>
              <a:ext uri="{FF2B5EF4-FFF2-40B4-BE49-F238E27FC236}">
                <a16:creationId xmlns:a16="http://schemas.microsoft.com/office/drawing/2014/main" id="{AA54B595-0098-9E82-74D0-509405887BFA}"/>
              </a:ext>
            </a:extLst>
          </p:cNvPr>
          <p:cNvPicPr>
            <a:picLocks noChangeAspect="1"/>
          </p:cNvPicPr>
          <p:nvPr/>
        </p:nvPicPr>
        <p:blipFill>
          <a:blip r:embed="rId3"/>
          <a:stretch>
            <a:fillRect/>
          </a:stretch>
        </p:blipFill>
        <p:spPr>
          <a:xfrm>
            <a:off x="6172200" y="2931757"/>
            <a:ext cx="2733675" cy="2647950"/>
          </a:xfrm>
          <a:prstGeom prst="rect">
            <a:avLst/>
          </a:prstGeom>
        </p:spPr>
      </p:pic>
    </p:spTree>
    <p:extLst>
      <p:ext uri="{BB962C8B-B14F-4D97-AF65-F5344CB8AC3E}">
        <p14:creationId xmlns:p14="http://schemas.microsoft.com/office/powerpoint/2010/main" val="291604091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92B6-FADD-2FDD-56CC-B25FCC801B98}"/>
              </a:ext>
            </a:extLst>
          </p:cNvPr>
          <p:cNvSpPr>
            <a:spLocks noGrp="1"/>
          </p:cNvSpPr>
          <p:nvPr>
            <p:ph type="title"/>
          </p:nvPr>
        </p:nvSpPr>
        <p:spPr/>
        <p:txBody>
          <a:bodyPr>
            <a:normAutofit fontScale="90000"/>
          </a:bodyPr>
          <a:lstStyle/>
          <a:p>
            <a:pPr fontAlgn="base"/>
            <a:r>
              <a:rPr lang="en-IN" b="0" i="0" dirty="0">
                <a:solidFill>
                  <a:srgbClr val="3E3530"/>
                </a:solidFill>
                <a:effectLst/>
                <a:latin typeface="Arial" panose="020B0604020202020204" pitchFamily="34" charset="0"/>
              </a:rPr>
              <a:t>Filter a Pivot Table</a:t>
            </a:r>
            <a:br>
              <a:rPr lang="en-IN" b="0" i="0" dirty="0">
                <a:solidFill>
                  <a:srgbClr val="3E3530"/>
                </a:solidFill>
                <a:effectLst/>
                <a:latin typeface="Arial" panose="020B0604020202020204" pitchFamily="34"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CB4058AF-45CE-4BDF-8A50-9FC56DE70D67}"/>
              </a:ext>
            </a:extLst>
          </p:cNvPr>
          <p:cNvSpPr>
            <a:spLocks noGrp="1"/>
          </p:cNvSpPr>
          <p:nvPr>
            <p:ph idx="1"/>
          </p:nvPr>
        </p:nvSpPr>
        <p:spPr>
          <a:xfrm>
            <a:off x="1371600" y="1436914"/>
            <a:ext cx="9601200" cy="5047862"/>
          </a:xfrm>
        </p:spPr>
        <p:txBody>
          <a:bodyPr/>
          <a:lstStyle/>
          <a:p>
            <a:pPr algn="l" fontAlgn="base">
              <a:lnSpc>
                <a:spcPts val="1980"/>
              </a:lnSpc>
              <a:spcAft>
                <a:spcPts val="675"/>
              </a:spcAft>
            </a:pPr>
            <a:r>
              <a:rPr lang="en-IN" b="0" i="0" dirty="0">
                <a:solidFill>
                  <a:srgbClr val="000000"/>
                </a:solidFill>
                <a:effectLst/>
                <a:latin typeface="BlinkMacSystemFont"/>
              </a:rPr>
              <a:t>Because we added the Country field to the Filters area, we can filter this pivot table by Country. For example, which products do we export the most to France?</a:t>
            </a:r>
          </a:p>
          <a:p>
            <a:pPr algn="l" fontAlgn="base">
              <a:lnSpc>
                <a:spcPts val="1980"/>
              </a:lnSpc>
              <a:spcAft>
                <a:spcPts val="675"/>
              </a:spcAft>
            </a:pPr>
            <a:r>
              <a:rPr lang="en-IN" b="0" i="0" dirty="0">
                <a:solidFill>
                  <a:srgbClr val="000000"/>
                </a:solidFill>
                <a:effectLst/>
                <a:latin typeface="BlinkMacSystemFont"/>
              </a:rPr>
              <a:t>1. Click the filter drop-down and select France.</a:t>
            </a:r>
          </a:p>
          <a:p>
            <a:pPr algn="l" fontAlgn="base">
              <a:lnSpc>
                <a:spcPts val="1980"/>
              </a:lnSpc>
              <a:spcAft>
                <a:spcPts val="675"/>
              </a:spcAft>
            </a:pPr>
            <a:r>
              <a:rPr lang="en-IN" b="0" i="0" dirty="0">
                <a:solidFill>
                  <a:srgbClr val="000000"/>
                </a:solidFill>
                <a:effectLst/>
                <a:latin typeface="BlinkMacSystemFont"/>
              </a:rPr>
              <a:t>Result: Apples are our main export product to France.</a:t>
            </a: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8B808BFC-9BEC-9041-5B4A-03D60821ED8B}"/>
              </a:ext>
            </a:extLst>
          </p:cNvPr>
          <p:cNvPicPr>
            <a:picLocks noChangeAspect="1"/>
          </p:cNvPicPr>
          <p:nvPr/>
        </p:nvPicPr>
        <p:blipFill>
          <a:blip r:embed="rId2"/>
          <a:stretch>
            <a:fillRect/>
          </a:stretch>
        </p:blipFill>
        <p:spPr>
          <a:xfrm>
            <a:off x="1790020" y="3324322"/>
            <a:ext cx="2725997" cy="3160454"/>
          </a:xfrm>
          <a:prstGeom prst="rect">
            <a:avLst/>
          </a:prstGeom>
        </p:spPr>
      </p:pic>
    </p:spTree>
    <p:extLst>
      <p:ext uri="{BB962C8B-B14F-4D97-AF65-F5344CB8AC3E}">
        <p14:creationId xmlns:p14="http://schemas.microsoft.com/office/powerpoint/2010/main" val="292328033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02E24-497B-C5D9-0FB1-3F75D51EF2AA}"/>
              </a:ext>
            </a:extLst>
          </p:cNvPr>
          <p:cNvSpPr>
            <a:spLocks noGrp="1"/>
          </p:cNvSpPr>
          <p:nvPr>
            <p:ph type="title"/>
          </p:nvPr>
        </p:nvSpPr>
        <p:spPr>
          <a:xfrm>
            <a:off x="1371600" y="685800"/>
            <a:ext cx="9601200" cy="975049"/>
          </a:xfrm>
        </p:spPr>
        <p:txBody>
          <a:bodyPr>
            <a:normAutofit/>
          </a:bodyPr>
          <a:lstStyle/>
          <a:p>
            <a:pPr fontAlgn="base"/>
            <a:r>
              <a:rPr lang="en-IN" b="0" i="0" dirty="0">
                <a:solidFill>
                  <a:srgbClr val="3E3530"/>
                </a:solidFill>
                <a:effectLst/>
                <a:latin typeface="Arial" panose="020B0604020202020204" pitchFamily="34" charset="0"/>
              </a:rPr>
              <a:t>Change Summary Calculation</a:t>
            </a:r>
            <a:endParaRPr lang="en-IN" dirty="0"/>
          </a:p>
        </p:txBody>
      </p:sp>
      <p:sp>
        <p:nvSpPr>
          <p:cNvPr id="3" name="Content Placeholder 2">
            <a:extLst>
              <a:ext uri="{FF2B5EF4-FFF2-40B4-BE49-F238E27FC236}">
                <a16:creationId xmlns:a16="http://schemas.microsoft.com/office/drawing/2014/main" id="{416897DB-26BB-6D35-669C-B9E59CAD67B3}"/>
              </a:ext>
            </a:extLst>
          </p:cNvPr>
          <p:cNvSpPr>
            <a:spLocks noGrp="1"/>
          </p:cNvSpPr>
          <p:nvPr>
            <p:ph idx="1"/>
          </p:nvPr>
        </p:nvSpPr>
        <p:spPr>
          <a:xfrm>
            <a:off x="1371600" y="1576873"/>
            <a:ext cx="9601200" cy="4823927"/>
          </a:xfrm>
        </p:spPr>
        <p:txBody>
          <a:bodyPr/>
          <a:lstStyle/>
          <a:p>
            <a:pPr algn="l" fontAlgn="base">
              <a:lnSpc>
                <a:spcPts val="1980"/>
              </a:lnSpc>
              <a:spcAft>
                <a:spcPts val="675"/>
              </a:spcAft>
            </a:pPr>
            <a:r>
              <a:rPr lang="en-IN" b="0" i="0" dirty="0">
                <a:solidFill>
                  <a:srgbClr val="000000"/>
                </a:solidFill>
                <a:effectLst/>
                <a:latin typeface="BlinkMacSystemFont"/>
              </a:rPr>
              <a:t>By default, Excel summarizes your data by either summing or counting the items. To change the type of calculation that you want to use, execute the following steps.</a:t>
            </a:r>
          </a:p>
          <a:p>
            <a:pPr algn="l" fontAlgn="base">
              <a:lnSpc>
                <a:spcPts val="1980"/>
              </a:lnSpc>
              <a:spcAft>
                <a:spcPts val="675"/>
              </a:spcAft>
            </a:pPr>
            <a:r>
              <a:rPr lang="en-IN" b="0" i="0" dirty="0">
                <a:solidFill>
                  <a:srgbClr val="000000"/>
                </a:solidFill>
                <a:effectLst/>
                <a:latin typeface="BlinkMacSystemFont"/>
              </a:rPr>
              <a:t>1. Click any cell inside the Sum of Amount column.</a:t>
            </a:r>
          </a:p>
          <a:p>
            <a:pPr algn="l" fontAlgn="base">
              <a:lnSpc>
                <a:spcPts val="1980"/>
              </a:lnSpc>
              <a:spcAft>
                <a:spcPts val="675"/>
              </a:spcAft>
            </a:pPr>
            <a:r>
              <a:rPr lang="en-IN" b="0" i="0" dirty="0">
                <a:solidFill>
                  <a:srgbClr val="000000"/>
                </a:solidFill>
                <a:effectLst/>
                <a:latin typeface="BlinkMacSystemFont"/>
              </a:rPr>
              <a:t>2. Right click and click on Value Field Settings.</a:t>
            </a:r>
          </a:p>
          <a:p>
            <a:r>
              <a:rPr lang="en-IN" dirty="0"/>
              <a:t/>
            </a:r>
            <a:br>
              <a:rPr lang="en-IN" dirty="0"/>
            </a:br>
            <a:endParaRPr lang="en-IN" dirty="0"/>
          </a:p>
        </p:txBody>
      </p:sp>
      <p:pic>
        <p:nvPicPr>
          <p:cNvPr id="3074" name="Picture 2" descr="Value Field Settings">
            <a:extLst>
              <a:ext uri="{FF2B5EF4-FFF2-40B4-BE49-F238E27FC236}">
                <a16:creationId xmlns:a16="http://schemas.microsoft.com/office/drawing/2014/main" id="{DCE1C43A-B446-3A05-C7C2-20A877DA7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432" y="3331416"/>
            <a:ext cx="2218352" cy="3083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9998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0010EC-41B9-6725-3FAB-C095E7D861E9}"/>
              </a:ext>
            </a:extLst>
          </p:cNvPr>
          <p:cNvSpPr>
            <a:spLocks noGrp="1"/>
          </p:cNvSpPr>
          <p:nvPr>
            <p:ph idx="1"/>
          </p:nvPr>
        </p:nvSpPr>
        <p:spPr>
          <a:xfrm>
            <a:off x="1371600" y="671804"/>
            <a:ext cx="9601200" cy="5195596"/>
          </a:xfrm>
        </p:spPr>
        <p:txBody>
          <a:bodyPr>
            <a:normAutofit/>
          </a:bodyPr>
          <a:lstStyle/>
          <a:p>
            <a:pPr algn="l" fontAlgn="base">
              <a:lnSpc>
                <a:spcPts val="1980"/>
              </a:lnSpc>
              <a:spcAft>
                <a:spcPts val="675"/>
              </a:spcAft>
            </a:pPr>
            <a:r>
              <a:rPr lang="en-IN" b="0" i="0" dirty="0">
                <a:solidFill>
                  <a:srgbClr val="000000"/>
                </a:solidFill>
                <a:effectLst/>
                <a:latin typeface="BlinkMacSystemFont"/>
              </a:rPr>
              <a:t>3. Choose the type of calculation you want to use. </a:t>
            </a:r>
          </a:p>
          <a:p>
            <a:pPr algn="l" fontAlgn="base">
              <a:lnSpc>
                <a:spcPts val="1980"/>
              </a:lnSpc>
              <a:spcAft>
                <a:spcPts val="675"/>
              </a:spcAft>
            </a:pPr>
            <a:r>
              <a:rPr lang="en-IN" b="0" i="0" dirty="0">
                <a:solidFill>
                  <a:srgbClr val="000000"/>
                </a:solidFill>
                <a:effectLst/>
                <a:latin typeface="BlinkMacSystemFont"/>
              </a:rPr>
              <a:t>For example, click Count.         	</a:t>
            </a:r>
            <a:r>
              <a:rPr lang="en-IN" dirty="0"/>
              <a:t>		</a:t>
            </a:r>
            <a:r>
              <a:rPr lang="en-IN" b="0" i="0" dirty="0">
                <a:solidFill>
                  <a:srgbClr val="000000"/>
                </a:solidFill>
                <a:effectLst/>
                <a:latin typeface="BlinkMacSystemFont"/>
              </a:rPr>
              <a:t>4. Click OK. </a:t>
            </a:r>
          </a:p>
          <a:p>
            <a:pPr marL="0" indent="0" algn="l" fontAlgn="base">
              <a:lnSpc>
                <a:spcPts val="1980"/>
              </a:lnSpc>
              <a:spcAft>
                <a:spcPts val="675"/>
              </a:spcAft>
              <a:buNone/>
            </a:pPr>
            <a:r>
              <a:rPr lang="en-IN" dirty="0">
                <a:solidFill>
                  <a:srgbClr val="000000"/>
                </a:solidFill>
                <a:latin typeface="BlinkMacSystemFont"/>
              </a:rPr>
              <a:t>						</a:t>
            </a:r>
            <a:r>
              <a:rPr lang="en-IN" b="1" i="0" dirty="0">
                <a:solidFill>
                  <a:srgbClr val="000000"/>
                </a:solidFill>
                <a:effectLst/>
                <a:latin typeface="BlinkMacSystemFont"/>
              </a:rPr>
              <a:t>Result</a:t>
            </a:r>
            <a:r>
              <a:rPr lang="en-IN" b="0" i="0" dirty="0">
                <a:solidFill>
                  <a:srgbClr val="000000"/>
                </a:solidFill>
                <a:effectLst/>
                <a:latin typeface="BlinkMacSystemFont"/>
              </a:rPr>
              <a:t>: 16 out of the 28 orders to</a:t>
            </a:r>
          </a:p>
          <a:p>
            <a:pPr marL="0" indent="0" algn="l" fontAlgn="base">
              <a:lnSpc>
                <a:spcPts val="1980"/>
              </a:lnSpc>
              <a:spcAft>
                <a:spcPts val="675"/>
              </a:spcAft>
              <a:buNone/>
            </a:pPr>
            <a:r>
              <a:rPr lang="en-IN" dirty="0">
                <a:solidFill>
                  <a:srgbClr val="000000"/>
                </a:solidFill>
                <a:latin typeface="BlinkMacSystemFont"/>
              </a:rPr>
              <a:t>					</a:t>
            </a:r>
            <a:r>
              <a:rPr lang="en-IN" b="0" i="0" dirty="0">
                <a:solidFill>
                  <a:srgbClr val="000000"/>
                </a:solidFill>
                <a:effectLst/>
                <a:latin typeface="BlinkMacSystemFont"/>
              </a:rPr>
              <a:t> 	France were 'Apple' orders.</a:t>
            </a:r>
          </a:p>
          <a:p>
            <a:r>
              <a:rPr lang="en-IN" dirty="0"/>
              <a:t/>
            </a:r>
            <a:br>
              <a:rPr lang="en-IN" dirty="0"/>
            </a:br>
            <a:endParaRPr lang="en-IN" b="0" i="0" dirty="0">
              <a:solidFill>
                <a:srgbClr val="000000"/>
              </a:solidFill>
              <a:effectLst/>
              <a:latin typeface="BlinkMacSystemFont"/>
            </a:endParaRPr>
          </a:p>
          <a:p>
            <a:pPr marL="0" indent="0">
              <a:buNone/>
            </a:pPr>
            <a:r>
              <a:rPr lang="en-IN" dirty="0"/>
              <a:t/>
            </a:r>
            <a:br>
              <a:rPr lang="en-IN" dirty="0"/>
            </a:br>
            <a:endParaRPr lang="en-IN" dirty="0"/>
          </a:p>
        </p:txBody>
      </p:sp>
      <p:pic>
        <p:nvPicPr>
          <p:cNvPr id="5" name="Picture 4">
            <a:extLst>
              <a:ext uri="{FF2B5EF4-FFF2-40B4-BE49-F238E27FC236}">
                <a16:creationId xmlns:a16="http://schemas.microsoft.com/office/drawing/2014/main" id="{50C666B4-798F-B3DE-281A-6C3D3F83C306}"/>
              </a:ext>
            </a:extLst>
          </p:cNvPr>
          <p:cNvPicPr>
            <a:picLocks noChangeAspect="1"/>
          </p:cNvPicPr>
          <p:nvPr/>
        </p:nvPicPr>
        <p:blipFill>
          <a:blip r:embed="rId2"/>
          <a:stretch>
            <a:fillRect/>
          </a:stretch>
        </p:blipFill>
        <p:spPr>
          <a:xfrm>
            <a:off x="1790990" y="1479777"/>
            <a:ext cx="3552825" cy="4239888"/>
          </a:xfrm>
          <a:prstGeom prst="rect">
            <a:avLst/>
          </a:prstGeom>
        </p:spPr>
      </p:pic>
      <p:pic>
        <p:nvPicPr>
          <p:cNvPr id="7" name="Picture 6">
            <a:extLst>
              <a:ext uri="{FF2B5EF4-FFF2-40B4-BE49-F238E27FC236}">
                <a16:creationId xmlns:a16="http://schemas.microsoft.com/office/drawing/2014/main" id="{2CF97309-C630-3834-8113-A1F9D4FE888F}"/>
              </a:ext>
            </a:extLst>
          </p:cNvPr>
          <p:cNvPicPr>
            <a:picLocks noChangeAspect="1"/>
          </p:cNvPicPr>
          <p:nvPr/>
        </p:nvPicPr>
        <p:blipFill>
          <a:blip r:embed="rId3"/>
          <a:stretch>
            <a:fillRect/>
          </a:stretch>
        </p:blipFill>
        <p:spPr>
          <a:xfrm>
            <a:off x="6948875" y="2437913"/>
            <a:ext cx="3230823" cy="3281752"/>
          </a:xfrm>
          <a:prstGeom prst="rect">
            <a:avLst/>
          </a:prstGeom>
        </p:spPr>
      </p:pic>
    </p:spTree>
    <p:extLst>
      <p:ext uri="{BB962C8B-B14F-4D97-AF65-F5344CB8AC3E}">
        <p14:creationId xmlns:p14="http://schemas.microsoft.com/office/powerpoint/2010/main" val="17198099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9DE51-585E-8DD1-71AC-112B720BDCE2}"/>
              </a:ext>
            </a:extLst>
          </p:cNvPr>
          <p:cNvSpPr>
            <a:spLocks noGrp="1"/>
          </p:cNvSpPr>
          <p:nvPr>
            <p:ph type="title"/>
          </p:nvPr>
        </p:nvSpPr>
        <p:spPr/>
        <p:txBody>
          <a:bodyPr>
            <a:normAutofit fontScale="90000"/>
          </a:bodyPr>
          <a:lstStyle/>
          <a:p>
            <a:pPr fontAlgn="base"/>
            <a:r>
              <a:rPr lang="en-IN" b="0" i="0" dirty="0">
                <a:solidFill>
                  <a:srgbClr val="3E3530"/>
                </a:solidFill>
                <a:effectLst/>
                <a:latin typeface="Arial" panose="020B0604020202020204" pitchFamily="34" charset="0"/>
              </a:rPr>
              <a:t>Two-dimensional Pivot Table</a:t>
            </a:r>
            <a:br>
              <a:rPr lang="en-IN" b="0" i="0" dirty="0">
                <a:solidFill>
                  <a:srgbClr val="3E3530"/>
                </a:solidFill>
                <a:effectLst/>
                <a:latin typeface="Arial" panose="020B0604020202020204" pitchFamily="34"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00DF6F46-48F4-3A59-1236-FFEB6BE5BCAB}"/>
              </a:ext>
            </a:extLst>
          </p:cNvPr>
          <p:cNvSpPr>
            <a:spLocks noGrp="1"/>
          </p:cNvSpPr>
          <p:nvPr>
            <p:ph idx="1"/>
          </p:nvPr>
        </p:nvSpPr>
        <p:spPr>
          <a:xfrm>
            <a:off x="1371600" y="1315616"/>
            <a:ext cx="9601200" cy="5243804"/>
          </a:xfrm>
        </p:spPr>
        <p:txBody>
          <a:bodyPr>
            <a:normAutofit/>
          </a:bodyPr>
          <a:lstStyle/>
          <a:p>
            <a:pPr algn="l" fontAlgn="base">
              <a:lnSpc>
                <a:spcPts val="1980"/>
              </a:lnSpc>
              <a:spcAft>
                <a:spcPts val="675"/>
              </a:spcAft>
            </a:pPr>
            <a:r>
              <a:rPr lang="en-IN" b="0" i="0" dirty="0">
                <a:solidFill>
                  <a:srgbClr val="000000"/>
                </a:solidFill>
                <a:effectLst/>
                <a:latin typeface="BlinkMacSystemFont"/>
              </a:rPr>
              <a:t>If you drag a field to the Rows area and Columns area, you can create a two-dimensional pivot table. First, </a:t>
            </a:r>
            <a:r>
              <a:rPr lang="en-IN" b="0" i="0" u="none" strike="noStrike" dirty="0">
                <a:solidFill>
                  <a:srgbClr val="548CD1"/>
                </a:solidFill>
                <a:effectLst/>
                <a:latin typeface="BlinkMacSystemFont"/>
              </a:rPr>
              <a:t>insert a pivot table</a:t>
            </a:r>
            <a:r>
              <a:rPr lang="en-IN" b="0" i="0" dirty="0">
                <a:solidFill>
                  <a:srgbClr val="000000"/>
                </a:solidFill>
                <a:effectLst/>
                <a:latin typeface="BlinkMacSystemFont"/>
              </a:rPr>
              <a:t>. Next, to get the total amount exported to each country, of each product, drag the following fields to the different areas.</a:t>
            </a:r>
          </a:p>
          <a:p>
            <a:pPr algn="l" fontAlgn="base">
              <a:lnSpc>
                <a:spcPts val="1980"/>
              </a:lnSpc>
              <a:spcAft>
                <a:spcPts val="675"/>
              </a:spcAft>
            </a:pPr>
            <a:r>
              <a:rPr lang="en-IN" b="0" i="0" dirty="0">
                <a:solidFill>
                  <a:srgbClr val="000000"/>
                </a:solidFill>
                <a:effectLst/>
                <a:latin typeface="BlinkMacSystemFont"/>
              </a:rPr>
              <a:t>1. Country field to the Rows area.</a:t>
            </a:r>
          </a:p>
          <a:p>
            <a:pPr algn="l" fontAlgn="base">
              <a:lnSpc>
                <a:spcPts val="1980"/>
              </a:lnSpc>
              <a:spcAft>
                <a:spcPts val="675"/>
              </a:spcAft>
            </a:pPr>
            <a:r>
              <a:rPr lang="en-IN" b="0" i="0" dirty="0">
                <a:solidFill>
                  <a:srgbClr val="000000"/>
                </a:solidFill>
                <a:effectLst/>
                <a:latin typeface="BlinkMacSystemFont"/>
              </a:rPr>
              <a:t>2. Product field to the Columns area.</a:t>
            </a:r>
          </a:p>
          <a:p>
            <a:pPr algn="l" fontAlgn="base">
              <a:lnSpc>
                <a:spcPts val="1980"/>
              </a:lnSpc>
              <a:spcAft>
                <a:spcPts val="675"/>
              </a:spcAft>
            </a:pPr>
            <a:r>
              <a:rPr lang="en-IN" b="0" i="0" dirty="0">
                <a:solidFill>
                  <a:srgbClr val="000000"/>
                </a:solidFill>
                <a:effectLst/>
                <a:latin typeface="BlinkMacSystemFont"/>
              </a:rPr>
              <a:t>3. Amount field to the Values area.</a:t>
            </a:r>
          </a:p>
          <a:p>
            <a:pPr algn="l" fontAlgn="base">
              <a:lnSpc>
                <a:spcPts val="1980"/>
              </a:lnSpc>
              <a:spcAft>
                <a:spcPts val="675"/>
              </a:spcAft>
            </a:pPr>
            <a:r>
              <a:rPr lang="en-IN" b="0" i="0" dirty="0">
                <a:solidFill>
                  <a:srgbClr val="000000"/>
                </a:solidFill>
                <a:effectLst/>
                <a:latin typeface="BlinkMacSystemFont"/>
              </a:rPr>
              <a:t>4. Category field to the Filters area.</a:t>
            </a:r>
            <a:r>
              <a:rPr lang="en-IN" dirty="0"/>
              <a:t/>
            </a:r>
            <a:br>
              <a:rPr lang="en-IN" dirty="0"/>
            </a:br>
            <a:endParaRPr lang="en-IN" dirty="0"/>
          </a:p>
        </p:txBody>
      </p:sp>
      <p:pic>
        <p:nvPicPr>
          <p:cNvPr id="5" name="Picture 4">
            <a:extLst>
              <a:ext uri="{FF2B5EF4-FFF2-40B4-BE49-F238E27FC236}">
                <a16:creationId xmlns:a16="http://schemas.microsoft.com/office/drawing/2014/main" id="{8651DF19-3F51-DE38-53B2-36FC24225925}"/>
              </a:ext>
            </a:extLst>
          </p:cNvPr>
          <p:cNvPicPr>
            <a:picLocks noChangeAspect="1"/>
          </p:cNvPicPr>
          <p:nvPr/>
        </p:nvPicPr>
        <p:blipFill>
          <a:blip r:embed="rId2"/>
          <a:stretch>
            <a:fillRect/>
          </a:stretch>
        </p:blipFill>
        <p:spPr>
          <a:xfrm>
            <a:off x="6096000" y="2171700"/>
            <a:ext cx="2486025" cy="4514850"/>
          </a:xfrm>
          <a:prstGeom prst="rect">
            <a:avLst/>
          </a:prstGeom>
        </p:spPr>
      </p:pic>
    </p:spTree>
    <p:extLst>
      <p:ext uri="{BB962C8B-B14F-4D97-AF65-F5344CB8AC3E}">
        <p14:creationId xmlns:p14="http://schemas.microsoft.com/office/powerpoint/2010/main" val="35008439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859A5-AA69-52BB-1AFC-7EFB5063A986}"/>
              </a:ext>
            </a:extLst>
          </p:cNvPr>
          <p:cNvSpPr>
            <a:spLocks noGrp="1"/>
          </p:cNvSpPr>
          <p:nvPr>
            <p:ph idx="1"/>
          </p:nvPr>
        </p:nvSpPr>
        <p:spPr>
          <a:xfrm>
            <a:off x="1371600" y="755780"/>
            <a:ext cx="9601200" cy="5111620"/>
          </a:xfrm>
        </p:spPr>
        <p:txBody>
          <a:bodyPr/>
          <a:lstStyle/>
          <a:p>
            <a:pPr algn="l" fontAlgn="base">
              <a:lnSpc>
                <a:spcPts val="1980"/>
              </a:lnSpc>
              <a:spcAft>
                <a:spcPts val="675"/>
              </a:spcAft>
            </a:pPr>
            <a:r>
              <a:rPr lang="en-IN" b="0" i="0" dirty="0">
                <a:solidFill>
                  <a:srgbClr val="000000"/>
                </a:solidFill>
                <a:effectLst/>
                <a:latin typeface="BlinkMacSystemFont"/>
              </a:rPr>
              <a:t>Below you can find the two-dimensional pivot table.</a:t>
            </a:r>
          </a:p>
          <a:p>
            <a:pPr marL="0" indent="0">
              <a:buNone/>
            </a:pPr>
            <a:r>
              <a:rPr lang="en-IN" dirty="0"/>
              <a:t/>
            </a:r>
            <a:br>
              <a:rPr lang="en-IN" dirty="0"/>
            </a:br>
            <a:endParaRPr lang="en-IN" dirty="0"/>
          </a:p>
        </p:txBody>
      </p:sp>
      <p:pic>
        <p:nvPicPr>
          <p:cNvPr id="7" name="Picture 6">
            <a:extLst>
              <a:ext uri="{FF2B5EF4-FFF2-40B4-BE49-F238E27FC236}">
                <a16:creationId xmlns:a16="http://schemas.microsoft.com/office/drawing/2014/main" id="{A965909C-5EF4-5C0A-F41A-56CADB6412BF}"/>
              </a:ext>
            </a:extLst>
          </p:cNvPr>
          <p:cNvPicPr>
            <a:picLocks noChangeAspect="1"/>
          </p:cNvPicPr>
          <p:nvPr/>
        </p:nvPicPr>
        <p:blipFill>
          <a:blip r:embed="rId2"/>
          <a:stretch>
            <a:fillRect/>
          </a:stretch>
        </p:blipFill>
        <p:spPr>
          <a:xfrm>
            <a:off x="1994583" y="1520890"/>
            <a:ext cx="7220098" cy="3359019"/>
          </a:xfrm>
          <a:prstGeom prst="rect">
            <a:avLst/>
          </a:prstGeom>
        </p:spPr>
      </p:pic>
    </p:spTree>
    <p:extLst>
      <p:ext uri="{BB962C8B-B14F-4D97-AF65-F5344CB8AC3E}">
        <p14:creationId xmlns:p14="http://schemas.microsoft.com/office/powerpoint/2010/main" val="30052049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8C19-C39D-2150-C190-02C0B3FB0E88}"/>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243966"/>
                </a:solidFill>
                <a:effectLst/>
                <a:latin typeface="inherit"/>
              </a:rPr>
              <a:t> Nesting Multiple Fields</a:t>
            </a:r>
            <a:r>
              <a:rPr lang="en-IN" sz="4000" b="1" i="0" dirty="0">
                <a:solidFill>
                  <a:srgbClr val="243966"/>
                </a:solidFill>
                <a:effectLst/>
                <a:latin typeface="Poppins" panose="00000500000000000000" pitchFamily="2" charset="0"/>
              </a:rPr>
              <a:t/>
            </a:r>
            <a:br>
              <a:rPr lang="en-IN" sz="4000" b="1" i="0" dirty="0">
                <a:solidFill>
                  <a:srgbClr val="243966"/>
                </a:solidFill>
                <a:effectLst/>
                <a:latin typeface="Poppins" panose="00000500000000000000" pitchFamily="2" charset="0"/>
              </a:rPr>
            </a:br>
            <a:r>
              <a:rPr lang="en-IN" sz="4000" dirty="0"/>
              <a:t/>
            </a:r>
            <a:br>
              <a:rPr lang="en-IN" sz="4000" dirty="0"/>
            </a:br>
            <a:endParaRPr lang="en-IN" sz="4000" dirty="0"/>
          </a:p>
        </p:txBody>
      </p:sp>
      <p:sp>
        <p:nvSpPr>
          <p:cNvPr id="3" name="Content Placeholder 2">
            <a:extLst>
              <a:ext uri="{FF2B5EF4-FFF2-40B4-BE49-F238E27FC236}">
                <a16:creationId xmlns:a16="http://schemas.microsoft.com/office/drawing/2014/main" id="{EED2171E-91C6-3FDA-0EEC-D7B0E439C53A}"/>
              </a:ext>
            </a:extLst>
          </p:cNvPr>
          <p:cNvSpPr>
            <a:spLocks noGrp="1"/>
          </p:cNvSpPr>
          <p:nvPr>
            <p:ph idx="1"/>
          </p:nvPr>
        </p:nvSpPr>
        <p:spPr>
          <a:xfrm>
            <a:off x="1371600" y="1296955"/>
            <a:ext cx="9601200" cy="4570445"/>
          </a:xfrm>
        </p:spPr>
        <p:txBody>
          <a:bodyPr/>
          <a:lstStyle/>
          <a:p>
            <a:pPr algn="just" fontAlgn="base">
              <a:spcAft>
                <a:spcPts val="1125"/>
              </a:spcAft>
            </a:pPr>
            <a:r>
              <a:rPr lang="en-IN" b="0" i="0" dirty="0">
                <a:solidFill>
                  <a:srgbClr val="000000"/>
                </a:solidFill>
                <a:effectLst/>
                <a:latin typeface="Poppins" panose="00000500000000000000" pitchFamily="2" charset="0"/>
              </a:rPr>
              <a:t>We can group several fields altogether to create a nest of criteria in the</a:t>
            </a:r>
            <a:r>
              <a:rPr lang="en-IN" b="1" i="0" dirty="0">
                <a:solidFill>
                  <a:srgbClr val="000000"/>
                </a:solidFill>
                <a:effectLst/>
                <a:latin typeface="inherit"/>
              </a:rPr>
              <a:t> Pivot Table</a:t>
            </a:r>
            <a:r>
              <a:rPr lang="en-IN" b="0" i="0" dirty="0">
                <a:solidFill>
                  <a:srgbClr val="000000"/>
                </a:solidFill>
                <a:effectLst/>
                <a:latin typeface="Poppins" panose="00000500000000000000" pitchFamily="2" charset="0"/>
              </a:rPr>
              <a:t>. In the </a:t>
            </a:r>
            <a:r>
              <a:rPr lang="en-IN" b="1" i="0" dirty="0">
                <a:solidFill>
                  <a:srgbClr val="000000"/>
                </a:solidFill>
                <a:effectLst/>
                <a:latin typeface="inherit"/>
              </a:rPr>
              <a:t>nested</a:t>
            </a:r>
            <a:r>
              <a:rPr lang="en-IN" b="0" i="0" dirty="0">
                <a:solidFill>
                  <a:srgbClr val="000000"/>
                </a:solidFill>
                <a:effectLst/>
                <a:latin typeface="Poppins" panose="00000500000000000000" pitchFamily="2" charset="0"/>
              </a:rPr>
              <a:t> or </a:t>
            </a:r>
            <a:r>
              <a:rPr lang="en-IN" b="1" i="0" dirty="0">
                <a:solidFill>
                  <a:srgbClr val="000000"/>
                </a:solidFill>
                <a:effectLst/>
                <a:latin typeface="inherit"/>
              </a:rPr>
              <a:t>grouped</a:t>
            </a:r>
            <a:r>
              <a:rPr lang="en-IN" b="0" i="0" dirty="0">
                <a:solidFill>
                  <a:srgbClr val="000000"/>
                </a:solidFill>
                <a:effectLst/>
                <a:latin typeface="Poppins" panose="00000500000000000000" pitchFamily="2" charset="0"/>
              </a:rPr>
              <a:t> field, the first field will present the data first. Under the first field, all the second-tier fields will be present as shown in the image below.</a:t>
            </a:r>
          </a:p>
          <a:p>
            <a:pPr marL="0" indent="0">
              <a:buNone/>
            </a:pPr>
            <a:r>
              <a:rPr lang="en-IN" dirty="0"/>
              <a:t/>
            </a:r>
            <a:br>
              <a:rPr lang="en-IN" dirty="0"/>
            </a:br>
            <a:r>
              <a:rPr lang="en-IN" dirty="0"/>
              <a:t/>
            </a:r>
            <a:br>
              <a:rPr lang="en-IN" dirty="0"/>
            </a:br>
            <a:endParaRPr lang="en-IN" dirty="0"/>
          </a:p>
        </p:txBody>
      </p:sp>
      <p:pic>
        <p:nvPicPr>
          <p:cNvPr id="6" name="Picture 5">
            <a:extLst>
              <a:ext uri="{FF2B5EF4-FFF2-40B4-BE49-F238E27FC236}">
                <a16:creationId xmlns:a16="http://schemas.microsoft.com/office/drawing/2014/main" id="{2AA28E3F-B517-4AA1-ECBC-DEB20F9A97F7}"/>
              </a:ext>
            </a:extLst>
          </p:cNvPr>
          <p:cNvPicPr>
            <a:picLocks noChangeAspect="1"/>
          </p:cNvPicPr>
          <p:nvPr/>
        </p:nvPicPr>
        <p:blipFill>
          <a:blip r:embed="rId2"/>
          <a:stretch>
            <a:fillRect/>
          </a:stretch>
        </p:blipFill>
        <p:spPr>
          <a:xfrm>
            <a:off x="1765005" y="2527857"/>
            <a:ext cx="7994004" cy="4316887"/>
          </a:xfrm>
          <a:prstGeom prst="rect">
            <a:avLst/>
          </a:prstGeom>
        </p:spPr>
      </p:pic>
    </p:spTree>
    <p:extLst>
      <p:ext uri="{BB962C8B-B14F-4D97-AF65-F5344CB8AC3E}">
        <p14:creationId xmlns:p14="http://schemas.microsoft.com/office/powerpoint/2010/main" val="38756699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8B02-4E90-3844-AF0E-AB66B023D4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E3D52-0480-4FF8-8C1B-0226FCCE5CC4}"/>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000000"/>
                </a:solidFill>
                <a:effectLst/>
                <a:latin typeface="inherit"/>
              </a:rPr>
              <a:t>Steps</a:t>
            </a:r>
            <a:endParaRPr lang="en-IN" sz="4000" dirty="0"/>
          </a:p>
        </p:txBody>
      </p:sp>
      <p:sp>
        <p:nvSpPr>
          <p:cNvPr id="3" name="Content Placeholder 2">
            <a:extLst>
              <a:ext uri="{FF2B5EF4-FFF2-40B4-BE49-F238E27FC236}">
                <a16:creationId xmlns:a16="http://schemas.microsoft.com/office/drawing/2014/main" id="{7142C4F9-F71A-A025-9071-F1DCBD71FE15}"/>
              </a:ext>
            </a:extLst>
          </p:cNvPr>
          <p:cNvSpPr>
            <a:spLocks noGrp="1"/>
          </p:cNvSpPr>
          <p:nvPr>
            <p:ph idx="1"/>
          </p:nvPr>
        </p:nvSpPr>
        <p:spPr>
          <a:xfrm>
            <a:off x="1371600" y="1296955"/>
            <a:ext cx="9601200" cy="4570445"/>
          </a:xfrm>
        </p:spPr>
        <p:txBody>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Drag the </a:t>
            </a:r>
            <a:r>
              <a:rPr lang="en-IN" b="1" i="0" dirty="0">
                <a:solidFill>
                  <a:srgbClr val="333333"/>
                </a:solidFill>
                <a:effectLst/>
                <a:latin typeface="inherit"/>
              </a:rPr>
              <a:t>Category </a:t>
            </a:r>
            <a:r>
              <a:rPr lang="en-IN" b="0" i="0" dirty="0">
                <a:solidFill>
                  <a:srgbClr val="333333"/>
                </a:solidFill>
                <a:effectLst/>
                <a:latin typeface="Poppins" panose="00000500000000000000" pitchFamily="2" charset="0"/>
              </a:rPr>
              <a:t>field just below the </a:t>
            </a:r>
            <a:r>
              <a:rPr lang="en-IN" b="1" i="0" dirty="0">
                <a:solidFill>
                  <a:srgbClr val="333333"/>
                </a:solidFill>
                <a:effectLst/>
                <a:latin typeface="inherit"/>
              </a:rPr>
              <a:t>Region </a:t>
            </a:r>
            <a:r>
              <a:rPr lang="en-IN" b="0" i="0" dirty="0">
                <a:solidFill>
                  <a:srgbClr val="333333"/>
                </a:solidFill>
                <a:effectLst/>
                <a:latin typeface="Poppins" panose="00000500000000000000" pitchFamily="2" charset="0"/>
              </a:rPr>
              <a:t>field in the </a:t>
            </a:r>
            <a:r>
              <a:rPr lang="en-IN" b="1" i="0" dirty="0">
                <a:solidFill>
                  <a:srgbClr val="333333"/>
                </a:solidFill>
                <a:effectLst/>
                <a:latin typeface="inherit"/>
              </a:rPr>
              <a:t>Row </a:t>
            </a:r>
            <a:r>
              <a:rPr lang="en-IN" b="0" i="0" dirty="0">
                <a:solidFill>
                  <a:srgbClr val="333333"/>
                </a:solidFill>
                <a:effectLst/>
                <a:latin typeface="Poppins" panose="00000500000000000000" pitchFamily="2" charset="0"/>
              </a:rPr>
              <a:t>areas.</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The </a:t>
            </a:r>
            <a:r>
              <a:rPr lang="en-IN" b="1" i="0" dirty="0">
                <a:solidFill>
                  <a:srgbClr val="333333"/>
                </a:solidFill>
                <a:effectLst/>
                <a:latin typeface="inherit"/>
              </a:rPr>
              <a:t>Category</a:t>
            </a:r>
            <a:r>
              <a:rPr lang="en-IN" b="0" i="0" dirty="0">
                <a:solidFill>
                  <a:srgbClr val="333333"/>
                </a:solidFill>
                <a:effectLst/>
                <a:latin typeface="Poppins" panose="00000500000000000000" pitchFamily="2" charset="0"/>
              </a:rPr>
              <a:t> is going to be nested below each </a:t>
            </a:r>
            <a:r>
              <a:rPr lang="en-IN" b="1" i="0" dirty="0">
                <a:solidFill>
                  <a:srgbClr val="333333"/>
                </a:solidFill>
                <a:effectLst/>
                <a:latin typeface="inherit"/>
              </a:rPr>
              <a:t>Region field.</a:t>
            </a: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Using the table, we can differentiate not only the </a:t>
            </a:r>
            <a:r>
              <a:rPr lang="en-IN" b="1" i="0" dirty="0">
                <a:solidFill>
                  <a:srgbClr val="333333"/>
                </a:solidFill>
                <a:effectLst/>
                <a:latin typeface="inherit"/>
              </a:rPr>
              <a:t>Regions</a:t>
            </a:r>
            <a:r>
              <a:rPr lang="en-IN" b="0" i="0" dirty="0">
                <a:solidFill>
                  <a:srgbClr val="333333"/>
                </a:solidFill>
                <a:effectLst/>
                <a:latin typeface="Poppins" panose="00000500000000000000" pitchFamily="2" charset="0"/>
              </a:rPr>
              <a:t> from each other but also the inside field of each </a:t>
            </a:r>
            <a:r>
              <a:rPr lang="en-IN" b="1" i="0" dirty="0">
                <a:solidFill>
                  <a:srgbClr val="333333"/>
                </a:solidFill>
                <a:effectLst/>
                <a:latin typeface="inherit"/>
              </a:rPr>
              <a:t>Region</a:t>
            </a:r>
            <a:r>
              <a:rPr lang="en-IN" b="0" i="0" dirty="0">
                <a:solidFill>
                  <a:srgbClr val="333333"/>
                </a:solidFill>
                <a:effectLst/>
                <a:latin typeface="Poppins" panose="00000500000000000000" pitchFamily="2" charset="0"/>
              </a:rPr>
              <a:t>.</a:t>
            </a:r>
          </a:p>
          <a:p>
            <a:pPr marL="0" indent="0">
              <a:buNone/>
            </a:pPr>
            <a:r>
              <a:rPr lang="en-IN" dirty="0"/>
              <a:t/>
            </a:r>
            <a:br>
              <a:rPr lang="en-IN" dirty="0"/>
            </a:b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5F559188-19A4-BC9F-51CB-07467BC47B94}"/>
              </a:ext>
            </a:extLst>
          </p:cNvPr>
          <p:cNvPicPr>
            <a:picLocks noChangeAspect="1"/>
          </p:cNvPicPr>
          <p:nvPr/>
        </p:nvPicPr>
        <p:blipFill>
          <a:blip r:embed="rId2"/>
          <a:stretch>
            <a:fillRect/>
          </a:stretch>
        </p:blipFill>
        <p:spPr>
          <a:xfrm>
            <a:off x="1786269" y="2782855"/>
            <a:ext cx="7581015" cy="4005185"/>
          </a:xfrm>
          <a:prstGeom prst="rect">
            <a:avLst/>
          </a:prstGeom>
        </p:spPr>
      </p:pic>
    </p:spTree>
    <p:extLst>
      <p:ext uri="{BB962C8B-B14F-4D97-AF65-F5344CB8AC3E}">
        <p14:creationId xmlns:p14="http://schemas.microsoft.com/office/powerpoint/2010/main" val="13805067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D301D-0EEF-5EF9-B444-8FFBE0398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002DA-8364-F0CD-A33D-B988B4E79928}"/>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000000"/>
                </a:solidFill>
                <a:effectLst/>
                <a:latin typeface="inherit"/>
              </a:rPr>
              <a:t>Steps</a:t>
            </a:r>
            <a:endParaRPr lang="en-IN" sz="4000" dirty="0"/>
          </a:p>
        </p:txBody>
      </p:sp>
      <p:sp>
        <p:nvSpPr>
          <p:cNvPr id="3" name="Content Placeholder 2">
            <a:extLst>
              <a:ext uri="{FF2B5EF4-FFF2-40B4-BE49-F238E27FC236}">
                <a16:creationId xmlns:a16="http://schemas.microsoft.com/office/drawing/2014/main" id="{7B18A223-737C-C169-8FCA-C37A59A758FB}"/>
              </a:ext>
            </a:extLst>
          </p:cNvPr>
          <p:cNvSpPr>
            <a:spLocks noGrp="1"/>
          </p:cNvSpPr>
          <p:nvPr>
            <p:ph idx="1"/>
          </p:nvPr>
        </p:nvSpPr>
        <p:spPr>
          <a:xfrm>
            <a:off x="1371600" y="1296955"/>
            <a:ext cx="9601200" cy="4570445"/>
          </a:xfrm>
        </p:spPr>
        <p:txBody>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Drag the</a:t>
            </a:r>
            <a:r>
              <a:rPr lang="en-IN" b="1" i="0" dirty="0">
                <a:solidFill>
                  <a:srgbClr val="333333"/>
                </a:solidFill>
                <a:effectLst/>
                <a:latin typeface="inherit"/>
              </a:rPr>
              <a:t> Region</a:t>
            </a:r>
            <a:r>
              <a:rPr lang="en-IN" b="0" i="0" dirty="0">
                <a:solidFill>
                  <a:srgbClr val="333333"/>
                </a:solidFill>
                <a:effectLst/>
                <a:latin typeface="Poppins" panose="00000500000000000000" pitchFamily="2" charset="0"/>
              </a:rPr>
              <a:t> to the second position. Doing it places the </a:t>
            </a:r>
            <a:r>
              <a:rPr lang="en-IN" b="1" i="0" dirty="0">
                <a:solidFill>
                  <a:srgbClr val="333333"/>
                </a:solidFill>
                <a:effectLst/>
                <a:latin typeface="inherit"/>
              </a:rPr>
              <a:t>Category</a:t>
            </a:r>
            <a:r>
              <a:rPr lang="en-IN" b="0" i="0" dirty="0">
                <a:solidFill>
                  <a:srgbClr val="333333"/>
                </a:solidFill>
                <a:effectLst/>
                <a:latin typeface="Poppins" panose="00000500000000000000" pitchFamily="2" charset="0"/>
              </a:rPr>
              <a:t> in the first position in the nesting.</a:t>
            </a:r>
          </a:p>
          <a:p>
            <a:pPr marL="0" indent="0">
              <a:buNone/>
            </a:pPr>
            <a:r>
              <a:rPr lang="en-IN" dirty="0"/>
              <a:t/>
            </a:r>
            <a:br>
              <a:rPr lang="en-IN" dirty="0"/>
            </a:br>
            <a:endParaRPr lang="en-IN" dirty="0"/>
          </a:p>
        </p:txBody>
      </p:sp>
      <p:pic>
        <p:nvPicPr>
          <p:cNvPr id="6" name="Picture 5">
            <a:extLst>
              <a:ext uri="{FF2B5EF4-FFF2-40B4-BE49-F238E27FC236}">
                <a16:creationId xmlns:a16="http://schemas.microsoft.com/office/drawing/2014/main" id="{C2144ADD-ED3D-2DD8-9E0F-14BF9DE3B2D8}"/>
              </a:ext>
            </a:extLst>
          </p:cNvPr>
          <p:cNvPicPr>
            <a:picLocks noChangeAspect="1"/>
          </p:cNvPicPr>
          <p:nvPr/>
        </p:nvPicPr>
        <p:blipFill>
          <a:blip r:embed="rId2"/>
          <a:stretch>
            <a:fillRect/>
          </a:stretch>
        </p:blipFill>
        <p:spPr>
          <a:xfrm>
            <a:off x="1876376" y="1956568"/>
            <a:ext cx="8086332" cy="4866659"/>
          </a:xfrm>
          <a:prstGeom prst="rect">
            <a:avLst/>
          </a:prstGeom>
        </p:spPr>
      </p:pic>
    </p:spTree>
    <p:extLst>
      <p:ext uri="{BB962C8B-B14F-4D97-AF65-F5344CB8AC3E}">
        <p14:creationId xmlns:p14="http://schemas.microsoft.com/office/powerpoint/2010/main" val="22735488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5AEE2-540E-19CE-0696-002A4E6B0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FA867-96E2-EB27-EDDF-7E158A168DF3}"/>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243966"/>
                </a:solidFill>
                <a:effectLst/>
                <a:latin typeface="inherit"/>
              </a:rPr>
              <a:t>Use of Slicer in Pivot Table</a:t>
            </a:r>
            <a:r>
              <a:rPr lang="en-IN" sz="4000" b="1" i="0" dirty="0">
                <a:solidFill>
                  <a:srgbClr val="243966"/>
                </a:solidFill>
                <a:effectLst/>
                <a:latin typeface="Poppins" panose="00000500000000000000" pitchFamily="2" charset="0"/>
              </a:rPr>
              <a:t/>
            </a:r>
            <a:br>
              <a:rPr lang="en-IN" sz="4000" b="1" i="0" dirty="0">
                <a:solidFill>
                  <a:srgbClr val="243966"/>
                </a:solidFill>
                <a:effectLst/>
                <a:latin typeface="Poppins" panose="00000500000000000000" pitchFamily="2" charset="0"/>
              </a:rPr>
            </a:br>
            <a:r>
              <a:rPr lang="en-IN" sz="4000" dirty="0"/>
              <a:t/>
            </a:r>
            <a:br>
              <a:rPr lang="en-IN" sz="4000" dirty="0"/>
            </a:br>
            <a:endParaRPr lang="en-IN" sz="4000" dirty="0"/>
          </a:p>
        </p:txBody>
      </p:sp>
      <p:sp>
        <p:nvSpPr>
          <p:cNvPr id="3" name="Content Placeholder 2">
            <a:extLst>
              <a:ext uri="{FF2B5EF4-FFF2-40B4-BE49-F238E27FC236}">
                <a16:creationId xmlns:a16="http://schemas.microsoft.com/office/drawing/2014/main" id="{D2A3A5BF-D35C-71E4-D937-CFCD4063DD1B}"/>
              </a:ext>
            </a:extLst>
          </p:cNvPr>
          <p:cNvSpPr>
            <a:spLocks noGrp="1"/>
          </p:cNvSpPr>
          <p:nvPr>
            <p:ph idx="1"/>
          </p:nvPr>
        </p:nvSpPr>
        <p:spPr>
          <a:xfrm>
            <a:off x="1371600" y="1296955"/>
            <a:ext cx="9601200" cy="4570445"/>
          </a:xfrm>
        </p:spPr>
        <p:txBody>
          <a:bodyPr/>
          <a:lstStyle/>
          <a:p>
            <a:pPr algn="just" fontAlgn="base">
              <a:spcAft>
                <a:spcPts val="1125"/>
              </a:spcAft>
            </a:pPr>
            <a:r>
              <a:rPr lang="en-IN" dirty="0"/>
              <a:t/>
            </a:r>
            <a:br>
              <a:rPr lang="en-IN" dirty="0"/>
            </a:br>
            <a:r>
              <a:rPr lang="en-IN" b="0" i="0" dirty="0">
                <a:solidFill>
                  <a:srgbClr val="000000"/>
                </a:solidFill>
                <a:effectLst/>
                <a:latin typeface="Poppins" panose="00000500000000000000" pitchFamily="2" charset="0"/>
              </a:rPr>
              <a:t>A </a:t>
            </a:r>
            <a:r>
              <a:rPr lang="en-IN" b="1" i="0" dirty="0">
                <a:solidFill>
                  <a:srgbClr val="000000"/>
                </a:solidFill>
                <a:effectLst/>
                <a:latin typeface="inherit"/>
              </a:rPr>
              <a:t>Slicer</a:t>
            </a:r>
            <a:r>
              <a:rPr lang="en-IN" b="0" i="0" dirty="0">
                <a:solidFill>
                  <a:srgbClr val="000000"/>
                </a:solidFill>
                <a:effectLst/>
                <a:latin typeface="Poppins" panose="00000500000000000000" pitchFamily="2" charset="0"/>
              </a:rPr>
              <a:t> is a convenient tool to filter out necessary information.</a:t>
            </a:r>
          </a:p>
          <a:p>
            <a:pPr algn="just" fontAlgn="base">
              <a:spcAft>
                <a:spcPts val="1125"/>
              </a:spcAft>
            </a:pPr>
            <a:r>
              <a:rPr lang="en-IN" sz="1800" b="1" i="0" dirty="0">
                <a:solidFill>
                  <a:srgbClr val="000000"/>
                </a:solidFill>
                <a:effectLst/>
                <a:latin typeface="inherit"/>
              </a:rPr>
              <a:t>Steps</a:t>
            </a:r>
            <a:endParaRPr lang="en-IN" b="0" i="0" dirty="0">
              <a:solidFill>
                <a:srgbClr val="000000"/>
              </a:solidFill>
              <a:effectLst/>
              <a:latin typeface="Poppins" panose="00000500000000000000" pitchFamily="2" charset="0"/>
            </a:endParaRP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To add slicer in the </a:t>
            </a:r>
            <a:r>
              <a:rPr lang="en-IN" b="1" i="0" dirty="0">
                <a:solidFill>
                  <a:srgbClr val="333333"/>
                </a:solidFill>
                <a:effectLst/>
                <a:latin typeface="inherit"/>
              </a:rPr>
              <a:t>Pivot Table</a:t>
            </a:r>
            <a:r>
              <a:rPr lang="en-IN" b="0" i="0" dirty="0">
                <a:solidFill>
                  <a:srgbClr val="333333"/>
                </a:solidFill>
                <a:effectLst/>
                <a:latin typeface="Poppins" panose="00000500000000000000" pitchFamily="2" charset="0"/>
              </a:rPr>
              <a:t>, click on the</a:t>
            </a:r>
            <a:r>
              <a:rPr lang="en-IN" b="1" i="0" dirty="0">
                <a:solidFill>
                  <a:srgbClr val="333333"/>
                </a:solidFill>
                <a:effectLst/>
                <a:latin typeface="inherit"/>
              </a:rPr>
              <a:t> Insert Slicer</a:t>
            </a:r>
            <a:r>
              <a:rPr lang="en-IN" b="0" i="0" dirty="0">
                <a:solidFill>
                  <a:srgbClr val="333333"/>
                </a:solidFill>
                <a:effectLst/>
                <a:latin typeface="Poppins" panose="00000500000000000000" pitchFamily="2" charset="0"/>
              </a:rPr>
              <a:t> command from the </a:t>
            </a:r>
            <a:r>
              <a:rPr lang="en-IN" b="1" i="0" dirty="0">
                <a:solidFill>
                  <a:srgbClr val="333333"/>
                </a:solidFill>
                <a:effectLst/>
                <a:latin typeface="inherit"/>
              </a:rPr>
              <a:t>PivotTable</a:t>
            </a:r>
            <a:r>
              <a:rPr lang="en-IN" b="0" i="0" dirty="0">
                <a:solidFill>
                  <a:srgbClr val="333333"/>
                </a:solidFill>
                <a:effectLst/>
                <a:latin typeface="Poppins" panose="00000500000000000000" pitchFamily="2" charset="0"/>
              </a:rPr>
              <a:t> </a:t>
            </a:r>
            <a:r>
              <a:rPr lang="en-IN" b="1" i="0" dirty="0" err="1">
                <a:solidFill>
                  <a:srgbClr val="333333"/>
                </a:solidFill>
                <a:effectLst/>
                <a:latin typeface="inherit"/>
              </a:rPr>
              <a:t>Analyze</a:t>
            </a:r>
            <a:r>
              <a:rPr lang="en-IN" b="1" i="0" dirty="0">
                <a:solidFill>
                  <a:srgbClr val="333333"/>
                </a:solidFill>
                <a:effectLst/>
                <a:latin typeface="inherit"/>
              </a:rPr>
              <a:t> </a:t>
            </a:r>
            <a:r>
              <a:rPr lang="en-IN" b="0" i="0" dirty="0">
                <a:solidFill>
                  <a:srgbClr val="333333"/>
                </a:solidFill>
                <a:effectLst/>
                <a:latin typeface="Poppins" panose="00000500000000000000" pitchFamily="2" charset="0"/>
              </a:rPr>
              <a:t>tab.</a:t>
            </a:r>
          </a:p>
          <a:p>
            <a:pPr marL="0" indent="0">
              <a:buNone/>
            </a:pPr>
            <a:endParaRPr lang="en-IN" dirty="0"/>
          </a:p>
        </p:txBody>
      </p:sp>
      <p:pic>
        <p:nvPicPr>
          <p:cNvPr id="5" name="Picture 4">
            <a:extLst>
              <a:ext uri="{FF2B5EF4-FFF2-40B4-BE49-F238E27FC236}">
                <a16:creationId xmlns:a16="http://schemas.microsoft.com/office/drawing/2014/main" id="{37795CB2-C40B-7231-9BE4-839620DB8EF6}"/>
              </a:ext>
            </a:extLst>
          </p:cNvPr>
          <p:cNvPicPr>
            <a:picLocks noChangeAspect="1"/>
          </p:cNvPicPr>
          <p:nvPr/>
        </p:nvPicPr>
        <p:blipFill>
          <a:blip r:embed="rId2"/>
          <a:stretch>
            <a:fillRect/>
          </a:stretch>
        </p:blipFill>
        <p:spPr>
          <a:xfrm>
            <a:off x="2068209" y="3429000"/>
            <a:ext cx="6246451" cy="3294511"/>
          </a:xfrm>
          <a:prstGeom prst="rect">
            <a:avLst/>
          </a:prstGeom>
        </p:spPr>
      </p:pic>
    </p:spTree>
    <p:extLst>
      <p:ext uri="{BB962C8B-B14F-4D97-AF65-F5344CB8AC3E}">
        <p14:creationId xmlns:p14="http://schemas.microsoft.com/office/powerpoint/2010/main" val="227105776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F97F-DC52-5662-D263-EB77A846D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E8067-49ED-CEE4-61D7-A0EB61F5505D}"/>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243966"/>
                </a:solidFill>
                <a:effectLst/>
                <a:latin typeface="inherit"/>
              </a:rPr>
              <a:t>Use of Slicer in Pivot Table</a:t>
            </a:r>
            <a:r>
              <a:rPr lang="en-IN" sz="4000" b="1" i="0" dirty="0">
                <a:solidFill>
                  <a:srgbClr val="243966"/>
                </a:solidFill>
                <a:effectLst/>
                <a:latin typeface="Poppins" panose="00000500000000000000" pitchFamily="2" charset="0"/>
              </a:rPr>
              <a:t/>
            </a:r>
            <a:br>
              <a:rPr lang="en-IN" sz="4000" b="1" i="0" dirty="0">
                <a:solidFill>
                  <a:srgbClr val="243966"/>
                </a:solidFill>
                <a:effectLst/>
                <a:latin typeface="Poppins" panose="00000500000000000000" pitchFamily="2" charset="0"/>
              </a:rPr>
            </a:br>
            <a:r>
              <a:rPr lang="en-IN" sz="4000" dirty="0"/>
              <a:t/>
            </a:r>
            <a:br>
              <a:rPr lang="en-IN" sz="4000" dirty="0"/>
            </a:br>
            <a:endParaRPr lang="en-IN" sz="4000" dirty="0"/>
          </a:p>
        </p:txBody>
      </p:sp>
      <p:sp>
        <p:nvSpPr>
          <p:cNvPr id="3" name="Content Placeholder 2">
            <a:extLst>
              <a:ext uri="{FF2B5EF4-FFF2-40B4-BE49-F238E27FC236}">
                <a16:creationId xmlns:a16="http://schemas.microsoft.com/office/drawing/2014/main" id="{A6B540E6-8C85-5CE3-F688-D37C289C9E44}"/>
              </a:ext>
            </a:extLst>
          </p:cNvPr>
          <p:cNvSpPr>
            <a:spLocks noGrp="1"/>
          </p:cNvSpPr>
          <p:nvPr>
            <p:ph idx="1"/>
          </p:nvPr>
        </p:nvSpPr>
        <p:spPr>
          <a:xfrm>
            <a:off x="1371600" y="1296955"/>
            <a:ext cx="9601200" cy="4570445"/>
          </a:xfrm>
        </p:spPr>
        <p:txBody>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Anew dialog box named </a:t>
            </a:r>
            <a:r>
              <a:rPr lang="en-IN" b="1" i="0" dirty="0">
                <a:solidFill>
                  <a:srgbClr val="333333"/>
                </a:solidFill>
                <a:effectLst/>
                <a:latin typeface="inherit"/>
              </a:rPr>
              <a:t>Insert Slicers </a:t>
            </a:r>
            <a:r>
              <a:rPr lang="en-IN" b="0" i="0" dirty="0">
                <a:solidFill>
                  <a:srgbClr val="333333"/>
                </a:solidFill>
                <a:effectLst/>
                <a:latin typeface="Poppins" panose="00000500000000000000" pitchFamily="2" charset="0"/>
              </a:rPr>
              <a:t>will open.</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Select the slicers that you are going to add by tick marking the checkboxes. In this case, we checked the </a:t>
            </a:r>
            <a:r>
              <a:rPr lang="en-IN" b="1" i="0" dirty="0">
                <a:solidFill>
                  <a:srgbClr val="333333"/>
                </a:solidFill>
                <a:effectLst/>
                <a:latin typeface="inherit"/>
              </a:rPr>
              <a:t>Category</a:t>
            </a:r>
            <a:r>
              <a:rPr lang="en-IN" b="0" i="0" dirty="0">
                <a:solidFill>
                  <a:srgbClr val="333333"/>
                </a:solidFill>
                <a:effectLst/>
                <a:latin typeface="Poppins" panose="00000500000000000000" pitchFamily="2" charset="0"/>
              </a:rPr>
              <a:t>, </a:t>
            </a:r>
            <a:r>
              <a:rPr lang="en-IN" b="1" i="0" dirty="0">
                <a:solidFill>
                  <a:srgbClr val="333333"/>
                </a:solidFill>
                <a:effectLst/>
                <a:latin typeface="inherit"/>
              </a:rPr>
              <a:t>Region</a:t>
            </a:r>
            <a:r>
              <a:rPr lang="en-IN" b="0" i="0" dirty="0">
                <a:solidFill>
                  <a:srgbClr val="333333"/>
                </a:solidFill>
                <a:effectLst/>
                <a:latin typeface="Poppins" panose="00000500000000000000" pitchFamily="2" charset="0"/>
              </a:rPr>
              <a:t>, and </a:t>
            </a:r>
            <a:r>
              <a:rPr lang="en-IN" b="1" i="0" dirty="0">
                <a:solidFill>
                  <a:srgbClr val="333333"/>
                </a:solidFill>
                <a:effectLst/>
                <a:latin typeface="inherit"/>
              </a:rPr>
              <a:t>Rating </a:t>
            </a:r>
            <a:r>
              <a:rPr lang="en-IN" b="0" i="0" dirty="0">
                <a:solidFill>
                  <a:srgbClr val="333333"/>
                </a:solidFill>
                <a:effectLst/>
                <a:latin typeface="Poppins" panose="00000500000000000000" pitchFamily="2" charset="0"/>
              </a:rPr>
              <a:t>boxes.</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Click </a:t>
            </a:r>
            <a:r>
              <a:rPr lang="en-IN" b="1" i="0" dirty="0">
                <a:solidFill>
                  <a:srgbClr val="333333"/>
                </a:solidFill>
                <a:effectLst/>
                <a:latin typeface="inherit"/>
              </a:rPr>
              <a:t>OK.</a:t>
            </a:r>
            <a:endParaRPr lang="en-IN" b="0" i="0" dirty="0">
              <a:solidFill>
                <a:srgbClr val="333333"/>
              </a:solidFill>
              <a:effectLst/>
              <a:latin typeface="Poppins" panose="00000500000000000000" pitchFamily="2" charset="0"/>
            </a:endParaRPr>
          </a:p>
          <a:p>
            <a:endParaRPr lang="en-IN" b="0" i="0" dirty="0">
              <a:solidFill>
                <a:srgbClr val="333333"/>
              </a:solidFill>
              <a:effectLst/>
              <a:latin typeface="Poppins" panose="00000500000000000000" pitchFamily="2" charset="0"/>
            </a:endParaRPr>
          </a:p>
          <a:p>
            <a:pPr marL="0" indent="0">
              <a:buNone/>
            </a:pPr>
            <a:endParaRPr lang="en-IN" dirty="0"/>
          </a:p>
        </p:txBody>
      </p:sp>
      <p:pic>
        <p:nvPicPr>
          <p:cNvPr id="6" name="Picture 5">
            <a:extLst>
              <a:ext uri="{FF2B5EF4-FFF2-40B4-BE49-F238E27FC236}">
                <a16:creationId xmlns:a16="http://schemas.microsoft.com/office/drawing/2014/main" id="{9EDB9898-512F-4329-3148-11AFF5256D99}"/>
              </a:ext>
            </a:extLst>
          </p:cNvPr>
          <p:cNvPicPr>
            <a:picLocks noChangeAspect="1"/>
          </p:cNvPicPr>
          <p:nvPr/>
        </p:nvPicPr>
        <p:blipFill>
          <a:blip r:embed="rId2"/>
          <a:stretch>
            <a:fillRect/>
          </a:stretch>
        </p:blipFill>
        <p:spPr>
          <a:xfrm>
            <a:off x="4114195" y="2470451"/>
            <a:ext cx="2247619" cy="4219048"/>
          </a:xfrm>
          <a:prstGeom prst="rect">
            <a:avLst/>
          </a:prstGeom>
        </p:spPr>
      </p:pic>
    </p:spTree>
    <p:extLst>
      <p:ext uri="{BB962C8B-B14F-4D97-AF65-F5344CB8AC3E}">
        <p14:creationId xmlns:p14="http://schemas.microsoft.com/office/powerpoint/2010/main" val="24018792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344FB-6320-15C0-4EA5-F9FC2F807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EBD8E-75B5-44C1-92D8-B54B1A02EFB0}"/>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243966"/>
                </a:solidFill>
                <a:effectLst/>
                <a:latin typeface="inherit"/>
              </a:rPr>
              <a:t>Use of Slicer in Pivot Table</a:t>
            </a:r>
            <a:r>
              <a:rPr lang="en-IN" sz="4000" b="1" i="0" dirty="0">
                <a:solidFill>
                  <a:srgbClr val="243966"/>
                </a:solidFill>
                <a:effectLst/>
                <a:latin typeface="Poppins" panose="00000500000000000000" pitchFamily="2" charset="0"/>
              </a:rPr>
              <a:t/>
            </a:r>
            <a:br>
              <a:rPr lang="en-IN" sz="4000" b="1" i="0" dirty="0">
                <a:solidFill>
                  <a:srgbClr val="243966"/>
                </a:solidFill>
                <a:effectLst/>
                <a:latin typeface="Poppins" panose="00000500000000000000" pitchFamily="2" charset="0"/>
              </a:rPr>
            </a:br>
            <a:r>
              <a:rPr lang="en-IN" sz="4000" dirty="0"/>
              <a:t/>
            </a:r>
            <a:br>
              <a:rPr lang="en-IN" sz="4000" dirty="0"/>
            </a:br>
            <a:endParaRPr lang="en-IN" sz="4000" dirty="0"/>
          </a:p>
        </p:txBody>
      </p:sp>
      <p:sp>
        <p:nvSpPr>
          <p:cNvPr id="3" name="Content Placeholder 2">
            <a:extLst>
              <a:ext uri="{FF2B5EF4-FFF2-40B4-BE49-F238E27FC236}">
                <a16:creationId xmlns:a16="http://schemas.microsoft.com/office/drawing/2014/main" id="{DC6EE1A7-0C19-9857-653E-84F79F332D4D}"/>
              </a:ext>
            </a:extLst>
          </p:cNvPr>
          <p:cNvSpPr>
            <a:spLocks noGrp="1"/>
          </p:cNvSpPr>
          <p:nvPr>
            <p:ph idx="1"/>
          </p:nvPr>
        </p:nvSpPr>
        <p:spPr>
          <a:xfrm>
            <a:off x="1371600" y="1296955"/>
            <a:ext cx="9601200" cy="5561045"/>
          </a:xfrm>
        </p:spPr>
        <p:txBody>
          <a:bodyPr>
            <a:normAutofit lnSpcReduction="10000"/>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There will be 3 different slicers in the worksheet. Each one for every field and the entries in these fields.</a:t>
            </a: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dirty="0">
              <a:solidFill>
                <a:srgbClr val="333333"/>
              </a:solidFill>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Click on </a:t>
            </a:r>
            <a:r>
              <a:rPr lang="en-IN" b="1" i="0" dirty="0">
                <a:solidFill>
                  <a:srgbClr val="333333"/>
                </a:solidFill>
                <a:effectLst/>
                <a:latin typeface="inherit"/>
              </a:rPr>
              <a:t>Asia</a:t>
            </a:r>
            <a:r>
              <a:rPr lang="en-IN" b="0" i="0" dirty="0">
                <a:solidFill>
                  <a:srgbClr val="333333"/>
                </a:solidFill>
                <a:effectLst/>
                <a:latin typeface="Poppins" panose="00000500000000000000" pitchFamily="2" charset="0"/>
              </a:rPr>
              <a:t> and </a:t>
            </a:r>
            <a:r>
              <a:rPr lang="en-IN" b="1" i="0" dirty="0">
                <a:solidFill>
                  <a:srgbClr val="333333"/>
                </a:solidFill>
                <a:effectLst/>
                <a:latin typeface="inherit"/>
              </a:rPr>
              <a:t>South Asia </a:t>
            </a:r>
            <a:r>
              <a:rPr lang="en-IN" b="0" i="0" dirty="0">
                <a:solidFill>
                  <a:srgbClr val="333333"/>
                </a:solidFill>
                <a:effectLst/>
                <a:latin typeface="Poppins" panose="00000500000000000000" pitchFamily="2" charset="0"/>
              </a:rPr>
              <a:t>in the first slicer. This will eliminate other entries which have </a:t>
            </a:r>
            <a:r>
              <a:rPr lang="en-IN" b="1" i="0" dirty="0">
                <a:solidFill>
                  <a:srgbClr val="333333"/>
                </a:solidFill>
                <a:effectLst/>
                <a:latin typeface="inherit"/>
              </a:rPr>
              <a:t>Regions</a:t>
            </a:r>
            <a:r>
              <a:rPr lang="en-IN" b="0" i="0" dirty="0">
                <a:solidFill>
                  <a:srgbClr val="333333"/>
                </a:solidFill>
                <a:effectLst/>
                <a:latin typeface="Poppins" panose="00000500000000000000" pitchFamily="2" charset="0"/>
              </a:rPr>
              <a:t> other than </a:t>
            </a:r>
            <a:r>
              <a:rPr lang="en-IN" b="1" i="0" dirty="0">
                <a:solidFill>
                  <a:srgbClr val="333333"/>
                </a:solidFill>
                <a:effectLst/>
                <a:latin typeface="inherit"/>
              </a:rPr>
              <a:t>Asia</a:t>
            </a:r>
            <a:r>
              <a:rPr lang="en-IN" b="0" i="0" dirty="0">
                <a:solidFill>
                  <a:srgbClr val="333333"/>
                </a:solidFill>
                <a:effectLst/>
                <a:latin typeface="Poppins" panose="00000500000000000000" pitchFamily="2" charset="0"/>
              </a:rPr>
              <a:t> and </a:t>
            </a:r>
            <a:r>
              <a:rPr lang="en-IN" b="1" i="0" dirty="0">
                <a:solidFill>
                  <a:srgbClr val="333333"/>
                </a:solidFill>
                <a:effectLst/>
                <a:latin typeface="inherit"/>
              </a:rPr>
              <a:t>South Asia.</a:t>
            </a: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Select the </a:t>
            </a:r>
            <a:r>
              <a:rPr lang="en-IN" b="1" i="0" dirty="0">
                <a:solidFill>
                  <a:srgbClr val="333333"/>
                </a:solidFill>
                <a:effectLst/>
                <a:latin typeface="inherit"/>
              </a:rPr>
              <a:t>Electronics </a:t>
            </a:r>
            <a:r>
              <a:rPr lang="en-IN" b="0" i="0" dirty="0">
                <a:solidFill>
                  <a:srgbClr val="333333"/>
                </a:solidFill>
                <a:effectLst/>
                <a:latin typeface="Poppins" panose="00000500000000000000" pitchFamily="2" charset="0"/>
              </a:rPr>
              <a:t>and the</a:t>
            </a:r>
            <a:r>
              <a:rPr lang="en-IN" b="1" i="0" dirty="0">
                <a:solidFill>
                  <a:srgbClr val="333333"/>
                </a:solidFill>
                <a:effectLst/>
                <a:latin typeface="inherit"/>
              </a:rPr>
              <a:t> Home Appliances.</a:t>
            </a:r>
            <a:endParaRPr lang="en-IN" b="0" i="0" dirty="0">
              <a:solidFill>
                <a:srgbClr val="333333"/>
              </a:solidFill>
              <a:effectLst/>
              <a:latin typeface="Poppins" panose="00000500000000000000" pitchFamily="2" charset="0"/>
            </a:endParaRP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This will select only products only in that two </a:t>
            </a:r>
            <a:r>
              <a:rPr lang="en-IN" b="1" i="0" dirty="0">
                <a:solidFill>
                  <a:srgbClr val="333333"/>
                </a:solidFill>
                <a:effectLst/>
                <a:latin typeface="inherit"/>
              </a:rPr>
              <a:t>Category.</a:t>
            </a:r>
            <a:endParaRPr lang="en-IN" b="0" i="0" dirty="0">
              <a:solidFill>
                <a:srgbClr val="333333"/>
              </a:solidFill>
              <a:effectLst/>
              <a:latin typeface="Poppins" panose="00000500000000000000" pitchFamily="2" charset="0"/>
            </a:endParaRPr>
          </a:p>
          <a:p>
            <a:pPr marL="0" indent="0">
              <a:buNone/>
            </a:pPr>
            <a:endParaRPr lang="en-IN" dirty="0"/>
          </a:p>
        </p:txBody>
      </p:sp>
      <p:pic>
        <p:nvPicPr>
          <p:cNvPr id="5" name="Picture 4">
            <a:extLst>
              <a:ext uri="{FF2B5EF4-FFF2-40B4-BE49-F238E27FC236}">
                <a16:creationId xmlns:a16="http://schemas.microsoft.com/office/drawing/2014/main" id="{09ACC4A4-8D57-0286-432C-42BE9037C766}"/>
              </a:ext>
            </a:extLst>
          </p:cNvPr>
          <p:cNvPicPr>
            <a:picLocks noChangeAspect="1"/>
          </p:cNvPicPr>
          <p:nvPr/>
        </p:nvPicPr>
        <p:blipFill>
          <a:blip r:embed="rId2"/>
          <a:stretch>
            <a:fillRect/>
          </a:stretch>
        </p:blipFill>
        <p:spPr>
          <a:xfrm>
            <a:off x="1975864" y="1896056"/>
            <a:ext cx="6232471" cy="2815322"/>
          </a:xfrm>
          <a:prstGeom prst="rect">
            <a:avLst/>
          </a:prstGeom>
        </p:spPr>
      </p:pic>
    </p:spTree>
    <p:extLst>
      <p:ext uri="{BB962C8B-B14F-4D97-AF65-F5344CB8AC3E}">
        <p14:creationId xmlns:p14="http://schemas.microsoft.com/office/powerpoint/2010/main" val="417081450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C2708-BD9E-70E1-E265-8E61B8CA4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ADA36-4F92-E3AE-9C17-DE2749DCC410}"/>
              </a:ext>
            </a:extLst>
          </p:cNvPr>
          <p:cNvSpPr>
            <a:spLocks noGrp="1"/>
          </p:cNvSpPr>
          <p:nvPr>
            <p:ph type="title"/>
          </p:nvPr>
        </p:nvSpPr>
        <p:spPr/>
        <p:txBody>
          <a:bodyPr>
            <a:noAutofit/>
          </a:bodyPr>
          <a:lstStyle/>
          <a:p>
            <a:pPr algn="l" fontAlgn="base">
              <a:spcBef>
                <a:spcPts val="1500"/>
              </a:spcBef>
              <a:spcAft>
                <a:spcPts val="1500"/>
              </a:spcAft>
            </a:pPr>
            <a:r>
              <a:rPr lang="en-IN" sz="4000" b="1" i="0" dirty="0">
                <a:solidFill>
                  <a:srgbClr val="243966"/>
                </a:solidFill>
                <a:effectLst/>
                <a:latin typeface="inherit"/>
              </a:rPr>
              <a:t>Use of Slicer in Pivot Table</a:t>
            </a:r>
            <a:r>
              <a:rPr lang="en-IN" sz="4000" b="1" i="0" dirty="0">
                <a:solidFill>
                  <a:srgbClr val="243966"/>
                </a:solidFill>
                <a:effectLst/>
                <a:latin typeface="Poppins" panose="00000500000000000000" pitchFamily="2" charset="0"/>
              </a:rPr>
              <a:t/>
            </a:r>
            <a:br>
              <a:rPr lang="en-IN" sz="4000" b="1" i="0" dirty="0">
                <a:solidFill>
                  <a:srgbClr val="243966"/>
                </a:solidFill>
                <a:effectLst/>
                <a:latin typeface="Poppins" panose="00000500000000000000" pitchFamily="2" charset="0"/>
              </a:rPr>
            </a:br>
            <a:r>
              <a:rPr lang="en-IN" sz="4000" dirty="0"/>
              <a:t/>
            </a:r>
            <a:br>
              <a:rPr lang="en-IN" sz="4000" dirty="0"/>
            </a:br>
            <a:endParaRPr lang="en-IN" sz="4000" dirty="0"/>
          </a:p>
        </p:txBody>
      </p:sp>
      <p:sp>
        <p:nvSpPr>
          <p:cNvPr id="3" name="Content Placeholder 2">
            <a:extLst>
              <a:ext uri="{FF2B5EF4-FFF2-40B4-BE49-F238E27FC236}">
                <a16:creationId xmlns:a16="http://schemas.microsoft.com/office/drawing/2014/main" id="{F77D6BA6-8807-DEFA-07ED-D037F1DFBAA1}"/>
              </a:ext>
            </a:extLst>
          </p:cNvPr>
          <p:cNvSpPr>
            <a:spLocks noGrp="1"/>
          </p:cNvSpPr>
          <p:nvPr>
            <p:ph idx="1"/>
          </p:nvPr>
        </p:nvSpPr>
        <p:spPr>
          <a:xfrm>
            <a:off x="1371600" y="1296955"/>
            <a:ext cx="9601200" cy="5561045"/>
          </a:xfrm>
        </p:spPr>
        <p:txBody>
          <a:bodyPr>
            <a:normAutofit/>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Choose </a:t>
            </a:r>
            <a:r>
              <a:rPr lang="en-IN" b="1" i="0" dirty="0">
                <a:solidFill>
                  <a:srgbClr val="333333"/>
                </a:solidFill>
                <a:effectLst/>
                <a:latin typeface="inherit"/>
              </a:rPr>
              <a:t>Ratings</a:t>
            </a:r>
            <a:r>
              <a:rPr lang="en-IN" b="0" i="0" dirty="0">
                <a:solidFill>
                  <a:srgbClr val="333333"/>
                </a:solidFill>
                <a:effectLst/>
                <a:latin typeface="Poppins" panose="00000500000000000000" pitchFamily="2" charset="0"/>
              </a:rPr>
              <a:t> </a:t>
            </a:r>
            <a:r>
              <a:rPr lang="en-IN" b="1" i="0" dirty="0">
                <a:solidFill>
                  <a:srgbClr val="333333"/>
                </a:solidFill>
                <a:effectLst/>
                <a:latin typeface="inherit"/>
              </a:rPr>
              <a:t>4</a:t>
            </a:r>
            <a:r>
              <a:rPr lang="en-IN" b="0" i="0" dirty="0">
                <a:solidFill>
                  <a:srgbClr val="333333"/>
                </a:solidFill>
                <a:effectLst/>
                <a:latin typeface="Poppins" panose="00000500000000000000" pitchFamily="2" charset="0"/>
              </a:rPr>
              <a:t> and </a:t>
            </a:r>
            <a:r>
              <a:rPr lang="en-IN" b="1" i="0" dirty="0">
                <a:solidFill>
                  <a:srgbClr val="333333"/>
                </a:solidFill>
                <a:effectLst/>
                <a:latin typeface="inherit"/>
              </a:rPr>
              <a:t>5</a:t>
            </a:r>
            <a:r>
              <a:rPr lang="en-IN" b="0" i="0" dirty="0">
                <a:solidFill>
                  <a:srgbClr val="333333"/>
                </a:solidFill>
                <a:effectLst/>
                <a:latin typeface="Poppins" panose="00000500000000000000" pitchFamily="2" charset="0"/>
              </a:rPr>
              <a:t>.</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the table is going to update regularly as we click on </a:t>
            </a:r>
            <a:r>
              <a:rPr lang="en-IN" b="1" i="0" dirty="0">
                <a:solidFill>
                  <a:srgbClr val="333333"/>
                </a:solidFill>
                <a:effectLst/>
                <a:latin typeface="inherit"/>
              </a:rPr>
              <a:t>Slicer</a:t>
            </a:r>
            <a:r>
              <a:rPr lang="en-IN" b="0" i="0" dirty="0">
                <a:solidFill>
                  <a:srgbClr val="333333"/>
                </a:solidFill>
                <a:effectLst/>
                <a:latin typeface="Poppins" panose="00000500000000000000" pitchFamily="2" charset="0"/>
              </a:rPr>
              <a:t>.</a:t>
            </a:r>
          </a:p>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We have different products and their different performance parameter only from the </a:t>
            </a:r>
            <a:r>
              <a:rPr lang="en-IN" b="1" i="0" dirty="0">
                <a:solidFill>
                  <a:srgbClr val="333333"/>
                </a:solidFill>
                <a:effectLst/>
                <a:latin typeface="inherit"/>
              </a:rPr>
              <a:t>Asia</a:t>
            </a:r>
            <a:r>
              <a:rPr lang="en-IN" b="0" i="0" dirty="0">
                <a:solidFill>
                  <a:srgbClr val="333333"/>
                </a:solidFill>
                <a:effectLst/>
                <a:latin typeface="Poppins" panose="00000500000000000000" pitchFamily="2" charset="0"/>
              </a:rPr>
              <a:t> and the </a:t>
            </a:r>
            <a:r>
              <a:rPr lang="en-IN" b="1" i="0" dirty="0">
                <a:solidFill>
                  <a:srgbClr val="333333"/>
                </a:solidFill>
                <a:effectLst/>
                <a:latin typeface="inherit"/>
              </a:rPr>
              <a:t>South Asia</a:t>
            </a:r>
            <a:r>
              <a:rPr lang="en-IN" b="0" i="0" dirty="0">
                <a:solidFill>
                  <a:srgbClr val="333333"/>
                </a:solidFill>
                <a:effectLst/>
                <a:latin typeface="Poppins" panose="00000500000000000000" pitchFamily="2" charset="0"/>
              </a:rPr>
              <a:t> </a:t>
            </a:r>
            <a:r>
              <a:rPr lang="en-IN" b="1" i="0" dirty="0">
                <a:solidFill>
                  <a:srgbClr val="333333"/>
                </a:solidFill>
                <a:effectLst/>
                <a:latin typeface="inherit"/>
              </a:rPr>
              <a:t>Region</a:t>
            </a:r>
            <a:r>
              <a:rPr lang="en-IN" b="0" i="0" dirty="0">
                <a:solidFill>
                  <a:srgbClr val="333333"/>
                </a:solidFill>
                <a:effectLst/>
                <a:latin typeface="Poppins" panose="00000500000000000000" pitchFamily="2" charset="0"/>
              </a:rPr>
              <a:t> The list is further filtered by the only two </a:t>
            </a:r>
            <a:r>
              <a:rPr lang="en-IN" b="1" i="0" dirty="0">
                <a:solidFill>
                  <a:srgbClr val="333333"/>
                </a:solidFill>
                <a:effectLst/>
                <a:latin typeface="inherit"/>
              </a:rPr>
              <a:t>Category</a:t>
            </a:r>
            <a:r>
              <a:rPr lang="en-IN" b="0" i="0" dirty="0">
                <a:solidFill>
                  <a:srgbClr val="333333"/>
                </a:solidFill>
                <a:effectLst/>
                <a:latin typeface="Poppins" panose="00000500000000000000" pitchFamily="2" charset="0"/>
              </a:rPr>
              <a:t> of products. We proceed to choose only</a:t>
            </a:r>
            <a:r>
              <a:rPr lang="en-IN" b="1" i="0" dirty="0">
                <a:solidFill>
                  <a:srgbClr val="333333"/>
                </a:solidFill>
                <a:effectLst/>
                <a:latin typeface="inherit"/>
              </a:rPr>
              <a:t> 4</a:t>
            </a:r>
            <a:r>
              <a:rPr lang="en-IN" b="0" i="0" dirty="0">
                <a:solidFill>
                  <a:srgbClr val="333333"/>
                </a:solidFill>
                <a:effectLst/>
                <a:latin typeface="Poppins" panose="00000500000000000000" pitchFamily="2" charset="0"/>
              </a:rPr>
              <a:t> and </a:t>
            </a:r>
            <a:r>
              <a:rPr lang="en-IN" b="1" i="0" dirty="0">
                <a:solidFill>
                  <a:srgbClr val="333333"/>
                </a:solidFill>
                <a:effectLst/>
                <a:latin typeface="inherit"/>
              </a:rPr>
              <a:t>4.5</a:t>
            </a:r>
            <a:r>
              <a:rPr lang="en-IN" b="0" i="0" dirty="0">
                <a:solidFill>
                  <a:srgbClr val="333333"/>
                </a:solidFill>
                <a:effectLst/>
                <a:latin typeface="Poppins" panose="00000500000000000000" pitchFamily="2" charset="0"/>
              </a:rPr>
              <a:t> </a:t>
            </a:r>
            <a:r>
              <a:rPr lang="en-IN" b="1" i="0" dirty="0">
                <a:solidFill>
                  <a:srgbClr val="333333"/>
                </a:solidFill>
                <a:effectLst/>
                <a:latin typeface="inherit"/>
              </a:rPr>
              <a:t>Ratings</a:t>
            </a:r>
            <a:r>
              <a:rPr lang="en-IN" b="0" i="0" dirty="0">
                <a:solidFill>
                  <a:srgbClr val="333333"/>
                </a:solidFill>
                <a:effectLst/>
                <a:latin typeface="Poppins" panose="00000500000000000000" pitchFamily="2" charset="0"/>
              </a:rPr>
              <a:t>.</a:t>
            </a:r>
          </a:p>
          <a:p>
            <a:pPr marL="0" indent="0">
              <a:buNone/>
            </a:pPr>
            <a:endParaRPr lang="en-IN" dirty="0"/>
          </a:p>
        </p:txBody>
      </p:sp>
      <p:pic>
        <p:nvPicPr>
          <p:cNvPr id="6" name="Picture 5">
            <a:extLst>
              <a:ext uri="{FF2B5EF4-FFF2-40B4-BE49-F238E27FC236}">
                <a16:creationId xmlns:a16="http://schemas.microsoft.com/office/drawing/2014/main" id="{7536DFFA-324A-783B-CE5E-D4AF5F5BBFD5}"/>
              </a:ext>
            </a:extLst>
          </p:cNvPr>
          <p:cNvPicPr>
            <a:picLocks noChangeAspect="1"/>
          </p:cNvPicPr>
          <p:nvPr/>
        </p:nvPicPr>
        <p:blipFill>
          <a:blip r:embed="rId2"/>
          <a:stretch>
            <a:fillRect/>
          </a:stretch>
        </p:blipFill>
        <p:spPr>
          <a:xfrm>
            <a:off x="2924757" y="3523838"/>
            <a:ext cx="5145355" cy="3245932"/>
          </a:xfrm>
          <a:prstGeom prst="rect">
            <a:avLst/>
          </a:prstGeom>
        </p:spPr>
      </p:pic>
    </p:spTree>
    <p:extLst>
      <p:ext uri="{BB962C8B-B14F-4D97-AF65-F5344CB8AC3E}">
        <p14:creationId xmlns:p14="http://schemas.microsoft.com/office/powerpoint/2010/main" val="33496480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DA9F-81DD-87E7-49B5-4862C5EC0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79700-8828-790E-5164-A8976C273E87}"/>
              </a:ext>
            </a:extLst>
          </p:cNvPr>
          <p:cNvSpPr>
            <a:spLocks noGrp="1"/>
          </p:cNvSpPr>
          <p:nvPr>
            <p:ph type="title"/>
          </p:nvPr>
        </p:nvSpPr>
        <p:spPr/>
        <p:txBody>
          <a:bodyPr>
            <a:normAutofit fontScale="90000"/>
          </a:bodyPr>
          <a:lstStyle/>
          <a:p>
            <a:pPr fontAlgn="base"/>
            <a:r>
              <a:rPr lang="en-IN" b="0" i="0" dirty="0">
                <a:solidFill>
                  <a:srgbClr val="3E3530"/>
                </a:solidFill>
                <a:effectLst/>
                <a:latin typeface="Arial" panose="020B0604020202020204" pitchFamily="34" charset="0"/>
              </a:rPr>
              <a:t>Pivot Chart</a:t>
            </a:r>
            <a:br>
              <a:rPr lang="en-IN" b="0" i="0" dirty="0">
                <a:solidFill>
                  <a:srgbClr val="3E3530"/>
                </a:solidFill>
                <a:effectLst/>
                <a:latin typeface="Arial" panose="020B0604020202020204" pitchFamily="34"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AB565727-AC38-E29C-8C64-219D1A3D1A7C}"/>
              </a:ext>
            </a:extLst>
          </p:cNvPr>
          <p:cNvSpPr>
            <a:spLocks noGrp="1"/>
          </p:cNvSpPr>
          <p:nvPr>
            <p:ph idx="1"/>
          </p:nvPr>
        </p:nvSpPr>
        <p:spPr>
          <a:xfrm>
            <a:off x="1371600" y="1296955"/>
            <a:ext cx="9601200" cy="4570445"/>
          </a:xfrm>
        </p:spPr>
        <p:txBody>
          <a:bodyPr/>
          <a:lstStyle/>
          <a:p>
            <a:pPr algn="l" fontAlgn="base">
              <a:lnSpc>
                <a:spcPts val="1980"/>
              </a:lnSpc>
              <a:spcAft>
                <a:spcPts val="675"/>
              </a:spcAft>
            </a:pPr>
            <a:r>
              <a:rPr lang="en-IN" b="0" i="0" dirty="0">
                <a:solidFill>
                  <a:srgbClr val="000000"/>
                </a:solidFill>
                <a:effectLst/>
                <a:latin typeface="BlinkMacSystemFont"/>
              </a:rPr>
              <a:t>To easily compare these numbers, create a </a:t>
            </a:r>
            <a:r>
              <a:rPr lang="en-IN" b="0" i="0" u="none" strike="noStrike" dirty="0">
                <a:solidFill>
                  <a:srgbClr val="548CD1"/>
                </a:solidFill>
                <a:effectLst/>
                <a:latin typeface="BlinkMacSystemFont"/>
              </a:rPr>
              <a:t>pivot chart</a:t>
            </a:r>
            <a:r>
              <a:rPr lang="en-IN" b="0" i="0" dirty="0">
                <a:solidFill>
                  <a:srgbClr val="000000"/>
                </a:solidFill>
                <a:effectLst/>
                <a:latin typeface="BlinkMacSystemFont"/>
              </a:rPr>
              <a:t> and apply a filter. Maybe this is one step too far for you at this stage, but it shows you one of the many other powerful pivot table features Excel has to offer.</a:t>
            </a:r>
          </a:p>
          <a:p>
            <a:r>
              <a:rPr lang="en-IN" dirty="0"/>
              <a:t/>
            </a:r>
            <a:br>
              <a:rPr lang="en-IN" dirty="0"/>
            </a:br>
            <a:endParaRPr lang="en-IN" dirty="0"/>
          </a:p>
        </p:txBody>
      </p:sp>
      <p:pic>
        <p:nvPicPr>
          <p:cNvPr id="5" name="Picture 4">
            <a:extLst>
              <a:ext uri="{FF2B5EF4-FFF2-40B4-BE49-F238E27FC236}">
                <a16:creationId xmlns:a16="http://schemas.microsoft.com/office/drawing/2014/main" id="{0901FB6C-4322-4734-A9C7-0B660117A6E9}"/>
              </a:ext>
            </a:extLst>
          </p:cNvPr>
          <p:cNvPicPr>
            <a:picLocks noChangeAspect="1"/>
          </p:cNvPicPr>
          <p:nvPr/>
        </p:nvPicPr>
        <p:blipFill>
          <a:blip r:embed="rId2"/>
          <a:stretch>
            <a:fillRect/>
          </a:stretch>
        </p:blipFill>
        <p:spPr>
          <a:xfrm>
            <a:off x="2303009" y="2185251"/>
            <a:ext cx="6635718" cy="3986949"/>
          </a:xfrm>
          <a:prstGeom prst="rect">
            <a:avLst/>
          </a:prstGeom>
        </p:spPr>
      </p:pic>
    </p:spTree>
    <p:extLst>
      <p:ext uri="{BB962C8B-B14F-4D97-AF65-F5344CB8AC3E}">
        <p14:creationId xmlns:p14="http://schemas.microsoft.com/office/powerpoint/2010/main" val="14056546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9B7FB-B470-1C97-0953-CCFEAA4F4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97253-62AC-BE25-8174-9F7A11378780}"/>
              </a:ext>
            </a:extLst>
          </p:cNvPr>
          <p:cNvSpPr>
            <a:spLocks noGrp="1"/>
          </p:cNvSpPr>
          <p:nvPr>
            <p:ph type="title"/>
          </p:nvPr>
        </p:nvSpPr>
        <p:spPr>
          <a:xfrm>
            <a:off x="1295400" y="2686050"/>
            <a:ext cx="9601200" cy="1485900"/>
          </a:xfrm>
        </p:spPr>
        <p:txBody>
          <a:bodyPr>
            <a:normAutofit/>
          </a:bodyPr>
          <a:lstStyle/>
          <a:p>
            <a:r>
              <a:rPr lang="en-US" b="1" dirty="0"/>
              <a:t>Day 6</a:t>
            </a:r>
            <a:r>
              <a:rPr lang="en-US" dirty="0"/>
              <a:t>: </a:t>
            </a:r>
            <a:r>
              <a:rPr lang="en-IN" dirty="0"/>
              <a:t>Formulas for data Analysis in  EXCEL</a:t>
            </a:r>
            <a:endParaRPr lang="en-US" dirty="0"/>
          </a:p>
        </p:txBody>
      </p:sp>
    </p:spTree>
    <p:extLst>
      <p:ext uri="{BB962C8B-B14F-4D97-AF65-F5344CB8AC3E}">
        <p14:creationId xmlns:p14="http://schemas.microsoft.com/office/powerpoint/2010/main" val="11802290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3C04-808A-118E-2F8A-B2F940CB6B51}"/>
              </a:ext>
            </a:extLst>
          </p:cNvPr>
          <p:cNvSpPr>
            <a:spLocks noGrp="1"/>
          </p:cNvSpPr>
          <p:nvPr>
            <p:ph type="title"/>
          </p:nvPr>
        </p:nvSpPr>
        <p:spPr>
          <a:xfrm>
            <a:off x="1371600" y="685800"/>
            <a:ext cx="9601200" cy="975049"/>
          </a:xfrm>
        </p:spPr>
        <p:txBody>
          <a:bodyPr/>
          <a:lstStyle/>
          <a:p>
            <a:r>
              <a:rPr lang="en-IN" dirty="0"/>
              <a:t>Basic formulas in Excel</a:t>
            </a:r>
          </a:p>
        </p:txBody>
      </p:sp>
      <p:pic>
        <p:nvPicPr>
          <p:cNvPr id="5" name="Content Placeholder 4">
            <a:extLst>
              <a:ext uri="{FF2B5EF4-FFF2-40B4-BE49-F238E27FC236}">
                <a16:creationId xmlns:a16="http://schemas.microsoft.com/office/drawing/2014/main" id="{ACCB8DDA-BBF1-0674-814B-2C25BCDF3B4C}"/>
              </a:ext>
            </a:extLst>
          </p:cNvPr>
          <p:cNvPicPr>
            <a:picLocks noGrp="1" noChangeAspect="1"/>
          </p:cNvPicPr>
          <p:nvPr>
            <p:ph idx="1"/>
          </p:nvPr>
        </p:nvPicPr>
        <p:blipFill>
          <a:blip r:embed="rId2"/>
          <a:stretch>
            <a:fillRect/>
          </a:stretch>
        </p:blipFill>
        <p:spPr>
          <a:xfrm>
            <a:off x="1219201" y="326571"/>
            <a:ext cx="9753600" cy="5845629"/>
          </a:xfrm>
        </p:spPr>
      </p:pic>
    </p:spTree>
    <p:extLst>
      <p:ext uri="{BB962C8B-B14F-4D97-AF65-F5344CB8AC3E}">
        <p14:creationId xmlns:p14="http://schemas.microsoft.com/office/powerpoint/2010/main" val="28600708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CD1A3-4ADE-0941-5A85-464C8A0ADBBB}"/>
              </a:ext>
            </a:extLst>
          </p:cNvPr>
          <p:cNvSpPr>
            <a:spLocks noGrp="1"/>
          </p:cNvSpPr>
          <p:nvPr>
            <p:ph type="title"/>
          </p:nvPr>
        </p:nvSpPr>
        <p:spPr>
          <a:xfrm>
            <a:off x="1006151" y="5521390"/>
            <a:ext cx="10179698" cy="879410"/>
          </a:xfrm>
        </p:spPr>
        <p:txBody>
          <a:bodyPr>
            <a:normAutofit/>
          </a:bodyPr>
          <a:lstStyle/>
          <a:p>
            <a:r>
              <a:rPr lang="en-IN" sz="3200" dirty="0"/>
              <a:t>Wok on Each and every Formula and discuss about usage.</a:t>
            </a:r>
          </a:p>
        </p:txBody>
      </p:sp>
      <p:pic>
        <p:nvPicPr>
          <p:cNvPr id="5" name="Content Placeholder 4">
            <a:extLst>
              <a:ext uri="{FF2B5EF4-FFF2-40B4-BE49-F238E27FC236}">
                <a16:creationId xmlns:a16="http://schemas.microsoft.com/office/drawing/2014/main" id="{0E4EB36E-CE23-C06F-32DF-04E50302754B}"/>
              </a:ext>
            </a:extLst>
          </p:cNvPr>
          <p:cNvPicPr>
            <a:picLocks noGrp="1" noChangeAspect="1"/>
          </p:cNvPicPr>
          <p:nvPr>
            <p:ph idx="1"/>
          </p:nvPr>
        </p:nvPicPr>
        <p:blipFill>
          <a:blip r:embed="rId2"/>
          <a:stretch>
            <a:fillRect/>
          </a:stretch>
        </p:blipFill>
        <p:spPr>
          <a:xfrm>
            <a:off x="777537" y="233809"/>
            <a:ext cx="11162537" cy="5117298"/>
          </a:xfrm>
        </p:spPr>
      </p:pic>
    </p:spTree>
    <p:extLst>
      <p:ext uri="{BB962C8B-B14F-4D97-AF65-F5344CB8AC3E}">
        <p14:creationId xmlns:p14="http://schemas.microsoft.com/office/powerpoint/2010/main" val="388630564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3FC5E-6C72-A051-F550-6274EA36B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F959C-AB8D-E67A-4A26-D3AF1C9C917B}"/>
              </a:ext>
            </a:extLst>
          </p:cNvPr>
          <p:cNvSpPr>
            <a:spLocks noGrp="1"/>
          </p:cNvSpPr>
          <p:nvPr>
            <p:ph type="title"/>
          </p:nvPr>
        </p:nvSpPr>
        <p:spPr>
          <a:xfrm>
            <a:off x="1371600" y="685800"/>
            <a:ext cx="9601200" cy="919065"/>
          </a:xfrm>
        </p:spPr>
        <p:txBody>
          <a:bodyPr>
            <a:normAutofit/>
          </a:bodyPr>
          <a:lstStyle/>
          <a:p>
            <a:r>
              <a:rPr lang="en-IN" dirty="0"/>
              <a:t>Formulas for data Analysis</a:t>
            </a:r>
          </a:p>
        </p:txBody>
      </p:sp>
      <p:sp>
        <p:nvSpPr>
          <p:cNvPr id="3" name="Content Placeholder 2">
            <a:extLst>
              <a:ext uri="{FF2B5EF4-FFF2-40B4-BE49-F238E27FC236}">
                <a16:creationId xmlns:a16="http://schemas.microsoft.com/office/drawing/2014/main" id="{EF0BACD0-55B9-B259-FB35-E9E2490FBB7B}"/>
              </a:ext>
            </a:extLst>
          </p:cNvPr>
          <p:cNvSpPr>
            <a:spLocks noGrp="1"/>
          </p:cNvSpPr>
          <p:nvPr>
            <p:ph idx="1"/>
          </p:nvPr>
        </p:nvSpPr>
        <p:spPr>
          <a:xfrm>
            <a:off x="1219200" y="1483568"/>
            <a:ext cx="9601200" cy="4086808"/>
          </a:xfrm>
        </p:spPr>
        <p:txBody>
          <a:bodyPr vert="horz" lIns="91440" tIns="45720" rIns="91440" bIns="45720" rtlCol="0" anchor="t">
            <a:normAutofit/>
          </a:bodyPr>
          <a:lstStyle/>
          <a:p>
            <a:pPr marL="383540" indent="-383540"/>
            <a:r>
              <a:rPr lang="en-IN" dirty="0">
                <a:latin typeface="+mj-lt"/>
              </a:rPr>
              <a:t>Excel formulas are mathematical calculations that can be used to perform simple or complex tasks. Here are some examples of Excel formulas: </a:t>
            </a:r>
          </a:p>
          <a:p>
            <a:pPr marL="383540" indent="-383540"/>
            <a:r>
              <a:rPr lang="en-IN" dirty="0"/>
              <a:t>Determining datasets and validating data.</a:t>
            </a:r>
            <a:br>
              <a:rPr lang="en-IN" dirty="0"/>
            </a:br>
            <a:r>
              <a:rPr lang="en-IN" sz="2000" dirty="0"/>
              <a:t>Excel Data  - Analyse using below formulas on available data. </a:t>
            </a:r>
            <a:endParaRPr lang="en-US" dirty="0">
              <a:latin typeface="+mj-lt"/>
            </a:endParaRPr>
          </a:p>
        </p:txBody>
      </p:sp>
      <p:pic>
        <p:nvPicPr>
          <p:cNvPr id="7" name="Picture 6">
            <a:extLst>
              <a:ext uri="{FF2B5EF4-FFF2-40B4-BE49-F238E27FC236}">
                <a16:creationId xmlns:a16="http://schemas.microsoft.com/office/drawing/2014/main" id="{ECEE67E4-0EEB-19BF-09A6-2AA53742F40D}"/>
              </a:ext>
            </a:extLst>
          </p:cNvPr>
          <p:cNvPicPr>
            <a:picLocks noChangeAspect="1"/>
          </p:cNvPicPr>
          <p:nvPr/>
        </p:nvPicPr>
        <p:blipFill>
          <a:blip r:embed="rId2"/>
          <a:stretch>
            <a:fillRect/>
          </a:stretch>
        </p:blipFill>
        <p:spPr>
          <a:xfrm>
            <a:off x="1282959" y="2878763"/>
            <a:ext cx="9473682" cy="3979237"/>
          </a:xfrm>
          <a:prstGeom prst="rect">
            <a:avLst/>
          </a:prstGeom>
        </p:spPr>
      </p:pic>
    </p:spTree>
    <p:extLst>
      <p:ext uri="{BB962C8B-B14F-4D97-AF65-F5344CB8AC3E}">
        <p14:creationId xmlns:p14="http://schemas.microsoft.com/office/powerpoint/2010/main" val="25508254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C015-A829-1401-C391-39DA7A6D4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C5683-F6C7-C134-4C00-8BAC367B7FA9}"/>
              </a:ext>
            </a:extLst>
          </p:cNvPr>
          <p:cNvSpPr>
            <a:spLocks noGrp="1"/>
          </p:cNvSpPr>
          <p:nvPr>
            <p:ph type="title"/>
          </p:nvPr>
        </p:nvSpPr>
        <p:spPr>
          <a:xfrm>
            <a:off x="1371600" y="5831958"/>
            <a:ext cx="9601200" cy="919065"/>
          </a:xfrm>
        </p:spPr>
        <p:txBody>
          <a:bodyPr>
            <a:noAutofit/>
          </a:bodyPr>
          <a:lstStyle/>
          <a:p>
            <a:r>
              <a:rPr lang="en-IN" sz="3200" dirty="0"/>
              <a:t>Wok on Each and every Formula and discuss about usage.</a:t>
            </a:r>
          </a:p>
        </p:txBody>
      </p:sp>
      <p:pic>
        <p:nvPicPr>
          <p:cNvPr id="7" name="Picture 6">
            <a:extLst>
              <a:ext uri="{FF2B5EF4-FFF2-40B4-BE49-F238E27FC236}">
                <a16:creationId xmlns:a16="http://schemas.microsoft.com/office/drawing/2014/main" id="{2D1C7141-0A9B-3F0B-0D67-1BB204643811}"/>
              </a:ext>
            </a:extLst>
          </p:cNvPr>
          <p:cNvPicPr>
            <a:picLocks noChangeAspect="1"/>
          </p:cNvPicPr>
          <p:nvPr/>
        </p:nvPicPr>
        <p:blipFill>
          <a:blip r:embed="rId2"/>
          <a:srcRect l="3426" t="25170" r="816" b="6531"/>
          <a:stretch/>
        </p:blipFill>
        <p:spPr>
          <a:xfrm>
            <a:off x="1371600" y="1790559"/>
            <a:ext cx="9109575" cy="3844697"/>
          </a:xfrm>
          <a:prstGeom prst="rect">
            <a:avLst/>
          </a:prstGeom>
        </p:spPr>
      </p:pic>
      <p:sp>
        <p:nvSpPr>
          <p:cNvPr id="3" name="Title 1">
            <a:extLst>
              <a:ext uri="{FF2B5EF4-FFF2-40B4-BE49-F238E27FC236}">
                <a16:creationId xmlns:a16="http://schemas.microsoft.com/office/drawing/2014/main" id="{A1DA236F-73B2-721E-E80A-2C70E28B83C5}"/>
              </a:ext>
            </a:extLst>
          </p:cNvPr>
          <p:cNvSpPr txBox="1">
            <a:spLocks/>
          </p:cNvSpPr>
          <p:nvPr/>
        </p:nvSpPr>
        <p:spPr>
          <a:xfrm>
            <a:off x="1524000" y="838200"/>
            <a:ext cx="9601200" cy="919065"/>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en-IN"/>
              <a:t>Analyse Data </a:t>
            </a:r>
            <a:endParaRPr lang="en-IN" dirty="0"/>
          </a:p>
        </p:txBody>
      </p:sp>
    </p:spTree>
    <p:extLst>
      <p:ext uri="{BB962C8B-B14F-4D97-AF65-F5344CB8AC3E}">
        <p14:creationId xmlns:p14="http://schemas.microsoft.com/office/powerpoint/2010/main" val="410688414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88F3-45EE-BBD4-30A0-6FDBF1175BF6}"/>
              </a:ext>
            </a:extLst>
          </p:cNvPr>
          <p:cNvSpPr>
            <a:spLocks noGrp="1"/>
          </p:cNvSpPr>
          <p:nvPr>
            <p:ph type="title"/>
          </p:nvPr>
        </p:nvSpPr>
        <p:spPr/>
        <p:txBody>
          <a:bodyPr/>
          <a:lstStyle/>
          <a:p>
            <a:r>
              <a:rPr lang="en-IN" dirty="0"/>
              <a:t>SUM FUNCTION</a:t>
            </a:r>
          </a:p>
        </p:txBody>
      </p:sp>
      <p:pic>
        <p:nvPicPr>
          <p:cNvPr id="10" name="Content Placeholder 9">
            <a:extLst>
              <a:ext uri="{FF2B5EF4-FFF2-40B4-BE49-F238E27FC236}">
                <a16:creationId xmlns:a16="http://schemas.microsoft.com/office/drawing/2014/main" id="{DCC5E417-40DF-54A3-7E45-B006C5431FE4}"/>
              </a:ext>
            </a:extLst>
          </p:cNvPr>
          <p:cNvPicPr>
            <a:picLocks noGrp="1" noChangeAspect="1"/>
          </p:cNvPicPr>
          <p:nvPr>
            <p:ph idx="1"/>
          </p:nvPr>
        </p:nvPicPr>
        <p:blipFill>
          <a:blip r:embed="rId2"/>
          <a:stretch>
            <a:fillRect/>
          </a:stretch>
        </p:blipFill>
        <p:spPr>
          <a:xfrm>
            <a:off x="867747" y="1364601"/>
            <a:ext cx="10974902" cy="4439039"/>
          </a:xfrm>
        </p:spPr>
      </p:pic>
    </p:spTree>
    <p:extLst>
      <p:ext uri="{BB962C8B-B14F-4D97-AF65-F5344CB8AC3E}">
        <p14:creationId xmlns:p14="http://schemas.microsoft.com/office/powerpoint/2010/main" val="384107218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28FBD-1AAC-CDA1-568F-B90E99786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452AC-20A9-07D6-B4ED-6B8D0DAB18D3}"/>
              </a:ext>
            </a:extLst>
          </p:cNvPr>
          <p:cNvSpPr>
            <a:spLocks noGrp="1"/>
          </p:cNvSpPr>
          <p:nvPr>
            <p:ph type="title"/>
          </p:nvPr>
        </p:nvSpPr>
        <p:spPr/>
        <p:txBody>
          <a:bodyPr>
            <a:normAutofit/>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Example 1 – Calculating a Sum with Numeric Criteria Using the SUMIF Function</a:t>
            </a:r>
            <a:endParaRPr lang="en-IN" dirty="0"/>
          </a:p>
        </p:txBody>
      </p:sp>
      <p:sp>
        <p:nvSpPr>
          <p:cNvPr id="4" name="Content Placeholder 3">
            <a:extLst>
              <a:ext uri="{FF2B5EF4-FFF2-40B4-BE49-F238E27FC236}">
                <a16:creationId xmlns:a16="http://schemas.microsoft.com/office/drawing/2014/main" id="{1B10F046-BD0F-7149-DDFF-B7F895326E3B}"/>
              </a:ext>
            </a:extLst>
          </p:cNvPr>
          <p:cNvSpPr>
            <a:spLocks noGrp="1"/>
          </p:cNvSpPr>
          <p:nvPr>
            <p:ph idx="1"/>
          </p:nvPr>
        </p:nvSpPr>
        <p:spPr>
          <a:xfrm>
            <a:off x="1371600" y="1428750"/>
            <a:ext cx="9601200" cy="3581400"/>
          </a:xfrm>
        </p:spPr>
        <p:txBody>
          <a:bodyPr/>
          <a:lstStyle/>
          <a:p>
            <a:pPr algn="just" fontAlgn="base">
              <a:spcAft>
                <a:spcPts val="1125"/>
              </a:spcAft>
            </a:pPr>
            <a:r>
              <a:rPr lang="en-IN" b="0" i="0" dirty="0">
                <a:solidFill>
                  <a:srgbClr val="000000"/>
                </a:solidFill>
                <a:effectLst/>
                <a:latin typeface="Poppins" panose="00000500000000000000" pitchFamily="2" charset="0"/>
              </a:rPr>
              <a:t>To count the total sales whose price was more than </a:t>
            </a:r>
            <a:r>
              <a:rPr lang="en-IN" b="1" i="0" dirty="0">
                <a:solidFill>
                  <a:srgbClr val="000000"/>
                </a:solidFill>
                <a:effectLst/>
                <a:latin typeface="inherit"/>
              </a:rPr>
              <a:t>$1000</a:t>
            </a:r>
            <a:r>
              <a:rPr lang="en-IN" b="0" i="0" dirty="0">
                <a:solidFill>
                  <a:srgbClr val="000000"/>
                </a:solidFill>
                <a:effectLst/>
                <a:latin typeface="Poppins" panose="00000500000000000000" pitchFamily="2" charset="0"/>
              </a:rPr>
              <a:t> in </a:t>
            </a:r>
            <a:r>
              <a:rPr lang="en-IN" b="1" i="0" dirty="0">
                <a:solidFill>
                  <a:srgbClr val="000000"/>
                </a:solidFill>
                <a:effectLst/>
                <a:latin typeface="inherit"/>
              </a:rPr>
              <a:t>H7</a:t>
            </a:r>
            <a:r>
              <a:rPr lang="en-IN" b="0" i="0" dirty="0">
                <a:solidFill>
                  <a:srgbClr val="000000"/>
                </a:solidFill>
                <a:effectLst/>
                <a:latin typeface="Poppins" panose="00000500000000000000" pitchFamily="2" charset="0"/>
              </a:rPr>
              <a:t>.</a:t>
            </a:r>
          </a:p>
        </p:txBody>
      </p:sp>
      <p:pic>
        <p:nvPicPr>
          <p:cNvPr id="6" name="Picture 5">
            <a:extLst>
              <a:ext uri="{FF2B5EF4-FFF2-40B4-BE49-F238E27FC236}">
                <a16:creationId xmlns:a16="http://schemas.microsoft.com/office/drawing/2014/main" id="{3E61D3E9-917A-5160-3F25-F4C066050CB9}"/>
              </a:ext>
            </a:extLst>
          </p:cNvPr>
          <p:cNvPicPr>
            <a:picLocks noChangeAspect="1"/>
          </p:cNvPicPr>
          <p:nvPr/>
        </p:nvPicPr>
        <p:blipFill>
          <a:blip r:embed="rId2"/>
          <a:stretch>
            <a:fillRect/>
          </a:stretch>
        </p:blipFill>
        <p:spPr>
          <a:xfrm>
            <a:off x="1824784" y="1770933"/>
            <a:ext cx="7989067" cy="4902724"/>
          </a:xfrm>
          <a:prstGeom prst="rect">
            <a:avLst/>
          </a:prstGeom>
        </p:spPr>
      </p:pic>
    </p:spTree>
    <p:extLst>
      <p:ext uri="{BB962C8B-B14F-4D97-AF65-F5344CB8AC3E}">
        <p14:creationId xmlns:p14="http://schemas.microsoft.com/office/powerpoint/2010/main" val="11515380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BA3AA-54EE-0800-7402-83C721D2BF3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3ACDDE3-3F20-9CE2-05A7-39D0CE1DE9FF}"/>
              </a:ext>
            </a:extLst>
          </p:cNvPr>
          <p:cNvSpPr>
            <a:spLocks noGrp="1"/>
          </p:cNvSpPr>
          <p:nvPr>
            <p:ph idx="1"/>
          </p:nvPr>
        </p:nvSpPr>
        <p:spPr>
          <a:xfrm>
            <a:off x="1371600" y="685800"/>
            <a:ext cx="9601200" cy="6097772"/>
          </a:xfrm>
        </p:spPr>
        <p:txBody>
          <a:bodyPr/>
          <a:lstStyle/>
          <a:p>
            <a:pPr fontAlgn="base">
              <a:spcAft>
                <a:spcPts val="375"/>
              </a:spcAft>
              <a:buFont typeface="Arial" panose="020B0604020202020204" pitchFamily="34" charset="0"/>
              <a:buChar char="•"/>
            </a:pPr>
            <a:r>
              <a:rPr lang="en-IN" dirty="0">
                <a:effectLst/>
              </a:rPr>
              <a:t>Enter the formula in </a:t>
            </a:r>
            <a:r>
              <a:rPr lang="en-IN" b="1" dirty="0">
                <a:effectLst/>
                <a:latin typeface="inherit"/>
              </a:rPr>
              <a:t>H7</a:t>
            </a:r>
            <a:r>
              <a:rPr lang="en-IN" dirty="0">
                <a:effectLst/>
              </a:rPr>
              <a:t>.</a:t>
            </a:r>
          </a:p>
          <a:p>
            <a:pPr fontAlgn="base">
              <a:spcAft>
                <a:spcPts val="375"/>
              </a:spcAft>
              <a:buFont typeface="Arial" panose="020B0604020202020204" pitchFamily="34" charset="0"/>
              <a:buChar char="•"/>
            </a:pPr>
            <a:r>
              <a:rPr lang="en-IN" sz="1800" b="1" i="0" dirty="0">
                <a:solidFill>
                  <a:srgbClr val="5F9025"/>
                </a:solidFill>
                <a:effectLst/>
                <a:latin typeface="inherit"/>
              </a:rPr>
              <a:t>=SUMIF(E5:E16,"&gt;1000") </a:t>
            </a:r>
            <a:r>
              <a:rPr lang="en-IN" sz="1600" b="1" dirty="0">
                <a:solidFill>
                  <a:srgbClr val="000000"/>
                </a:solidFill>
                <a:effectLst/>
                <a:latin typeface="inherit"/>
              </a:rPr>
              <a:t>E5:E16</a:t>
            </a:r>
            <a:r>
              <a:rPr lang="en-IN" sz="1600" dirty="0">
                <a:solidFill>
                  <a:srgbClr val="000000"/>
                </a:solidFill>
                <a:effectLst/>
                <a:latin typeface="Poppins" panose="00000500000000000000" pitchFamily="2" charset="0"/>
              </a:rPr>
              <a:t> refers to the </a:t>
            </a:r>
            <a:r>
              <a:rPr lang="en-IN" sz="1600" b="1" dirty="0">
                <a:solidFill>
                  <a:srgbClr val="000000"/>
                </a:solidFill>
                <a:effectLst/>
                <a:latin typeface="inherit"/>
              </a:rPr>
              <a:t>Sales </a:t>
            </a:r>
            <a:r>
              <a:rPr lang="en-IN" sz="1600" dirty="0">
                <a:solidFill>
                  <a:srgbClr val="000000"/>
                </a:solidFill>
                <a:effectLst/>
                <a:latin typeface="Poppins" panose="00000500000000000000" pitchFamily="2" charset="0"/>
              </a:rPr>
              <a:t>column.</a:t>
            </a:r>
            <a:endParaRPr lang="en-IN" sz="1600" dirty="0">
              <a:solidFill>
                <a:srgbClr val="363636"/>
              </a:solidFill>
              <a:latin typeface="Poppins" panose="00000500000000000000" pitchFamily="2" charset="0"/>
            </a:endParaRPr>
          </a:p>
          <a:p>
            <a:pPr fontAlgn="base">
              <a:spcAft>
                <a:spcPts val="375"/>
              </a:spcAft>
              <a:buFont typeface="Arial" panose="020B0604020202020204" pitchFamily="34" charset="0"/>
              <a:buChar char="•"/>
            </a:pPr>
            <a:r>
              <a:rPr lang="en-IN" sz="1800" b="1" i="0" dirty="0">
                <a:solidFill>
                  <a:srgbClr val="000000"/>
                </a:solidFill>
                <a:effectLst/>
                <a:latin typeface="inherit"/>
              </a:rPr>
              <a:t>Formula Breakdown: </a:t>
            </a:r>
            <a:r>
              <a:rPr lang="en-IN" sz="1600" b="1" i="0" dirty="0">
                <a:solidFill>
                  <a:srgbClr val="363636"/>
                </a:solidFill>
                <a:effectLst/>
                <a:latin typeface="inherit"/>
              </a:rPr>
              <a:t>E5:E16 </a:t>
            </a:r>
            <a:r>
              <a:rPr lang="en-IN" sz="1600" b="0" i="0" dirty="0">
                <a:solidFill>
                  <a:srgbClr val="363636"/>
                </a:solidFill>
                <a:effectLst/>
                <a:latin typeface="Poppins" panose="00000500000000000000" pitchFamily="2" charset="0"/>
              </a:rPr>
              <a:t>is the range for the sum operation.</a:t>
            </a:r>
          </a:p>
          <a:p>
            <a:pPr algn="l" fontAlgn="base">
              <a:spcAft>
                <a:spcPts val="375"/>
              </a:spcAft>
              <a:buFont typeface="Arial" panose="020B0604020202020204" pitchFamily="34" charset="0"/>
              <a:buChar char="•"/>
            </a:pPr>
            <a:r>
              <a:rPr lang="en-IN" sz="1600" b="1" i="0" dirty="0">
                <a:solidFill>
                  <a:srgbClr val="363636"/>
                </a:solidFill>
                <a:effectLst/>
                <a:latin typeface="inherit"/>
              </a:rPr>
              <a:t>“&gt;1000” </a:t>
            </a:r>
            <a:r>
              <a:rPr lang="en-IN" sz="1600" b="0" i="0" dirty="0">
                <a:solidFill>
                  <a:srgbClr val="363636"/>
                </a:solidFill>
                <a:effectLst/>
                <a:latin typeface="Poppins" panose="00000500000000000000" pitchFamily="2" charset="0"/>
              </a:rPr>
              <a:t>is the criteria. If the sales value is more than </a:t>
            </a:r>
            <a:r>
              <a:rPr lang="en-IN" sz="1600" b="1" i="0" dirty="0">
                <a:solidFill>
                  <a:srgbClr val="363636"/>
                </a:solidFill>
                <a:effectLst/>
                <a:latin typeface="inherit"/>
              </a:rPr>
              <a:t>$1000,</a:t>
            </a:r>
            <a:r>
              <a:rPr lang="en-IN" sz="1600" b="0" i="0" dirty="0">
                <a:solidFill>
                  <a:srgbClr val="363636"/>
                </a:solidFill>
                <a:effectLst/>
                <a:latin typeface="Poppins" panose="00000500000000000000" pitchFamily="2" charset="0"/>
              </a:rPr>
              <a:t>  it will be counted. Otherwise, it will be ignored.</a:t>
            </a:r>
          </a:p>
          <a:p>
            <a:pPr marL="0" indent="0">
              <a:buNone/>
            </a:pPr>
            <a:r>
              <a:rPr lang="en-IN" sz="1600" dirty="0"/>
              <a:t/>
            </a:r>
            <a:br>
              <a:rPr lang="en-IN" sz="1600" dirty="0"/>
            </a:br>
            <a:r>
              <a:rPr lang="en-IN" sz="1800" b="1" i="0" dirty="0">
                <a:solidFill>
                  <a:srgbClr val="5F9025"/>
                </a:solidFill>
                <a:effectLst/>
                <a:latin typeface="inherit"/>
              </a:rPr>
              <a:t/>
            </a:r>
            <a:br>
              <a:rPr lang="en-IN" sz="1800" b="1" i="0" dirty="0">
                <a:solidFill>
                  <a:srgbClr val="5F9025"/>
                </a:solidFill>
                <a:effectLst/>
                <a:latin typeface="inherit"/>
              </a:rPr>
            </a:br>
            <a:endParaRPr lang="en-IN" b="0" i="0" dirty="0">
              <a:solidFill>
                <a:srgbClr val="000000"/>
              </a:solidFill>
              <a:effectLst/>
              <a:latin typeface="Poppins" panose="00000500000000000000" pitchFamily="2" charset="0"/>
            </a:endParaRPr>
          </a:p>
        </p:txBody>
      </p:sp>
      <p:pic>
        <p:nvPicPr>
          <p:cNvPr id="5" name="Picture 4">
            <a:extLst>
              <a:ext uri="{FF2B5EF4-FFF2-40B4-BE49-F238E27FC236}">
                <a16:creationId xmlns:a16="http://schemas.microsoft.com/office/drawing/2014/main" id="{EB7C4066-371B-3EF6-1D65-EA4092AD60AC}"/>
              </a:ext>
            </a:extLst>
          </p:cNvPr>
          <p:cNvPicPr>
            <a:picLocks noChangeAspect="1"/>
          </p:cNvPicPr>
          <p:nvPr/>
        </p:nvPicPr>
        <p:blipFill>
          <a:blip r:embed="rId2"/>
          <a:stretch>
            <a:fillRect/>
          </a:stretch>
        </p:blipFill>
        <p:spPr>
          <a:xfrm>
            <a:off x="2177370" y="2711302"/>
            <a:ext cx="6753980" cy="3986632"/>
          </a:xfrm>
          <a:prstGeom prst="rect">
            <a:avLst/>
          </a:prstGeom>
        </p:spPr>
      </p:pic>
    </p:spTree>
    <p:extLst>
      <p:ext uri="{BB962C8B-B14F-4D97-AF65-F5344CB8AC3E}">
        <p14:creationId xmlns:p14="http://schemas.microsoft.com/office/powerpoint/2010/main" val="223079586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C7035-5420-769C-B58D-F2D238CA5ED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5981673-EA67-919D-BE51-C756BB9C9D9F}"/>
              </a:ext>
            </a:extLst>
          </p:cNvPr>
          <p:cNvSpPr>
            <a:spLocks noGrp="1"/>
          </p:cNvSpPr>
          <p:nvPr>
            <p:ph idx="1"/>
          </p:nvPr>
        </p:nvSpPr>
        <p:spPr>
          <a:xfrm>
            <a:off x="1371600" y="685800"/>
            <a:ext cx="9601200" cy="6097772"/>
          </a:xfrm>
        </p:spPr>
        <p:txBody>
          <a:bodyPr>
            <a:normAutofit/>
          </a:bodyPr>
          <a:lstStyle/>
          <a:p>
            <a:pPr algn="l" fontAlgn="base">
              <a:spcAft>
                <a:spcPts val="375"/>
              </a:spcAft>
              <a:buFont typeface="Arial" panose="020B0604020202020204" pitchFamily="34" charset="0"/>
              <a:buChar char="•"/>
            </a:pPr>
            <a:r>
              <a:rPr lang="en-IN" b="0" i="0" dirty="0">
                <a:solidFill>
                  <a:srgbClr val="333333"/>
                </a:solidFill>
                <a:effectLst/>
                <a:latin typeface="Poppins" panose="00000500000000000000" pitchFamily="2" charset="0"/>
              </a:rPr>
              <a:t>Press </a:t>
            </a:r>
            <a:r>
              <a:rPr lang="en-IN" b="1" i="0" dirty="0">
                <a:solidFill>
                  <a:srgbClr val="333333"/>
                </a:solidFill>
                <a:effectLst/>
                <a:latin typeface="inherit"/>
              </a:rPr>
              <a:t>ENTER</a:t>
            </a:r>
            <a:r>
              <a:rPr lang="en-IN" b="0" i="0" dirty="0">
                <a:solidFill>
                  <a:srgbClr val="333333"/>
                </a:solidFill>
                <a:effectLst/>
                <a:latin typeface="Poppins" panose="00000500000000000000" pitchFamily="2" charset="0"/>
              </a:rPr>
              <a:t>.</a:t>
            </a:r>
          </a:p>
          <a:p>
            <a:pPr algn="just" fontAlgn="base">
              <a:spcAft>
                <a:spcPts val="1125"/>
              </a:spcAft>
            </a:pPr>
            <a:r>
              <a:rPr lang="en-IN" b="0" i="0" dirty="0">
                <a:solidFill>
                  <a:srgbClr val="000000"/>
                </a:solidFill>
                <a:effectLst/>
                <a:latin typeface="Poppins" panose="00000500000000000000" pitchFamily="2" charset="0"/>
              </a:rPr>
              <a:t>The output is </a:t>
            </a:r>
            <a:r>
              <a:rPr lang="en-IN" b="1" i="0" dirty="0">
                <a:solidFill>
                  <a:srgbClr val="000000"/>
                </a:solidFill>
                <a:effectLst/>
                <a:latin typeface="inherit"/>
              </a:rPr>
              <a:t>$26,700.</a:t>
            </a:r>
            <a:endParaRPr lang="en-IN" b="0" i="0" dirty="0">
              <a:solidFill>
                <a:srgbClr val="000000"/>
              </a:solidFill>
              <a:effectLst/>
              <a:latin typeface="Poppins" panose="00000500000000000000" pitchFamily="2" charset="0"/>
            </a:endParaRPr>
          </a:p>
          <a:p>
            <a:pPr marL="0" indent="0">
              <a:buNone/>
            </a:pPr>
            <a:endParaRPr lang="en-IN" b="0" i="0" dirty="0">
              <a:solidFill>
                <a:srgbClr val="363636"/>
              </a:solidFill>
              <a:effectLst/>
              <a:latin typeface="Poppins" panose="00000500000000000000" pitchFamily="2" charset="0"/>
            </a:endParaRPr>
          </a:p>
          <a:p>
            <a:pPr marL="0" indent="0">
              <a:buNone/>
            </a:pPr>
            <a:r>
              <a:rPr lang="en-IN" dirty="0"/>
              <a:t/>
            </a:r>
            <a:br>
              <a:rPr lang="en-IN" dirty="0"/>
            </a:br>
            <a:r>
              <a:rPr lang="en-IN" b="1" i="0" dirty="0">
                <a:solidFill>
                  <a:srgbClr val="5F9025"/>
                </a:solidFill>
                <a:effectLst/>
                <a:latin typeface="inherit"/>
              </a:rPr>
              <a:t/>
            </a:r>
            <a:br>
              <a:rPr lang="en-IN" b="1" i="0" dirty="0">
                <a:solidFill>
                  <a:srgbClr val="5F9025"/>
                </a:solidFill>
                <a:effectLst/>
                <a:latin typeface="inherit"/>
              </a:rPr>
            </a:br>
            <a:endParaRPr lang="en-IN" b="0" i="0" dirty="0">
              <a:solidFill>
                <a:srgbClr val="000000"/>
              </a:solidFill>
              <a:effectLst/>
              <a:latin typeface="Poppins" panose="00000500000000000000" pitchFamily="2" charset="0"/>
            </a:endParaRPr>
          </a:p>
        </p:txBody>
      </p:sp>
      <p:pic>
        <p:nvPicPr>
          <p:cNvPr id="3" name="Picture 2">
            <a:extLst>
              <a:ext uri="{FF2B5EF4-FFF2-40B4-BE49-F238E27FC236}">
                <a16:creationId xmlns:a16="http://schemas.microsoft.com/office/drawing/2014/main" id="{1DE9B79F-0568-805F-F0C0-71B791DF7750}"/>
              </a:ext>
            </a:extLst>
          </p:cNvPr>
          <p:cNvPicPr>
            <a:picLocks noChangeAspect="1"/>
          </p:cNvPicPr>
          <p:nvPr/>
        </p:nvPicPr>
        <p:blipFill>
          <a:blip r:embed="rId2"/>
          <a:stretch>
            <a:fillRect/>
          </a:stretch>
        </p:blipFill>
        <p:spPr>
          <a:xfrm>
            <a:off x="1957135" y="1871389"/>
            <a:ext cx="7899246" cy="3923356"/>
          </a:xfrm>
          <a:prstGeom prst="rect">
            <a:avLst/>
          </a:prstGeom>
        </p:spPr>
      </p:pic>
      <p:sp>
        <p:nvSpPr>
          <p:cNvPr id="6" name="Title 1">
            <a:extLst>
              <a:ext uri="{FF2B5EF4-FFF2-40B4-BE49-F238E27FC236}">
                <a16:creationId xmlns:a16="http://schemas.microsoft.com/office/drawing/2014/main" id="{CEC5CE36-51F8-3AFA-E653-FCB3C8C9229C}"/>
              </a:ext>
            </a:extLst>
          </p:cNvPr>
          <p:cNvSpPr>
            <a:spLocks noGrp="1"/>
          </p:cNvSpPr>
          <p:nvPr>
            <p:ph type="title"/>
          </p:nvPr>
        </p:nvSpPr>
        <p:spPr>
          <a:xfrm>
            <a:off x="1605888" y="6172200"/>
            <a:ext cx="8144168" cy="600739"/>
          </a:xfrm>
        </p:spPr>
        <p:txBody>
          <a:bodyPr>
            <a:normAutofit/>
          </a:bodyPr>
          <a:lstStyle/>
          <a:p>
            <a:pPr algn="l" fontAlgn="base">
              <a:spcBef>
                <a:spcPts val="1500"/>
              </a:spcBef>
              <a:spcAft>
                <a:spcPts val="1500"/>
              </a:spcAft>
            </a:pPr>
            <a:r>
              <a:rPr lang="en-IN" sz="1800" b="1" i="0" dirty="0">
                <a:solidFill>
                  <a:srgbClr val="243966"/>
                </a:solidFill>
                <a:effectLst/>
                <a:latin typeface="Poppins" panose="00000500000000000000" pitchFamily="2" charset="0"/>
              </a:rPr>
              <a:t>Work and investigate all other Sum functions</a:t>
            </a:r>
            <a:endParaRPr lang="en-IN" dirty="0"/>
          </a:p>
        </p:txBody>
      </p:sp>
    </p:spTree>
    <p:extLst>
      <p:ext uri="{BB962C8B-B14F-4D97-AF65-F5344CB8AC3E}">
        <p14:creationId xmlns:p14="http://schemas.microsoft.com/office/powerpoint/2010/main" val="191717351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5131F-14E4-224B-ADA7-156DAC725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73B86-CC9E-5B56-2A0C-29B439AE8AE3}"/>
              </a:ext>
            </a:extLst>
          </p:cNvPr>
          <p:cNvSpPr>
            <a:spLocks noGrp="1"/>
          </p:cNvSpPr>
          <p:nvPr>
            <p:ph type="title"/>
          </p:nvPr>
        </p:nvSpPr>
        <p:spPr/>
        <p:txBody>
          <a:bodyPr/>
          <a:lstStyle/>
          <a:p>
            <a:r>
              <a:rPr lang="en-IN" dirty="0"/>
              <a:t>COUNT FUNCTION</a:t>
            </a:r>
          </a:p>
        </p:txBody>
      </p:sp>
      <p:pic>
        <p:nvPicPr>
          <p:cNvPr id="6" name="Content Placeholder 5">
            <a:extLst>
              <a:ext uri="{FF2B5EF4-FFF2-40B4-BE49-F238E27FC236}">
                <a16:creationId xmlns:a16="http://schemas.microsoft.com/office/drawing/2014/main" id="{4A8DAAF7-85B0-B2A7-4958-CB6B5F5DC1A3}"/>
              </a:ext>
            </a:extLst>
          </p:cNvPr>
          <p:cNvPicPr>
            <a:picLocks noGrp="1" noChangeAspect="1"/>
          </p:cNvPicPr>
          <p:nvPr>
            <p:ph idx="1"/>
          </p:nvPr>
        </p:nvPicPr>
        <p:blipFill>
          <a:blip r:embed="rId2"/>
          <a:stretch>
            <a:fillRect/>
          </a:stretch>
        </p:blipFill>
        <p:spPr>
          <a:xfrm>
            <a:off x="1371600" y="1427584"/>
            <a:ext cx="9601200" cy="4217435"/>
          </a:xfrm>
        </p:spPr>
      </p:pic>
    </p:spTree>
    <p:extLst>
      <p:ext uri="{BB962C8B-B14F-4D97-AF65-F5344CB8AC3E}">
        <p14:creationId xmlns:p14="http://schemas.microsoft.com/office/powerpoint/2010/main" val="282764494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6A3AE-01F4-7B65-A115-9215F14D4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A8EA9-95DC-05EB-2754-09F6BD8E2DC3}"/>
              </a:ext>
            </a:extLst>
          </p:cNvPr>
          <p:cNvSpPr>
            <a:spLocks noGrp="1"/>
          </p:cNvSpPr>
          <p:nvPr>
            <p:ph type="title"/>
          </p:nvPr>
        </p:nvSpPr>
        <p:spPr/>
        <p:txBody>
          <a:bodyPr>
            <a:normAutofit/>
          </a:bodyPr>
          <a:lstStyle/>
          <a:p>
            <a:pPr algn="l" fontAlgn="base">
              <a:spcBef>
                <a:spcPts val="1500"/>
              </a:spcBef>
              <a:spcAft>
                <a:spcPts val="1500"/>
              </a:spcAft>
            </a:pPr>
            <a:r>
              <a:rPr lang="en-IN" sz="1800" b="1" i="0" dirty="0">
                <a:solidFill>
                  <a:srgbClr val="800000"/>
                </a:solidFill>
                <a:effectLst/>
                <a:latin typeface="inherit"/>
              </a:rPr>
              <a:t>Example 1 – COUNTIF Formula for Numbers</a:t>
            </a:r>
            <a:r>
              <a:rPr lang="en-IN" sz="1800" b="1" i="0" dirty="0">
                <a:solidFill>
                  <a:srgbClr val="243966"/>
                </a:solidFill>
                <a:effectLst/>
                <a:latin typeface="Poppins" panose="00000500000000000000" pitchFamily="2" charset="0"/>
              </a:rPr>
              <a:t/>
            </a:r>
            <a:br>
              <a:rPr lang="en-IN" sz="1800" b="1" i="0" dirty="0">
                <a:solidFill>
                  <a:srgbClr val="243966"/>
                </a:solidFill>
                <a:effectLst/>
                <a:latin typeface="Poppins" panose="00000500000000000000" pitchFamily="2" charset="0"/>
              </a:rPr>
            </a:br>
            <a:r>
              <a:rPr lang="en-IN" sz="900" dirty="0"/>
              <a:t/>
            </a:r>
            <a:br>
              <a:rPr lang="en-IN" sz="900" dirty="0"/>
            </a:br>
            <a:endParaRPr lang="en-IN" dirty="0"/>
          </a:p>
        </p:txBody>
      </p:sp>
      <p:sp>
        <p:nvSpPr>
          <p:cNvPr id="4" name="Content Placeholder 3">
            <a:extLst>
              <a:ext uri="{FF2B5EF4-FFF2-40B4-BE49-F238E27FC236}">
                <a16:creationId xmlns:a16="http://schemas.microsoft.com/office/drawing/2014/main" id="{1F6D3A5F-7FC5-074F-A2D3-E4A838E27852}"/>
              </a:ext>
            </a:extLst>
          </p:cNvPr>
          <p:cNvSpPr>
            <a:spLocks noGrp="1"/>
          </p:cNvSpPr>
          <p:nvPr>
            <p:ph idx="1"/>
          </p:nvPr>
        </p:nvSpPr>
        <p:spPr>
          <a:xfrm>
            <a:off x="1371600" y="1428750"/>
            <a:ext cx="9601200" cy="3581400"/>
          </a:xfrm>
        </p:spPr>
        <p:txBody>
          <a:bodyPr/>
          <a:lstStyle/>
          <a:p>
            <a:pPr fontAlgn="base">
              <a:spcAft>
                <a:spcPts val="375"/>
              </a:spcAft>
              <a:buFont typeface="Arial" panose="020B0604020202020204" pitchFamily="34" charset="0"/>
              <a:buChar char="•"/>
            </a:pPr>
            <a:r>
              <a:rPr lang="en-IN" dirty="0">
                <a:effectLst/>
              </a:rPr>
              <a:t>Insert the following formula in the cell where you want the result, then hit Enter. We chose cell H4.</a:t>
            </a:r>
            <a:endParaRPr lang="en-IN" dirty="0">
              <a:solidFill>
                <a:srgbClr val="000000"/>
              </a:solidFill>
              <a:latin typeface="Poppins" panose="00000500000000000000" pitchFamily="2" charset="0"/>
            </a:endParaRPr>
          </a:p>
          <a:p>
            <a:pPr fontAlgn="base">
              <a:spcAft>
                <a:spcPts val="375"/>
              </a:spcAft>
              <a:buFont typeface="Arial" panose="020B0604020202020204" pitchFamily="34" charset="0"/>
              <a:buChar char="•"/>
            </a:pPr>
            <a:r>
              <a:rPr lang="en-IN" dirty="0">
                <a:effectLst/>
              </a:rPr>
              <a:t>=COUNTIF(D4:D13,H3)</a:t>
            </a:r>
          </a:p>
          <a:p>
            <a:pPr fontAlgn="base">
              <a:spcAft>
                <a:spcPts val="375"/>
              </a:spcAft>
              <a:buFont typeface="Arial" panose="020B0604020202020204" pitchFamily="34" charset="0"/>
              <a:buChar char="•"/>
            </a:pPr>
            <a:endParaRPr lang="en-IN" dirty="0">
              <a:effectLst/>
            </a:endParaRPr>
          </a:p>
        </p:txBody>
      </p:sp>
      <p:pic>
        <p:nvPicPr>
          <p:cNvPr id="5" name="Picture 4">
            <a:extLst>
              <a:ext uri="{FF2B5EF4-FFF2-40B4-BE49-F238E27FC236}">
                <a16:creationId xmlns:a16="http://schemas.microsoft.com/office/drawing/2014/main" id="{E67D7726-C66F-E464-2C02-C803F47A6FBE}"/>
              </a:ext>
            </a:extLst>
          </p:cNvPr>
          <p:cNvPicPr>
            <a:picLocks noChangeAspect="1"/>
          </p:cNvPicPr>
          <p:nvPr/>
        </p:nvPicPr>
        <p:blipFill>
          <a:blip r:embed="rId2"/>
          <a:stretch>
            <a:fillRect/>
          </a:stretch>
        </p:blipFill>
        <p:spPr>
          <a:xfrm>
            <a:off x="2018118" y="2515144"/>
            <a:ext cx="7444860" cy="4217212"/>
          </a:xfrm>
          <a:prstGeom prst="rect">
            <a:avLst/>
          </a:prstGeom>
        </p:spPr>
      </p:pic>
    </p:spTree>
    <p:extLst>
      <p:ext uri="{BB962C8B-B14F-4D97-AF65-F5344CB8AC3E}">
        <p14:creationId xmlns:p14="http://schemas.microsoft.com/office/powerpoint/2010/main" val="181361263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9ADCE-2C66-75BC-9DDC-0C61F0C85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A095D-36F3-F55C-9142-2B27F778CA82}"/>
              </a:ext>
            </a:extLst>
          </p:cNvPr>
          <p:cNvSpPr>
            <a:spLocks noGrp="1"/>
          </p:cNvSpPr>
          <p:nvPr>
            <p:ph type="title"/>
          </p:nvPr>
        </p:nvSpPr>
        <p:spPr/>
        <p:txBody>
          <a:bodyPr>
            <a:normAutofit/>
          </a:bodyPr>
          <a:lstStyle/>
          <a:p>
            <a:pPr algn="l" fontAlgn="base">
              <a:spcBef>
                <a:spcPts val="1500"/>
              </a:spcBef>
              <a:spcAft>
                <a:spcPts val="1500"/>
              </a:spcAft>
            </a:pPr>
            <a:r>
              <a:rPr lang="en-IN" sz="1800" b="1" i="0" dirty="0">
                <a:solidFill>
                  <a:srgbClr val="800000"/>
                </a:solidFill>
                <a:effectLst/>
                <a:latin typeface="inherit"/>
              </a:rPr>
              <a:t>Example 1 – COUNTIF Formula for Numbers</a:t>
            </a:r>
            <a:r>
              <a:rPr lang="en-IN" sz="1800" b="1" i="0" dirty="0">
                <a:solidFill>
                  <a:srgbClr val="243966"/>
                </a:solidFill>
                <a:effectLst/>
                <a:latin typeface="Poppins" panose="00000500000000000000" pitchFamily="2" charset="0"/>
              </a:rPr>
              <a:t/>
            </a:r>
            <a:br>
              <a:rPr lang="en-IN" sz="1800" b="1" i="0" dirty="0">
                <a:solidFill>
                  <a:srgbClr val="243966"/>
                </a:solidFill>
                <a:effectLst/>
                <a:latin typeface="Poppins" panose="00000500000000000000" pitchFamily="2" charset="0"/>
              </a:rPr>
            </a:br>
            <a:r>
              <a:rPr lang="en-IN" sz="900" dirty="0"/>
              <a:t/>
            </a:r>
            <a:br>
              <a:rPr lang="en-IN" sz="900" dirty="0"/>
            </a:br>
            <a:endParaRPr lang="en-IN" dirty="0"/>
          </a:p>
        </p:txBody>
      </p:sp>
      <p:sp>
        <p:nvSpPr>
          <p:cNvPr id="4" name="Content Placeholder 3">
            <a:extLst>
              <a:ext uri="{FF2B5EF4-FFF2-40B4-BE49-F238E27FC236}">
                <a16:creationId xmlns:a16="http://schemas.microsoft.com/office/drawing/2014/main" id="{5AA5C7DA-DF09-6A21-F2C3-C440D45B56FE}"/>
              </a:ext>
            </a:extLst>
          </p:cNvPr>
          <p:cNvSpPr>
            <a:spLocks noGrp="1"/>
          </p:cNvSpPr>
          <p:nvPr>
            <p:ph idx="1"/>
          </p:nvPr>
        </p:nvSpPr>
        <p:spPr>
          <a:xfrm>
            <a:off x="1371600" y="1428750"/>
            <a:ext cx="9601200" cy="3581400"/>
          </a:xfrm>
        </p:spPr>
        <p:txBody>
          <a:bodyPr/>
          <a:lstStyle/>
          <a:p>
            <a:pPr algn="just" fontAlgn="base">
              <a:spcAft>
                <a:spcPts val="1125"/>
              </a:spcAft>
            </a:pPr>
            <a:r>
              <a:rPr lang="en-IN" b="0" i="0" dirty="0">
                <a:solidFill>
                  <a:srgbClr val="000000"/>
                </a:solidFill>
                <a:effectLst/>
                <a:latin typeface="Poppins" panose="00000500000000000000" pitchFamily="2" charset="0"/>
              </a:rPr>
              <a:t>We selected the cell range </a:t>
            </a:r>
            <a:r>
              <a:rPr lang="en-IN" b="1" i="0" dirty="0">
                <a:solidFill>
                  <a:srgbClr val="000000"/>
                </a:solidFill>
                <a:effectLst/>
                <a:latin typeface="inherit"/>
              </a:rPr>
              <a:t>D4:D13 </a:t>
            </a:r>
            <a:r>
              <a:rPr lang="en-IN" b="0" i="0" dirty="0">
                <a:solidFill>
                  <a:srgbClr val="000000"/>
                </a:solidFill>
                <a:effectLst/>
                <a:latin typeface="Poppins" panose="00000500000000000000" pitchFamily="2" charset="0"/>
              </a:rPr>
              <a:t>as </a:t>
            </a:r>
            <a:r>
              <a:rPr lang="en-IN" b="1" i="0" dirty="0">
                <a:solidFill>
                  <a:srgbClr val="000000"/>
                </a:solidFill>
                <a:effectLst/>
                <a:latin typeface="inherit"/>
              </a:rPr>
              <a:t>range.</a:t>
            </a:r>
            <a:r>
              <a:rPr lang="en-IN" b="0" i="0" dirty="0">
                <a:solidFill>
                  <a:srgbClr val="000000"/>
                </a:solidFill>
                <a:effectLst/>
                <a:latin typeface="Poppins" panose="00000500000000000000" pitchFamily="2" charset="0"/>
              </a:rPr>
              <a:t> For </a:t>
            </a:r>
            <a:r>
              <a:rPr lang="en-IN" b="1" i="0" dirty="0">
                <a:solidFill>
                  <a:srgbClr val="000000"/>
                </a:solidFill>
                <a:effectLst/>
                <a:latin typeface="inherit"/>
              </a:rPr>
              <a:t>criteria, </a:t>
            </a:r>
            <a:r>
              <a:rPr lang="en-IN" b="0" i="0" dirty="0">
                <a:solidFill>
                  <a:srgbClr val="000000"/>
                </a:solidFill>
                <a:effectLst/>
                <a:latin typeface="Poppins" panose="00000500000000000000" pitchFamily="2" charset="0"/>
              </a:rPr>
              <a:t>we used the reference </a:t>
            </a:r>
            <a:r>
              <a:rPr lang="en-IN" b="1" i="0" dirty="0">
                <a:solidFill>
                  <a:srgbClr val="000000"/>
                </a:solidFill>
                <a:effectLst/>
                <a:latin typeface="inherit"/>
              </a:rPr>
              <a:t>H3 </a:t>
            </a:r>
            <a:r>
              <a:rPr lang="en-IN" b="0" i="0" dirty="0">
                <a:solidFill>
                  <a:srgbClr val="000000"/>
                </a:solidFill>
                <a:effectLst/>
                <a:latin typeface="Poppins" panose="00000500000000000000" pitchFamily="2" charset="0"/>
              </a:rPr>
              <a:t>that contains the number </a:t>
            </a:r>
            <a:r>
              <a:rPr lang="en-IN" b="1" i="0" dirty="0">
                <a:solidFill>
                  <a:srgbClr val="000000"/>
                </a:solidFill>
                <a:effectLst/>
                <a:latin typeface="inherit"/>
              </a:rPr>
              <a:t>23,456.</a:t>
            </a:r>
            <a:endParaRPr lang="en-IN" b="0" i="0" dirty="0">
              <a:solidFill>
                <a:srgbClr val="000000"/>
              </a:solidFill>
              <a:effectLst/>
              <a:latin typeface="Poppins" panose="00000500000000000000" pitchFamily="2" charset="0"/>
            </a:endParaRPr>
          </a:p>
          <a:p>
            <a:r>
              <a:rPr lang="en-IN" dirty="0"/>
              <a:t/>
            </a:r>
            <a:br>
              <a:rPr lang="en-IN" dirty="0"/>
            </a:br>
            <a:endParaRPr lang="en-IN" dirty="0">
              <a:effectLst/>
            </a:endParaRPr>
          </a:p>
        </p:txBody>
      </p:sp>
      <p:pic>
        <p:nvPicPr>
          <p:cNvPr id="6" name="Picture 5">
            <a:extLst>
              <a:ext uri="{FF2B5EF4-FFF2-40B4-BE49-F238E27FC236}">
                <a16:creationId xmlns:a16="http://schemas.microsoft.com/office/drawing/2014/main" id="{4EFF8913-333E-D228-4DEB-12CD69AF00B8}"/>
              </a:ext>
            </a:extLst>
          </p:cNvPr>
          <p:cNvPicPr>
            <a:picLocks noChangeAspect="1"/>
          </p:cNvPicPr>
          <p:nvPr/>
        </p:nvPicPr>
        <p:blipFill>
          <a:blip r:embed="rId2"/>
          <a:stretch>
            <a:fillRect/>
          </a:stretch>
        </p:blipFill>
        <p:spPr>
          <a:xfrm>
            <a:off x="1976042" y="2171700"/>
            <a:ext cx="7857143" cy="3750635"/>
          </a:xfrm>
          <a:prstGeom prst="rect">
            <a:avLst/>
          </a:prstGeom>
        </p:spPr>
      </p:pic>
      <p:sp>
        <p:nvSpPr>
          <p:cNvPr id="7" name="Title 1">
            <a:extLst>
              <a:ext uri="{FF2B5EF4-FFF2-40B4-BE49-F238E27FC236}">
                <a16:creationId xmlns:a16="http://schemas.microsoft.com/office/drawing/2014/main" id="{78A51157-EAD0-C562-8BA9-D9615589DCE0}"/>
              </a:ext>
            </a:extLst>
          </p:cNvPr>
          <p:cNvSpPr txBox="1">
            <a:spLocks/>
          </p:cNvSpPr>
          <p:nvPr/>
        </p:nvSpPr>
        <p:spPr>
          <a:xfrm>
            <a:off x="1832529" y="6172200"/>
            <a:ext cx="8144168" cy="600739"/>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fontAlgn="base">
              <a:spcBef>
                <a:spcPts val="1500"/>
              </a:spcBef>
              <a:spcAft>
                <a:spcPts val="1500"/>
              </a:spcAft>
            </a:pPr>
            <a:r>
              <a:rPr lang="en-IN" sz="1800" b="1" dirty="0">
                <a:solidFill>
                  <a:srgbClr val="243966"/>
                </a:solidFill>
                <a:latin typeface="Poppins" panose="00000500000000000000" pitchFamily="2" charset="0"/>
              </a:rPr>
              <a:t>Work and investigate all other Count functions</a:t>
            </a:r>
            <a:endParaRPr lang="en-IN" dirty="0"/>
          </a:p>
        </p:txBody>
      </p:sp>
    </p:spTree>
    <p:extLst>
      <p:ext uri="{BB962C8B-B14F-4D97-AF65-F5344CB8AC3E}">
        <p14:creationId xmlns:p14="http://schemas.microsoft.com/office/powerpoint/2010/main" val="21142355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4BD24-5E69-D4F9-FC95-CC56D9F9C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294A5-F2B1-66F8-B062-33B668EBAE81}"/>
              </a:ext>
            </a:extLst>
          </p:cNvPr>
          <p:cNvSpPr>
            <a:spLocks noGrp="1"/>
          </p:cNvSpPr>
          <p:nvPr>
            <p:ph type="title"/>
          </p:nvPr>
        </p:nvSpPr>
        <p:spPr/>
        <p:txBody>
          <a:bodyPr/>
          <a:lstStyle/>
          <a:p>
            <a:r>
              <a:rPr lang="en-IN" dirty="0"/>
              <a:t>Activity to do</a:t>
            </a:r>
          </a:p>
        </p:txBody>
      </p:sp>
      <p:sp>
        <p:nvSpPr>
          <p:cNvPr id="3" name="Content Placeholder 2">
            <a:extLst>
              <a:ext uri="{FF2B5EF4-FFF2-40B4-BE49-F238E27FC236}">
                <a16:creationId xmlns:a16="http://schemas.microsoft.com/office/drawing/2014/main" id="{CE311049-C940-250D-2AFA-0FDBE912B214}"/>
              </a:ext>
            </a:extLst>
          </p:cNvPr>
          <p:cNvSpPr>
            <a:spLocks noGrp="1"/>
          </p:cNvSpPr>
          <p:nvPr>
            <p:ph idx="1"/>
          </p:nvPr>
        </p:nvSpPr>
        <p:spPr>
          <a:xfrm>
            <a:off x="1371600" y="1390261"/>
            <a:ext cx="9601200" cy="4477139"/>
          </a:xfrm>
        </p:spPr>
        <p:txBody>
          <a:bodyPr/>
          <a:lstStyle/>
          <a:p>
            <a:endParaRPr lang="en-IN" dirty="0"/>
          </a:p>
          <a:p>
            <a:r>
              <a:rPr lang="en-IN" dirty="0"/>
              <a:t>Using Retail Sales Excel data file, Apply all formulas</a:t>
            </a:r>
          </a:p>
          <a:p>
            <a:r>
              <a:rPr lang="en-IN" dirty="0"/>
              <a:t>Involve all Aggregate functions  with Created Tables</a:t>
            </a:r>
          </a:p>
          <a:p>
            <a:r>
              <a:rPr lang="en-IN" dirty="0"/>
              <a:t>Calculate count of quantity sales ?</a:t>
            </a:r>
          </a:p>
          <a:p>
            <a:r>
              <a:rPr lang="en-IN" dirty="0"/>
              <a:t>Calculate Total Sales Amount?</a:t>
            </a:r>
          </a:p>
          <a:p>
            <a:r>
              <a:rPr lang="en-IN" dirty="0"/>
              <a:t>Calculate Min/ Max Product  Price?</a:t>
            </a:r>
          </a:p>
          <a:p>
            <a:r>
              <a:rPr lang="en-IN" dirty="0"/>
              <a:t>Discuss and implement all formulas learned till now</a:t>
            </a:r>
          </a:p>
          <a:p>
            <a:r>
              <a:rPr lang="en-IN" dirty="0"/>
              <a:t>Review of all Formals using Retail Data</a:t>
            </a:r>
          </a:p>
          <a:p>
            <a:endParaRPr lang="en-IN" dirty="0"/>
          </a:p>
        </p:txBody>
      </p:sp>
    </p:spTree>
    <p:extLst>
      <p:ext uri="{BB962C8B-B14F-4D97-AF65-F5344CB8AC3E}">
        <p14:creationId xmlns:p14="http://schemas.microsoft.com/office/powerpoint/2010/main" val="40305652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98BA5-743D-02FD-3327-AD8CFD911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722AF-4963-CD73-2F93-571DECB1BE8A}"/>
              </a:ext>
            </a:extLst>
          </p:cNvPr>
          <p:cNvSpPr>
            <a:spLocks noGrp="1"/>
          </p:cNvSpPr>
          <p:nvPr>
            <p:ph type="title"/>
          </p:nvPr>
        </p:nvSpPr>
        <p:spPr>
          <a:xfrm>
            <a:off x="1295400" y="2686050"/>
            <a:ext cx="9601200" cy="1485900"/>
          </a:xfrm>
        </p:spPr>
        <p:txBody>
          <a:bodyPr>
            <a:normAutofit/>
          </a:bodyPr>
          <a:lstStyle/>
          <a:p>
            <a:r>
              <a:rPr lang="en-US" b="1" dirty="0"/>
              <a:t>Day 7</a:t>
            </a:r>
            <a:r>
              <a:rPr lang="en-US" dirty="0"/>
              <a:t>: </a:t>
            </a:r>
            <a:r>
              <a:rPr lang="en-IN" dirty="0"/>
              <a:t>SQL- Data Base Management System understanding</a:t>
            </a:r>
            <a:endParaRPr lang="en-US" dirty="0"/>
          </a:p>
        </p:txBody>
      </p:sp>
    </p:spTree>
    <p:extLst>
      <p:ext uri="{BB962C8B-B14F-4D97-AF65-F5344CB8AC3E}">
        <p14:creationId xmlns:p14="http://schemas.microsoft.com/office/powerpoint/2010/main" val="376421895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E1665A6-74DB-4F44-A6EF-F01205E8718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85800"/>
            <a:ext cx="10905066" cy="1485900"/>
          </a:xfrm>
          <a:noFill/>
        </p:spPr>
        <p:txBody>
          <a:bodyPr>
            <a:normAutofit/>
          </a:bodyPr>
          <a:lstStyle/>
          <a:p>
            <a:pPr algn="ctr"/>
            <a:r>
              <a:rPr lang="en-IN" altLang="en-US"/>
              <a:t>Uses of SQL in Data Analytics</a:t>
            </a:r>
          </a:p>
        </p:txBody>
      </p:sp>
      <p:graphicFrame>
        <p:nvGraphicFramePr>
          <p:cNvPr id="5" name="Content Placeholder 2">
            <a:extLst>
              <a:ext uri="{FF2B5EF4-FFF2-40B4-BE49-F238E27FC236}">
                <a16:creationId xmlns:a16="http://schemas.microsoft.com/office/drawing/2014/main" id="{94258025-83E5-E5FB-E2F3-95730E991815}"/>
              </a:ext>
            </a:extLst>
          </p:cNvPr>
          <p:cNvGraphicFramePr>
            <a:graphicFrameLocks noGrp="1"/>
          </p:cNvGraphicFramePr>
          <p:nvPr>
            <p:ph idx="1"/>
            <p:extLst>
              <p:ext uri="{D42A27DB-BD31-4B8C-83A1-F6EECF244321}">
                <p14:modId xmlns:p14="http://schemas.microsoft.com/office/powerpoint/2010/main" val="2202754978"/>
              </p:ext>
            </p:extLst>
          </p:nvPr>
        </p:nvGraphicFramePr>
        <p:xfrm>
          <a:off x="1122972" y="2286000"/>
          <a:ext cx="9946056"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284278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E1665A6-74DB-4F44-A6EF-F01205E8718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F5391A22-4AC3-C178-104B-C92FAD90A13F}"/>
              </a:ext>
            </a:extLst>
          </p:cNvPr>
          <p:cNvSpPr>
            <a:spLocks noGrp="1"/>
          </p:cNvSpPr>
          <p:nvPr>
            <p:ph type="title"/>
          </p:nvPr>
        </p:nvSpPr>
        <p:spPr>
          <a:xfrm>
            <a:off x="643467" y="685800"/>
            <a:ext cx="10905066" cy="1485900"/>
          </a:xfrm>
          <a:noFill/>
        </p:spPr>
        <p:txBody>
          <a:bodyPr lIns="91440" tIns="45720" rIns="91440" bIns="45720" anchorCtr="0">
            <a:normAutofit/>
          </a:bodyPr>
          <a:lstStyle/>
          <a:p>
            <a:pPr algn="ctr"/>
            <a:r>
              <a:rPr lang="en-US">
                <a:cs typeface="Arial"/>
              </a:rPr>
              <a:t>Why use SQL ?</a:t>
            </a:r>
            <a:endParaRPr lang="en-US"/>
          </a:p>
        </p:txBody>
      </p:sp>
      <p:graphicFrame>
        <p:nvGraphicFramePr>
          <p:cNvPr id="14" name="Content Placeholder 2">
            <a:extLst>
              <a:ext uri="{FF2B5EF4-FFF2-40B4-BE49-F238E27FC236}">
                <a16:creationId xmlns:a16="http://schemas.microsoft.com/office/drawing/2014/main" id="{B8BC2D49-BE6D-E7D6-86F5-D6567CC165F4}"/>
              </a:ext>
            </a:extLst>
          </p:cNvPr>
          <p:cNvGraphicFramePr>
            <a:graphicFrameLocks noGrp="1"/>
          </p:cNvGraphicFramePr>
          <p:nvPr>
            <p:ph idx="1"/>
            <p:extLst>
              <p:ext uri="{D42A27DB-BD31-4B8C-83A1-F6EECF244321}">
                <p14:modId xmlns:p14="http://schemas.microsoft.com/office/powerpoint/2010/main" val="1550503728"/>
              </p:ext>
            </p:extLst>
          </p:nvPr>
        </p:nvGraphicFramePr>
        <p:xfrm>
          <a:off x="1122972" y="2286000"/>
          <a:ext cx="9946056"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8BF70-2A20-92E3-9C4B-6EDB6DD094ED}"/>
              </a:ext>
            </a:extLst>
          </p:cNvPr>
          <p:cNvSpPr>
            <a:spLocks noGrp="1"/>
          </p:cNvSpPr>
          <p:nvPr>
            <p:ph type="title"/>
          </p:nvPr>
        </p:nvSpPr>
        <p:spPr>
          <a:xfrm>
            <a:off x="1371600" y="347579"/>
            <a:ext cx="9601200" cy="990600"/>
          </a:xfrm>
        </p:spPr>
        <p:txBody>
          <a:bodyPr/>
          <a:lstStyle/>
          <a:p>
            <a:r>
              <a:rPr lang="en-IN" dirty="0"/>
              <a:t>Basics - Data and DBMS</a:t>
            </a:r>
          </a:p>
        </p:txBody>
      </p:sp>
      <p:sp>
        <p:nvSpPr>
          <p:cNvPr id="3" name="Content Placeholder 2">
            <a:extLst>
              <a:ext uri="{FF2B5EF4-FFF2-40B4-BE49-F238E27FC236}">
                <a16:creationId xmlns:a16="http://schemas.microsoft.com/office/drawing/2014/main" id="{69978E29-6D1D-454A-7937-681626EE4BEB}"/>
              </a:ext>
            </a:extLst>
          </p:cNvPr>
          <p:cNvSpPr>
            <a:spLocks noGrp="1"/>
          </p:cNvSpPr>
          <p:nvPr>
            <p:ph idx="1"/>
          </p:nvPr>
        </p:nvSpPr>
        <p:spPr>
          <a:xfrm>
            <a:off x="1295400" y="1091078"/>
            <a:ext cx="9601200" cy="6183923"/>
          </a:xfrm>
        </p:spPr>
        <p:txBody>
          <a:bodyPr vert="horz" lIns="91440" tIns="45720" rIns="91440" bIns="45720" rtlCol="0" anchor="t">
            <a:normAutofit/>
          </a:bodyPr>
          <a:lstStyle/>
          <a:p>
            <a:pPr marL="0" lvl="0" indent="0" algn="l" rtl="0">
              <a:lnSpc>
                <a:spcPct val="100000"/>
              </a:lnSpc>
              <a:spcBef>
                <a:spcPts val="0"/>
              </a:spcBef>
              <a:spcAft>
                <a:spcPts val="0"/>
              </a:spcAft>
              <a:buClr>
                <a:schemeClr val="dk1"/>
              </a:buClr>
              <a:buFont typeface="Arial"/>
              <a:buNone/>
            </a:pPr>
            <a:r>
              <a:rPr lang="en-US" sz="2000" b="1" dirty="0">
                <a:solidFill>
                  <a:schemeClr val="dk1"/>
                </a:solidFill>
                <a:latin typeface="Calibri"/>
                <a:ea typeface="Calibri"/>
                <a:cs typeface="Calibri"/>
                <a:sym typeface="Calibri"/>
              </a:rPr>
              <a:t>Data</a:t>
            </a:r>
            <a:r>
              <a:rPr lang="en-US" sz="2000" dirty="0">
                <a:solidFill>
                  <a:schemeClr val="dk1"/>
                </a:solidFill>
                <a:latin typeface="Calibri"/>
                <a:ea typeface="Calibri"/>
                <a:cs typeface="Calibri"/>
                <a:sym typeface="Calibri"/>
              </a:rPr>
              <a:t> &gt; Is nothing but Raw facts, or any unprocessed facts that you can record.</a:t>
            </a:r>
            <a:endParaRPr lang="en-US" sz="1600" dirty="0">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Font typeface="Arial"/>
              <a:buNone/>
            </a:pPr>
            <a:r>
              <a:rPr lang="en-US" sz="2000" dirty="0">
                <a:solidFill>
                  <a:schemeClr val="dk1"/>
                </a:solidFill>
                <a:latin typeface="Calibri"/>
                <a:ea typeface="Calibri"/>
                <a:cs typeface="Calibri"/>
                <a:sym typeface="Calibri"/>
              </a:rPr>
              <a:t>          &gt; Data can be Facts/Numbers or Texts. It can be bits or Bytes </a:t>
            </a:r>
            <a:endParaRPr lang="en-US" dirty="0">
              <a:solidFill>
                <a:schemeClr val="dk1"/>
              </a:solidFill>
              <a:latin typeface="Calibri"/>
              <a:ea typeface="Calibri"/>
              <a:cs typeface="Calibri"/>
            </a:endParaRPr>
          </a:p>
          <a:p>
            <a:pPr marL="0" lvl="0" indent="0" algn="l" rtl="0">
              <a:lnSpc>
                <a:spcPct val="100000"/>
              </a:lnSpc>
              <a:spcBef>
                <a:spcPts val="0"/>
              </a:spcBef>
              <a:spcAft>
                <a:spcPts val="0"/>
              </a:spcAft>
              <a:buClr>
                <a:schemeClr val="dk1"/>
              </a:buClr>
              <a:buFont typeface="Arial"/>
              <a:buNone/>
            </a:pPr>
            <a:r>
              <a:rPr lang="en-US" sz="2000" dirty="0">
                <a:solidFill>
                  <a:schemeClr val="dk1"/>
                </a:solidFill>
                <a:latin typeface="Calibri"/>
                <a:ea typeface="Calibri"/>
                <a:cs typeface="Calibri"/>
                <a:sym typeface="Calibri"/>
              </a:rPr>
              <a:t>          &gt; Data is structured in specific way and stored for a particular purpose  </a:t>
            </a:r>
            <a:endParaRPr lang="en-US" sz="1600" dirty="0">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Font typeface="Arial"/>
              <a:buNone/>
            </a:pPr>
            <a:endParaRPr lang="en-US" sz="2000" dirty="0">
              <a:solidFill>
                <a:schemeClr val="dk1"/>
              </a:solidFill>
              <a:latin typeface="Calibri"/>
              <a:ea typeface="Calibri"/>
              <a:cs typeface="Calibri"/>
              <a:sym typeface="Calibri"/>
            </a:endParaRPr>
          </a:p>
          <a:p>
            <a:pPr marL="0" indent="0">
              <a:lnSpc>
                <a:spcPct val="100000"/>
              </a:lnSpc>
              <a:spcBef>
                <a:spcPts val="0"/>
              </a:spcBef>
              <a:spcAft>
                <a:spcPts val="0"/>
              </a:spcAft>
              <a:buClr>
                <a:schemeClr val="dk1"/>
              </a:buClr>
              <a:buNone/>
            </a:pPr>
            <a:r>
              <a:rPr lang="en-US" sz="2000" b="1" dirty="0">
                <a:solidFill>
                  <a:schemeClr val="dk1"/>
                </a:solidFill>
                <a:latin typeface="Calibri"/>
                <a:ea typeface="Calibri"/>
                <a:cs typeface="Calibri"/>
                <a:sym typeface="Calibri"/>
              </a:rPr>
              <a:t>Information</a:t>
            </a:r>
            <a:r>
              <a:rPr lang="en-US" sz="2000" dirty="0">
                <a:solidFill>
                  <a:schemeClr val="dk1"/>
                </a:solidFill>
                <a:latin typeface="Calibri"/>
                <a:ea typeface="Calibri"/>
                <a:cs typeface="Calibri"/>
                <a:sym typeface="Calibri"/>
              </a:rPr>
              <a:t> </a:t>
            </a:r>
            <a:r>
              <a:rPr lang="en-US" dirty="0">
                <a:solidFill>
                  <a:schemeClr val="dk1"/>
                </a:solidFill>
                <a:latin typeface="Calibri"/>
                <a:ea typeface="Calibri"/>
                <a:cs typeface="Calibri"/>
                <a:sym typeface="Calibri"/>
              </a:rPr>
              <a:t>means Processed</a:t>
            </a:r>
            <a:r>
              <a:rPr lang="en-US" sz="2000" dirty="0">
                <a:solidFill>
                  <a:schemeClr val="dk1"/>
                </a:solidFill>
                <a:latin typeface="Calibri"/>
                <a:ea typeface="Calibri"/>
                <a:cs typeface="Calibri"/>
                <a:sym typeface="Calibri"/>
              </a:rPr>
              <a:t> Data </a:t>
            </a:r>
            <a:endParaRPr lang="en-US" sz="2000" dirty="0">
              <a:solidFill>
                <a:schemeClr val="dk1"/>
              </a:solidFill>
              <a:latin typeface="Calibri"/>
              <a:ea typeface="Calibri"/>
              <a:cs typeface="Calibri"/>
            </a:endParaRPr>
          </a:p>
          <a:p>
            <a:pPr marL="0" lvl="0" indent="0" algn="l" rtl="0">
              <a:lnSpc>
                <a:spcPct val="100000"/>
              </a:lnSpc>
              <a:spcBef>
                <a:spcPts val="0"/>
              </a:spcBef>
              <a:spcAft>
                <a:spcPts val="0"/>
              </a:spcAft>
              <a:buClr>
                <a:schemeClr val="dk1"/>
              </a:buClr>
              <a:buFont typeface="Arial"/>
              <a:buNone/>
            </a:pPr>
            <a:endParaRPr lang="en-US" sz="2000" dirty="0">
              <a:solidFill>
                <a:schemeClr val="dk1"/>
              </a:solidFill>
              <a:latin typeface="Calibri"/>
              <a:ea typeface="Calibri"/>
              <a:cs typeface="Calibri"/>
              <a:sym typeface="Calibri"/>
            </a:endParaRPr>
          </a:p>
          <a:p>
            <a:pPr marL="0" indent="0">
              <a:lnSpc>
                <a:spcPct val="100000"/>
              </a:lnSpc>
              <a:spcBef>
                <a:spcPts val="0"/>
              </a:spcBef>
              <a:spcAft>
                <a:spcPts val="0"/>
              </a:spcAft>
              <a:buClr>
                <a:schemeClr val="dk1"/>
              </a:buClr>
              <a:buNone/>
            </a:pPr>
            <a:r>
              <a:rPr lang="en-US" sz="2000" b="1" dirty="0">
                <a:solidFill>
                  <a:schemeClr val="dk1"/>
                </a:solidFill>
                <a:latin typeface="Calibri"/>
                <a:ea typeface="Calibri"/>
                <a:cs typeface="Calibri"/>
                <a:sym typeface="Calibri"/>
              </a:rPr>
              <a:t>Database</a:t>
            </a:r>
            <a:r>
              <a:rPr lang="en-US" sz="2000" dirty="0">
                <a:solidFill>
                  <a:schemeClr val="dk1"/>
                </a:solidFill>
                <a:latin typeface="Calibri"/>
                <a:ea typeface="Calibri"/>
                <a:cs typeface="Calibri"/>
                <a:sym typeface="Calibri"/>
              </a:rPr>
              <a:t> </a:t>
            </a:r>
            <a:r>
              <a:rPr lang="en-US" dirty="0">
                <a:solidFill>
                  <a:schemeClr val="dk1"/>
                </a:solidFill>
                <a:latin typeface="Calibri"/>
                <a:ea typeface="Calibri"/>
                <a:cs typeface="Calibri"/>
                <a:sym typeface="Calibri"/>
              </a:rPr>
              <a:t>is a Collection</a:t>
            </a:r>
            <a:r>
              <a:rPr lang="en-US" sz="2000" dirty="0">
                <a:solidFill>
                  <a:schemeClr val="dk1"/>
                </a:solidFill>
                <a:latin typeface="Calibri"/>
                <a:ea typeface="Calibri"/>
                <a:cs typeface="Calibri"/>
                <a:sym typeface="Calibri"/>
              </a:rPr>
              <a:t> of </a:t>
            </a:r>
            <a:r>
              <a:rPr lang="en-US" sz="2000" b="1" dirty="0">
                <a:solidFill>
                  <a:srgbClr val="FF0000"/>
                </a:solidFill>
                <a:latin typeface="Calibri"/>
                <a:ea typeface="Calibri"/>
                <a:cs typeface="Calibri"/>
                <a:sym typeface="Calibri"/>
              </a:rPr>
              <a:t>related</a:t>
            </a:r>
            <a:r>
              <a:rPr lang="en-US" sz="2000" dirty="0">
                <a:solidFill>
                  <a:schemeClr val="dk1"/>
                </a:solidFill>
                <a:latin typeface="Calibri"/>
                <a:ea typeface="Calibri"/>
                <a:cs typeface="Calibri"/>
                <a:sym typeface="Calibri"/>
              </a:rPr>
              <a:t> data </a:t>
            </a:r>
            <a:endParaRPr lang="en-US" sz="2000" dirty="0">
              <a:solidFill>
                <a:schemeClr val="dk1"/>
              </a:solidFill>
              <a:latin typeface="Calibri"/>
              <a:ea typeface="Calibri"/>
              <a:cs typeface="Calibri"/>
            </a:endParaRPr>
          </a:p>
          <a:p>
            <a:pPr marL="0" lvl="0" indent="0" algn="l" rtl="0">
              <a:lnSpc>
                <a:spcPct val="100000"/>
              </a:lnSpc>
              <a:spcBef>
                <a:spcPts val="0"/>
              </a:spcBef>
              <a:spcAft>
                <a:spcPts val="0"/>
              </a:spcAft>
              <a:buClr>
                <a:schemeClr val="dk1"/>
              </a:buClr>
              <a:buFont typeface="Arial"/>
              <a:buNone/>
            </a:pPr>
            <a:endParaRPr lang="en-US" dirty="0">
              <a:solidFill>
                <a:schemeClr val="dk1"/>
              </a:solidFill>
              <a:latin typeface="Calibri"/>
              <a:ea typeface="Calibri"/>
              <a:cs typeface="Calibri"/>
              <a:sym typeface="Calibri"/>
            </a:endParaRPr>
          </a:p>
          <a:p>
            <a:pPr marL="0" indent="0">
              <a:lnSpc>
                <a:spcPct val="100000"/>
              </a:lnSpc>
              <a:spcBef>
                <a:spcPts val="0"/>
              </a:spcBef>
              <a:spcAft>
                <a:spcPts val="0"/>
              </a:spcAft>
              <a:buNone/>
            </a:pPr>
            <a:r>
              <a:rPr lang="en-US" dirty="0">
                <a:solidFill>
                  <a:srgbClr val="273239"/>
                </a:solidFill>
                <a:highlight>
                  <a:srgbClr val="FFFFFF"/>
                </a:highlight>
                <a:ea typeface="+mn-lt"/>
                <a:cs typeface="+mn-lt"/>
              </a:rPr>
              <a:t> Database Management Systems or DBMS helps create, store, manage, and retrieve data in a database, typically in hierarchical or navigational forms.</a:t>
            </a:r>
          </a:p>
          <a:p>
            <a:pPr marL="0" indent="0">
              <a:lnSpc>
                <a:spcPct val="100000"/>
              </a:lnSpc>
              <a:spcBef>
                <a:spcPts val="0"/>
              </a:spcBef>
              <a:spcAft>
                <a:spcPts val="0"/>
              </a:spcAft>
              <a:buNone/>
            </a:pPr>
            <a:endParaRPr lang="en-US" dirty="0">
              <a:solidFill>
                <a:srgbClr val="273239"/>
              </a:solidFill>
              <a:highlight>
                <a:srgbClr val="FFFFFF"/>
              </a:highlight>
              <a:latin typeface="Franklin Gothic Book"/>
              <a:ea typeface="+mn-lt"/>
              <a:cs typeface="+mn-lt"/>
            </a:endParaRPr>
          </a:p>
          <a:p>
            <a:pPr marL="0" indent="0">
              <a:lnSpc>
                <a:spcPct val="100000"/>
              </a:lnSpc>
              <a:spcBef>
                <a:spcPts val="0"/>
              </a:spcBef>
              <a:spcAft>
                <a:spcPts val="0"/>
              </a:spcAft>
              <a:buClr>
                <a:schemeClr val="dk1"/>
              </a:buClr>
              <a:buNone/>
            </a:pPr>
            <a:r>
              <a:rPr lang="en-IN" dirty="0">
                <a:solidFill>
                  <a:schemeClr val="dk1"/>
                </a:solidFill>
                <a:latin typeface="Calibri"/>
                <a:ea typeface="Calibri"/>
                <a:cs typeface="Calibri"/>
              </a:rPr>
              <a:t>Database Management System (DBMS) is a collection of interrelated data and a set of software tools/programs that access, process, and manipulate data. It allows access, retrieval, and use of that data by considering appropriate security measures. The Database Management system (DBMS) is really useful for better data integration and security.</a:t>
            </a:r>
          </a:p>
          <a:p>
            <a:pPr marL="0" indent="0">
              <a:lnSpc>
                <a:spcPct val="100000"/>
              </a:lnSpc>
              <a:spcBef>
                <a:spcPts val="0"/>
              </a:spcBef>
              <a:spcAft>
                <a:spcPts val="0"/>
              </a:spcAft>
              <a:buNone/>
            </a:pPr>
            <a:endParaRPr lang="en-US" dirty="0">
              <a:solidFill>
                <a:srgbClr val="191B0E"/>
              </a:solidFill>
              <a:latin typeface="Franklin Gothic Book"/>
            </a:endParaRPr>
          </a:p>
        </p:txBody>
      </p:sp>
    </p:spTree>
    <p:extLst>
      <p:ext uri="{BB962C8B-B14F-4D97-AF65-F5344CB8AC3E}">
        <p14:creationId xmlns:p14="http://schemas.microsoft.com/office/powerpoint/2010/main" val="190883755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93286-1ACB-3BBD-E1BB-8B7465759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1EB79-1FAE-A4DF-5DC7-D418DE92301B}"/>
              </a:ext>
            </a:extLst>
          </p:cNvPr>
          <p:cNvSpPr>
            <a:spLocks noGrp="1"/>
          </p:cNvSpPr>
          <p:nvPr>
            <p:ph type="title"/>
          </p:nvPr>
        </p:nvSpPr>
        <p:spPr>
          <a:xfrm>
            <a:off x="1371600" y="347579"/>
            <a:ext cx="9601200" cy="990600"/>
          </a:xfrm>
        </p:spPr>
        <p:txBody>
          <a:bodyPr>
            <a:normAutofit fontScale="90000"/>
          </a:bodyPr>
          <a:lstStyle/>
          <a:p>
            <a:pPr algn="l" fontAlgn="base"/>
            <a:r>
              <a:rPr lang="en-IN" b="1" i="0" dirty="0">
                <a:solidFill>
                  <a:srgbClr val="273239"/>
                </a:solidFill>
                <a:effectLst/>
                <a:latin typeface="Nunito" pitchFamily="2" charset="0"/>
              </a:rPr>
              <a:t>Advantages of Database Management System</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56E2749D-E659-BAEF-66A2-98AEC4C1123E}"/>
              </a:ext>
            </a:extLst>
          </p:cNvPr>
          <p:cNvSpPr>
            <a:spLocks noGrp="1"/>
          </p:cNvSpPr>
          <p:nvPr>
            <p:ph idx="1"/>
          </p:nvPr>
        </p:nvSpPr>
        <p:spPr>
          <a:xfrm>
            <a:off x="1412358" y="1657156"/>
            <a:ext cx="9367284" cy="4722379"/>
          </a:xfrm>
        </p:spPr>
        <p:txBody>
          <a:bodyPr vert="horz" lIns="91440" tIns="45720" rIns="91440" bIns="45720" rtlCol="0" anchor="t">
            <a:normAutofit/>
          </a:bodyPr>
          <a:lstStyle/>
          <a:p>
            <a:pPr algn="l" fontAlgn="base">
              <a:spcAft>
                <a:spcPts val="1800"/>
              </a:spcAft>
              <a:buFont typeface="+mj-lt"/>
              <a:buAutoNum type="arabicPeriod"/>
            </a:pPr>
            <a:r>
              <a:rPr lang="en-IN" b="1" i="0" dirty="0">
                <a:solidFill>
                  <a:srgbClr val="273239"/>
                </a:solidFill>
                <a:effectLst/>
                <a:latin typeface="Nunito" pitchFamily="2" charset="0"/>
              </a:rPr>
              <a:t>Data Security: </a:t>
            </a:r>
            <a:r>
              <a:rPr lang="en-IN" b="0" i="0" dirty="0">
                <a:solidFill>
                  <a:srgbClr val="273239"/>
                </a:solidFill>
                <a:effectLst/>
                <a:latin typeface="Nunito" pitchFamily="2" charset="0"/>
              </a:rPr>
              <a:t>The more accessible and usable the database, the more it is prone to security issues. As the number of users increases, the data transferring or data sharing rate also increases thus increasing the risk of data security. It is widely used in the corporate world where companies invest large amounts of money, time, and effort to ensure data is secure and used properly. A Database Management System (DBMS) provides a better platform for data privacy and security policies thus, helping companies to improve Data Security.</a:t>
            </a:r>
          </a:p>
          <a:p>
            <a:pPr algn="l" fontAlgn="base">
              <a:spcAft>
                <a:spcPts val="1800"/>
              </a:spcAft>
              <a:buFont typeface="+mj-lt"/>
              <a:buAutoNum type="arabicPeriod" startAt="2"/>
            </a:pPr>
            <a:r>
              <a:rPr lang="en-IN" b="1" i="0" dirty="0">
                <a:solidFill>
                  <a:srgbClr val="273239"/>
                </a:solidFill>
                <a:effectLst/>
                <a:latin typeface="Nunito" pitchFamily="2" charset="0"/>
              </a:rPr>
              <a:t>Data integration: </a:t>
            </a:r>
            <a:r>
              <a:rPr lang="en-IN" b="0" i="0" dirty="0">
                <a:solidFill>
                  <a:srgbClr val="273239"/>
                </a:solidFill>
                <a:effectLst/>
                <a:latin typeface="Nunito" pitchFamily="2" charset="0"/>
              </a:rPr>
              <a:t>Due to the Database Management System we have access to well-managed and synchronized forms of data thus it makes data handling very easy and gives an integrated view of how a particular organization is working and also helps to keep track of how one segment of the company affects another segment.</a:t>
            </a:r>
            <a:endParaRPr lang="en-US" dirty="0">
              <a:solidFill>
                <a:srgbClr val="191B0E"/>
              </a:solidFill>
              <a:latin typeface="Franklin Gothic Book"/>
            </a:endParaRPr>
          </a:p>
        </p:txBody>
      </p:sp>
    </p:spTree>
    <p:extLst>
      <p:ext uri="{BB962C8B-B14F-4D97-AF65-F5344CB8AC3E}">
        <p14:creationId xmlns:p14="http://schemas.microsoft.com/office/powerpoint/2010/main" val="23452819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4DAB-F30E-08FA-A0C9-D3C30A8FA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CF357-212D-FB62-2F52-DEAD257A7341}"/>
              </a:ext>
            </a:extLst>
          </p:cNvPr>
          <p:cNvSpPr>
            <a:spLocks noGrp="1"/>
          </p:cNvSpPr>
          <p:nvPr>
            <p:ph type="title"/>
          </p:nvPr>
        </p:nvSpPr>
        <p:spPr>
          <a:xfrm>
            <a:off x="1371600" y="347579"/>
            <a:ext cx="9601200" cy="990600"/>
          </a:xfrm>
        </p:spPr>
        <p:txBody>
          <a:bodyPr>
            <a:normAutofit fontScale="90000"/>
          </a:bodyPr>
          <a:lstStyle/>
          <a:p>
            <a:pPr algn="l" fontAlgn="base"/>
            <a:r>
              <a:rPr lang="en-IN" b="1" i="0" dirty="0">
                <a:solidFill>
                  <a:srgbClr val="273239"/>
                </a:solidFill>
                <a:effectLst/>
                <a:latin typeface="Nunito" pitchFamily="2" charset="0"/>
              </a:rPr>
              <a:t>Advantages of Database Management System</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B552DFB6-2671-CA76-EE61-9E12A490CEBB}"/>
              </a:ext>
            </a:extLst>
          </p:cNvPr>
          <p:cNvSpPr>
            <a:spLocks noGrp="1"/>
          </p:cNvSpPr>
          <p:nvPr>
            <p:ph idx="1"/>
          </p:nvPr>
        </p:nvSpPr>
        <p:spPr>
          <a:xfrm>
            <a:off x="1412358" y="1657156"/>
            <a:ext cx="9367284" cy="4722379"/>
          </a:xfrm>
        </p:spPr>
        <p:txBody>
          <a:bodyPr vert="horz" lIns="91440" tIns="45720" rIns="91440" bIns="45720" rtlCol="0" anchor="t">
            <a:normAutofit/>
          </a:bodyPr>
          <a:lstStyle/>
          <a:p>
            <a:pPr algn="l" fontAlgn="base">
              <a:spcAft>
                <a:spcPts val="1800"/>
              </a:spcAft>
              <a:buFont typeface="+mj-lt"/>
              <a:buAutoNum type="arabicPeriod" startAt="3"/>
            </a:pPr>
            <a:r>
              <a:rPr lang="en-IN" b="1" i="0" dirty="0">
                <a:solidFill>
                  <a:srgbClr val="273239"/>
                </a:solidFill>
                <a:effectLst/>
                <a:latin typeface="Nunito" pitchFamily="2" charset="0"/>
              </a:rPr>
              <a:t>Data abstraction: </a:t>
            </a:r>
            <a:r>
              <a:rPr lang="en-IN" b="0" i="0" dirty="0">
                <a:solidFill>
                  <a:srgbClr val="273239"/>
                </a:solidFill>
                <a:effectLst/>
                <a:latin typeface="Nunito" pitchFamily="2" charset="0"/>
              </a:rPr>
              <a:t>The major purpose of a </a:t>
            </a:r>
            <a:r>
              <a:rPr lang="en-IN" b="0" i="0" u="sng" dirty="0">
                <a:solidFill>
                  <a:srgbClr val="273239"/>
                </a:solidFill>
                <a:effectLst/>
                <a:latin typeface="Nunito" pitchFamily="2" charset="0"/>
                <a:hlinkClick r:id="rId2"/>
              </a:rPr>
              <a:t>database</a:t>
            </a:r>
            <a:r>
              <a:rPr lang="en-IN" b="0" i="0" dirty="0">
                <a:solidFill>
                  <a:srgbClr val="273239"/>
                </a:solidFill>
                <a:effectLst/>
                <a:latin typeface="Nunito" pitchFamily="2" charset="0"/>
              </a:rPr>
              <a:t> system is to provide users with an abstract view of the data. Since many complex algorithms are used by the developers to increase the efficiency of databases that are being hidden by the users through various data abstraction levels to allow users to easily interact with the system.</a:t>
            </a:r>
          </a:p>
          <a:p>
            <a:pPr algn="l" fontAlgn="base">
              <a:spcAft>
                <a:spcPts val="1800"/>
              </a:spcAft>
              <a:buFont typeface="+mj-lt"/>
              <a:buAutoNum type="arabicPeriod" startAt="3"/>
            </a:pPr>
            <a:endParaRPr lang="en-IN" b="0" i="0" dirty="0">
              <a:solidFill>
                <a:srgbClr val="273239"/>
              </a:solidFill>
              <a:effectLst/>
              <a:latin typeface="Nunito" pitchFamily="2" charset="0"/>
            </a:endParaRPr>
          </a:p>
          <a:p>
            <a:pPr algn="l" fontAlgn="base">
              <a:spcAft>
                <a:spcPts val="1800"/>
              </a:spcAft>
              <a:buFont typeface="+mj-lt"/>
              <a:buAutoNum type="arabicPeriod" startAt="4"/>
            </a:pPr>
            <a:r>
              <a:rPr lang="en-IN" b="1" i="0" dirty="0">
                <a:solidFill>
                  <a:srgbClr val="273239"/>
                </a:solidFill>
                <a:effectLst/>
                <a:latin typeface="Nunito" pitchFamily="2" charset="0"/>
              </a:rPr>
              <a:t>Reduction in data Redundancy: </a:t>
            </a:r>
            <a:r>
              <a:rPr lang="en-IN" b="0" i="0" dirty="0">
                <a:solidFill>
                  <a:srgbClr val="273239"/>
                </a:solidFill>
                <a:effectLst/>
                <a:latin typeface="Nunito" pitchFamily="2" charset="0"/>
              </a:rPr>
              <a:t>When working with a structured database, DBMS provides the feature to prevent the input of duplicate items in the database. for e.g. – If there are two same students in different rows, then one of the duplicate data will be deleted.</a:t>
            </a:r>
          </a:p>
          <a:p>
            <a:pPr marL="0" indent="0">
              <a:buNone/>
            </a:pPr>
            <a:endParaRPr lang="en-US" dirty="0">
              <a:solidFill>
                <a:srgbClr val="191B0E"/>
              </a:solidFill>
              <a:latin typeface="Franklin Gothic Book"/>
            </a:endParaRPr>
          </a:p>
        </p:txBody>
      </p:sp>
    </p:spTree>
    <p:extLst>
      <p:ext uri="{BB962C8B-B14F-4D97-AF65-F5344CB8AC3E}">
        <p14:creationId xmlns:p14="http://schemas.microsoft.com/office/powerpoint/2010/main" val="35795767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E842D-8A15-1A88-453D-1D5F70CA33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ECF0B-3EBC-E24B-153D-712B78F7CF27}"/>
              </a:ext>
            </a:extLst>
          </p:cNvPr>
          <p:cNvSpPr>
            <a:spLocks noGrp="1"/>
          </p:cNvSpPr>
          <p:nvPr>
            <p:ph type="title"/>
          </p:nvPr>
        </p:nvSpPr>
        <p:spPr>
          <a:xfrm>
            <a:off x="1371600" y="347579"/>
            <a:ext cx="9601200" cy="990600"/>
          </a:xfrm>
        </p:spPr>
        <p:txBody>
          <a:bodyPr>
            <a:normAutofit fontScale="90000"/>
          </a:bodyPr>
          <a:lstStyle/>
          <a:p>
            <a:pPr algn="l" fontAlgn="base"/>
            <a:r>
              <a:rPr lang="en-IN" b="1" i="0" dirty="0">
                <a:solidFill>
                  <a:srgbClr val="273239"/>
                </a:solidFill>
                <a:effectLst/>
                <a:latin typeface="Nunito" pitchFamily="2" charset="0"/>
              </a:rPr>
              <a:t>Advantages of Database Management System</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1E1C576A-530D-732F-9182-D083FCA7B457}"/>
              </a:ext>
            </a:extLst>
          </p:cNvPr>
          <p:cNvSpPr>
            <a:spLocks noGrp="1"/>
          </p:cNvSpPr>
          <p:nvPr>
            <p:ph idx="1"/>
          </p:nvPr>
        </p:nvSpPr>
        <p:spPr>
          <a:xfrm>
            <a:off x="1412358" y="2039928"/>
            <a:ext cx="9367284" cy="4307709"/>
          </a:xfrm>
        </p:spPr>
        <p:txBody>
          <a:bodyPr vert="horz" lIns="91440" tIns="45720" rIns="91440" bIns="45720" rtlCol="0" anchor="t">
            <a:normAutofit lnSpcReduction="10000"/>
          </a:bodyPr>
          <a:lstStyle/>
          <a:p>
            <a:pPr algn="l" fontAlgn="base">
              <a:spcAft>
                <a:spcPts val="1800"/>
              </a:spcAft>
              <a:buFont typeface="+mj-lt"/>
              <a:buAutoNum type="arabicPeriod" startAt="5"/>
            </a:pPr>
            <a:r>
              <a:rPr lang="en-IN" b="1" i="0" dirty="0">
                <a:solidFill>
                  <a:srgbClr val="273239"/>
                </a:solidFill>
                <a:effectLst/>
                <a:latin typeface="Nunito" pitchFamily="2" charset="0"/>
              </a:rPr>
              <a:t>Data sharing: </a:t>
            </a:r>
            <a:r>
              <a:rPr lang="en-IN" b="0" i="0" dirty="0">
                <a:solidFill>
                  <a:srgbClr val="273239"/>
                </a:solidFill>
                <a:effectLst/>
                <a:latin typeface="Nunito" pitchFamily="2" charset="0"/>
              </a:rPr>
              <a:t>A DBMS provides a platform for sharing data across multiple applications and users, which can increase productivity and collaboration.</a:t>
            </a:r>
          </a:p>
          <a:p>
            <a:pPr algn="l" fontAlgn="base">
              <a:spcAft>
                <a:spcPts val="1800"/>
              </a:spcAft>
              <a:buFont typeface="+mj-lt"/>
              <a:buAutoNum type="arabicPeriod" startAt="6"/>
            </a:pPr>
            <a:r>
              <a:rPr lang="en-IN" b="1" i="0" dirty="0">
                <a:solidFill>
                  <a:srgbClr val="273239"/>
                </a:solidFill>
                <a:effectLst/>
                <a:latin typeface="Nunito" pitchFamily="2" charset="0"/>
              </a:rPr>
              <a:t>Data consistency and accuracy: </a:t>
            </a:r>
            <a:r>
              <a:rPr lang="en-IN" b="0" i="0" dirty="0">
                <a:solidFill>
                  <a:srgbClr val="273239"/>
                </a:solidFill>
                <a:effectLst/>
                <a:latin typeface="Nunito" pitchFamily="2" charset="0"/>
              </a:rPr>
              <a:t>DBMS ensures that data is consistent and accurate by enforcing data integrity constraints and preventing data duplication. This helps to eliminate data discrepancies and errors that can occur when data is stored and managed manually.</a:t>
            </a:r>
          </a:p>
          <a:p>
            <a:pPr algn="l" fontAlgn="base">
              <a:spcAft>
                <a:spcPts val="1800"/>
              </a:spcAft>
              <a:buFont typeface="+mj-lt"/>
              <a:buAutoNum type="arabicPeriod" startAt="7"/>
            </a:pPr>
            <a:r>
              <a:rPr lang="en-IN" b="1" i="0" dirty="0">
                <a:solidFill>
                  <a:srgbClr val="273239"/>
                </a:solidFill>
                <a:effectLst/>
                <a:latin typeface="Nunito" pitchFamily="2" charset="0"/>
              </a:rPr>
              <a:t>Data organization: </a:t>
            </a:r>
            <a:r>
              <a:rPr lang="en-IN" b="0" i="0" dirty="0">
                <a:solidFill>
                  <a:srgbClr val="273239"/>
                </a:solidFill>
                <a:effectLst/>
                <a:latin typeface="Nunito" pitchFamily="2" charset="0"/>
              </a:rPr>
              <a:t>A DBMS provides a systematic approach to organizing data in a structured way, which makes it easier to retrieve and manage data efficiently.</a:t>
            </a:r>
          </a:p>
          <a:p>
            <a:pPr marL="0" indent="0">
              <a:buNone/>
            </a:pPr>
            <a:r>
              <a:rPr lang="en-IN" dirty="0"/>
              <a:t/>
            </a:r>
            <a:br>
              <a:rPr lang="en-IN" dirty="0"/>
            </a:br>
            <a:endParaRPr lang="en-US" dirty="0">
              <a:solidFill>
                <a:srgbClr val="191B0E"/>
              </a:solidFill>
              <a:latin typeface="Franklin Gothic Book"/>
            </a:endParaRPr>
          </a:p>
        </p:txBody>
      </p:sp>
    </p:spTree>
    <p:extLst>
      <p:ext uri="{BB962C8B-B14F-4D97-AF65-F5344CB8AC3E}">
        <p14:creationId xmlns:p14="http://schemas.microsoft.com/office/powerpoint/2010/main" val="135966822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3713-B411-97E8-48C5-683107435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84A1E-2231-5C2A-C295-37840DBB2A0E}"/>
              </a:ext>
            </a:extLst>
          </p:cNvPr>
          <p:cNvSpPr>
            <a:spLocks noGrp="1"/>
          </p:cNvSpPr>
          <p:nvPr>
            <p:ph type="title"/>
          </p:nvPr>
        </p:nvSpPr>
        <p:spPr>
          <a:xfrm>
            <a:off x="1371600" y="347579"/>
            <a:ext cx="9601200" cy="990600"/>
          </a:xfrm>
        </p:spPr>
        <p:txBody>
          <a:bodyPr>
            <a:normAutofit fontScale="90000"/>
          </a:bodyPr>
          <a:lstStyle/>
          <a:p>
            <a:pPr algn="l" fontAlgn="base"/>
            <a:r>
              <a:rPr lang="en-IN" b="1" i="0" dirty="0">
                <a:solidFill>
                  <a:srgbClr val="273239"/>
                </a:solidFill>
                <a:effectLst/>
                <a:latin typeface="Nunito" pitchFamily="2" charset="0"/>
              </a:rPr>
              <a:t>Advantages of Database Management System</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490780C3-85A9-602B-0996-A74E4A8142E4}"/>
              </a:ext>
            </a:extLst>
          </p:cNvPr>
          <p:cNvSpPr>
            <a:spLocks noGrp="1"/>
          </p:cNvSpPr>
          <p:nvPr>
            <p:ph idx="1"/>
          </p:nvPr>
        </p:nvSpPr>
        <p:spPr>
          <a:xfrm>
            <a:off x="1412358" y="1722474"/>
            <a:ext cx="9367284" cy="4625163"/>
          </a:xfrm>
        </p:spPr>
        <p:txBody>
          <a:bodyPr vert="horz" lIns="91440" tIns="45720" rIns="91440" bIns="45720" rtlCol="0" anchor="t">
            <a:normAutofit lnSpcReduction="10000"/>
          </a:bodyPr>
          <a:lstStyle/>
          <a:p>
            <a:pPr algn="l" fontAlgn="base">
              <a:spcAft>
                <a:spcPts val="1800"/>
              </a:spcAft>
              <a:buFont typeface="+mj-lt"/>
              <a:buAutoNum type="arabicPeriod" startAt="8"/>
            </a:pPr>
            <a:r>
              <a:rPr lang="en-IN" b="1" i="0" dirty="0">
                <a:solidFill>
                  <a:srgbClr val="273239"/>
                </a:solidFill>
                <a:effectLst/>
                <a:latin typeface="Nunito" pitchFamily="2" charset="0"/>
              </a:rPr>
              <a:t>Efficient data access and retrieval: </a:t>
            </a:r>
            <a:r>
              <a:rPr lang="en-IN" b="0" i="0" dirty="0">
                <a:solidFill>
                  <a:srgbClr val="273239"/>
                </a:solidFill>
                <a:effectLst/>
                <a:latin typeface="Nunito" pitchFamily="2" charset="0"/>
              </a:rPr>
              <a:t>DBMS allows for efficient data access and retrieval by providing indexing and query optimization techniques that speed up data retrieval. This reduces the time required to process large volumes of data and increases the overall performance of the system.</a:t>
            </a:r>
          </a:p>
          <a:p>
            <a:pPr algn="l" fontAlgn="base">
              <a:spcAft>
                <a:spcPts val="1800"/>
              </a:spcAft>
              <a:buFont typeface="+mj-lt"/>
              <a:buAutoNum type="arabicPeriod" startAt="9"/>
            </a:pPr>
            <a:r>
              <a:rPr lang="en-IN" b="1" i="0" dirty="0">
                <a:solidFill>
                  <a:srgbClr val="273239"/>
                </a:solidFill>
                <a:effectLst/>
                <a:latin typeface="Nunito" pitchFamily="2" charset="0"/>
              </a:rPr>
              <a:t>Concurrency and maintained Atomicity </a:t>
            </a:r>
            <a:r>
              <a:rPr lang="en-IN" b="0" i="0" dirty="0">
                <a:solidFill>
                  <a:srgbClr val="273239"/>
                </a:solidFill>
                <a:effectLst/>
                <a:latin typeface="Nunito" pitchFamily="2" charset="0"/>
              </a:rPr>
              <a:t>: That means, if some operation is performed on one particular table of the database, then the change must be reflected  for the entire database. The DBMS allows concurrent access to multiple users by using the synchronization technique.</a:t>
            </a:r>
          </a:p>
          <a:p>
            <a:pPr algn="l" fontAlgn="base">
              <a:spcAft>
                <a:spcPts val="1800"/>
              </a:spcAft>
              <a:buFont typeface="+mj-lt"/>
              <a:buAutoNum type="arabicPeriod" startAt="10"/>
            </a:pPr>
            <a:r>
              <a:rPr lang="en-IN" b="1" i="0" dirty="0">
                <a:solidFill>
                  <a:srgbClr val="273239"/>
                </a:solidFill>
                <a:effectLst/>
                <a:latin typeface="Nunito" pitchFamily="2" charset="0"/>
              </a:rPr>
              <a:t>Scalability and flexibility: </a:t>
            </a:r>
            <a:r>
              <a:rPr lang="en-IN" b="0" i="0" dirty="0">
                <a:solidFill>
                  <a:srgbClr val="273239"/>
                </a:solidFill>
                <a:effectLst/>
                <a:latin typeface="Nunito" pitchFamily="2" charset="0"/>
              </a:rPr>
              <a:t>DBMS is highly scalable and can easily accommodate changes in data volumes and user requirements. DBMS can easily handle large volumes of data, and can scale up or down depending on the needs of the organization. It provides flexibility in data storage, retrieval, and manipulation, allowing users to easily modify the structure and content of the database as needed.</a:t>
            </a:r>
            <a:endParaRPr lang="en-US" dirty="0">
              <a:solidFill>
                <a:srgbClr val="191B0E"/>
              </a:solidFill>
              <a:latin typeface="Franklin Gothic Book"/>
            </a:endParaRPr>
          </a:p>
        </p:txBody>
      </p:sp>
    </p:spTree>
    <p:extLst>
      <p:ext uri="{BB962C8B-B14F-4D97-AF65-F5344CB8AC3E}">
        <p14:creationId xmlns:p14="http://schemas.microsoft.com/office/powerpoint/2010/main" val="254189535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8BF70-2A20-92E3-9C4B-6EDB6DD094ED}"/>
              </a:ext>
            </a:extLst>
          </p:cNvPr>
          <p:cNvSpPr>
            <a:spLocks noGrp="1"/>
          </p:cNvSpPr>
          <p:nvPr>
            <p:ph type="title"/>
          </p:nvPr>
        </p:nvSpPr>
        <p:spPr>
          <a:xfrm>
            <a:off x="1291389" y="247316"/>
            <a:ext cx="9601200" cy="990600"/>
          </a:xfrm>
        </p:spPr>
        <p:txBody>
          <a:bodyPr/>
          <a:lstStyle/>
          <a:p>
            <a:r>
              <a:rPr lang="en-IN" dirty="0"/>
              <a:t>Basics - DBMS vs R-DBMS</a:t>
            </a:r>
          </a:p>
        </p:txBody>
      </p:sp>
      <p:graphicFrame>
        <p:nvGraphicFramePr>
          <p:cNvPr id="7" name="Content Placeholder 6">
            <a:extLst>
              <a:ext uri="{FF2B5EF4-FFF2-40B4-BE49-F238E27FC236}">
                <a16:creationId xmlns:a16="http://schemas.microsoft.com/office/drawing/2014/main" id="{F4C51FA8-4DC8-3F54-722B-96421E5E1632}"/>
              </a:ext>
            </a:extLst>
          </p:cNvPr>
          <p:cNvGraphicFramePr>
            <a:graphicFrameLocks noGrp="1"/>
          </p:cNvGraphicFramePr>
          <p:nvPr>
            <p:ph idx="1"/>
          </p:nvPr>
        </p:nvGraphicFramePr>
        <p:xfrm>
          <a:off x="1371600" y="2286000"/>
          <a:ext cx="9601200" cy="4297680"/>
        </p:xfrm>
        <a:graphic>
          <a:graphicData uri="http://schemas.openxmlformats.org/drawingml/2006/table">
            <a:tbl>
              <a:tblPr bandRow="1">
                <a:tableStyleId>{5C22544A-7EE6-4342-B048-85BDC9FD1C3A}</a:tableStyleId>
              </a:tblPr>
              <a:tblGrid>
                <a:gridCol w="3200400">
                  <a:extLst>
                    <a:ext uri="{9D8B030D-6E8A-4147-A177-3AD203B41FA5}">
                      <a16:colId xmlns:a16="http://schemas.microsoft.com/office/drawing/2014/main" val="3822046524"/>
                    </a:ext>
                  </a:extLst>
                </a:gridCol>
                <a:gridCol w="3200400">
                  <a:extLst>
                    <a:ext uri="{9D8B030D-6E8A-4147-A177-3AD203B41FA5}">
                      <a16:colId xmlns:a16="http://schemas.microsoft.com/office/drawing/2014/main" val="4136047973"/>
                    </a:ext>
                  </a:extLst>
                </a:gridCol>
                <a:gridCol w="3200400">
                  <a:extLst>
                    <a:ext uri="{9D8B030D-6E8A-4147-A177-3AD203B41FA5}">
                      <a16:colId xmlns:a16="http://schemas.microsoft.com/office/drawing/2014/main" val="10063531"/>
                    </a:ext>
                  </a:extLst>
                </a:gridCol>
              </a:tblGrid>
              <a:tr h="0">
                <a:tc>
                  <a:txBody>
                    <a:bodyPr/>
                    <a:lstStyle/>
                    <a:p>
                      <a:r>
                        <a:rPr lang="en-US" b="1"/>
                        <a:t>Aspect</a:t>
                      </a:r>
                      <a:endParaRPr lang="en-US"/>
                    </a:p>
                  </a:txBody>
                  <a:tcPr anchor="ctr">
                    <a:lnL>
                      <a:noFill/>
                    </a:lnL>
                    <a:lnR>
                      <a:noFill/>
                    </a:lnR>
                    <a:lnT>
                      <a:noFill/>
                    </a:lnT>
                    <a:lnB>
                      <a:noFill/>
                    </a:lnB>
                    <a:noFill/>
                  </a:tcPr>
                </a:tc>
                <a:tc>
                  <a:txBody>
                    <a:bodyPr/>
                    <a:lstStyle/>
                    <a:p>
                      <a:r>
                        <a:rPr lang="en-US" b="1"/>
                        <a:t>DBMS</a:t>
                      </a:r>
                      <a:endParaRPr lang="en-US"/>
                    </a:p>
                  </a:txBody>
                  <a:tcPr anchor="ctr">
                    <a:lnL>
                      <a:noFill/>
                    </a:lnL>
                    <a:lnR>
                      <a:noFill/>
                    </a:lnR>
                    <a:lnT>
                      <a:noFill/>
                    </a:lnT>
                    <a:lnB>
                      <a:noFill/>
                    </a:lnB>
                    <a:noFill/>
                  </a:tcPr>
                </a:tc>
                <a:tc>
                  <a:txBody>
                    <a:bodyPr/>
                    <a:lstStyle/>
                    <a:p>
                      <a:r>
                        <a:rPr lang="en-US" b="1"/>
                        <a:t>RDBMS</a:t>
                      </a:r>
                      <a:endParaRPr lang="en-US"/>
                    </a:p>
                  </a:txBody>
                  <a:tcPr anchor="ctr">
                    <a:lnL>
                      <a:noFill/>
                    </a:lnL>
                    <a:lnR>
                      <a:noFill/>
                    </a:lnR>
                    <a:lnT>
                      <a:noFill/>
                    </a:lnT>
                    <a:lnB>
                      <a:noFill/>
                    </a:lnB>
                    <a:noFill/>
                  </a:tcPr>
                </a:tc>
                <a:extLst>
                  <a:ext uri="{0D108BD9-81ED-4DB2-BD59-A6C34878D82A}">
                    <a16:rowId xmlns:a16="http://schemas.microsoft.com/office/drawing/2014/main" val="2107280452"/>
                  </a:ext>
                </a:extLst>
              </a:tr>
              <a:tr h="0">
                <a:tc>
                  <a:txBody>
                    <a:bodyPr/>
                    <a:lstStyle/>
                    <a:p>
                      <a:r>
                        <a:rPr lang="en-US" b="1"/>
                        <a:t>Purpose</a:t>
                      </a:r>
                      <a:endParaRPr lang="en-US"/>
                    </a:p>
                  </a:txBody>
                  <a:tcPr anchor="ctr">
                    <a:lnL>
                      <a:noFill/>
                    </a:lnL>
                    <a:lnR>
                      <a:noFill/>
                    </a:lnR>
                    <a:lnT>
                      <a:noFill/>
                    </a:lnT>
                    <a:lnB>
                      <a:noFill/>
                    </a:lnB>
                    <a:noFill/>
                  </a:tcPr>
                </a:tc>
                <a:tc>
                  <a:txBody>
                    <a:bodyPr/>
                    <a:lstStyle/>
                    <a:p>
                      <a:r>
                        <a:rPr lang="en-US" dirty="0"/>
                        <a:t>Create, manage, and retrieve data</a:t>
                      </a:r>
                    </a:p>
                  </a:txBody>
                  <a:tcPr anchor="ctr">
                    <a:lnL>
                      <a:noFill/>
                    </a:lnL>
                    <a:lnR>
                      <a:noFill/>
                    </a:lnR>
                    <a:lnT>
                      <a:noFill/>
                    </a:lnT>
                    <a:lnB>
                      <a:noFill/>
                    </a:lnB>
                    <a:noFill/>
                  </a:tcPr>
                </a:tc>
                <a:tc>
                  <a:txBody>
                    <a:bodyPr/>
                    <a:lstStyle/>
                    <a:p>
                      <a:r>
                        <a:rPr lang="en-US" dirty="0"/>
                        <a:t>Advanced DBMS managing relational data</a:t>
                      </a:r>
                    </a:p>
                  </a:txBody>
                  <a:tcPr anchor="ctr">
                    <a:lnL>
                      <a:noFill/>
                    </a:lnL>
                    <a:lnR>
                      <a:noFill/>
                    </a:lnR>
                    <a:lnT>
                      <a:noFill/>
                    </a:lnT>
                    <a:lnB>
                      <a:noFill/>
                    </a:lnB>
                    <a:noFill/>
                  </a:tcPr>
                </a:tc>
                <a:extLst>
                  <a:ext uri="{0D108BD9-81ED-4DB2-BD59-A6C34878D82A}">
                    <a16:rowId xmlns:a16="http://schemas.microsoft.com/office/drawing/2014/main" val="1769200537"/>
                  </a:ext>
                </a:extLst>
              </a:tr>
              <a:tr h="0">
                <a:tc>
                  <a:txBody>
                    <a:bodyPr/>
                    <a:lstStyle/>
                    <a:p>
                      <a:r>
                        <a:rPr lang="en-US" b="1"/>
                        <a:t>Data Storage</a:t>
                      </a:r>
                      <a:endParaRPr lang="en-US"/>
                    </a:p>
                  </a:txBody>
                  <a:tcPr anchor="ctr">
                    <a:lnL>
                      <a:noFill/>
                    </a:lnL>
                    <a:lnR>
                      <a:noFill/>
                    </a:lnR>
                    <a:lnT>
                      <a:noFill/>
                    </a:lnT>
                    <a:lnB>
                      <a:noFill/>
                    </a:lnB>
                    <a:noFill/>
                  </a:tcPr>
                </a:tc>
                <a:tc>
                  <a:txBody>
                    <a:bodyPr/>
                    <a:lstStyle/>
                    <a:p>
                      <a:r>
                        <a:rPr lang="en-US" dirty="0"/>
                        <a:t>Hierarchical or navigational form</a:t>
                      </a:r>
                    </a:p>
                  </a:txBody>
                  <a:tcPr anchor="ctr">
                    <a:lnL>
                      <a:noFill/>
                    </a:lnL>
                    <a:lnR>
                      <a:noFill/>
                    </a:lnR>
                    <a:lnT>
                      <a:noFill/>
                    </a:lnT>
                    <a:lnB>
                      <a:noFill/>
                    </a:lnB>
                    <a:noFill/>
                  </a:tcPr>
                </a:tc>
                <a:tc>
                  <a:txBody>
                    <a:bodyPr/>
                    <a:lstStyle/>
                    <a:p>
                      <a:r>
                        <a:rPr lang="en-US" dirty="0"/>
                        <a:t>Tables (Schemas) and rows (Tuples)</a:t>
                      </a:r>
                    </a:p>
                  </a:txBody>
                  <a:tcPr anchor="ctr">
                    <a:lnL>
                      <a:noFill/>
                    </a:lnL>
                    <a:lnR>
                      <a:noFill/>
                    </a:lnR>
                    <a:lnT>
                      <a:noFill/>
                    </a:lnT>
                    <a:lnB>
                      <a:noFill/>
                    </a:lnB>
                    <a:noFill/>
                  </a:tcPr>
                </a:tc>
                <a:extLst>
                  <a:ext uri="{0D108BD9-81ED-4DB2-BD59-A6C34878D82A}">
                    <a16:rowId xmlns:a16="http://schemas.microsoft.com/office/drawing/2014/main" val="3487390026"/>
                  </a:ext>
                </a:extLst>
              </a:tr>
              <a:tr h="0">
                <a:tc>
                  <a:txBody>
                    <a:bodyPr/>
                    <a:lstStyle/>
                    <a:p>
                      <a:r>
                        <a:rPr lang="en-US" b="1"/>
                        <a:t>User Support</a:t>
                      </a:r>
                      <a:endParaRPr lang="en-US"/>
                    </a:p>
                  </a:txBody>
                  <a:tcPr anchor="ctr">
                    <a:lnL>
                      <a:noFill/>
                    </a:lnL>
                    <a:lnR>
                      <a:noFill/>
                    </a:lnR>
                    <a:lnT>
                      <a:noFill/>
                    </a:lnT>
                    <a:lnB>
                      <a:noFill/>
                    </a:lnB>
                    <a:noFill/>
                  </a:tcPr>
                </a:tc>
                <a:tc>
                  <a:txBody>
                    <a:bodyPr/>
                    <a:lstStyle/>
                    <a:p>
                      <a:r>
                        <a:rPr lang="en-US"/>
                        <a:t>Single-user interaction</a:t>
                      </a:r>
                    </a:p>
                  </a:txBody>
                  <a:tcPr anchor="ctr">
                    <a:lnL>
                      <a:noFill/>
                    </a:lnL>
                    <a:lnR>
                      <a:noFill/>
                    </a:lnR>
                    <a:lnT>
                      <a:noFill/>
                    </a:lnT>
                    <a:lnB>
                      <a:noFill/>
                    </a:lnB>
                    <a:noFill/>
                  </a:tcPr>
                </a:tc>
                <a:tc>
                  <a:txBody>
                    <a:bodyPr/>
                    <a:lstStyle/>
                    <a:p>
                      <a:r>
                        <a:rPr lang="en-US" dirty="0"/>
                        <a:t>Multiple users, supports complex queries</a:t>
                      </a:r>
                    </a:p>
                  </a:txBody>
                  <a:tcPr anchor="ctr">
                    <a:lnL>
                      <a:noFill/>
                    </a:lnL>
                    <a:lnR>
                      <a:noFill/>
                    </a:lnR>
                    <a:lnT>
                      <a:noFill/>
                    </a:lnT>
                    <a:lnB>
                      <a:noFill/>
                    </a:lnB>
                    <a:noFill/>
                  </a:tcPr>
                </a:tc>
                <a:extLst>
                  <a:ext uri="{0D108BD9-81ED-4DB2-BD59-A6C34878D82A}">
                    <a16:rowId xmlns:a16="http://schemas.microsoft.com/office/drawing/2014/main" val="3233384461"/>
                  </a:ext>
                </a:extLst>
              </a:tr>
              <a:tr h="0">
                <a:tc>
                  <a:txBody>
                    <a:bodyPr/>
                    <a:lstStyle/>
                    <a:p>
                      <a:r>
                        <a:rPr lang="en-US" b="1"/>
                        <a:t>Normalization</a:t>
                      </a:r>
                      <a:endParaRPr lang="en-US"/>
                    </a:p>
                  </a:txBody>
                  <a:tcPr anchor="ctr">
                    <a:lnL>
                      <a:noFill/>
                    </a:lnL>
                    <a:lnR>
                      <a:noFill/>
                    </a:lnR>
                    <a:lnT>
                      <a:noFill/>
                    </a:lnT>
                    <a:lnB>
                      <a:noFill/>
                    </a:lnB>
                    <a:noFill/>
                  </a:tcPr>
                </a:tc>
                <a:tc>
                  <a:txBody>
                    <a:bodyPr/>
                    <a:lstStyle/>
                    <a:p>
                      <a:r>
                        <a:rPr lang="en-US"/>
                        <a:t>Does not support normalization</a:t>
                      </a:r>
                    </a:p>
                  </a:txBody>
                  <a:tcPr anchor="ctr">
                    <a:lnL>
                      <a:noFill/>
                    </a:lnL>
                    <a:lnR>
                      <a:noFill/>
                    </a:lnR>
                    <a:lnT>
                      <a:noFill/>
                    </a:lnT>
                    <a:lnB>
                      <a:noFill/>
                    </a:lnB>
                    <a:noFill/>
                  </a:tcPr>
                </a:tc>
                <a:tc>
                  <a:txBody>
                    <a:bodyPr/>
                    <a:lstStyle/>
                    <a:p>
                      <a:r>
                        <a:rPr lang="en-US" dirty="0"/>
                        <a:t>Supports normalization and data integrity</a:t>
                      </a:r>
                    </a:p>
                  </a:txBody>
                  <a:tcPr anchor="ctr">
                    <a:lnL>
                      <a:noFill/>
                    </a:lnL>
                    <a:lnR>
                      <a:noFill/>
                    </a:lnR>
                    <a:lnT>
                      <a:noFill/>
                    </a:lnT>
                    <a:lnB>
                      <a:noFill/>
                    </a:lnB>
                    <a:noFill/>
                  </a:tcPr>
                </a:tc>
                <a:extLst>
                  <a:ext uri="{0D108BD9-81ED-4DB2-BD59-A6C34878D82A}">
                    <a16:rowId xmlns:a16="http://schemas.microsoft.com/office/drawing/2014/main" val="3143979359"/>
                  </a:ext>
                </a:extLst>
              </a:tr>
              <a:tr h="0">
                <a:tc>
                  <a:txBody>
                    <a:bodyPr/>
                    <a:lstStyle/>
                    <a:p>
                      <a:r>
                        <a:rPr lang="en-US" b="1"/>
                        <a:t>Data Redundancy</a:t>
                      </a:r>
                      <a:endParaRPr lang="en-US"/>
                    </a:p>
                  </a:txBody>
                  <a:tcPr anchor="ctr">
                    <a:lnL>
                      <a:noFill/>
                    </a:lnL>
                    <a:lnR>
                      <a:noFill/>
                    </a:lnR>
                    <a:lnT>
                      <a:noFill/>
                    </a:lnT>
                    <a:lnB>
                      <a:noFill/>
                    </a:lnB>
                    <a:noFill/>
                  </a:tcPr>
                </a:tc>
                <a:tc>
                  <a:txBody>
                    <a:bodyPr/>
                    <a:lstStyle/>
                    <a:p>
                      <a:r>
                        <a:rPr lang="en-US" dirty="0"/>
                        <a:t>Can have data redundancy</a:t>
                      </a:r>
                    </a:p>
                  </a:txBody>
                  <a:tcPr anchor="ctr">
                    <a:lnL>
                      <a:noFill/>
                    </a:lnL>
                    <a:lnR>
                      <a:noFill/>
                    </a:lnR>
                    <a:lnT>
                      <a:noFill/>
                    </a:lnT>
                    <a:lnB>
                      <a:noFill/>
                    </a:lnB>
                    <a:noFill/>
                  </a:tcPr>
                </a:tc>
                <a:tc>
                  <a:txBody>
                    <a:bodyPr/>
                    <a:lstStyle/>
                    <a:p>
                      <a:r>
                        <a:rPr lang="en-US" dirty="0"/>
                        <a:t>Reduces data redundancy</a:t>
                      </a:r>
                    </a:p>
                  </a:txBody>
                  <a:tcPr anchor="ctr">
                    <a:lnL>
                      <a:noFill/>
                    </a:lnL>
                    <a:lnR>
                      <a:noFill/>
                    </a:lnR>
                    <a:lnT>
                      <a:noFill/>
                    </a:lnT>
                    <a:lnB>
                      <a:noFill/>
                    </a:lnB>
                    <a:noFill/>
                  </a:tcPr>
                </a:tc>
                <a:extLst>
                  <a:ext uri="{0D108BD9-81ED-4DB2-BD59-A6C34878D82A}">
                    <a16:rowId xmlns:a16="http://schemas.microsoft.com/office/drawing/2014/main" val="3738454081"/>
                  </a:ext>
                </a:extLst>
              </a:tr>
              <a:tr h="0">
                <a:tc>
                  <a:txBody>
                    <a:bodyPr/>
                    <a:lstStyle/>
                    <a:p>
                      <a:r>
                        <a:rPr lang="en-US" b="1"/>
                        <a:t>Data Handling</a:t>
                      </a:r>
                      <a:endParaRPr lang="en-US"/>
                    </a:p>
                  </a:txBody>
                  <a:tcPr anchor="ctr">
                    <a:lnL>
                      <a:noFill/>
                    </a:lnL>
                    <a:lnR>
                      <a:noFill/>
                    </a:lnR>
                    <a:lnT>
                      <a:noFill/>
                    </a:lnT>
                    <a:lnB>
                      <a:noFill/>
                    </a:lnB>
                    <a:noFill/>
                  </a:tcPr>
                </a:tc>
                <a:tc>
                  <a:txBody>
                    <a:bodyPr/>
                    <a:lstStyle/>
                    <a:p>
                      <a:r>
                        <a:rPr lang="en-US" dirty="0"/>
                        <a:t>Limited in handling large datasets</a:t>
                      </a:r>
                    </a:p>
                  </a:txBody>
                  <a:tcPr anchor="ctr">
                    <a:lnL>
                      <a:noFill/>
                    </a:lnL>
                    <a:lnR>
                      <a:noFill/>
                    </a:lnR>
                    <a:lnT>
                      <a:noFill/>
                    </a:lnT>
                    <a:lnB>
                      <a:noFill/>
                    </a:lnB>
                    <a:noFill/>
                  </a:tcPr>
                </a:tc>
                <a:tc>
                  <a:txBody>
                    <a:bodyPr/>
                    <a:lstStyle/>
                    <a:p>
                      <a:r>
                        <a:rPr lang="en-US" dirty="0"/>
                        <a:t>Efficient handling of large datasets</a:t>
                      </a:r>
                    </a:p>
                  </a:txBody>
                  <a:tcPr anchor="ctr">
                    <a:lnL>
                      <a:noFill/>
                    </a:lnL>
                    <a:lnR>
                      <a:noFill/>
                    </a:lnR>
                    <a:lnT>
                      <a:noFill/>
                    </a:lnT>
                    <a:lnB>
                      <a:noFill/>
                    </a:lnB>
                    <a:noFill/>
                  </a:tcPr>
                </a:tc>
                <a:extLst>
                  <a:ext uri="{0D108BD9-81ED-4DB2-BD59-A6C34878D82A}">
                    <a16:rowId xmlns:a16="http://schemas.microsoft.com/office/drawing/2014/main" val="3415936132"/>
                  </a:ext>
                </a:extLst>
              </a:tr>
              <a:tr h="0">
                <a:tc>
                  <a:txBody>
                    <a:bodyPr/>
                    <a:lstStyle/>
                    <a:p>
                      <a:r>
                        <a:rPr lang="en-US" b="1"/>
                        <a:t>Example</a:t>
                      </a:r>
                      <a:endParaRPr lang="en-US"/>
                    </a:p>
                  </a:txBody>
                  <a:tcPr anchor="ctr">
                    <a:lnL>
                      <a:noFill/>
                    </a:lnL>
                    <a:lnR>
                      <a:noFill/>
                    </a:lnR>
                    <a:lnT>
                      <a:noFill/>
                    </a:lnT>
                    <a:lnB>
                      <a:noFill/>
                    </a:lnB>
                    <a:noFill/>
                  </a:tcPr>
                </a:tc>
                <a:tc>
                  <a:txBody>
                    <a:bodyPr/>
                    <a:lstStyle/>
                    <a:p>
                      <a:r>
                        <a:rPr lang="en-US"/>
                        <a:t>Simple DBMS systems</a:t>
                      </a:r>
                    </a:p>
                  </a:txBody>
                  <a:tcPr anchor="ctr">
                    <a:lnL>
                      <a:noFill/>
                    </a:lnL>
                    <a:lnR>
                      <a:noFill/>
                    </a:lnR>
                    <a:lnT>
                      <a:noFill/>
                    </a:lnT>
                    <a:lnB>
                      <a:noFill/>
                    </a:lnB>
                    <a:noFill/>
                  </a:tcPr>
                </a:tc>
                <a:tc>
                  <a:txBody>
                    <a:bodyPr/>
                    <a:lstStyle/>
                    <a:p>
                      <a:r>
                        <a:rPr lang="en-US"/>
                        <a:t>MySQL, PostgreSQL</a:t>
                      </a:r>
                    </a:p>
                  </a:txBody>
                  <a:tcPr anchor="ctr">
                    <a:lnL>
                      <a:noFill/>
                    </a:lnL>
                    <a:lnR>
                      <a:noFill/>
                    </a:lnR>
                    <a:lnT>
                      <a:noFill/>
                    </a:lnT>
                    <a:lnB>
                      <a:noFill/>
                    </a:lnB>
                    <a:noFill/>
                  </a:tcPr>
                </a:tc>
                <a:extLst>
                  <a:ext uri="{0D108BD9-81ED-4DB2-BD59-A6C34878D82A}">
                    <a16:rowId xmlns:a16="http://schemas.microsoft.com/office/drawing/2014/main" val="956797653"/>
                  </a:ext>
                </a:extLst>
              </a:tr>
            </a:tbl>
          </a:graphicData>
        </a:graphic>
      </p:graphicFrame>
    </p:spTree>
    <p:extLst>
      <p:ext uri="{BB962C8B-B14F-4D97-AF65-F5344CB8AC3E}">
        <p14:creationId xmlns:p14="http://schemas.microsoft.com/office/powerpoint/2010/main" val="309420314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85D17-AAF8-B45E-8CE1-70C063B48967}"/>
              </a:ext>
            </a:extLst>
          </p:cNvPr>
          <p:cNvSpPr>
            <a:spLocks noGrp="1"/>
          </p:cNvSpPr>
          <p:nvPr>
            <p:ph type="title"/>
          </p:nvPr>
        </p:nvSpPr>
        <p:spPr/>
        <p:txBody>
          <a:bodyPr/>
          <a:lstStyle/>
          <a:p>
            <a:r>
              <a:rPr lang="en-IN" dirty="0"/>
              <a:t>Database and their Components</a:t>
            </a:r>
          </a:p>
        </p:txBody>
      </p:sp>
      <p:sp>
        <p:nvSpPr>
          <p:cNvPr id="3" name="Content Placeholder 2">
            <a:extLst>
              <a:ext uri="{FF2B5EF4-FFF2-40B4-BE49-F238E27FC236}">
                <a16:creationId xmlns:a16="http://schemas.microsoft.com/office/drawing/2014/main" id="{27F01DBB-4620-58CD-9F85-894D35FCCF72}"/>
              </a:ext>
            </a:extLst>
          </p:cNvPr>
          <p:cNvSpPr>
            <a:spLocks noGrp="1"/>
          </p:cNvSpPr>
          <p:nvPr>
            <p:ph idx="1"/>
          </p:nvPr>
        </p:nvSpPr>
        <p:spPr>
          <a:xfrm>
            <a:off x="1371600" y="1573822"/>
            <a:ext cx="9601200" cy="4783015"/>
          </a:xfrm>
        </p:spPr>
        <p:txBody>
          <a:bodyPr>
            <a:normAutofit fontScale="92500" lnSpcReduction="10000"/>
          </a:bodyPr>
          <a:lstStyle/>
          <a:p>
            <a:pPr marL="0" marR="0" lvl="0" indent="0" algn="l" rtl="0">
              <a:spcBef>
                <a:spcPts val="0"/>
              </a:spcBef>
              <a:spcAft>
                <a:spcPts val="0"/>
              </a:spcAft>
              <a:buNone/>
            </a:pPr>
            <a:r>
              <a:rPr lang="en-US" sz="2400" b="1" i="0" dirty="0">
                <a:solidFill>
                  <a:srgbClr val="3A3B41"/>
                </a:solidFill>
                <a:highlight>
                  <a:srgbClr val="FFFFFF"/>
                </a:highlight>
                <a:latin typeface="Georgia"/>
                <a:ea typeface="Georgia"/>
                <a:cs typeface="Georgia"/>
                <a:sym typeface="Georgia"/>
              </a:rPr>
              <a:t>Databases</a:t>
            </a:r>
            <a:r>
              <a:rPr lang="en-US" sz="2400" b="0" i="0" dirty="0">
                <a:solidFill>
                  <a:srgbClr val="3A3B41"/>
                </a:solidFill>
                <a:highlight>
                  <a:srgbClr val="FFFFFF"/>
                </a:highlight>
                <a:latin typeface="Georgia"/>
                <a:ea typeface="Georgia"/>
                <a:cs typeface="Georgia"/>
                <a:sym typeface="Georgia"/>
              </a:rPr>
              <a:t> </a:t>
            </a:r>
            <a:r>
              <a:rPr lang="en-US" sz="2000" dirty="0">
                <a:solidFill>
                  <a:srgbClr val="000000"/>
                </a:solidFill>
                <a:highlight>
                  <a:srgbClr val="FFFFFF"/>
                </a:highlight>
                <a:latin typeface="Inter"/>
                <a:ea typeface="Inter"/>
                <a:cs typeface="Inter"/>
                <a:sym typeface="Inter"/>
              </a:rPr>
              <a:t>are stored on servers either on-premises at an organization’s office or off-premises at an organization’s data center (or even within their cloud infrastructure). </a:t>
            </a:r>
            <a:endParaRPr lang="en-US" dirty="0"/>
          </a:p>
          <a:p>
            <a:pPr marL="285750" marR="0" lvl="0" indent="-171450" algn="l" rtl="0">
              <a:spcBef>
                <a:spcPts val="0"/>
              </a:spcBef>
              <a:spcAft>
                <a:spcPts val="0"/>
              </a:spcAft>
              <a:buClr>
                <a:schemeClr val="dk1"/>
              </a:buClr>
              <a:buSzPts val="1800"/>
              <a:buFont typeface="Noto Sans Symbols"/>
              <a:buNone/>
            </a:pPr>
            <a:endParaRPr lang="en-US" sz="2400" dirty="0">
              <a:solidFill>
                <a:srgbClr val="3A3B41"/>
              </a:solidFill>
              <a:highlight>
                <a:srgbClr val="FFFFFF"/>
              </a:highlight>
              <a:latin typeface="Georgia"/>
              <a:ea typeface="Georgia"/>
              <a:cs typeface="Georgia"/>
              <a:sym typeface="Georgia"/>
            </a:endParaRPr>
          </a:p>
          <a:p>
            <a:pPr marL="0" marR="0" lvl="0" indent="0" algn="l" rtl="0">
              <a:spcBef>
                <a:spcPts val="0"/>
              </a:spcBef>
              <a:spcAft>
                <a:spcPts val="0"/>
              </a:spcAft>
              <a:buNone/>
            </a:pPr>
            <a:r>
              <a:rPr lang="en-US" sz="2000" dirty="0">
                <a:solidFill>
                  <a:srgbClr val="000000"/>
                </a:solidFill>
                <a:highlight>
                  <a:srgbClr val="FFFFFF"/>
                </a:highlight>
                <a:latin typeface="Inter"/>
                <a:ea typeface="Inter"/>
                <a:cs typeface="Inter"/>
                <a:sym typeface="Inter"/>
              </a:rPr>
              <a:t>Databases come in many formats in order to do different things with various types of data</a:t>
            </a:r>
          </a:p>
          <a:p>
            <a:pPr marL="0" marR="0" lvl="0" indent="0" algn="l" rtl="0">
              <a:spcBef>
                <a:spcPts val="0"/>
              </a:spcBef>
              <a:spcAft>
                <a:spcPts val="0"/>
              </a:spcAft>
              <a:buNone/>
            </a:pPr>
            <a:endParaRPr lang="en-US" dirty="0">
              <a:solidFill>
                <a:srgbClr val="000000"/>
              </a:solidFill>
              <a:highlight>
                <a:srgbClr val="FFFFFF"/>
              </a:highlight>
              <a:latin typeface="Inter"/>
              <a:sym typeface="Inter"/>
            </a:endParaRPr>
          </a:p>
          <a:p>
            <a:pPr marL="0" indent="0">
              <a:spcBef>
                <a:spcPts val="0"/>
              </a:spcBef>
              <a:spcAft>
                <a:spcPts val="0"/>
              </a:spcAft>
              <a:buNone/>
            </a:pPr>
            <a:r>
              <a:rPr lang="en-US" sz="2400" b="1" dirty="0">
                <a:solidFill>
                  <a:srgbClr val="3A3B41"/>
                </a:solidFill>
                <a:highlight>
                  <a:srgbClr val="FFFFFF"/>
                </a:highlight>
                <a:latin typeface="Georgia"/>
                <a:ea typeface="Georgia"/>
                <a:cs typeface="Georgia"/>
                <a:sym typeface="Georgia"/>
              </a:rPr>
              <a:t>Database Objects: </a:t>
            </a:r>
            <a:r>
              <a:rPr lang="en-US" sz="2000" b="0" i="0" dirty="0">
                <a:solidFill>
                  <a:srgbClr val="000000"/>
                </a:solidFill>
                <a:highlight>
                  <a:srgbClr val="FFFFFF"/>
                </a:highlight>
                <a:latin typeface="Inter"/>
                <a:ea typeface="Inter"/>
                <a:cs typeface="Inter"/>
                <a:sym typeface="Inter"/>
              </a:rPr>
              <a:t>A </a:t>
            </a:r>
            <a:r>
              <a:rPr lang="en-US" sz="2000" b="0" i="1" dirty="0">
                <a:solidFill>
                  <a:srgbClr val="000000"/>
                </a:solidFill>
                <a:highlight>
                  <a:srgbClr val="FFFFFF"/>
                </a:highlight>
                <a:latin typeface="Inter"/>
                <a:ea typeface="Inter"/>
                <a:cs typeface="Inter"/>
                <a:sym typeface="Inter"/>
              </a:rPr>
              <a:t>database object</a:t>
            </a:r>
            <a:r>
              <a:rPr lang="en-US" sz="2000" b="0" i="0" dirty="0">
                <a:solidFill>
                  <a:srgbClr val="000000"/>
                </a:solidFill>
                <a:highlight>
                  <a:srgbClr val="FFFFFF"/>
                </a:highlight>
                <a:latin typeface="Inter"/>
                <a:ea typeface="Inter"/>
                <a:cs typeface="Inter"/>
                <a:sym typeface="Inter"/>
              </a:rPr>
              <a:t> is any defined object in a database that is used to store or reference data</a:t>
            </a:r>
          </a:p>
          <a:p>
            <a:pPr marL="0" indent="0">
              <a:spcBef>
                <a:spcPts val="0"/>
              </a:spcBef>
              <a:spcAft>
                <a:spcPts val="0"/>
              </a:spcAft>
              <a:buNone/>
            </a:pPr>
            <a:endParaRPr lang="en-US" dirty="0">
              <a:solidFill>
                <a:srgbClr val="000000"/>
              </a:solidFill>
              <a:highlight>
                <a:srgbClr val="FFFFFF"/>
              </a:highlight>
              <a:latin typeface="Inter"/>
              <a:ea typeface="Inter"/>
              <a:cs typeface="Inter"/>
              <a:sym typeface="Inter"/>
            </a:endParaRPr>
          </a:p>
          <a:p>
            <a:pPr marL="0" marR="0" lvl="0" indent="0" algn="l" rtl="0">
              <a:spcBef>
                <a:spcPts val="0"/>
              </a:spcBef>
              <a:spcAft>
                <a:spcPts val="0"/>
              </a:spcAft>
              <a:buNone/>
            </a:pPr>
            <a:r>
              <a:rPr lang="en-US" sz="2800" b="1" dirty="0">
                <a:solidFill>
                  <a:srgbClr val="3A3B41"/>
                </a:solidFill>
                <a:highlight>
                  <a:srgbClr val="FFFFFF"/>
                </a:highlight>
                <a:latin typeface="Georgia"/>
                <a:ea typeface="Georgia"/>
                <a:cs typeface="Georgia"/>
                <a:sym typeface="Georgia"/>
              </a:rPr>
              <a:t>Components of Databases</a:t>
            </a:r>
            <a:r>
              <a:rPr lang="en-US" sz="2800" dirty="0">
                <a:solidFill>
                  <a:srgbClr val="3A3B41"/>
                </a:solidFill>
                <a:highlight>
                  <a:srgbClr val="FFFFFF"/>
                </a:highlight>
                <a:latin typeface="Georgia"/>
                <a:ea typeface="Georgia"/>
                <a:cs typeface="Georgia"/>
                <a:sym typeface="Georgia"/>
              </a:rPr>
              <a:t>:</a:t>
            </a:r>
            <a:endParaRPr lang="en-US" sz="1600" dirty="0"/>
          </a:p>
          <a:p>
            <a:pPr marL="0" marR="0" lvl="0" indent="0" algn="l" rtl="0">
              <a:spcBef>
                <a:spcPts val="0"/>
              </a:spcBef>
              <a:spcAft>
                <a:spcPts val="0"/>
              </a:spcAft>
              <a:buNone/>
            </a:pPr>
            <a:r>
              <a:rPr lang="en-US" sz="2800" dirty="0">
                <a:solidFill>
                  <a:srgbClr val="3A3B41"/>
                </a:solidFill>
                <a:highlight>
                  <a:srgbClr val="FFFFFF"/>
                </a:highlight>
                <a:latin typeface="Georgia"/>
                <a:ea typeface="Georgia"/>
                <a:cs typeface="Georgia"/>
                <a:sym typeface="Georgia"/>
              </a:rPr>
              <a:t>     1. </a:t>
            </a:r>
            <a:r>
              <a:rPr lang="en-US" sz="2400" dirty="0">
                <a:solidFill>
                  <a:srgbClr val="000000"/>
                </a:solidFill>
                <a:highlight>
                  <a:srgbClr val="FFFFFF"/>
                </a:highlight>
                <a:latin typeface="Inter"/>
                <a:ea typeface="Inter"/>
                <a:cs typeface="Inter"/>
                <a:sym typeface="Inter"/>
              </a:rPr>
              <a:t>DB Engine,</a:t>
            </a:r>
            <a:endParaRPr lang="en-US" sz="1600" dirty="0"/>
          </a:p>
          <a:p>
            <a:pPr marL="0" marR="0" lvl="0" indent="0" algn="l" rtl="0">
              <a:spcBef>
                <a:spcPts val="0"/>
              </a:spcBef>
              <a:spcAft>
                <a:spcPts val="0"/>
              </a:spcAft>
              <a:buNone/>
            </a:pPr>
            <a:r>
              <a:rPr lang="en-US" sz="2400" dirty="0">
                <a:solidFill>
                  <a:srgbClr val="000000"/>
                </a:solidFill>
                <a:highlight>
                  <a:srgbClr val="FFFFFF"/>
                </a:highlight>
                <a:latin typeface="Inter"/>
                <a:ea typeface="Inter"/>
                <a:cs typeface="Inter"/>
                <a:sym typeface="Inter"/>
              </a:rPr>
              <a:t>     2. Query Processor,</a:t>
            </a:r>
            <a:endParaRPr lang="en-US" sz="1600" dirty="0"/>
          </a:p>
          <a:p>
            <a:pPr marL="0" marR="0" lvl="0" indent="0" algn="l" rtl="0">
              <a:spcBef>
                <a:spcPts val="0"/>
              </a:spcBef>
              <a:spcAft>
                <a:spcPts val="0"/>
              </a:spcAft>
              <a:buNone/>
            </a:pPr>
            <a:r>
              <a:rPr lang="en-US" sz="2400" dirty="0">
                <a:solidFill>
                  <a:srgbClr val="000000"/>
                </a:solidFill>
                <a:highlight>
                  <a:srgbClr val="FFFFFF"/>
                </a:highlight>
                <a:latin typeface="Inter"/>
                <a:ea typeface="Inter"/>
                <a:cs typeface="Inter"/>
                <a:sym typeface="Inter"/>
              </a:rPr>
              <a:t>     3. Optimization Engine,</a:t>
            </a:r>
            <a:endParaRPr lang="en-US" sz="1600" dirty="0"/>
          </a:p>
          <a:p>
            <a:pPr marL="0" marR="0" lvl="0" indent="0" algn="l" rtl="0">
              <a:spcBef>
                <a:spcPts val="0"/>
              </a:spcBef>
              <a:spcAft>
                <a:spcPts val="0"/>
              </a:spcAft>
              <a:buNone/>
            </a:pPr>
            <a:r>
              <a:rPr lang="en-US" sz="2400" dirty="0">
                <a:solidFill>
                  <a:srgbClr val="000000"/>
                </a:solidFill>
                <a:highlight>
                  <a:srgbClr val="FFFFFF"/>
                </a:highlight>
                <a:latin typeface="Inter"/>
                <a:ea typeface="Inter"/>
                <a:cs typeface="Inter"/>
                <a:sym typeface="Inter"/>
              </a:rPr>
              <a:t>     4. Query Language (Database Access Language) ex. SQL</a:t>
            </a:r>
            <a:endParaRPr lang="en-US" sz="1600" dirty="0"/>
          </a:p>
          <a:p>
            <a:pPr marL="0" marR="0" lvl="0" indent="0" algn="l" rtl="0">
              <a:spcBef>
                <a:spcPts val="0"/>
              </a:spcBef>
              <a:spcAft>
                <a:spcPts val="0"/>
              </a:spcAft>
              <a:buNone/>
            </a:pPr>
            <a:r>
              <a:rPr lang="en-US" sz="2400" dirty="0">
                <a:solidFill>
                  <a:srgbClr val="000000"/>
                </a:solidFill>
                <a:highlight>
                  <a:srgbClr val="FFFFFF"/>
                </a:highlight>
                <a:latin typeface="Inter"/>
                <a:ea typeface="Inter"/>
                <a:cs typeface="Inter"/>
                <a:sym typeface="Inter"/>
              </a:rPr>
              <a:t>     5. Metadata catalog, Procedures,</a:t>
            </a:r>
            <a:endParaRPr lang="en-US" sz="1600" dirty="0"/>
          </a:p>
          <a:p>
            <a:pPr marL="0" marR="0" lvl="0" indent="0" algn="l" rtl="0">
              <a:spcBef>
                <a:spcPts val="0"/>
              </a:spcBef>
              <a:spcAft>
                <a:spcPts val="0"/>
              </a:spcAft>
              <a:buNone/>
            </a:pPr>
            <a:r>
              <a:rPr lang="en-US" sz="2400" dirty="0">
                <a:solidFill>
                  <a:srgbClr val="000000"/>
                </a:solidFill>
                <a:highlight>
                  <a:srgbClr val="FFFFFF"/>
                </a:highlight>
                <a:latin typeface="Inter"/>
                <a:ea typeface="Inter"/>
                <a:cs typeface="Inter"/>
                <a:sym typeface="Inter"/>
              </a:rPr>
              <a:t>     6. Objects etc. </a:t>
            </a:r>
            <a:endParaRPr lang="en-US" sz="1600" dirty="0"/>
          </a:p>
          <a:p>
            <a:pPr marL="0" indent="0">
              <a:spcBef>
                <a:spcPts val="0"/>
              </a:spcBef>
              <a:spcAft>
                <a:spcPts val="0"/>
              </a:spcAft>
              <a:buNone/>
            </a:pPr>
            <a:endParaRPr lang="en-US" sz="2400" b="1" dirty="0">
              <a:solidFill>
                <a:srgbClr val="3A3B41"/>
              </a:solidFill>
              <a:highlight>
                <a:srgbClr val="FFFFFF"/>
              </a:highlight>
              <a:latin typeface="Inter"/>
              <a:ea typeface="Inter"/>
              <a:cs typeface="Inter"/>
              <a:sym typeface="Inter"/>
            </a:endParaRPr>
          </a:p>
          <a:p>
            <a:pPr marL="0" marR="0" lvl="0" indent="0" algn="l" rtl="0">
              <a:spcBef>
                <a:spcPts val="0"/>
              </a:spcBef>
              <a:spcAft>
                <a:spcPts val="0"/>
              </a:spcAft>
              <a:buNone/>
            </a:pPr>
            <a:endParaRPr lang="en-IN" dirty="0"/>
          </a:p>
        </p:txBody>
      </p:sp>
    </p:spTree>
    <p:extLst>
      <p:ext uri="{BB962C8B-B14F-4D97-AF65-F5344CB8AC3E}">
        <p14:creationId xmlns:p14="http://schemas.microsoft.com/office/powerpoint/2010/main" val="7526489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677334" y="292100"/>
            <a:ext cx="8596800" cy="5244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Libre Franklin"/>
              <a:buNone/>
            </a:pPr>
            <a:r>
              <a:rPr lang="en-US"/>
              <a:t>				Evaluation DBMS</a:t>
            </a:r>
            <a:endParaRPr/>
          </a:p>
        </p:txBody>
      </p:sp>
      <p:sp>
        <p:nvSpPr>
          <p:cNvPr id="141" name="Google Shape;141;p21"/>
          <p:cNvSpPr txBox="1">
            <a:spLocks noGrp="1"/>
          </p:cNvSpPr>
          <p:nvPr>
            <p:ph type="body" idx="1"/>
          </p:nvPr>
        </p:nvSpPr>
        <p:spPr>
          <a:xfrm>
            <a:off x="1479148" y="1152305"/>
            <a:ext cx="8778600" cy="2169600"/>
          </a:xfrm>
          <a:prstGeom prst="rect">
            <a:avLst/>
          </a:prstGeom>
          <a:noFill/>
          <a:ln>
            <a:noFill/>
          </a:ln>
        </p:spPr>
        <p:txBody>
          <a:bodyPr spcFirstLastPara="1" wrap="square" lIns="91425" tIns="45700" rIns="91425" bIns="45700" anchor="t" anchorCtr="0">
            <a:normAutofit/>
          </a:bodyPr>
          <a:lstStyle/>
          <a:p>
            <a:pPr marL="0" indent="0">
              <a:spcBef>
                <a:spcPts val="0"/>
              </a:spcBef>
              <a:buSzPts val="2000"/>
              <a:buNone/>
            </a:pPr>
            <a:r>
              <a:rPr lang="en-US" b="1" dirty="0"/>
              <a:t>(</a:t>
            </a:r>
            <a:r>
              <a:rPr lang="en-US" b="1" dirty="0" err="1">
                <a:latin typeface="Calibri"/>
                <a:ea typeface="Calibri"/>
                <a:cs typeface="Calibri"/>
                <a:sym typeface="Calibri"/>
              </a:rPr>
              <a:t>i</a:t>
            </a:r>
            <a:r>
              <a:rPr lang="en-US" b="1" dirty="0">
                <a:latin typeface="Calibri"/>
                <a:ea typeface="Calibri"/>
                <a:cs typeface="Calibri"/>
                <a:sym typeface="Calibri"/>
              </a:rPr>
              <a:t>) Hierarchical DBMS:  </a:t>
            </a:r>
            <a:r>
              <a:rPr lang="en-US" dirty="0">
                <a:latin typeface="Calibri"/>
                <a:ea typeface="Calibri"/>
                <a:cs typeface="Calibri"/>
                <a:sym typeface="Calibri"/>
              </a:rPr>
              <a:t>The Hierarchical Model was the first database management system model. This concept uses a hierarchical tree structure to organize the data. It has only one parent node.</a:t>
            </a:r>
            <a:endParaRPr dirty="0"/>
          </a:p>
        </p:txBody>
      </p:sp>
      <p:pic>
        <p:nvPicPr>
          <p:cNvPr id="142" name="Google Shape;142;p21" descr="Describe the three different data models that are used to describe the  database structure - Sarthaks eConnect | Largest Online Education Community"/>
          <p:cNvPicPr preferRelativeResize="0"/>
          <p:nvPr/>
        </p:nvPicPr>
        <p:blipFill rotWithShape="1">
          <a:blip r:embed="rId3">
            <a:alphaModFix/>
          </a:blip>
          <a:srcRect/>
          <a:stretch/>
        </p:blipFill>
        <p:spPr>
          <a:xfrm>
            <a:off x="1461796" y="3321934"/>
            <a:ext cx="4634204" cy="2794000"/>
          </a:xfrm>
          <a:prstGeom prst="rect">
            <a:avLst/>
          </a:prstGeom>
          <a:noFill/>
          <a:ln>
            <a:noFill/>
          </a:ln>
        </p:spPr>
      </p:pic>
    </p:spTree>
    <p:extLst>
      <p:ext uri="{BB962C8B-B14F-4D97-AF65-F5344CB8AC3E}">
        <p14:creationId xmlns:p14="http://schemas.microsoft.com/office/powerpoint/2010/main" val="230501048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2"/>
          <p:cNvSpPr txBox="1">
            <a:spLocks noGrp="1"/>
          </p:cNvSpPr>
          <p:nvPr>
            <p:ph type="body" idx="1"/>
          </p:nvPr>
        </p:nvSpPr>
        <p:spPr>
          <a:xfrm>
            <a:off x="1764456" y="1184053"/>
            <a:ext cx="8663100" cy="1995000"/>
          </a:xfrm>
          <a:prstGeom prst="rect">
            <a:avLst/>
          </a:prstGeom>
          <a:noFill/>
          <a:ln>
            <a:noFill/>
          </a:ln>
        </p:spPr>
        <p:txBody>
          <a:bodyPr spcFirstLastPara="1" wrap="square" lIns="91425" tIns="45700" rIns="91425" bIns="45700" anchor="t" anchorCtr="0">
            <a:normAutofit/>
          </a:bodyPr>
          <a:lstStyle/>
          <a:p>
            <a:pPr marL="0" indent="0">
              <a:spcBef>
                <a:spcPts val="0"/>
              </a:spcBef>
              <a:buSzPct val="100000"/>
              <a:buNone/>
            </a:pPr>
            <a:r>
              <a:rPr lang="en-US" b="1" dirty="0">
                <a:latin typeface="Calibri"/>
                <a:ea typeface="Calibri"/>
                <a:cs typeface="Calibri"/>
                <a:sym typeface="Calibri"/>
              </a:rPr>
              <a:t>(ii) Network DBMS (Integrated database management system): </a:t>
            </a:r>
            <a:r>
              <a:rPr lang="en-US" dirty="0">
                <a:latin typeface="Calibri"/>
                <a:ea typeface="Calibri"/>
                <a:cs typeface="Calibri"/>
                <a:sym typeface="Calibri"/>
              </a:rPr>
              <a:t>Extension of hierarchical </a:t>
            </a:r>
            <a:r>
              <a:rPr lang="en-US" dirty="0" err="1">
                <a:latin typeface="Calibri"/>
                <a:ea typeface="Calibri"/>
                <a:cs typeface="Calibri"/>
                <a:sym typeface="Calibri"/>
              </a:rPr>
              <a:t>dbms</a:t>
            </a:r>
            <a:r>
              <a:rPr lang="en-US" dirty="0">
                <a:latin typeface="Calibri"/>
                <a:ea typeface="Calibri"/>
                <a:cs typeface="Calibri"/>
                <a:sym typeface="Calibri"/>
              </a:rPr>
              <a:t> and uses graph like structure. It has more than one parent node.</a:t>
            </a:r>
            <a:endParaRPr dirty="0"/>
          </a:p>
          <a:p>
            <a:pPr marL="0" lvl="0" indent="0" algn="l" rtl="0">
              <a:lnSpc>
                <a:spcPct val="94000"/>
              </a:lnSpc>
              <a:spcBef>
                <a:spcPts val="1200"/>
              </a:spcBef>
              <a:spcAft>
                <a:spcPts val="0"/>
              </a:spcAft>
              <a:buClr>
                <a:schemeClr val="dk2"/>
              </a:buClr>
              <a:buSzPct val="100000"/>
              <a:buNone/>
            </a:pPr>
            <a:r>
              <a:rPr lang="en-US" b="1" dirty="0">
                <a:latin typeface="Calibri"/>
                <a:ea typeface="Calibri"/>
                <a:cs typeface="Calibri"/>
                <a:sym typeface="Calibri"/>
              </a:rPr>
              <a:t>Ex: </a:t>
            </a:r>
            <a:r>
              <a:rPr lang="en-US" b="0" i="0" dirty="0">
                <a:solidFill>
                  <a:srgbClr val="040C28"/>
                </a:solidFill>
                <a:latin typeface="Arial"/>
                <a:ea typeface="Arial"/>
                <a:cs typeface="Arial"/>
                <a:sym typeface="Arial"/>
              </a:rPr>
              <a:t>Integrated Data Store (IDS)</a:t>
            </a:r>
            <a:endParaRPr b="1">
              <a:latin typeface="Calibri"/>
              <a:ea typeface="Calibri"/>
              <a:cs typeface="Calibri"/>
              <a:sym typeface="Calibri"/>
            </a:endParaRPr>
          </a:p>
          <a:p>
            <a:pPr marL="0" lvl="0" indent="0" algn="l" rtl="0">
              <a:lnSpc>
                <a:spcPct val="94000"/>
              </a:lnSpc>
              <a:spcBef>
                <a:spcPts val="1200"/>
              </a:spcBef>
              <a:spcAft>
                <a:spcPts val="0"/>
              </a:spcAft>
              <a:buClr>
                <a:schemeClr val="dk2"/>
              </a:buClr>
              <a:buSzPct val="100000"/>
              <a:buNone/>
            </a:pPr>
            <a:endParaRPr b="1">
              <a:latin typeface="Calibri"/>
              <a:ea typeface="Calibri"/>
              <a:cs typeface="Calibri"/>
              <a:sym typeface="Calibri"/>
            </a:endParaRPr>
          </a:p>
          <a:p>
            <a:pPr marL="0" lvl="0" indent="0" algn="l" rtl="0">
              <a:lnSpc>
                <a:spcPct val="94000"/>
              </a:lnSpc>
              <a:spcBef>
                <a:spcPts val="1200"/>
              </a:spcBef>
              <a:spcAft>
                <a:spcPts val="0"/>
              </a:spcAft>
              <a:buClr>
                <a:schemeClr val="dk2"/>
              </a:buClr>
              <a:buSzPct val="100000"/>
              <a:buNone/>
            </a:pPr>
            <a:endParaRPr b="1">
              <a:latin typeface="Calibri"/>
              <a:ea typeface="Calibri"/>
              <a:cs typeface="Calibri"/>
              <a:sym typeface="Calibri"/>
            </a:endParaRPr>
          </a:p>
          <a:p>
            <a:pPr marL="0" lvl="0" indent="0" algn="l" rtl="0">
              <a:lnSpc>
                <a:spcPct val="94000"/>
              </a:lnSpc>
              <a:spcBef>
                <a:spcPts val="1200"/>
              </a:spcBef>
              <a:spcAft>
                <a:spcPts val="0"/>
              </a:spcAft>
              <a:buClr>
                <a:schemeClr val="dk2"/>
              </a:buClr>
              <a:buSzPct val="100000"/>
              <a:buNone/>
            </a:pPr>
            <a:endParaRPr b="1">
              <a:latin typeface="Calibri"/>
              <a:ea typeface="Calibri"/>
              <a:cs typeface="Calibri"/>
              <a:sym typeface="Calibri"/>
            </a:endParaRPr>
          </a:p>
        </p:txBody>
      </p:sp>
      <p:pic>
        <p:nvPicPr>
          <p:cNvPr id="148" name="Google Shape;148;p22" descr="What Is A Network Database"/>
          <p:cNvPicPr preferRelativeResize="0"/>
          <p:nvPr/>
        </p:nvPicPr>
        <p:blipFill rotWithShape="1">
          <a:blip r:embed="rId3">
            <a:alphaModFix/>
          </a:blip>
          <a:srcRect/>
          <a:stretch/>
        </p:blipFill>
        <p:spPr>
          <a:xfrm>
            <a:off x="1764456" y="2879947"/>
            <a:ext cx="3949700" cy="2794000"/>
          </a:xfrm>
          <a:prstGeom prst="rect">
            <a:avLst/>
          </a:prstGeom>
          <a:noFill/>
          <a:ln>
            <a:noFill/>
          </a:ln>
        </p:spPr>
      </p:pic>
    </p:spTree>
    <p:extLst>
      <p:ext uri="{BB962C8B-B14F-4D97-AF65-F5344CB8AC3E}">
        <p14:creationId xmlns:p14="http://schemas.microsoft.com/office/powerpoint/2010/main" val="234984368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Autofit/>
          </a:bodyPr>
          <a:lstStyle/>
          <a:p>
            <a:pPr marL="0" lvl="0" indent="0" algn="l" rtl="0">
              <a:lnSpc>
                <a:spcPct val="89000"/>
              </a:lnSpc>
              <a:spcBef>
                <a:spcPts val="0"/>
              </a:spcBef>
              <a:spcAft>
                <a:spcPts val="0"/>
              </a:spcAft>
              <a:buClr>
                <a:schemeClr val="dk2"/>
              </a:buClr>
              <a:buSzPts val="3300"/>
              <a:buFont typeface="Libre Franklin"/>
              <a:buNone/>
            </a:pPr>
            <a:r>
              <a:rPr lang="en-US" sz="3300"/>
              <a:t>(iii) Relational DBMS: Stores data in tabular structure. </a:t>
            </a:r>
            <a:r>
              <a:rPr lang="en-US" sz="3300" i="1"/>
              <a:t>Ex: Oracle, MY SQL, MS SQL Server</a:t>
            </a:r>
            <a:endParaRPr/>
          </a:p>
        </p:txBody>
      </p:sp>
      <p:pic>
        <p:nvPicPr>
          <p:cNvPr id="154" name="Google Shape;154;p23" descr="Introduction to Databases and SQL (With Examples)"/>
          <p:cNvPicPr preferRelativeResize="0">
            <a:picLocks noGrp="1"/>
          </p:cNvPicPr>
          <p:nvPr>
            <p:ph type="body" idx="1"/>
          </p:nvPr>
        </p:nvPicPr>
        <p:blipFill rotWithShape="1">
          <a:blip r:embed="rId3">
            <a:alphaModFix/>
          </a:blip>
          <a:srcRect/>
          <a:stretch/>
        </p:blipFill>
        <p:spPr>
          <a:xfrm>
            <a:off x="2764948" y="2286000"/>
            <a:ext cx="6814500" cy="3581400"/>
          </a:xfrm>
          <a:prstGeom prst="rect">
            <a:avLst/>
          </a:prstGeom>
          <a:noFill/>
          <a:ln>
            <a:noFill/>
          </a:ln>
        </p:spPr>
      </p:pic>
    </p:spTree>
    <p:extLst>
      <p:ext uri="{BB962C8B-B14F-4D97-AF65-F5344CB8AC3E}">
        <p14:creationId xmlns:p14="http://schemas.microsoft.com/office/powerpoint/2010/main" val="37959815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24"/>
          <p:cNvPicPr preferRelativeResize="0">
            <a:picLocks noGrp="1"/>
          </p:cNvPicPr>
          <p:nvPr>
            <p:ph type="body" idx="1"/>
          </p:nvPr>
        </p:nvPicPr>
        <p:blipFill rotWithShape="1">
          <a:blip r:embed="rId3">
            <a:alphaModFix/>
          </a:blip>
          <a:srcRect/>
          <a:stretch/>
        </p:blipFill>
        <p:spPr>
          <a:xfrm>
            <a:off x="2000930" y="371892"/>
            <a:ext cx="8190000" cy="61143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p>
            <a:pPr marL="0" lvl="0" indent="0" algn="ctr" rtl="0">
              <a:lnSpc>
                <a:spcPct val="89000"/>
              </a:lnSpc>
              <a:spcBef>
                <a:spcPts val="0"/>
              </a:spcBef>
              <a:spcAft>
                <a:spcPts val="0"/>
              </a:spcAft>
              <a:buClr>
                <a:schemeClr val="dk2"/>
              </a:buClr>
              <a:buSzPts val="4400"/>
              <a:buFont typeface="Libre Franklin"/>
              <a:buNone/>
            </a:pPr>
            <a:r>
              <a:rPr lang="en-US" dirty="0"/>
              <a:t>Relational database</a:t>
            </a:r>
            <a:endParaRPr dirty="0"/>
          </a:p>
        </p:txBody>
      </p:sp>
      <p:pic>
        <p:nvPicPr>
          <p:cNvPr id="165" name="Google Shape;165;p25"/>
          <p:cNvPicPr preferRelativeResize="0">
            <a:picLocks noGrp="1"/>
          </p:cNvPicPr>
          <p:nvPr>
            <p:ph type="body" idx="1"/>
          </p:nvPr>
        </p:nvPicPr>
        <p:blipFill rotWithShape="1">
          <a:blip r:embed="rId3">
            <a:alphaModFix/>
          </a:blip>
          <a:srcRect/>
          <a:stretch/>
        </p:blipFill>
        <p:spPr>
          <a:xfrm>
            <a:off x="1874044" y="2078610"/>
            <a:ext cx="8596200" cy="4093500"/>
          </a:xfrm>
          <a:prstGeom prst="rect">
            <a:avLst/>
          </a:prstGeom>
          <a:noFill/>
          <a:ln>
            <a:noFill/>
          </a:ln>
        </p:spPr>
      </p:pic>
    </p:spTree>
    <p:extLst>
      <p:ext uri="{BB962C8B-B14F-4D97-AF65-F5344CB8AC3E}">
        <p14:creationId xmlns:p14="http://schemas.microsoft.com/office/powerpoint/2010/main" val="182448219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F19302F9-85B6-B460-6AC5-FCA4496CD7B4}"/>
            </a:ext>
          </a:extLst>
        </p:cNvPr>
        <p:cNvGrpSpPr/>
        <p:nvPr/>
      </p:nvGrpSpPr>
      <p:grpSpPr>
        <a:xfrm>
          <a:off x="0" y="0"/>
          <a:ext cx="0" cy="0"/>
          <a:chOff x="0" y="0"/>
          <a:chExt cx="0" cy="0"/>
        </a:xfrm>
      </p:grpSpPr>
      <p:sp>
        <p:nvSpPr>
          <p:cNvPr id="164" name="Google Shape;164;p25">
            <a:extLst>
              <a:ext uri="{FF2B5EF4-FFF2-40B4-BE49-F238E27FC236}">
                <a16:creationId xmlns:a16="http://schemas.microsoft.com/office/drawing/2014/main" id="{D33E6225-B6B2-2587-9C06-7D1476A88D82}"/>
              </a:ext>
            </a:extLst>
          </p:cNvPr>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p>
            <a:pPr marL="0" lvl="0" indent="0" algn="ctr" rtl="0">
              <a:lnSpc>
                <a:spcPct val="89000"/>
              </a:lnSpc>
              <a:spcBef>
                <a:spcPts val="0"/>
              </a:spcBef>
              <a:spcAft>
                <a:spcPts val="0"/>
              </a:spcAft>
              <a:buClr>
                <a:schemeClr val="dk2"/>
              </a:buClr>
              <a:buSzPts val="4400"/>
              <a:buFont typeface="Libre Franklin"/>
              <a:buNone/>
            </a:pPr>
            <a:r>
              <a:rPr lang="en-US" dirty="0"/>
              <a:t>Entity Relationship Diagram</a:t>
            </a:r>
            <a:endParaRPr dirty="0"/>
          </a:p>
        </p:txBody>
      </p:sp>
      <p:pic>
        <p:nvPicPr>
          <p:cNvPr id="5" name="Content Placeholder 4">
            <a:extLst>
              <a:ext uri="{FF2B5EF4-FFF2-40B4-BE49-F238E27FC236}">
                <a16:creationId xmlns:a16="http://schemas.microsoft.com/office/drawing/2014/main" id="{E8A78FB2-F53B-2FF1-33A4-89B1CF8BA928}"/>
              </a:ext>
            </a:extLst>
          </p:cNvPr>
          <p:cNvPicPr>
            <a:picLocks noGrp="1" noChangeAspect="1"/>
          </p:cNvPicPr>
          <p:nvPr>
            <p:ph idx="1"/>
          </p:nvPr>
        </p:nvPicPr>
        <p:blipFill>
          <a:blip r:embed="rId3"/>
          <a:stretch>
            <a:fillRect/>
          </a:stretch>
        </p:blipFill>
        <p:spPr>
          <a:xfrm>
            <a:off x="1371599" y="1616149"/>
            <a:ext cx="9803219" cy="4925521"/>
          </a:xfrm>
        </p:spPr>
      </p:pic>
    </p:spTree>
    <p:extLst>
      <p:ext uri="{BB962C8B-B14F-4D97-AF65-F5344CB8AC3E}">
        <p14:creationId xmlns:p14="http://schemas.microsoft.com/office/powerpoint/2010/main" val="40729158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A07B2C7E-3616-FA6E-A3EC-4952F1EFFC5E}"/>
            </a:ext>
          </a:extLst>
        </p:cNvPr>
        <p:cNvGrpSpPr/>
        <p:nvPr/>
      </p:nvGrpSpPr>
      <p:grpSpPr>
        <a:xfrm>
          <a:off x="0" y="0"/>
          <a:ext cx="0" cy="0"/>
          <a:chOff x="0" y="0"/>
          <a:chExt cx="0" cy="0"/>
        </a:xfrm>
      </p:grpSpPr>
      <p:sp>
        <p:nvSpPr>
          <p:cNvPr id="164" name="Google Shape;164;p25">
            <a:extLst>
              <a:ext uri="{FF2B5EF4-FFF2-40B4-BE49-F238E27FC236}">
                <a16:creationId xmlns:a16="http://schemas.microsoft.com/office/drawing/2014/main" id="{4E59755B-D762-4CB2-FC89-F523CE9FB90D}"/>
              </a:ext>
            </a:extLst>
          </p:cNvPr>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p>
            <a:pPr marL="0" lvl="0" indent="0" algn="ctr" rtl="0">
              <a:lnSpc>
                <a:spcPct val="89000"/>
              </a:lnSpc>
              <a:spcBef>
                <a:spcPts val="0"/>
              </a:spcBef>
              <a:spcAft>
                <a:spcPts val="0"/>
              </a:spcAft>
              <a:buClr>
                <a:schemeClr val="dk2"/>
              </a:buClr>
              <a:buSzPts val="4400"/>
              <a:buFont typeface="Libre Franklin"/>
              <a:buNone/>
            </a:pPr>
            <a:r>
              <a:rPr lang="en-US" dirty="0"/>
              <a:t>Relational database Advantages</a:t>
            </a:r>
            <a:endParaRPr dirty="0"/>
          </a:p>
        </p:txBody>
      </p:sp>
      <p:pic>
        <p:nvPicPr>
          <p:cNvPr id="6" name="Content Placeholder 5">
            <a:extLst>
              <a:ext uri="{FF2B5EF4-FFF2-40B4-BE49-F238E27FC236}">
                <a16:creationId xmlns:a16="http://schemas.microsoft.com/office/drawing/2014/main" id="{FB166D1B-E3E5-7820-F555-DD0333382308}"/>
              </a:ext>
            </a:extLst>
          </p:cNvPr>
          <p:cNvPicPr>
            <a:picLocks noGrp="1" noChangeAspect="1"/>
          </p:cNvPicPr>
          <p:nvPr>
            <p:ph idx="1"/>
          </p:nvPr>
        </p:nvPicPr>
        <p:blipFill>
          <a:blip r:embed="rId3"/>
          <a:stretch>
            <a:fillRect/>
          </a:stretch>
        </p:blipFill>
        <p:spPr>
          <a:xfrm>
            <a:off x="2108495" y="685800"/>
            <a:ext cx="8332677" cy="6249508"/>
          </a:xfrm>
        </p:spPr>
      </p:pic>
    </p:spTree>
    <p:extLst>
      <p:ext uri="{BB962C8B-B14F-4D97-AF65-F5344CB8AC3E}">
        <p14:creationId xmlns:p14="http://schemas.microsoft.com/office/powerpoint/2010/main" val="362538867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63">
          <a:extLst>
            <a:ext uri="{FF2B5EF4-FFF2-40B4-BE49-F238E27FC236}">
              <a16:creationId xmlns:a16="http://schemas.microsoft.com/office/drawing/2014/main" id="{EEB61850-80E5-16F9-FAF7-9B8917C913D8}"/>
            </a:ext>
          </a:extLst>
        </p:cNvPr>
        <p:cNvGrpSpPr/>
        <p:nvPr/>
      </p:nvGrpSpPr>
      <p:grpSpPr>
        <a:xfrm>
          <a:off x="0" y="0"/>
          <a:ext cx="0" cy="0"/>
          <a:chOff x="0" y="0"/>
          <a:chExt cx="0" cy="0"/>
        </a:xfrm>
      </p:grpSpPr>
      <p:sp>
        <p:nvSpPr>
          <p:cNvPr id="164" name="Google Shape;164;p25">
            <a:extLst>
              <a:ext uri="{FF2B5EF4-FFF2-40B4-BE49-F238E27FC236}">
                <a16:creationId xmlns:a16="http://schemas.microsoft.com/office/drawing/2014/main" id="{08C4D589-D3FF-DD62-044E-8EE2A5BBAA10}"/>
              </a:ext>
            </a:extLst>
          </p:cNvPr>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p>
            <a:pPr marL="0" lvl="0" indent="0" algn="ctr" rtl="0">
              <a:lnSpc>
                <a:spcPct val="89000"/>
              </a:lnSpc>
              <a:spcBef>
                <a:spcPts val="0"/>
              </a:spcBef>
              <a:spcAft>
                <a:spcPts val="0"/>
              </a:spcAft>
              <a:buClr>
                <a:schemeClr val="dk2"/>
              </a:buClr>
              <a:buSzPts val="4400"/>
              <a:buFont typeface="Libre Franklin"/>
              <a:buNone/>
            </a:pPr>
            <a:r>
              <a:rPr lang="en-US" dirty="0"/>
              <a:t>Relational database Disadvantages</a:t>
            </a:r>
            <a:endParaRPr dirty="0"/>
          </a:p>
        </p:txBody>
      </p:sp>
      <p:pic>
        <p:nvPicPr>
          <p:cNvPr id="5" name="Content Placeholder 4">
            <a:extLst>
              <a:ext uri="{FF2B5EF4-FFF2-40B4-BE49-F238E27FC236}">
                <a16:creationId xmlns:a16="http://schemas.microsoft.com/office/drawing/2014/main" id="{43A05494-10DE-8E75-A5A4-4AF0109F9E1D}"/>
              </a:ext>
            </a:extLst>
          </p:cNvPr>
          <p:cNvPicPr>
            <a:picLocks noGrp="1" noChangeAspect="1"/>
          </p:cNvPicPr>
          <p:nvPr>
            <p:ph idx="1"/>
          </p:nvPr>
        </p:nvPicPr>
        <p:blipFill>
          <a:blip r:embed="rId3"/>
          <a:srcRect b="16530"/>
          <a:stretch/>
        </p:blipFill>
        <p:spPr>
          <a:xfrm>
            <a:off x="2020185" y="1326226"/>
            <a:ext cx="7989473" cy="4617374"/>
          </a:xfrm>
        </p:spPr>
      </p:pic>
    </p:spTree>
    <p:extLst>
      <p:ext uri="{BB962C8B-B14F-4D97-AF65-F5344CB8AC3E}">
        <p14:creationId xmlns:p14="http://schemas.microsoft.com/office/powerpoint/2010/main" val="337754110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F2F10-26D1-F2F5-8609-6DF16EFE3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22105-499D-F18F-5D3F-00CAB9397A4E}"/>
              </a:ext>
            </a:extLst>
          </p:cNvPr>
          <p:cNvSpPr>
            <a:spLocks noGrp="1"/>
          </p:cNvSpPr>
          <p:nvPr>
            <p:ph type="title"/>
          </p:nvPr>
        </p:nvSpPr>
        <p:spPr>
          <a:xfrm>
            <a:off x="1295400" y="2686050"/>
            <a:ext cx="9601200" cy="1485900"/>
          </a:xfrm>
        </p:spPr>
        <p:txBody>
          <a:bodyPr>
            <a:normAutofit/>
          </a:bodyPr>
          <a:lstStyle/>
          <a:p>
            <a:r>
              <a:rPr lang="en-US" b="1" dirty="0"/>
              <a:t>Day 8</a:t>
            </a:r>
            <a:r>
              <a:rPr lang="en-US" dirty="0"/>
              <a:t>: </a:t>
            </a:r>
            <a:r>
              <a:rPr lang="en-IN" dirty="0"/>
              <a:t>SQL- queries, grouping, and exporting data</a:t>
            </a:r>
            <a:endParaRPr lang="en-US" dirty="0"/>
          </a:p>
        </p:txBody>
      </p:sp>
    </p:spTree>
    <p:extLst>
      <p:ext uri="{BB962C8B-B14F-4D97-AF65-F5344CB8AC3E}">
        <p14:creationId xmlns:p14="http://schemas.microsoft.com/office/powerpoint/2010/main" val="115075396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id="{5C15BB68-A645-4BFA-5B3F-1727BC29AF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950" y="0"/>
            <a:ext cx="987301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71233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EE2C3-9B09-9530-741C-3946FF65B104}"/>
              </a:ext>
            </a:extLst>
          </p:cNvPr>
          <p:cNvSpPr>
            <a:spLocks noGrp="1"/>
          </p:cNvSpPr>
          <p:nvPr>
            <p:ph type="title"/>
          </p:nvPr>
        </p:nvSpPr>
        <p:spPr>
          <a:xfrm>
            <a:off x="1371600" y="0"/>
            <a:ext cx="9601200" cy="808892"/>
          </a:xfrm>
        </p:spPr>
        <p:txBody>
          <a:bodyPr/>
          <a:lstStyle/>
          <a:p>
            <a:r>
              <a:rPr lang="en-IN" dirty="0"/>
              <a:t>DDL – Data Definition Language</a:t>
            </a:r>
          </a:p>
        </p:txBody>
      </p:sp>
      <p:sp>
        <p:nvSpPr>
          <p:cNvPr id="3" name="Text Placeholder 2">
            <a:extLst>
              <a:ext uri="{FF2B5EF4-FFF2-40B4-BE49-F238E27FC236}">
                <a16:creationId xmlns:a16="http://schemas.microsoft.com/office/drawing/2014/main" id="{1919E0B7-E866-5274-761E-8CCA0A57B48A}"/>
              </a:ext>
            </a:extLst>
          </p:cNvPr>
          <p:cNvSpPr>
            <a:spLocks noGrp="1"/>
          </p:cNvSpPr>
          <p:nvPr>
            <p:ph type="body" idx="1"/>
          </p:nvPr>
        </p:nvSpPr>
        <p:spPr>
          <a:xfrm>
            <a:off x="808892" y="650631"/>
            <a:ext cx="11383108" cy="1583078"/>
          </a:xfrm>
        </p:spPr>
        <p:txBody>
          <a:bodyPr>
            <a:normAutofit/>
          </a:bodyPr>
          <a:lstStyle/>
          <a:p>
            <a:r>
              <a:rPr lang="en-US" b="1" i="0" dirty="0">
                <a:solidFill>
                  <a:srgbClr val="273239"/>
                </a:solidFill>
                <a:effectLst/>
                <a:latin typeface="Nunito" pitchFamily="2" charset="0"/>
              </a:rPr>
              <a:t>DDL or Data Definition Language</a:t>
            </a:r>
            <a:r>
              <a:rPr lang="en-US" b="0" i="0" dirty="0">
                <a:solidFill>
                  <a:srgbClr val="273239"/>
                </a:solidFill>
                <a:effectLst/>
                <a:latin typeface="Nunito" pitchFamily="2" charset="0"/>
              </a:rPr>
              <a:t> actually consists of the </a:t>
            </a:r>
            <a:r>
              <a:rPr lang="en-US" b="0" i="0" u="sng" dirty="0">
                <a:effectLst/>
                <a:latin typeface="Nunito" pitchFamily="2" charset="0"/>
                <a:hlinkClick r:id="rId2"/>
              </a:rPr>
              <a:t>SQL </a:t>
            </a:r>
            <a:r>
              <a:rPr lang="en-US" b="0" i="0" dirty="0">
                <a:solidFill>
                  <a:srgbClr val="273239"/>
                </a:solidFill>
                <a:effectLst/>
                <a:latin typeface="Nunito" pitchFamily="2" charset="0"/>
              </a:rPr>
              <a:t>commands that can be used to </a:t>
            </a:r>
            <a:r>
              <a:rPr lang="en-US" b="1" i="0" dirty="0">
                <a:solidFill>
                  <a:srgbClr val="273239"/>
                </a:solidFill>
                <a:effectLst/>
                <a:latin typeface="Nunito" pitchFamily="2" charset="0"/>
              </a:rPr>
              <a:t>defining</a:t>
            </a:r>
            <a:r>
              <a:rPr lang="en-US" b="0" i="0" dirty="0">
                <a:solidFill>
                  <a:srgbClr val="273239"/>
                </a:solidFill>
                <a:effectLst/>
                <a:latin typeface="Nunito" pitchFamily="2" charset="0"/>
              </a:rPr>
              <a:t>, </a:t>
            </a:r>
            <a:r>
              <a:rPr lang="en-US" b="1" i="0" dirty="0">
                <a:solidFill>
                  <a:srgbClr val="273239"/>
                </a:solidFill>
                <a:effectLst/>
                <a:latin typeface="Nunito" pitchFamily="2" charset="0"/>
              </a:rPr>
              <a:t>altering</a:t>
            </a:r>
            <a:r>
              <a:rPr lang="en-US" b="0" i="0" dirty="0">
                <a:solidFill>
                  <a:srgbClr val="273239"/>
                </a:solidFill>
                <a:effectLst/>
                <a:latin typeface="Nunito" pitchFamily="2" charset="0"/>
              </a:rPr>
              <a:t>, and </a:t>
            </a:r>
            <a:r>
              <a:rPr lang="en-US" b="1" i="0" dirty="0">
                <a:solidFill>
                  <a:srgbClr val="273239"/>
                </a:solidFill>
                <a:effectLst/>
                <a:latin typeface="Nunito" pitchFamily="2" charset="0"/>
              </a:rPr>
              <a:t>deleting </a:t>
            </a:r>
            <a:r>
              <a:rPr lang="en-US" b="0" i="0" dirty="0">
                <a:solidFill>
                  <a:srgbClr val="273239"/>
                </a:solidFill>
                <a:effectLst/>
                <a:latin typeface="Nunito" pitchFamily="2" charset="0"/>
              </a:rPr>
              <a:t>database structures such as </a:t>
            </a:r>
            <a:r>
              <a:rPr lang="en-US" b="1" i="0" dirty="0">
                <a:solidFill>
                  <a:srgbClr val="273239"/>
                </a:solidFill>
                <a:effectLst/>
                <a:latin typeface="Nunito" pitchFamily="2" charset="0"/>
              </a:rPr>
              <a:t>tables</a:t>
            </a:r>
            <a:r>
              <a:rPr lang="en-US" b="0" i="0" dirty="0">
                <a:solidFill>
                  <a:srgbClr val="273239"/>
                </a:solidFill>
                <a:effectLst/>
                <a:latin typeface="Nunito" pitchFamily="2" charset="0"/>
              </a:rPr>
              <a:t>, </a:t>
            </a:r>
            <a:r>
              <a:rPr lang="en-US" b="1" i="0" dirty="0">
                <a:solidFill>
                  <a:srgbClr val="273239"/>
                </a:solidFill>
                <a:effectLst/>
                <a:latin typeface="Nunito" pitchFamily="2" charset="0"/>
              </a:rPr>
              <a:t>indexes</a:t>
            </a:r>
            <a:r>
              <a:rPr lang="en-US" b="0" i="0" dirty="0">
                <a:solidFill>
                  <a:srgbClr val="273239"/>
                </a:solidFill>
                <a:effectLst/>
                <a:latin typeface="Nunito" pitchFamily="2" charset="0"/>
              </a:rPr>
              <a:t>, and </a:t>
            </a:r>
            <a:r>
              <a:rPr lang="en-US" b="1" i="0" dirty="0">
                <a:solidFill>
                  <a:srgbClr val="273239"/>
                </a:solidFill>
                <a:effectLst/>
                <a:latin typeface="Nunito" pitchFamily="2" charset="0"/>
              </a:rPr>
              <a:t>schemas</a:t>
            </a:r>
            <a:r>
              <a:rPr lang="en-US" b="0" i="0" dirty="0">
                <a:solidFill>
                  <a:srgbClr val="273239"/>
                </a:solidFill>
                <a:effectLst/>
                <a:latin typeface="Nunito" pitchFamily="2" charset="0"/>
              </a:rPr>
              <a:t>. </a:t>
            </a:r>
          </a:p>
          <a:p>
            <a:r>
              <a:rPr lang="en-US" b="0" i="0" dirty="0">
                <a:solidFill>
                  <a:srgbClr val="273239"/>
                </a:solidFill>
                <a:effectLst/>
                <a:latin typeface="Nunito" pitchFamily="2" charset="0"/>
              </a:rPr>
              <a:t>It simply deals with descriptions of the database schema and is used to </a:t>
            </a:r>
            <a:r>
              <a:rPr lang="en-US" b="1" i="0" dirty="0">
                <a:solidFill>
                  <a:srgbClr val="273239"/>
                </a:solidFill>
                <a:effectLst/>
                <a:latin typeface="Nunito" pitchFamily="2" charset="0"/>
              </a:rPr>
              <a:t>create </a:t>
            </a:r>
            <a:r>
              <a:rPr lang="en-US" b="0" i="0" dirty="0">
                <a:solidFill>
                  <a:srgbClr val="273239"/>
                </a:solidFill>
                <a:effectLst/>
                <a:latin typeface="Nunito" pitchFamily="2" charset="0"/>
              </a:rPr>
              <a:t>and </a:t>
            </a:r>
            <a:r>
              <a:rPr lang="en-US" b="1" i="0" dirty="0">
                <a:solidFill>
                  <a:srgbClr val="273239"/>
                </a:solidFill>
                <a:effectLst/>
                <a:latin typeface="Nunito" pitchFamily="2" charset="0"/>
              </a:rPr>
              <a:t>modify </a:t>
            </a:r>
            <a:r>
              <a:rPr lang="en-US" b="0" i="0" dirty="0">
                <a:solidFill>
                  <a:srgbClr val="273239"/>
                </a:solidFill>
                <a:effectLst/>
                <a:latin typeface="Nunito" pitchFamily="2" charset="0"/>
              </a:rPr>
              <a:t>the structure of database objects in the database.</a:t>
            </a:r>
          </a:p>
          <a:p>
            <a:endParaRPr lang="en-US" b="0" i="0" dirty="0">
              <a:solidFill>
                <a:srgbClr val="273239"/>
              </a:solidFill>
              <a:effectLst/>
              <a:latin typeface="Nunito" pitchFamily="2" charset="0"/>
            </a:endParaRPr>
          </a:p>
          <a:p>
            <a:endParaRPr lang="en-IN" dirty="0"/>
          </a:p>
        </p:txBody>
      </p:sp>
      <p:graphicFrame>
        <p:nvGraphicFramePr>
          <p:cNvPr id="4" name="Table 3">
            <a:extLst>
              <a:ext uri="{FF2B5EF4-FFF2-40B4-BE49-F238E27FC236}">
                <a16:creationId xmlns:a16="http://schemas.microsoft.com/office/drawing/2014/main" id="{5022B39A-B7DF-EF22-6E7F-F1FBB9C34C52}"/>
              </a:ext>
            </a:extLst>
          </p:cNvPr>
          <p:cNvGraphicFramePr>
            <a:graphicFrameLocks noGrp="1"/>
          </p:cNvGraphicFramePr>
          <p:nvPr/>
        </p:nvGraphicFramePr>
        <p:xfrm>
          <a:off x="1459523" y="2233709"/>
          <a:ext cx="10234246" cy="4643196"/>
        </p:xfrm>
        <a:graphic>
          <a:graphicData uri="http://schemas.openxmlformats.org/drawingml/2006/table">
            <a:tbl>
              <a:tblPr/>
              <a:tblGrid>
                <a:gridCol w="3875980">
                  <a:extLst>
                    <a:ext uri="{9D8B030D-6E8A-4147-A177-3AD203B41FA5}">
                      <a16:colId xmlns:a16="http://schemas.microsoft.com/office/drawing/2014/main" val="2205489023"/>
                    </a:ext>
                  </a:extLst>
                </a:gridCol>
                <a:gridCol w="3179133">
                  <a:extLst>
                    <a:ext uri="{9D8B030D-6E8A-4147-A177-3AD203B41FA5}">
                      <a16:colId xmlns:a16="http://schemas.microsoft.com/office/drawing/2014/main" val="925394092"/>
                    </a:ext>
                  </a:extLst>
                </a:gridCol>
                <a:gridCol w="3179133">
                  <a:extLst>
                    <a:ext uri="{9D8B030D-6E8A-4147-A177-3AD203B41FA5}">
                      <a16:colId xmlns:a16="http://schemas.microsoft.com/office/drawing/2014/main" val="190041773"/>
                    </a:ext>
                  </a:extLst>
                </a:gridCol>
              </a:tblGrid>
              <a:tr h="282513">
                <a:tc>
                  <a:txBody>
                    <a:bodyPr/>
                    <a:lstStyle/>
                    <a:p>
                      <a:pPr algn="ctr" fontAlgn="base"/>
                      <a:r>
                        <a:rPr lang="en-IN" sz="1600" b="1">
                          <a:effectLst/>
                        </a:rPr>
                        <a:t>Command</a:t>
                      </a:r>
                    </a:p>
                  </a:txBody>
                  <a:tcPr marL="14395" marR="14395" marT="28789" marB="28789"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600" b="1">
                          <a:effectLst/>
                        </a:rPr>
                        <a:t>Description</a:t>
                      </a:r>
                    </a:p>
                  </a:txBody>
                  <a:tcPr marL="28789" marR="28789" marT="28789" marB="28789"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600" b="1">
                          <a:effectLst/>
                        </a:rPr>
                        <a:t>Syntax</a:t>
                      </a:r>
                    </a:p>
                  </a:txBody>
                  <a:tcPr marL="28789" marR="28789" marT="28789" marB="28789"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87523038"/>
                  </a:ext>
                </a:extLst>
              </a:tr>
              <a:tr h="940470">
                <a:tc>
                  <a:txBody>
                    <a:bodyPr/>
                    <a:lstStyle/>
                    <a:p>
                      <a:pPr algn="ctr" fontAlgn="ctr"/>
                      <a:r>
                        <a:rPr lang="en-IN" sz="1600" b="0" u="sng">
                          <a:effectLst/>
                          <a:hlinkClick r:id="rId3"/>
                        </a:rPr>
                        <a:t>CREATE</a:t>
                      </a:r>
                      <a:endParaRPr lang="en-IN" sz="1600" b="0">
                        <a:effectLst/>
                      </a:endParaRP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Create database or its objects (table, index, function, views, store procedure, and triggers)</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a:effectLst/>
                        </a:rPr>
                        <a:t>CREATE</a:t>
                      </a:r>
                      <a:r>
                        <a:rPr lang="en-US" sz="1600" b="0">
                          <a:effectLst/>
                        </a:rPr>
                        <a:t> TABLE table_name (column1 data_type, column2 data_type, ...);</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96031135"/>
                  </a:ext>
                </a:extLst>
              </a:tr>
              <a:tr h="475811">
                <a:tc>
                  <a:txBody>
                    <a:bodyPr/>
                    <a:lstStyle/>
                    <a:p>
                      <a:pPr algn="ctr" fontAlgn="ctr"/>
                      <a:r>
                        <a:rPr lang="en-IN" sz="1600" b="0" u="sng">
                          <a:effectLst/>
                          <a:hlinkClick r:id="rId4"/>
                        </a:rPr>
                        <a:t>DROP</a:t>
                      </a:r>
                      <a:endParaRPr lang="en-IN" sz="1600" b="0">
                        <a:effectLst/>
                      </a:endParaRP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Delete objects from the database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1">
                          <a:effectLst/>
                        </a:rPr>
                        <a:t>DROP</a:t>
                      </a:r>
                      <a:r>
                        <a:rPr lang="en-IN" sz="1600" b="0">
                          <a:effectLst/>
                        </a:rPr>
                        <a:t> TABLE table_name;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13035376"/>
                  </a:ext>
                </a:extLst>
              </a:tr>
              <a:tr h="847539">
                <a:tc>
                  <a:txBody>
                    <a:bodyPr/>
                    <a:lstStyle/>
                    <a:p>
                      <a:pPr algn="ctr" fontAlgn="ctr"/>
                      <a:r>
                        <a:rPr lang="en-IN" sz="1600" b="0" u="sng" dirty="0">
                          <a:effectLst/>
                          <a:hlinkClick r:id="rId5"/>
                        </a:rPr>
                        <a:t>ALTER</a:t>
                      </a:r>
                      <a:endParaRPr lang="en-IN" sz="1600" b="0" dirty="0">
                        <a:effectLst/>
                      </a:endParaRP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Alter the structure of the database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a:effectLst/>
                        </a:rPr>
                        <a:t>ALTER</a:t>
                      </a:r>
                      <a:r>
                        <a:rPr lang="en-US" sz="1600" b="0">
                          <a:effectLst/>
                        </a:rPr>
                        <a:t> TABLE table_name ADD COLUMN column_name data_type;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51972310"/>
                  </a:ext>
                </a:extLst>
              </a:tr>
              <a:tr h="847539">
                <a:tc>
                  <a:txBody>
                    <a:bodyPr/>
                    <a:lstStyle/>
                    <a:p>
                      <a:pPr algn="ctr" fontAlgn="ctr"/>
                      <a:r>
                        <a:rPr lang="en-IN" sz="1600" b="0" u="sng">
                          <a:effectLst/>
                          <a:hlinkClick r:id="rId4"/>
                        </a:rPr>
                        <a:t>TRUNCATE</a:t>
                      </a:r>
                      <a:endParaRPr lang="en-IN" sz="1600" b="0">
                        <a:effectLst/>
                      </a:endParaRP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Remove all records from a table, including all spaces allocated for the records are removed</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1">
                          <a:effectLst/>
                        </a:rPr>
                        <a:t>TRUNCATE</a:t>
                      </a:r>
                      <a:r>
                        <a:rPr lang="en-IN" sz="1600" b="0">
                          <a:effectLst/>
                        </a:rPr>
                        <a:t> TABLE table_name;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00147869"/>
                  </a:ext>
                </a:extLst>
              </a:tr>
              <a:tr h="568744">
                <a:tc>
                  <a:txBody>
                    <a:bodyPr/>
                    <a:lstStyle/>
                    <a:p>
                      <a:pPr algn="ctr" fontAlgn="ctr"/>
                      <a:r>
                        <a:rPr lang="en-IN" sz="1600" b="0" u="sng">
                          <a:effectLst/>
                          <a:hlinkClick r:id="rId6"/>
                        </a:rPr>
                        <a:t>COMMENT</a:t>
                      </a:r>
                      <a:endParaRPr lang="en-IN" sz="1600" b="0">
                        <a:effectLst/>
                      </a:endParaRP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Add comments to the data dictionary</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600" b="1">
                          <a:effectLst/>
                        </a:rPr>
                        <a:t>COMMENT</a:t>
                      </a:r>
                      <a:r>
                        <a:rPr lang="en-IN" sz="1600" b="0">
                          <a:effectLst/>
                        </a:rPr>
                        <a:t> 'comment_text' ON TABLE table_name;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52314271"/>
                  </a:ext>
                </a:extLst>
              </a:tr>
              <a:tr h="661675">
                <a:tc>
                  <a:txBody>
                    <a:bodyPr/>
                    <a:lstStyle/>
                    <a:p>
                      <a:pPr algn="ctr" fontAlgn="ctr"/>
                      <a:r>
                        <a:rPr lang="en-IN" sz="1600" b="0" u="sng">
                          <a:effectLst/>
                          <a:hlinkClick r:id="rId7"/>
                        </a:rPr>
                        <a:t>RENAME</a:t>
                      </a:r>
                      <a:endParaRPr lang="en-IN" sz="1600" b="0">
                        <a:effectLst/>
                      </a:endParaRP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Rename an object existing in the database</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dirty="0">
                          <a:effectLst/>
                        </a:rPr>
                        <a:t>RENAME</a:t>
                      </a:r>
                      <a:r>
                        <a:rPr lang="en-US" sz="1600" b="0" dirty="0">
                          <a:effectLst/>
                        </a:rPr>
                        <a:t> TABLE </a:t>
                      </a:r>
                      <a:r>
                        <a:rPr lang="en-US" sz="1600" b="0" dirty="0" err="1">
                          <a:effectLst/>
                        </a:rPr>
                        <a:t>old_table_name</a:t>
                      </a:r>
                      <a:r>
                        <a:rPr lang="en-US" sz="1600" b="0" dirty="0">
                          <a:effectLst/>
                        </a:rPr>
                        <a:t> TO </a:t>
                      </a:r>
                      <a:r>
                        <a:rPr lang="en-US" sz="1600" b="0" dirty="0" err="1">
                          <a:effectLst/>
                        </a:rPr>
                        <a:t>new_table_name</a:t>
                      </a:r>
                      <a:r>
                        <a:rPr lang="en-US" sz="1600" b="0" dirty="0">
                          <a:effectLst/>
                        </a:rPr>
                        <a:t>;</a:t>
                      </a:r>
                    </a:p>
                  </a:txBody>
                  <a:tcPr marL="28789" marR="28789" marT="40305" marB="40305"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71804215"/>
                  </a:ext>
                </a:extLst>
              </a:tr>
            </a:tbl>
          </a:graphicData>
        </a:graphic>
      </p:graphicFrame>
    </p:spTree>
    <p:extLst>
      <p:ext uri="{BB962C8B-B14F-4D97-AF65-F5344CB8AC3E}">
        <p14:creationId xmlns:p14="http://schemas.microsoft.com/office/powerpoint/2010/main" val="377337831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06AAC-FAAC-C338-AB38-9F6A2D693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EB626-E45C-3352-98A3-639D613272F2}"/>
              </a:ext>
            </a:extLst>
          </p:cNvPr>
          <p:cNvSpPr>
            <a:spLocks noGrp="1"/>
          </p:cNvSpPr>
          <p:nvPr>
            <p:ph type="title"/>
          </p:nvPr>
        </p:nvSpPr>
        <p:spPr>
          <a:xfrm>
            <a:off x="1371600" y="0"/>
            <a:ext cx="9601200" cy="808892"/>
          </a:xfrm>
        </p:spPr>
        <p:txBody>
          <a:bodyPr>
            <a:normAutofit fontScale="90000"/>
          </a:bodyPr>
          <a:lstStyle/>
          <a:p>
            <a:pPr algn="l" fontAlgn="base"/>
            <a:r>
              <a:rPr lang="en-IN" b="1" i="0" dirty="0">
                <a:solidFill>
                  <a:srgbClr val="273239"/>
                </a:solidFill>
                <a:effectLst/>
                <a:latin typeface="Nunito" pitchFamily="2" charset="0"/>
              </a:rPr>
              <a:t>What are SQL Data Types?</a:t>
            </a:r>
            <a:br>
              <a:rPr lang="en-IN" b="1" i="0" dirty="0">
                <a:solidFill>
                  <a:srgbClr val="273239"/>
                </a:solidFill>
                <a:effectLst/>
                <a:latin typeface="Nunito" pitchFamily="2" charset="0"/>
              </a:rPr>
            </a:br>
            <a:r>
              <a:rPr lang="en-IN" dirty="0"/>
              <a:t/>
            </a:r>
            <a:br>
              <a:rPr lang="en-IN" dirty="0"/>
            </a:br>
            <a:endParaRPr lang="en-IN" dirty="0"/>
          </a:p>
        </p:txBody>
      </p:sp>
      <p:sp>
        <p:nvSpPr>
          <p:cNvPr id="3" name="Text Placeholder 2">
            <a:extLst>
              <a:ext uri="{FF2B5EF4-FFF2-40B4-BE49-F238E27FC236}">
                <a16:creationId xmlns:a16="http://schemas.microsoft.com/office/drawing/2014/main" id="{A0A99DC5-5D7A-E624-98ED-38CF77682AF5}"/>
              </a:ext>
            </a:extLst>
          </p:cNvPr>
          <p:cNvSpPr>
            <a:spLocks noGrp="1"/>
          </p:cNvSpPr>
          <p:nvPr>
            <p:ph type="body" idx="1"/>
          </p:nvPr>
        </p:nvSpPr>
        <p:spPr>
          <a:xfrm>
            <a:off x="808892" y="650631"/>
            <a:ext cx="11383108" cy="5101584"/>
          </a:xfrm>
        </p:spPr>
        <p:txBody>
          <a:bodyPr>
            <a:normAutofit/>
          </a:bodyPr>
          <a:lstStyle/>
          <a:p>
            <a:pPr algn="just" rtl="0" fontAlgn="base">
              <a:spcAft>
                <a:spcPts val="750"/>
              </a:spcAft>
            </a:pPr>
            <a:r>
              <a:rPr lang="en-IN" b="0" i="0" dirty="0">
                <a:solidFill>
                  <a:srgbClr val="273239"/>
                </a:solidFill>
                <a:effectLst/>
                <a:latin typeface="Nunito" pitchFamily="2" charset="0"/>
              </a:rPr>
              <a:t>An </a:t>
            </a:r>
            <a:r>
              <a:rPr lang="en-IN" b="0" i="0" u="sng" dirty="0">
                <a:solidFill>
                  <a:srgbClr val="273239"/>
                </a:solidFill>
                <a:effectLst/>
                <a:latin typeface="Nunito" pitchFamily="2" charset="0"/>
              </a:rPr>
              <a:t>SQL</a:t>
            </a:r>
            <a:r>
              <a:rPr lang="en-IN" b="0" i="0" dirty="0">
                <a:solidFill>
                  <a:srgbClr val="273239"/>
                </a:solidFill>
                <a:effectLst/>
                <a:latin typeface="Nunito" pitchFamily="2" charset="0"/>
              </a:rPr>
              <a:t> developer must know what data type will be stored inside each column while creating a table. The data type guideline for SQL is to understand what type of data is expected inside each column and it also identifies how SQL will interact with the stored data.</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Numeric Datatypes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Character and String Data Types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Date and Time Data Types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Binary Data Types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Boolean Data Types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Special Data Types</a:t>
            </a:r>
          </a:p>
        </p:txBody>
      </p:sp>
    </p:spTree>
    <p:extLst>
      <p:ext uri="{BB962C8B-B14F-4D97-AF65-F5344CB8AC3E}">
        <p14:creationId xmlns:p14="http://schemas.microsoft.com/office/powerpoint/2010/main" val="604659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EE809-12D7-6DD3-286B-CFCD4EC5D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CC0B7E-3C3E-3EA9-057F-1A062807C6EA}"/>
              </a:ext>
            </a:extLst>
          </p:cNvPr>
          <p:cNvSpPr>
            <a:spLocks noGrp="1"/>
          </p:cNvSpPr>
          <p:nvPr>
            <p:ph type="title"/>
          </p:nvPr>
        </p:nvSpPr>
        <p:spPr>
          <a:xfrm>
            <a:off x="1371600" y="0"/>
            <a:ext cx="9601200" cy="808892"/>
          </a:xfrm>
        </p:spPr>
        <p:txBody>
          <a:bodyPr>
            <a:normAutofit fontScale="90000"/>
          </a:bodyPr>
          <a:lstStyle/>
          <a:p>
            <a:pPr algn="l" fontAlgn="base"/>
            <a:r>
              <a:rPr lang="en-IN" b="1" i="0" dirty="0">
                <a:solidFill>
                  <a:srgbClr val="273239"/>
                </a:solidFill>
                <a:effectLst/>
                <a:latin typeface="Nunito" pitchFamily="2" charset="0"/>
              </a:rPr>
              <a:t>Numeric Data Types</a:t>
            </a:r>
            <a:br>
              <a:rPr lang="en-IN" b="1" i="0" dirty="0">
                <a:solidFill>
                  <a:srgbClr val="273239"/>
                </a:solidFill>
                <a:effectLst/>
                <a:latin typeface="Nunito" pitchFamily="2" charset="0"/>
              </a:rPr>
            </a:br>
            <a:r>
              <a:rPr lang="en-IN" dirty="0"/>
              <a:t/>
            </a:r>
            <a:br>
              <a:rPr lang="en-IN" dirty="0"/>
            </a:br>
            <a:endParaRPr lang="en-IN" dirty="0"/>
          </a:p>
        </p:txBody>
      </p:sp>
      <p:sp>
        <p:nvSpPr>
          <p:cNvPr id="3" name="Text Placeholder 2">
            <a:extLst>
              <a:ext uri="{FF2B5EF4-FFF2-40B4-BE49-F238E27FC236}">
                <a16:creationId xmlns:a16="http://schemas.microsoft.com/office/drawing/2014/main" id="{DDE6F616-D54E-868E-8FDE-9CE6D53A3C73}"/>
              </a:ext>
            </a:extLst>
          </p:cNvPr>
          <p:cNvSpPr>
            <a:spLocks noGrp="1"/>
          </p:cNvSpPr>
          <p:nvPr>
            <p:ph type="body" idx="1"/>
          </p:nvPr>
        </p:nvSpPr>
        <p:spPr>
          <a:xfrm>
            <a:off x="808892" y="650631"/>
            <a:ext cx="11383108" cy="5101584"/>
          </a:xfrm>
        </p:spPr>
        <p:txBody>
          <a:bodyPr>
            <a:normAutofit/>
          </a:bodyPr>
          <a:lstStyle/>
          <a:p>
            <a:pPr algn="just" rtl="0" fontAlgn="base">
              <a:spcAft>
                <a:spcPts val="750"/>
              </a:spcAft>
            </a:pPr>
            <a:r>
              <a:rPr lang="en-IN" b="0" i="0" dirty="0">
                <a:solidFill>
                  <a:srgbClr val="273239"/>
                </a:solidFill>
                <a:effectLst/>
                <a:latin typeface="Nunito" pitchFamily="2" charset="0"/>
              </a:rPr>
              <a:t>Numeric data types are fundamental to database design and are used to store numbers, whether they are integers, decimals, or floating-point numbers. These data types allow for mathematical operations like addition, subtraction, multiplication, and division, which makes them essential for managing financial, scientific, and analytical data.</a:t>
            </a:r>
          </a:p>
          <a:p>
            <a:pPr marL="0" indent="0">
              <a:buNone/>
            </a:pPr>
            <a:r>
              <a:rPr lang="en-IN" dirty="0"/>
              <a:t/>
            </a:r>
            <a:br>
              <a:rPr lang="en-IN" dirty="0"/>
            </a:br>
            <a:endParaRPr lang="en-IN" b="0" i="0" dirty="0">
              <a:solidFill>
                <a:srgbClr val="273239"/>
              </a:solidFill>
              <a:effectLst/>
              <a:latin typeface="Nunito" pitchFamily="2" charset="0"/>
            </a:endParaRPr>
          </a:p>
        </p:txBody>
      </p:sp>
      <p:pic>
        <p:nvPicPr>
          <p:cNvPr id="6" name="Picture 5">
            <a:extLst>
              <a:ext uri="{FF2B5EF4-FFF2-40B4-BE49-F238E27FC236}">
                <a16:creationId xmlns:a16="http://schemas.microsoft.com/office/drawing/2014/main" id="{717D9671-C2C6-56B3-D849-1413083D243C}"/>
              </a:ext>
            </a:extLst>
          </p:cNvPr>
          <p:cNvPicPr>
            <a:picLocks noChangeAspect="1"/>
          </p:cNvPicPr>
          <p:nvPr/>
        </p:nvPicPr>
        <p:blipFill>
          <a:blip r:embed="rId2"/>
          <a:stretch>
            <a:fillRect/>
          </a:stretch>
        </p:blipFill>
        <p:spPr>
          <a:xfrm>
            <a:off x="1855063" y="1900908"/>
            <a:ext cx="8150175" cy="4797604"/>
          </a:xfrm>
          <a:prstGeom prst="rect">
            <a:avLst/>
          </a:prstGeom>
        </p:spPr>
      </p:pic>
    </p:spTree>
    <p:extLst>
      <p:ext uri="{BB962C8B-B14F-4D97-AF65-F5344CB8AC3E}">
        <p14:creationId xmlns:p14="http://schemas.microsoft.com/office/powerpoint/2010/main" val="26438992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7F3CB-541A-ABE9-7235-C0FCB0E3B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34D5A-860C-175D-41B0-9AF468B4C0D6}"/>
              </a:ext>
            </a:extLst>
          </p:cNvPr>
          <p:cNvSpPr>
            <a:spLocks noGrp="1"/>
          </p:cNvSpPr>
          <p:nvPr>
            <p:ph type="title"/>
          </p:nvPr>
        </p:nvSpPr>
        <p:spPr>
          <a:xfrm>
            <a:off x="1371600" y="0"/>
            <a:ext cx="9601200" cy="808892"/>
          </a:xfrm>
        </p:spPr>
        <p:txBody>
          <a:bodyPr>
            <a:normAutofit fontScale="90000"/>
          </a:bodyPr>
          <a:lstStyle/>
          <a:p>
            <a:pPr algn="l" fontAlgn="base"/>
            <a:r>
              <a:rPr lang="en-IN" b="1" i="0" dirty="0">
                <a:solidFill>
                  <a:srgbClr val="273239"/>
                </a:solidFill>
                <a:effectLst/>
                <a:latin typeface="Nunito" pitchFamily="2" charset="0"/>
              </a:rPr>
              <a:t>String Data Types</a:t>
            </a:r>
            <a:br>
              <a:rPr lang="en-IN" b="1" i="0" dirty="0">
                <a:solidFill>
                  <a:srgbClr val="273239"/>
                </a:solidFill>
                <a:effectLst/>
                <a:latin typeface="Nunito" pitchFamily="2" charset="0"/>
              </a:rPr>
            </a:br>
            <a:r>
              <a:rPr lang="en-IN" dirty="0"/>
              <a:t/>
            </a:r>
            <a:br>
              <a:rPr lang="en-IN" dirty="0"/>
            </a:br>
            <a:endParaRPr lang="en-IN" dirty="0"/>
          </a:p>
        </p:txBody>
      </p:sp>
      <p:sp>
        <p:nvSpPr>
          <p:cNvPr id="3" name="Text Placeholder 2">
            <a:extLst>
              <a:ext uri="{FF2B5EF4-FFF2-40B4-BE49-F238E27FC236}">
                <a16:creationId xmlns:a16="http://schemas.microsoft.com/office/drawing/2014/main" id="{858DA619-0F5C-0893-BAF5-D572A6CD7A70}"/>
              </a:ext>
            </a:extLst>
          </p:cNvPr>
          <p:cNvSpPr>
            <a:spLocks noGrp="1"/>
          </p:cNvSpPr>
          <p:nvPr>
            <p:ph type="body" idx="1"/>
          </p:nvPr>
        </p:nvSpPr>
        <p:spPr>
          <a:xfrm>
            <a:off x="808892" y="650631"/>
            <a:ext cx="11383108" cy="5101584"/>
          </a:xfrm>
        </p:spPr>
        <p:txBody>
          <a:bodyPr>
            <a:normAutofit/>
          </a:bodyPr>
          <a:lstStyle/>
          <a:p>
            <a:pPr marL="0" indent="0">
              <a:buNone/>
            </a:pPr>
            <a:r>
              <a:rPr lang="en-IN" dirty="0"/>
              <a:t/>
            </a:r>
            <a:br>
              <a:rPr lang="en-IN" dirty="0"/>
            </a:br>
            <a:endParaRPr lang="en-IN" b="0" i="0" dirty="0">
              <a:solidFill>
                <a:srgbClr val="273239"/>
              </a:solidFill>
              <a:effectLst/>
              <a:latin typeface="Nunito" pitchFamily="2" charset="0"/>
            </a:endParaRPr>
          </a:p>
        </p:txBody>
      </p:sp>
      <p:pic>
        <p:nvPicPr>
          <p:cNvPr id="6" name="Picture 5">
            <a:extLst>
              <a:ext uri="{FF2B5EF4-FFF2-40B4-BE49-F238E27FC236}">
                <a16:creationId xmlns:a16="http://schemas.microsoft.com/office/drawing/2014/main" id="{B457EC63-3120-58D6-6543-56BADB6484B6}"/>
              </a:ext>
            </a:extLst>
          </p:cNvPr>
          <p:cNvPicPr>
            <a:picLocks noChangeAspect="1"/>
          </p:cNvPicPr>
          <p:nvPr/>
        </p:nvPicPr>
        <p:blipFill>
          <a:blip r:embed="rId2"/>
          <a:stretch>
            <a:fillRect/>
          </a:stretch>
        </p:blipFill>
        <p:spPr>
          <a:xfrm>
            <a:off x="808892" y="1207204"/>
            <a:ext cx="11345417" cy="4443591"/>
          </a:xfrm>
          <a:prstGeom prst="rect">
            <a:avLst/>
          </a:prstGeom>
        </p:spPr>
      </p:pic>
    </p:spTree>
    <p:extLst>
      <p:ext uri="{BB962C8B-B14F-4D97-AF65-F5344CB8AC3E}">
        <p14:creationId xmlns:p14="http://schemas.microsoft.com/office/powerpoint/2010/main" val="244489535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DE4AB-D62A-5464-3F96-F1362758B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A085F5-0203-2408-5D91-B44E86DC9635}"/>
              </a:ext>
            </a:extLst>
          </p:cNvPr>
          <p:cNvSpPr>
            <a:spLocks noGrp="1"/>
          </p:cNvSpPr>
          <p:nvPr>
            <p:ph type="title"/>
          </p:nvPr>
        </p:nvSpPr>
        <p:spPr>
          <a:xfrm>
            <a:off x="1371600" y="0"/>
            <a:ext cx="9601200" cy="808892"/>
          </a:xfrm>
        </p:spPr>
        <p:txBody>
          <a:bodyPr>
            <a:normAutofit fontScale="90000"/>
          </a:bodyPr>
          <a:lstStyle/>
          <a:p>
            <a:pPr algn="l" fontAlgn="base"/>
            <a:r>
              <a:rPr lang="en-IN" b="1" i="0" dirty="0">
                <a:solidFill>
                  <a:srgbClr val="273239"/>
                </a:solidFill>
                <a:effectLst/>
                <a:latin typeface="Nunito" pitchFamily="2" charset="0"/>
              </a:rPr>
              <a:t>SQL CREATE TABLE Statement</a:t>
            </a:r>
            <a:br>
              <a:rPr lang="en-IN" b="1" i="0" dirty="0">
                <a:solidFill>
                  <a:srgbClr val="273239"/>
                </a:solidFill>
                <a:effectLst/>
                <a:latin typeface="Nunito" pitchFamily="2" charset="0"/>
              </a:rPr>
            </a:br>
            <a:r>
              <a:rPr lang="en-IN" dirty="0"/>
              <a:t/>
            </a:r>
            <a:br>
              <a:rPr lang="en-IN" dirty="0"/>
            </a:br>
            <a:endParaRPr lang="en-IN" dirty="0"/>
          </a:p>
        </p:txBody>
      </p:sp>
      <p:sp>
        <p:nvSpPr>
          <p:cNvPr id="3" name="Text Placeholder 2">
            <a:extLst>
              <a:ext uri="{FF2B5EF4-FFF2-40B4-BE49-F238E27FC236}">
                <a16:creationId xmlns:a16="http://schemas.microsoft.com/office/drawing/2014/main" id="{A12108D3-C442-661A-9989-582935BFCA6C}"/>
              </a:ext>
            </a:extLst>
          </p:cNvPr>
          <p:cNvSpPr>
            <a:spLocks noGrp="1"/>
          </p:cNvSpPr>
          <p:nvPr>
            <p:ph type="body" idx="1"/>
          </p:nvPr>
        </p:nvSpPr>
        <p:spPr>
          <a:xfrm>
            <a:off x="808892" y="650630"/>
            <a:ext cx="11383108" cy="6122310"/>
          </a:xfrm>
        </p:spPr>
        <p:txBody>
          <a:bodyPr>
            <a:normAutofit lnSpcReduction="10000"/>
          </a:bodyPr>
          <a:lstStyle/>
          <a:p>
            <a:pPr algn="just" rtl="0" fontAlgn="base">
              <a:spcAft>
                <a:spcPts val="750"/>
              </a:spcAft>
            </a:pPr>
            <a:r>
              <a:rPr lang="en-IN" b="0" i="0" dirty="0">
                <a:solidFill>
                  <a:srgbClr val="273239"/>
                </a:solidFill>
                <a:effectLst/>
                <a:latin typeface="Nunito" pitchFamily="2" charset="0"/>
              </a:rPr>
              <a:t>To create a new table in the database, use the SQL CREATE TABLE statement. A table’s structure, including column names, data types, and constraints like NOT NULL, PRIMARY KEY, and CHECK, are defined when it is created in SQL.</a:t>
            </a:r>
          </a:p>
          <a:p>
            <a:pPr algn="l" rtl="0" fontAlgn="base">
              <a:spcAft>
                <a:spcPts val="750"/>
              </a:spcAft>
            </a:pPr>
            <a:r>
              <a:rPr lang="en-IN" b="0" i="0" dirty="0">
                <a:solidFill>
                  <a:srgbClr val="273239"/>
                </a:solidFill>
                <a:effectLst/>
                <a:latin typeface="Nunito" pitchFamily="2" charset="0"/>
              </a:rPr>
              <a:t>To create a table in SQL, use this </a:t>
            </a:r>
            <a:r>
              <a:rPr lang="en-IN" b="1" i="0" dirty="0">
                <a:solidFill>
                  <a:srgbClr val="273239"/>
                </a:solidFill>
                <a:effectLst/>
                <a:latin typeface="Nunito" pitchFamily="2" charset="0"/>
              </a:rPr>
              <a:t>CREATE TABLE syntax</a:t>
            </a:r>
            <a:r>
              <a:rPr lang="en-IN" b="0" i="0" dirty="0">
                <a:solidFill>
                  <a:srgbClr val="273239"/>
                </a:solidFill>
                <a:effectLst/>
                <a:latin typeface="Nunito" pitchFamily="2" charset="0"/>
              </a:rPr>
              <a:t>:</a:t>
            </a:r>
          </a:p>
          <a:p>
            <a:pPr algn="l" rtl="0" fontAlgn="base">
              <a:spcAft>
                <a:spcPts val="750"/>
              </a:spcAft>
            </a:pPr>
            <a:r>
              <a:rPr lang="en-IN" b="0" i="0" dirty="0">
                <a:solidFill>
                  <a:srgbClr val="273239"/>
                </a:solidFill>
                <a:effectLst/>
                <a:latin typeface="Nunito" pitchFamily="2" charset="0"/>
              </a:rPr>
              <a:t>CREATE table </a:t>
            </a:r>
            <a:r>
              <a:rPr lang="en-IN" b="0" i="0" dirty="0" err="1">
                <a:solidFill>
                  <a:srgbClr val="273239"/>
                </a:solidFill>
                <a:effectLst/>
                <a:latin typeface="Nunito" pitchFamily="2" charset="0"/>
              </a:rPr>
              <a:t>table_name</a:t>
            </a:r>
            <a:r>
              <a:rPr lang="en-IN" b="0" i="0" dirty="0">
                <a:solidFill>
                  <a:srgbClr val="273239"/>
                </a:solidFill>
                <a:effectLst/>
                <a:latin typeface="Nunito" pitchFamily="2" charset="0"/>
              </a:rPr>
              <a:t>       -&gt; </a:t>
            </a:r>
            <a:r>
              <a:rPr lang="en-IN" b="0" i="0" dirty="0" err="1">
                <a:solidFill>
                  <a:srgbClr val="273239"/>
                </a:solidFill>
                <a:effectLst/>
                <a:latin typeface="Nunito" pitchFamily="2" charset="0"/>
              </a:rPr>
              <a:t>table_name</a:t>
            </a:r>
            <a:r>
              <a:rPr lang="en-IN" b="0" i="0" dirty="0">
                <a:solidFill>
                  <a:srgbClr val="273239"/>
                </a:solidFill>
                <a:effectLst/>
                <a:latin typeface="Nunito" pitchFamily="2" charset="0"/>
              </a:rPr>
              <a:t>: The name you assign to the new table.</a:t>
            </a:r>
          </a:p>
          <a:p>
            <a:pPr algn="l" rtl="0" fontAlgn="base">
              <a:spcAft>
                <a:spcPts val="750"/>
              </a:spcAft>
            </a:pPr>
            <a:r>
              <a:rPr lang="en-IN" b="0" i="0" dirty="0">
                <a:solidFill>
                  <a:srgbClr val="273239"/>
                </a:solidFill>
                <a:effectLst/>
                <a:latin typeface="Nunito" pitchFamily="2" charset="0"/>
              </a:rPr>
              <a:t>( </a:t>
            </a:r>
          </a:p>
          <a:p>
            <a:pPr algn="l" rtl="0" fontAlgn="base">
              <a:spcAft>
                <a:spcPts val="750"/>
              </a:spcAft>
            </a:pPr>
            <a:r>
              <a:rPr lang="en-IN" b="0" i="0" dirty="0">
                <a:solidFill>
                  <a:srgbClr val="273239"/>
                </a:solidFill>
                <a:effectLst/>
                <a:latin typeface="Nunito" pitchFamily="2" charset="0"/>
              </a:rPr>
              <a:t>Column1 datatype (size),</a:t>
            </a:r>
          </a:p>
          <a:p>
            <a:pPr algn="l" rtl="0" fontAlgn="base">
              <a:spcAft>
                <a:spcPts val="750"/>
              </a:spcAft>
            </a:pPr>
            <a:r>
              <a:rPr lang="en-IN" b="0" i="0" dirty="0">
                <a:solidFill>
                  <a:srgbClr val="273239"/>
                </a:solidFill>
                <a:effectLst/>
                <a:latin typeface="Nunito" pitchFamily="2" charset="0"/>
              </a:rPr>
              <a:t>column2 datatype (size),          -&gt; column1, column2, … : The names of the columns in the table.</a:t>
            </a:r>
          </a:p>
          <a:p>
            <a:pPr algn="l" rtl="0" fontAlgn="base">
              <a:spcAft>
                <a:spcPts val="750"/>
              </a:spcAft>
            </a:pPr>
            <a:r>
              <a:rPr lang="en-IN" b="0" i="0" dirty="0">
                <a:solidFill>
                  <a:srgbClr val="273239"/>
                </a:solidFill>
                <a:effectLst/>
                <a:latin typeface="Nunito" pitchFamily="2" charset="0"/>
              </a:rPr>
              <a:t>.                                                    -&gt; datatype(size): Defines the data type and size of each column.</a:t>
            </a:r>
          </a:p>
          <a:p>
            <a:pPr algn="l" rtl="0" fontAlgn="base">
              <a:spcAft>
                <a:spcPts val="750"/>
              </a:spcAft>
            </a:pPr>
            <a:r>
              <a:rPr lang="en-IN" b="0" i="0" dirty="0">
                <a:solidFill>
                  <a:srgbClr val="273239"/>
                </a:solidFill>
                <a:effectLst/>
                <a:latin typeface="Nunito" pitchFamily="2" charset="0"/>
              </a:rPr>
              <a:t>.</a:t>
            </a:r>
          </a:p>
          <a:p>
            <a:pPr algn="l" rtl="0" fontAlgn="base">
              <a:spcAft>
                <a:spcPts val="750"/>
              </a:spcAft>
            </a:pPr>
            <a:r>
              <a:rPr lang="en-IN" b="0" i="0" dirty="0" err="1">
                <a:solidFill>
                  <a:srgbClr val="273239"/>
                </a:solidFill>
                <a:effectLst/>
                <a:latin typeface="Nunito" pitchFamily="2" charset="0"/>
              </a:rPr>
              <a:t>columnN</a:t>
            </a:r>
            <a:r>
              <a:rPr lang="en-IN" b="0" i="0" dirty="0">
                <a:solidFill>
                  <a:srgbClr val="273239"/>
                </a:solidFill>
                <a:effectLst/>
                <a:latin typeface="Nunito" pitchFamily="2" charset="0"/>
              </a:rPr>
              <a:t> datatype(size)</a:t>
            </a:r>
          </a:p>
          <a:p>
            <a:pPr algn="l" rtl="0" fontAlgn="base">
              <a:spcAft>
                <a:spcPts val="750"/>
              </a:spcAft>
            </a:pPr>
            <a:r>
              <a:rPr lang="en-IN" b="0" i="0" dirty="0">
                <a:solidFill>
                  <a:srgbClr val="273239"/>
                </a:solidFill>
                <a:effectLst/>
                <a:latin typeface="Nunito" pitchFamily="2" charset="0"/>
              </a:rPr>
              <a:t>);</a:t>
            </a:r>
          </a:p>
          <a:p>
            <a:pPr fontAlgn="base">
              <a:spcAft>
                <a:spcPts val="750"/>
              </a:spcAft>
            </a:pPr>
            <a:r>
              <a:rPr lang="en-IN" b="0" i="0" dirty="0">
                <a:solidFill>
                  <a:srgbClr val="273239"/>
                </a:solidFill>
                <a:effectLst/>
                <a:latin typeface="Nunito" pitchFamily="2" charset="0"/>
              </a:rPr>
              <a:t>Here </a:t>
            </a:r>
            <a:r>
              <a:rPr lang="en-IN" b="0" i="0" dirty="0" err="1">
                <a:solidFill>
                  <a:srgbClr val="273239"/>
                </a:solidFill>
                <a:effectLst/>
                <a:latin typeface="Nunito" pitchFamily="2" charset="0"/>
              </a:rPr>
              <a:t>table_name</a:t>
            </a:r>
            <a:r>
              <a:rPr lang="en-IN" b="0" i="0" dirty="0">
                <a:solidFill>
                  <a:srgbClr val="273239"/>
                </a:solidFill>
                <a:effectLst/>
                <a:latin typeface="Nunito" pitchFamily="2" charset="0"/>
              </a:rPr>
              <a:t> is name of the table, column is the name of column</a:t>
            </a:r>
          </a:p>
          <a:p>
            <a:pPr algn="l" rtl="0" fontAlgn="base">
              <a:spcAft>
                <a:spcPts val="750"/>
              </a:spcAft>
            </a:pPr>
            <a:endParaRPr lang="en-IN" b="0" i="0" dirty="0">
              <a:solidFill>
                <a:srgbClr val="273239"/>
              </a:solidFill>
              <a:effectLst/>
              <a:latin typeface="Nunito" pitchFamily="2" charset="0"/>
            </a:endParaRPr>
          </a:p>
          <a:p>
            <a:pPr algn="l" rtl="0" fontAlgn="base">
              <a:spcAft>
                <a:spcPts val="750"/>
              </a:spcAft>
            </a:pPr>
            <a:endParaRPr lang="en-IN" b="0" i="0" dirty="0">
              <a:solidFill>
                <a:srgbClr val="273239"/>
              </a:solidFill>
              <a:effectLst/>
              <a:latin typeface="Nunito" pitchFamily="2" charset="0"/>
            </a:endParaRPr>
          </a:p>
          <a:p>
            <a:pPr algn="l" rtl="0" fontAlgn="base">
              <a:spcAft>
                <a:spcPts val="750"/>
              </a:spcAft>
            </a:pPr>
            <a:endParaRPr lang="en-IN" b="0" i="0" dirty="0">
              <a:solidFill>
                <a:srgbClr val="273239"/>
              </a:solidFill>
              <a:effectLst/>
              <a:latin typeface="Nunito" pitchFamily="2" charset="0"/>
            </a:endParaRPr>
          </a:p>
          <a:p>
            <a:pPr algn="l" rtl="0" fontAlgn="base">
              <a:spcAft>
                <a:spcPts val="750"/>
              </a:spcAft>
            </a:pPr>
            <a:endParaRPr lang="en-IN"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28385310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5404-AAD8-E54B-DFD0-E9C8E4C234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A0267-A0CC-EB69-4091-2F2A83CD715D}"/>
              </a:ext>
            </a:extLst>
          </p:cNvPr>
          <p:cNvSpPr>
            <a:spLocks noGrp="1"/>
          </p:cNvSpPr>
          <p:nvPr>
            <p:ph type="title"/>
          </p:nvPr>
        </p:nvSpPr>
        <p:spPr>
          <a:xfrm>
            <a:off x="1371600" y="0"/>
            <a:ext cx="9601200" cy="808892"/>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CREATE TABLE in SQL</a:t>
            </a:r>
            <a:br>
              <a:rPr lang="en-IN" b="1" i="0" dirty="0">
                <a:solidFill>
                  <a:srgbClr val="273239"/>
                </a:solidFill>
                <a:effectLst/>
                <a:latin typeface="Nunito" pitchFamily="2" charset="0"/>
              </a:rPr>
            </a:br>
            <a:r>
              <a:rPr lang="en-IN" dirty="0"/>
              <a:t/>
            </a:r>
            <a:br>
              <a:rPr lang="en-IN" dirty="0"/>
            </a:br>
            <a:endParaRPr lang="en-IN" dirty="0"/>
          </a:p>
        </p:txBody>
      </p:sp>
      <p:sp>
        <p:nvSpPr>
          <p:cNvPr id="3" name="Text Placeholder 2">
            <a:extLst>
              <a:ext uri="{FF2B5EF4-FFF2-40B4-BE49-F238E27FC236}">
                <a16:creationId xmlns:a16="http://schemas.microsoft.com/office/drawing/2014/main" id="{3B528888-932B-AD60-8638-507ECC0ECFAB}"/>
              </a:ext>
            </a:extLst>
          </p:cNvPr>
          <p:cNvSpPr>
            <a:spLocks noGrp="1"/>
          </p:cNvSpPr>
          <p:nvPr>
            <p:ph type="body" idx="1"/>
          </p:nvPr>
        </p:nvSpPr>
        <p:spPr>
          <a:xfrm>
            <a:off x="808892" y="650630"/>
            <a:ext cx="11383108" cy="6122310"/>
          </a:xfrm>
        </p:spPr>
        <p:txBody>
          <a:bodyPr>
            <a:normAutofit/>
          </a:bodyPr>
          <a:lstStyle/>
          <a:p>
            <a:r>
              <a:rPr lang="en-IN" dirty="0"/>
              <a:t>CREATE TABLE Customer(</a:t>
            </a:r>
          </a:p>
          <a:p>
            <a:r>
              <a:rPr lang="en-IN" dirty="0"/>
              <a:t>    </a:t>
            </a:r>
            <a:r>
              <a:rPr lang="en-IN" dirty="0" err="1"/>
              <a:t>CustomerID</a:t>
            </a:r>
            <a:r>
              <a:rPr lang="en-IN" dirty="0"/>
              <a:t> INT PRIMARY KEY,</a:t>
            </a:r>
          </a:p>
          <a:p>
            <a:r>
              <a:rPr lang="en-IN" dirty="0"/>
              <a:t>    </a:t>
            </a:r>
            <a:r>
              <a:rPr lang="en-IN" dirty="0" err="1"/>
              <a:t>CustomerName</a:t>
            </a:r>
            <a:r>
              <a:rPr lang="en-IN" dirty="0"/>
              <a:t> VARCHAR(50),</a:t>
            </a:r>
          </a:p>
          <a:p>
            <a:r>
              <a:rPr lang="en-IN" dirty="0"/>
              <a:t>    </a:t>
            </a:r>
            <a:r>
              <a:rPr lang="en-IN" dirty="0" err="1"/>
              <a:t>LastName</a:t>
            </a:r>
            <a:r>
              <a:rPr lang="en-IN" dirty="0"/>
              <a:t> VARCHAR(50),</a:t>
            </a:r>
          </a:p>
          <a:p>
            <a:r>
              <a:rPr lang="en-IN" dirty="0"/>
              <a:t>    Country VARCHAR(50),</a:t>
            </a:r>
          </a:p>
          <a:p>
            <a:r>
              <a:rPr lang="en-IN" dirty="0"/>
              <a:t>    Age INT CHECK (Age &gt;= 0 AND Age &lt;= 99),</a:t>
            </a:r>
          </a:p>
          <a:p>
            <a:r>
              <a:rPr lang="en-IN" dirty="0"/>
              <a:t>    Phone int(10)</a:t>
            </a:r>
          </a:p>
          <a:p>
            <a:r>
              <a:rPr lang="en-IN" dirty="0"/>
              <a:t>);</a:t>
            </a:r>
          </a:p>
          <a:p>
            <a:r>
              <a:rPr lang="en-IN" dirty="0"/>
              <a:t>Output:</a:t>
            </a:r>
          </a:p>
          <a:p>
            <a:endParaRPr lang="en-IN" dirty="0"/>
          </a:p>
          <a:p>
            <a:endParaRPr lang="en-IN" dirty="0"/>
          </a:p>
        </p:txBody>
      </p:sp>
      <p:pic>
        <p:nvPicPr>
          <p:cNvPr id="7" name="Picture 6">
            <a:extLst>
              <a:ext uri="{FF2B5EF4-FFF2-40B4-BE49-F238E27FC236}">
                <a16:creationId xmlns:a16="http://schemas.microsoft.com/office/drawing/2014/main" id="{1AAC3A2A-2134-7746-9297-BF7C60C332BD}"/>
              </a:ext>
            </a:extLst>
          </p:cNvPr>
          <p:cNvPicPr>
            <a:picLocks noChangeAspect="1"/>
          </p:cNvPicPr>
          <p:nvPr/>
        </p:nvPicPr>
        <p:blipFill>
          <a:blip r:embed="rId2"/>
          <a:stretch>
            <a:fillRect/>
          </a:stretch>
        </p:blipFill>
        <p:spPr>
          <a:xfrm>
            <a:off x="1371600" y="4608549"/>
            <a:ext cx="6410325" cy="1085850"/>
          </a:xfrm>
          <a:prstGeom prst="rect">
            <a:avLst/>
          </a:prstGeom>
        </p:spPr>
      </p:pic>
    </p:spTree>
    <p:extLst>
      <p:ext uri="{BB962C8B-B14F-4D97-AF65-F5344CB8AC3E}">
        <p14:creationId xmlns:p14="http://schemas.microsoft.com/office/powerpoint/2010/main" val="359447202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779E8-7007-DA14-873E-C0E86172B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A93D2-3A9F-88B7-B4D4-5AE8F8E30E10}"/>
              </a:ext>
            </a:extLst>
          </p:cNvPr>
          <p:cNvSpPr>
            <a:spLocks noGrp="1"/>
          </p:cNvSpPr>
          <p:nvPr>
            <p:ph type="title"/>
          </p:nvPr>
        </p:nvSpPr>
        <p:spPr>
          <a:xfrm>
            <a:off x="1371600" y="0"/>
            <a:ext cx="9601200" cy="808892"/>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Insert Data in SQL</a:t>
            </a:r>
            <a:r>
              <a:rPr lang="en-IN" dirty="0"/>
              <a:t/>
            </a:r>
            <a:br>
              <a:rPr lang="en-IN" dirty="0"/>
            </a:br>
            <a:endParaRPr lang="en-IN" dirty="0"/>
          </a:p>
        </p:txBody>
      </p:sp>
      <p:sp>
        <p:nvSpPr>
          <p:cNvPr id="3" name="Text Placeholder 2">
            <a:extLst>
              <a:ext uri="{FF2B5EF4-FFF2-40B4-BE49-F238E27FC236}">
                <a16:creationId xmlns:a16="http://schemas.microsoft.com/office/drawing/2014/main" id="{4A5AE2B5-A723-DD7C-C72C-2E32EA4416C9}"/>
              </a:ext>
            </a:extLst>
          </p:cNvPr>
          <p:cNvSpPr>
            <a:spLocks noGrp="1"/>
          </p:cNvSpPr>
          <p:nvPr>
            <p:ph type="body" idx="1"/>
          </p:nvPr>
        </p:nvSpPr>
        <p:spPr>
          <a:xfrm>
            <a:off x="808892" y="650630"/>
            <a:ext cx="11383108" cy="6122310"/>
          </a:xfrm>
        </p:spPr>
        <p:txBody>
          <a:bodyPr>
            <a:normAutofit/>
          </a:bodyPr>
          <a:lstStyle/>
          <a:p>
            <a:r>
              <a:rPr lang="en-IN" dirty="0" err="1"/>
              <a:t>Syntax:INSERT</a:t>
            </a:r>
            <a:r>
              <a:rPr lang="en-IN" dirty="0"/>
              <a:t> INTO </a:t>
            </a:r>
            <a:r>
              <a:rPr lang="en-IN" dirty="0" err="1"/>
              <a:t>table_name</a:t>
            </a:r>
            <a:r>
              <a:rPr lang="en-IN" dirty="0"/>
              <a:t> (column1, column2, …) VALUES (value1, value2, …);</a:t>
            </a:r>
          </a:p>
          <a:p>
            <a:r>
              <a:rPr lang="en-IN" dirty="0"/>
              <a:t>Example Query</a:t>
            </a:r>
          </a:p>
          <a:p>
            <a:r>
              <a:rPr lang="en-IN" dirty="0"/>
              <a:t>This query will add data in the table named Subject </a:t>
            </a:r>
          </a:p>
          <a:p>
            <a:pPr marL="0" indent="0">
              <a:buNone/>
            </a:pPr>
            <a:endParaRPr lang="en-IN" dirty="0"/>
          </a:p>
          <a:p>
            <a:pPr marL="0" indent="0">
              <a:buNone/>
            </a:pPr>
            <a:r>
              <a:rPr lang="en-IN" dirty="0"/>
              <a:t>INSERT INTO Customer (</a:t>
            </a:r>
            <a:r>
              <a:rPr lang="en-IN" dirty="0" err="1"/>
              <a:t>CustomerID</a:t>
            </a:r>
            <a:r>
              <a:rPr lang="en-IN" dirty="0"/>
              <a:t>, </a:t>
            </a:r>
            <a:r>
              <a:rPr lang="en-IN" dirty="0" err="1"/>
              <a:t>CustomerName</a:t>
            </a:r>
            <a:r>
              <a:rPr lang="en-IN" dirty="0"/>
              <a:t>, </a:t>
            </a:r>
            <a:r>
              <a:rPr lang="en-IN" dirty="0" err="1"/>
              <a:t>LastName</a:t>
            </a:r>
            <a:r>
              <a:rPr lang="en-IN" dirty="0"/>
              <a:t>, Country, Age, Phone)</a:t>
            </a:r>
          </a:p>
          <a:p>
            <a:pPr marL="0" indent="0">
              <a:buNone/>
            </a:pPr>
            <a:r>
              <a:rPr lang="en-IN" dirty="0"/>
              <a:t>VALUES (1, 'Shubham', 'Thakur', 'India','23','xxxxxxxxxx'),</a:t>
            </a:r>
          </a:p>
          <a:p>
            <a:pPr marL="0" indent="0">
              <a:buNone/>
            </a:pPr>
            <a:r>
              <a:rPr lang="en-IN" dirty="0"/>
              <a:t>       (2, 'Aman ', 'Chopra', 'Australia','21','xxxxxxxxxx'),</a:t>
            </a:r>
          </a:p>
          <a:p>
            <a:pPr marL="0" indent="0">
              <a:buNone/>
            </a:pPr>
            <a:r>
              <a:rPr lang="en-IN" dirty="0"/>
              <a:t>       (3, 'Naveen', 'Tulasi', 'Sri lanka','24','xxxxxxxxxx'),</a:t>
            </a:r>
          </a:p>
          <a:p>
            <a:pPr marL="0" indent="0">
              <a:buNone/>
            </a:pPr>
            <a:r>
              <a:rPr lang="en-IN" dirty="0"/>
              <a:t>       (4, 'Aditya', 'Arpan', 'Austria','21','xxxxxxxxxx'),</a:t>
            </a:r>
          </a:p>
          <a:p>
            <a:pPr marL="0" indent="0">
              <a:buNone/>
            </a:pPr>
            <a:r>
              <a:rPr lang="en-IN" dirty="0"/>
              <a:t>       (5, 'Nishant. </a:t>
            </a:r>
            <a:r>
              <a:rPr lang="en-IN" dirty="0" err="1"/>
              <a:t>Salchichas</a:t>
            </a:r>
            <a:r>
              <a:rPr lang="en-IN" dirty="0"/>
              <a:t> S.A.', 'Jain', 'Spain','22','xxxxxxxxxx');</a:t>
            </a:r>
          </a:p>
          <a:p>
            <a:pPr marL="0" indent="0">
              <a:buNone/>
            </a:pPr>
            <a:endParaRPr lang="en-IN" dirty="0"/>
          </a:p>
        </p:txBody>
      </p:sp>
    </p:spTree>
    <p:extLst>
      <p:ext uri="{BB962C8B-B14F-4D97-AF65-F5344CB8AC3E}">
        <p14:creationId xmlns:p14="http://schemas.microsoft.com/office/powerpoint/2010/main" val="19244385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BAAC-4531-DED5-23F5-73328B18A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31458-E7E3-8E86-E1E2-7FAA243E9E64}"/>
              </a:ext>
            </a:extLst>
          </p:cNvPr>
          <p:cNvSpPr>
            <a:spLocks noGrp="1"/>
          </p:cNvSpPr>
          <p:nvPr>
            <p:ph type="title"/>
          </p:nvPr>
        </p:nvSpPr>
        <p:spPr>
          <a:xfrm>
            <a:off x="1371600" y="21265"/>
            <a:ext cx="9601200" cy="808892"/>
          </a:xfrm>
        </p:spPr>
        <p:txBody>
          <a:bodyPr>
            <a:normAutofit/>
          </a:bodyPr>
          <a:lstStyle/>
          <a:p>
            <a:pPr algn="l" fontAlgn="base">
              <a:spcBef>
                <a:spcPts val="1800"/>
              </a:spcBef>
              <a:spcAft>
                <a:spcPts val="1800"/>
              </a:spcAft>
            </a:pPr>
            <a:r>
              <a:rPr lang="en-IN" b="1" i="0" dirty="0">
                <a:solidFill>
                  <a:srgbClr val="273239"/>
                </a:solidFill>
                <a:effectLst/>
                <a:latin typeface="Nunito" pitchFamily="2" charset="0"/>
              </a:rPr>
              <a:t>Output:</a:t>
            </a:r>
            <a:endParaRPr lang="en-IN" dirty="0"/>
          </a:p>
        </p:txBody>
      </p:sp>
      <p:sp>
        <p:nvSpPr>
          <p:cNvPr id="3" name="Text Placeholder 2">
            <a:extLst>
              <a:ext uri="{FF2B5EF4-FFF2-40B4-BE49-F238E27FC236}">
                <a16:creationId xmlns:a16="http://schemas.microsoft.com/office/drawing/2014/main" id="{7E46C116-FA0F-BB75-7C21-B7D0F8DEDB7F}"/>
              </a:ext>
            </a:extLst>
          </p:cNvPr>
          <p:cNvSpPr>
            <a:spLocks noGrp="1"/>
          </p:cNvSpPr>
          <p:nvPr>
            <p:ph type="body" idx="1"/>
          </p:nvPr>
        </p:nvSpPr>
        <p:spPr>
          <a:xfrm>
            <a:off x="1371600" y="999461"/>
            <a:ext cx="10163908" cy="5103628"/>
          </a:xfrm>
        </p:spPr>
        <p:txBody>
          <a:bodyPr>
            <a:normAutofit/>
          </a:bodyPr>
          <a:lstStyle/>
          <a:p>
            <a:pPr marL="0" indent="0">
              <a:buNone/>
            </a:pPr>
            <a:endParaRPr lang="en-IN" dirty="0"/>
          </a:p>
        </p:txBody>
      </p:sp>
      <p:pic>
        <p:nvPicPr>
          <p:cNvPr id="6" name="Picture 5">
            <a:extLst>
              <a:ext uri="{FF2B5EF4-FFF2-40B4-BE49-F238E27FC236}">
                <a16:creationId xmlns:a16="http://schemas.microsoft.com/office/drawing/2014/main" id="{D2217B95-5BF5-7259-FCA3-762482478C3A}"/>
              </a:ext>
            </a:extLst>
          </p:cNvPr>
          <p:cNvPicPr>
            <a:picLocks noChangeAspect="1"/>
          </p:cNvPicPr>
          <p:nvPr/>
        </p:nvPicPr>
        <p:blipFill>
          <a:blip r:embed="rId2"/>
          <a:stretch>
            <a:fillRect/>
          </a:stretch>
        </p:blipFill>
        <p:spPr>
          <a:xfrm>
            <a:off x="1460137" y="999461"/>
            <a:ext cx="10075371" cy="5259126"/>
          </a:xfrm>
          <a:prstGeom prst="rect">
            <a:avLst/>
          </a:prstGeom>
        </p:spPr>
      </p:pic>
    </p:spTree>
    <p:extLst>
      <p:ext uri="{BB962C8B-B14F-4D97-AF65-F5344CB8AC3E}">
        <p14:creationId xmlns:p14="http://schemas.microsoft.com/office/powerpoint/2010/main" val="251587053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63D64-7966-91B2-DC7A-34BE3EEFA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F234E-8191-55C9-0561-2FDE15B28B5D}"/>
              </a:ext>
            </a:extLst>
          </p:cNvPr>
          <p:cNvSpPr>
            <a:spLocks noGrp="1"/>
          </p:cNvSpPr>
          <p:nvPr>
            <p:ph type="title"/>
          </p:nvPr>
        </p:nvSpPr>
        <p:spPr>
          <a:xfrm>
            <a:off x="1371600" y="21265"/>
            <a:ext cx="9601200" cy="808892"/>
          </a:xfrm>
        </p:spPr>
        <p:txBody>
          <a:bodyPr>
            <a:normAutofit fontScale="90000"/>
          </a:bodyPr>
          <a:lstStyle/>
          <a:p>
            <a:pPr algn="l" fontAlgn="base"/>
            <a:r>
              <a:rPr lang="en-IN" b="1" i="0" dirty="0">
                <a:solidFill>
                  <a:srgbClr val="273239"/>
                </a:solidFill>
                <a:effectLst/>
                <a:latin typeface="Nunito" pitchFamily="2" charset="0"/>
              </a:rPr>
              <a:t>DROP TABLE in SQL</a:t>
            </a:r>
            <a:br>
              <a:rPr lang="en-IN" b="1" i="0" dirty="0">
                <a:solidFill>
                  <a:srgbClr val="273239"/>
                </a:solidFill>
                <a:effectLst/>
                <a:latin typeface="Nunito" pitchFamily="2" charset="0"/>
              </a:rPr>
            </a:br>
            <a:r>
              <a:rPr lang="en-IN" b="0" i="0" dirty="0">
                <a:solidFill>
                  <a:srgbClr val="273239"/>
                </a:solidFill>
                <a:effectLst/>
                <a:latin typeface="Nunito" pitchFamily="2" charset="0"/>
              </a:rPr>
              <a:t/>
            </a:r>
            <a:br>
              <a:rPr lang="en-IN" b="0" i="0" dirty="0">
                <a:solidFill>
                  <a:srgbClr val="273239"/>
                </a:solidFill>
                <a:effectLst/>
                <a:latin typeface="Nunito" pitchFamily="2" charset="0"/>
              </a:rPr>
            </a:br>
            <a:endParaRPr lang="en-IN" dirty="0"/>
          </a:p>
        </p:txBody>
      </p:sp>
      <p:sp>
        <p:nvSpPr>
          <p:cNvPr id="3" name="Text Placeholder 2">
            <a:extLst>
              <a:ext uri="{FF2B5EF4-FFF2-40B4-BE49-F238E27FC236}">
                <a16:creationId xmlns:a16="http://schemas.microsoft.com/office/drawing/2014/main" id="{89DA019D-DE86-1A91-9007-EF9594F91CC5}"/>
              </a:ext>
            </a:extLst>
          </p:cNvPr>
          <p:cNvSpPr>
            <a:spLocks noGrp="1"/>
          </p:cNvSpPr>
          <p:nvPr>
            <p:ph type="body" idx="1"/>
          </p:nvPr>
        </p:nvSpPr>
        <p:spPr>
          <a:xfrm>
            <a:off x="1371600" y="999461"/>
            <a:ext cx="10163908" cy="5103628"/>
          </a:xfrm>
        </p:spPr>
        <p:txBody>
          <a:bodyPr>
            <a:normAutofit/>
          </a:bodyPr>
          <a:lstStyle/>
          <a:p>
            <a:pPr>
              <a:buFont typeface="Wingdings" panose="05000000000000000000" pitchFamily="2" charset="2"/>
              <a:buChar char="§"/>
            </a:pPr>
            <a:r>
              <a:rPr lang="en-IN" dirty="0"/>
              <a:t>The DROP TABLE statement in SQL is used to delete a table and all of its data from the database permanently.</a:t>
            </a:r>
          </a:p>
          <a:p>
            <a:pPr>
              <a:buFont typeface="Wingdings" panose="05000000000000000000" pitchFamily="2" charset="2"/>
              <a:buChar char="§"/>
            </a:pPr>
            <a:r>
              <a:rPr lang="en-IN" dirty="0"/>
              <a:t>This operation cannot be undone, and once the table is dropped all data in that table is lost.</a:t>
            </a:r>
          </a:p>
          <a:p>
            <a:pPr>
              <a:buFont typeface="Wingdings" panose="05000000000000000000" pitchFamily="2" charset="2"/>
              <a:buChar char="§"/>
            </a:pPr>
            <a:r>
              <a:rPr lang="en-IN" dirty="0"/>
              <a:t>Once executed, this operation removes the table definition and all of its rows, so the table can no longer be accessed or used.</a:t>
            </a:r>
          </a:p>
          <a:p>
            <a:pPr>
              <a:buFont typeface="Wingdings" panose="05000000000000000000" pitchFamily="2" charset="2"/>
              <a:buChar char="§"/>
            </a:pPr>
            <a:r>
              <a:rPr lang="en-IN" dirty="0"/>
              <a:t>This action is irreversible which means that once a table is dropped, it cannot be recovered unless there is a backup.</a:t>
            </a:r>
          </a:p>
          <a:p>
            <a:pPr>
              <a:buFont typeface="Wingdings" panose="05000000000000000000" pitchFamily="2" charset="2"/>
              <a:buChar char="§"/>
            </a:pPr>
            <a:r>
              <a:rPr lang="en-IN" dirty="0"/>
              <a:t>Syntex:</a:t>
            </a:r>
          </a:p>
          <a:p>
            <a:pPr marL="0" indent="0">
              <a:buNone/>
            </a:pPr>
            <a:r>
              <a:rPr lang="en-IN" dirty="0"/>
              <a:t>	DROP TABLE </a:t>
            </a:r>
            <a:r>
              <a:rPr lang="en-IN" dirty="0" err="1"/>
              <a:t>table_name</a:t>
            </a:r>
            <a:r>
              <a:rPr lang="en-IN" dirty="0"/>
              <a:t>;</a:t>
            </a:r>
          </a:p>
          <a:p>
            <a:pPr>
              <a:buFont typeface="Wingdings" panose="05000000000000000000" pitchFamily="2" charset="2"/>
              <a:buChar char="§"/>
            </a:pPr>
            <a:endParaRPr lang="en-IN" dirty="0"/>
          </a:p>
          <a:p>
            <a:pPr marL="0" indent="0">
              <a:buNone/>
            </a:pPr>
            <a:endParaRPr lang="en-IN" dirty="0"/>
          </a:p>
        </p:txBody>
      </p:sp>
    </p:spTree>
    <p:extLst>
      <p:ext uri="{BB962C8B-B14F-4D97-AF65-F5344CB8AC3E}">
        <p14:creationId xmlns:p14="http://schemas.microsoft.com/office/powerpoint/2010/main" val="18460857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C2A25-1338-ED4D-CC49-3448DCDB2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81942-098A-C918-AAC9-36E4994CB987}"/>
              </a:ext>
            </a:extLst>
          </p:cNvPr>
          <p:cNvSpPr>
            <a:spLocks noGrp="1"/>
          </p:cNvSpPr>
          <p:nvPr>
            <p:ph type="title"/>
          </p:nvPr>
        </p:nvSpPr>
        <p:spPr>
          <a:xfrm>
            <a:off x="1371600" y="21265"/>
            <a:ext cx="9601200" cy="808892"/>
          </a:xfrm>
        </p:spPr>
        <p:txBody>
          <a:bodyPr>
            <a:normAutofit fontScale="90000"/>
          </a:bodyPr>
          <a:lstStyle/>
          <a:p>
            <a:pPr algn="l" fontAlgn="base"/>
            <a:r>
              <a:rPr lang="en-IN" b="1" i="0" dirty="0">
                <a:solidFill>
                  <a:srgbClr val="273239"/>
                </a:solidFill>
                <a:effectLst/>
                <a:latin typeface="Nunito" pitchFamily="2" charset="0"/>
              </a:rPr>
              <a:t>DROP TABLE in SQL</a:t>
            </a:r>
            <a:br>
              <a:rPr lang="en-IN" b="1" i="0" dirty="0">
                <a:solidFill>
                  <a:srgbClr val="273239"/>
                </a:solidFill>
                <a:effectLst/>
                <a:latin typeface="Nunito" pitchFamily="2" charset="0"/>
              </a:rPr>
            </a:br>
            <a:r>
              <a:rPr lang="en-IN" b="0" i="0" dirty="0">
                <a:solidFill>
                  <a:srgbClr val="273239"/>
                </a:solidFill>
                <a:effectLst/>
                <a:latin typeface="Nunito" pitchFamily="2" charset="0"/>
              </a:rPr>
              <a:t/>
            </a:r>
            <a:br>
              <a:rPr lang="en-IN" b="0" i="0" dirty="0">
                <a:solidFill>
                  <a:srgbClr val="273239"/>
                </a:solidFill>
                <a:effectLst/>
                <a:latin typeface="Nunito" pitchFamily="2" charset="0"/>
              </a:rPr>
            </a:br>
            <a:r>
              <a:rPr lang="en-IN" b="0" i="0" dirty="0">
                <a:solidFill>
                  <a:srgbClr val="273239"/>
                </a:solidFill>
                <a:effectLst/>
                <a:latin typeface="Nunito" pitchFamily="2" charset="0"/>
              </a:rPr>
              <a:t/>
            </a:r>
            <a:br>
              <a:rPr lang="en-IN" b="0" i="0" dirty="0">
                <a:solidFill>
                  <a:srgbClr val="273239"/>
                </a:solidFill>
                <a:effectLst/>
                <a:latin typeface="Nunito" pitchFamily="2" charset="0"/>
              </a:rPr>
            </a:br>
            <a:r>
              <a:rPr lang="en-IN" b="0" i="0" dirty="0">
                <a:solidFill>
                  <a:srgbClr val="273239"/>
                </a:solidFill>
                <a:effectLst/>
                <a:latin typeface="Nunito" pitchFamily="2" charset="0"/>
              </a:rPr>
              <a:t/>
            </a:r>
            <a:br>
              <a:rPr lang="en-IN" b="0" i="0" dirty="0">
                <a:solidFill>
                  <a:srgbClr val="273239"/>
                </a:solidFill>
                <a:effectLst/>
                <a:latin typeface="Nunito" pitchFamily="2" charset="0"/>
              </a:rPr>
            </a:br>
            <a:endParaRPr lang="en-IN" dirty="0"/>
          </a:p>
        </p:txBody>
      </p:sp>
      <p:sp>
        <p:nvSpPr>
          <p:cNvPr id="3" name="Text Placeholder 2">
            <a:extLst>
              <a:ext uri="{FF2B5EF4-FFF2-40B4-BE49-F238E27FC236}">
                <a16:creationId xmlns:a16="http://schemas.microsoft.com/office/drawing/2014/main" id="{C52FEF2D-BD6E-3911-C18F-F2029A93E740}"/>
              </a:ext>
            </a:extLst>
          </p:cNvPr>
          <p:cNvSpPr>
            <a:spLocks noGrp="1"/>
          </p:cNvSpPr>
          <p:nvPr>
            <p:ph type="body" idx="1"/>
          </p:nvPr>
        </p:nvSpPr>
        <p:spPr>
          <a:xfrm>
            <a:off x="1371600" y="999461"/>
            <a:ext cx="10163908" cy="5103628"/>
          </a:xfrm>
        </p:spPr>
        <p:txBody>
          <a:bodyPr>
            <a:normAutofit/>
          </a:bodyPr>
          <a:lstStyle/>
          <a:p>
            <a:pPr>
              <a:buFont typeface="Wingdings" panose="05000000000000000000" pitchFamily="2" charset="2"/>
              <a:buChar char="§"/>
            </a:pPr>
            <a:r>
              <a:rPr lang="en-IN" dirty="0"/>
              <a:t>Query:</a:t>
            </a:r>
          </a:p>
          <a:p>
            <a:pPr marL="0" indent="0">
              <a:buNone/>
            </a:pPr>
            <a:r>
              <a:rPr lang="en-IN" dirty="0"/>
              <a:t>	DROP TABLE categories;</a:t>
            </a:r>
          </a:p>
          <a:p>
            <a:pPr marL="0" indent="0">
              <a:buNone/>
            </a:pPr>
            <a:endParaRPr lang="en-IN" dirty="0"/>
          </a:p>
          <a:p>
            <a:pPr>
              <a:buFont typeface="Wingdings" panose="05000000000000000000" pitchFamily="2" charset="2"/>
              <a:buChar char="§"/>
            </a:pPr>
            <a:endParaRPr lang="en-IN" dirty="0"/>
          </a:p>
          <a:p>
            <a:pPr>
              <a:buFont typeface="Wingdings" panose="05000000000000000000" pitchFamily="2" charset="2"/>
              <a:buChar char="§"/>
            </a:pPr>
            <a:r>
              <a:rPr lang="en-IN" dirty="0"/>
              <a:t>Output</a:t>
            </a:r>
          </a:p>
        </p:txBody>
      </p:sp>
      <p:pic>
        <p:nvPicPr>
          <p:cNvPr id="6" name="Picture 5">
            <a:extLst>
              <a:ext uri="{FF2B5EF4-FFF2-40B4-BE49-F238E27FC236}">
                <a16:creationId xmlns:a16="http://schemas.microsoft.com/office/drawing/2014/main" id="{D4227CAA-074D-C351-1C30-69B9BA30E99E}"/>
              </a:ext>
            </a:extLst>
          </p:cNvPr>
          <p:cNvPicPr>
            <a:picLocks noChangeAspect="1"/>
          </p:cNvPicPr>
          <p:nvPr/>
        </p:nvPicPr>
        <p:blipFill>
          <a:blip r:embed="rId2"/>
          <a:stretch>
            <a:fillRect/>
          </a:stretch>
        </p:blipFill>
        <p:spPr>
          <a:xfrm>
            <a:off x="1847850" y="3200733"/>
            <a:ext cx="8648700" cy="2902356"/>
          </a:xfrm>
          <a:prstGeom prst="rect">
            <a:avLst/>
          </a:prstGeom>
        </p:spPr>
      </p:pic>
    </p:spTree>
    <p:extLst>
      <p:ext uri="{BB962C8B-B14F-4D97-AF65-F5344CB8AC3E}">
        <p14:creationId xmlns:p14="http://schemas.microsoft.com/office/powerpoint/2010/main" val="246430677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CFC4-EDFB-9531-2977-A3A6DD448EE1}"/>
              </a:ext>
            </a:extLst>
          </p:cNvPr>
          <p:cNvSpPr>
            <a:spLocks noGrp="1"/>
          </p:cNvSpPr>
          <p:nvPr>
            <p:ph type="title"/>
          </p:nvPr>
        </p:nvSpPr>
        <p:spPr>
          <a:xfrm>
            <a:off x="1371600" y="0"/>
            <a:ext cx="9601200" cy="1143000"/>
          </a:xfrm>
        </p:spPr>
        <p:txBody>
          <a:bodyPr>
            <a:normAutofit fontScale="90000"/>
          </a:bodyPr>
          <a:lstStyle/>
          <a:p>
            <a:r>
              <a:rPr lang="en-IN" b="1" i="0" dirty="0">
                <a:solidFill>
                  <a:srgbClr val="273239"/>
                </a:solidFill>
                <a:effectLst/>
                <a:latin typeface="Nunito" pitchFamily="2" charset="0"/>
              </a:rPr>
              <a:t>Data Query Language (DQL)</a:t>
            </a:r>
            <a:br>
              <a:rPr lang="en-IN" b="1" i="0" dirty="0">
                <a:solidFill>
                  <a:srgbClr val="273239"/>
                </a:solidFill>
                <a:effectLst/>
                <a:latin typeface="Nunito" pitchFamily="2" charset="0"/>
              </a:rPr>
            </a:br>
            <a:endParaRPr lang="en-IN" dirty="0"/>
          </a:p>
        </p:txBody>
      </p:sp>
      <p:sp>
        <p:nvSpPr>
          <p:cNvPr id="3" name="Text Placeholder 2">
            <a:extLst>
              <a:ext uri="{FF2B5EF4-FFF2-40B4-BE49-F238E27FC236}">
                <a16:creationId xmlns:a16="http://schemas.microsoft.com/office/drawing/2014/main" id="{C3343905-913F-9431-2565-A9B89113EF04}"/>
              </a:ext>
            </a:extLst>
          </p:cNvPr>
          <p:cNvSpPr>
            <a:spLocks noGrp="1"/>
          </p:cNvSpPr>
          <p:nvPr>
            <p:ph type="body" idx="1"/>
          </p:nvPr>
        </p:nvSpPr>
        <p:spPr>
          <a:xfrm>
            <a:off x="1371600" y="896815"/>
            <a:ext cx="9601200" cy="4970585"/>
          </a:xfrm>
        </p:spPr>
        <p:txBody>
          <a:bodyPr/>
          <a:lstStyle/>
          <a:p>
            <a:r>
              <a:rPr lang="en-US" b="1" i="0" dirty="0">
                <a:solidFill>
                  <a:srgbClr val="273239"/>
                </a:solidFill>
                <a:effectLst/>
                <a:latin typeface="Nunito" pitchFamily="2" charset="0"/>
              </a:rPr>
              <a:t>DQL statements</a:t>
            </a:r>
            <a:r>
              <a:rPr lang="en-US" b="0" i="0" dirty="0">
                <a:solidFill>
                  <a:srgbClr val="273239"/>
                </a:solidFill>
                <a:effectLst/>
                <a:latin typeface="Nunito" pitchFamily="2" charset="0"/>
              </a:rPr>
              <a:t> are used for performing queries on the data within </a:t>
            </a:r>
            <a:r>
              <a:rPr lang="en-US" b="1" i="0" dirty="0">
                <a:solidFill>
                  <a:srgbClr val="273239"/>
                </a:solidFill>
                <a:effectLst/>
                <a:latin typeface="Nunito" pitchFamily="2" charset="0"/>
              </a:rPr>
              <a:t>schema objects</a:t>
            </a:r>
            <a:r>
              <a:rPr lang="en-US" b="0" i="0" dirty="0">
                <a:solidFill>
                  <a:srgbClr val="273239"/>
                </a:solidFill>
                <a:effectLst/>
                <a:latin typeface="Nunito" pitchFamily="2" charset="0"/>
              </a:rPr>
              <a:t>. The purpose of the DQL Command is to get some </a:t>
            </a:r>
            <a:r>
              <a:rPr lang="en-US" b="1" i="0" dirty="0">
                <a:solidFill>
                  <a:srgbClr val="273239"/>
                </a:solidFill>
                <a:effectLst/>
                <a:latin typeface="Nunito" pitchFamily="2" charset="0"/>
              </a:rPr>
              <a:t>schema relation</a:t>
            </a:r>
            <a:r>
              <a:rPr lang="en-US" b="0" i="0" dirty="0">
                <a:solidFill>
                  <a:srgbClr val="273239"/>
                </a:solidFill>
                <a:effectLst/>
                <a:latin typeface="Nunito" pitchFamily="2" charset="0"/>
              </a:rPr>
              <a:t> based on the query passed to it. This command allows getting the data out of the database to perform operations with it. </a:t>
            </a:r>
          </a:p>
          <a:p>
            <a:endParaRPr lang="en-US" b="0" i="0" dirty="0">
              <a:solidFill>
                <a:srgbClr val="273239"/>
              </a:solidFill>
              <a:effectLst/>
              <a:latin typeface="Nunito" pitchFamily="2" charset="0"/>
            </a:endParaRPr>
          </a:p>
          <a:p>
            <a:endParaRPr lang="en-IN" dirty="0"/>
          </a:p>
        </p:txBody>
      </p:sp>
      <p:graphicFrame>
        <p:nvGraphicFramePr>
          <p:cNvPr id="4" name="Table 3">
            <a:extLst>
              <a:ext uri="{FF2B5EF4-FFF2-40B4-BE49-F238E27FC236}">
                <a16:creationId xmlns:a16="http://schemas.microsoft.com/office/drawing/2014/main" id="{040E14D8-3035-689D-F7B1-31D9AF631E10}"/>
              </a:ext>
            </a:extLst>
          </p:cNvPr>
          <p:cNvGraphicFramePr>
            <a:graphicFrameLocks noGrp="1"/>
          </p:cNvGraphicFramePr>
          <p:nvPr/>
        </p:nvGraphicFramePr>
        <p:xfrm>
          <a:off x="1371600" y="2545080"/>
          <a:ext cx="9601200" cy="960120"/>
        </p:xfrm>
        <a:graphic>
          <a:graphicData uri="http://schemas.openxmlformats.org/drawingml/2006/table">
            <a:tbl>
              <a:tblPr/>
              <a:tblGrid>
                <a:gridCol w="3200400">
                  <a:extLst>
                    <a:ext uri="{9D8B030D-6E8A-4147-A177-3AD203B41FA5}">
                      <a16:colId xmlns:a16="http://schemas.microsoft.com/office/drawing/2014/main" val="2383783914"/>
                    </a:ext>
                  </a:extLst>
                </a:gridCol>
                <a:gridCol w="3200400">
                  <a:extLst>
                    <a:ext uri="{9D8B030D-6E8A-4147-A177-3AD203B41FA5}">
                      <a16:colId xmlns:a16="http://schemas.microsoft.com/office/drawing/2014/main" val="1420150756"/>
                    </a:ext>
                  </a:extLst>
                </a:gridCol>
                <a:gridCol w="3200400">
                  <a:extLst>
                    <a:ext uri="{9D8B030D-6E8A-4147-A177-3AD203B41FA5}">
                      <a16:colId xmlns:a16="http://schemas.microsoft.com/office/drawing/2014/main" val="2758879074"/>
                    </a:ext>
                  </a:extLst>
                </a:gridCol>
              </a:tblGrid>
              <a:tr h="0">
                <a:tc>
                  <a:txBody>
                    <a:bodyPr/>
                    <a:lstStyle/>
                    <a:p>
                      <a:pPr algn="ctr" fontAlgn="base"/>
                      <a:r>
                        <a:rPr lang="en-IN" sz="1400" b="1">
                          <a:effectLst/>
                        </a:rPr>
                        <a:t>Command</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Syntax</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53666410"/>
                  </a:ext>
                </a:extLst>
              </a:tr>
              <a:tr h="0">
                <a:tc>
                  <a:txBody>
                    <a:bodyPr/>
                    <a:lstStyle/>
                    <a:p>
                      <a:pPr algn="ctr" rtl="0" fontAlgn="base">
                        <a:spcAft>
                          <a:spcPts val="750"/>
                        </a:spcAft>
                      </a:pPr>
                      <a:r>
                        <a:rPr lang="en-IN" sz="1250" b="1" u="sng">
                          <a:effectLst/>
                          <a:hlinkClick r:id="rId2"/>
                        </a:rPr>
                        <a:t>SELECT</a:t>
                      </a:r>
                      <a:endParaRPr lang="en-IN" sz="125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pPr>
                      <a:r>
                        <a:rPr lang="en-US" sz="1250" b="0">
                          <a:effectLst/>
                        </a:rPr>
                        <a:t>It is used to retrieve data from the database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spcAft>
                          <a:spcPts val="750"/>
                        </a:spcAft>
                      </a:pPr>
                      <a:r>
                        <a:rPr lang="en-US" sz="1250" b="0" dirty="0">
                          <a:effectLst/>
                        </a:rPr>
                        <a:t>SELECT column1, column2, ...FROM </a:t>
                      </a:r>
                      <a:r>
                        <a:rPr lang="en-US" sz="1250" b="0" dirty="0" err="1">
                          <a:effectLst/>
                        </a:rPr>
                        <a:t>table_name</a:t>
                      </a:r>
                      <a:r>
                        <a:rPr lang="en-US" sz="1250" b="0" dirty="0">
                          <a:effectLst/>
                        </a:rPr>
                        <a:t> WHERE condition;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86142504"/>
                  </a:ext>
                </a:extLst>
              </a:tr>
            </a:tbl>
          </a:graphicData>
        </a:graphic>
      </p:graphicFrame>
      <p:sp>
        <p:nvSpPr>
          <p:cNvPr id="6" name="TextBox 5">
            <a:extLst>
              <a:ext uri="{FF2B5EF4-FFF2-40B4-BE49-F238E27FC236}">
                <a16:creationId xmlns:a16="http://schemas.microsoft.com/office/drawing/2014/main" id="{29510848-7D63-DA3B-35D9-3B01809F9487}"/>
              </a:ext>
            </a:extLst>
          </p:cNvPr>
          <p:cNvSpPr txBox="1"/>
          <p:nvPr/>
        </p:nvSpPr>
        <p:spPr>
          <a:xfrm>
            <a:off x="1984864" y="4307115"/>
            <a:ext cx="6097464" cy="1754326"/>
          </a:xfrm>
          <a:prstGeom prst="rect">
            <a:avLst/>
          </a:prstGeom>
          <a:noFill/>
        </p:spPr>
        <p:txBody>
          <a:bodyPr wrap="square">
            <a:spAutoFit/>
          </a:bodyPr>
          <a:lstStyle/>
          <a:p>
            <a:r>
              <a:rPr lang="en-US" b="1" dirty="0"/>
              <a:t>Example of DQL:</a:t>
            </a:r>
          </a:p>
          <a:p>
            <a:endParaRPr lang="en-US" dirty="0"/>
          </a:p>
          <a:p>
            <a:r>
              <a:rPr lang="en-US" dirty="0"/>
              <a:t>SELECT </a:t>
            </a:r>
            <a:r>
              <a:rPr lang="en-US" dirty="0" err="1"/>
              <a:t>first_name</a:t>
            </a:r>
            <a:r>
              <a:rPr lang="en-US" dirty="0"/>
              <a:t>, </a:t>
            </a:r>
            <a:r>
              <a:rPr lang="en-US" dirty="0" err="1"/>
              <a:t>last_name</a:t>
            </a:r>
            <a:r>
              <a:rPr lang="en-US" dirty="0"/>
              <a:t>, </a:t>
            </a:r>
            <a:r>
              <a:rPr lang="en-US" dirty="0" err="1"/>
              <a:t>hire_date</a:t>
            </a:r>
            <a:endParaRPr lang="en-US" dirty="0"/>
          </a:p>
          <a:p>
            <a:r>
              <a:rPr lang="en-US" dirty="0"/>
              <a:t>FROM employees</a:t>
            </a:r>
          </a:p>
          <a:p>
            <a:r>
              <a:rPr lang="en-US" dirty="0"/>
              <a:t>WHERE department = 'Sales'</a:t>
            </a:r>
          </a:p>
          <a:p>
            <a:r>
              <a:rPr lang="en-US" dirty="0"/>
              <a:t>ORDER BY </a:t>
            </a:r>
            <a:r>
              <a:rPr lang="en-US" dirty="0" err="1"/>
              <a:t>hire_date</a:t>
            </a:r>
            <a:r>
              <a:rPr lang="en-US" dirty="0"/>
              <a:t> DESC;</a:t>
            </a:r>
            <a:endParaRPr lang="en-IN" dirty="0"/>
          </a:p>
        </p:txBody>
      </p:sp>
    </p:spTree>
    <p:extLst>
      <p:ext uri="{BB962C8B-B14F-4D97-AF65-F5344CB8AC3E}">
        <p14:creationId xmlns:p14="http://schemas.microsoft.com/office/powerpoint/2010/main" val="340450247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F27D-9033-C97F-9C1F-2A128AAB5D85}"/>
              </a:ext>
            </a:extLst>
          </p:cNvPr>
          <p:cNvSpPr>
            <a:spLocks noGrp="1"/>
          </p:cNvSpPr>
          <p:nvPr>
            <p:ph type="title"/>
          </p:nvPr>
        </p:nvSpPr>
        <p:spPr>
          <a:xfrm>
            <a:off x="1371600" y="0"/>
            <a:ext cx="9601200" cy="888023"/>
          </a:xfrm>
        </p:spPr>
        <p:txBody>
          <a:bodyPr/>
          <a:lstStyle/>
          <a:p>
            <a:r>
              <a:rPr lang="en-IN" dirty="0"/>
              <a:t>DML – Data Manipulation Language</a:t>
            </a:r>
          </a:p>
        </p:txBody>
      </p:sp>
      <p:sp>
        <p:nvSpPr>
          <p:cNvPr id="3" name="Text Placeholder 2">
            <a:extLst>
              <a:ext uri="{FF2B5EF4-FFF2-40B4-BE49-F238E27FC236}">
                <a16:creationId xmlns:a16="http://schemas.microsoft.com/office/drawing/2014/main" id="{1B67DAB3-D4AC-A266-492E-E0D8D4585627}"/>
              </a:ext>
            </a:extLst>
          </p:cNvPr>
          <p:cNvSpPr>
            <a:spLocks noGrp="1"/>
          </p:cNvSpPr>
          <p:nvPr>
            <p:ph type="body" idx="1"/>
          </p:nvPr>
        </p:nvSpPr>
        <p:spPr>
          <a:xfrm>
            <a:off x="703385" y="659423"/>
            <a:ext cx="11488615" cy="888023"/>
          </a:xfrm>
        </p:spPr>
        <p:txBody>
          <a:bodyPr/>
          <a:lstStyle/>
          <a:p>
            <a:r>
              <a:rPr lang="en-US" b="0" i="0" dirty="0">
                <a:solidFill>
                  <a:srgbClr val="273239"/>
                </a:solidFill>
                <a:effectLst/>
                <a:latin typeface="Nunito" pitchFamily="2" charset="0"/>
              </a:rPr>
              <a:t>The </a:t>
            </a:r>
            <a:r>
              <a:rPr lang="en-US" b="1" i="0" dirty="0">
                <a:solidFill>
                  <a:srgbClr val="273239"/>
                </a:solidFill>
                <a:effectLst/>
                <a:latin typeface="Nunito" pitchFamily="2" charset="0"/>
              </a:rPr>
              <a:t>SQL commands</a:t>
            </a:r>
            <a:r>
              <a:rPr lang="en-US" b="0" i="0" dirty="0">
                <a:solidFill>
                  <a:srgbClr val="273239"/>
                </a:solidFill>
                <a:effectLst/>
                <a:latin typeface="Nunito" pitchFamily="2" charset="0"/>
              </a:rPr>
              <a:t> that deal with the </a:t>
            </a:r>
            <a:r>
              <a:rPr lang="en-US" b="1" i="0" dirty="0">
                <a:solidFill>
                  <a:srgbClr val="273239"/>
                </a:solidFill>
                <a:effectLst/>
                <a:latin typeface="Nunito" pitchFamily="2" charset="0"/>
              </a:rPr>
              <a:t>manipulation of data</a:t>
            </a:r>
            <a:r>
              <a:rPr lang="en-US" b="0" i="0" dirty="0">
                <a:solidFill>
                  <a:srgbClr val="273239"/>
                </a:solidFill>
                <a:effectLst/>
                <a:latin typeface="Nunito" pitchFamily="2" charset="0"/>
              </a:rPr>
              <a:t> present in the database belong to </a:t>
            </a:r>
            <a:r>
              <a:rPr lang="en-US" b="1" i="0" dirty="0">
                <a:solidFill>
                  <a:srgbClr val="273239"/>
                </a:solidFill>
                <a:effectLst/>
                <a:latin typeface="Nunito" pitchFamily="2" charset="0"/>
              </a:rPr>
              <a:t>DML </a:t>
            </a:r>
            <a:r>
              <a:rPr lang="en-US" b="0" i="0" dirty="0">
                <a:solidFill>
                  <a:srgbClr val="273239"/>
                </a:solidFill>
                <a:effectLst/>
                <a:latin typeface="Nunito" pitchFamily="2" charset="0"/>
              </a:rPr>
              <a:t>or Data Manipulation Language and this includes most of the </a:t>
            </a:r>
            <a:r>
              <a:rPr lang="en-US" b="1" i="0" dirty="0">
                <a:solidFill>
                  <a:srgbClr val="273239"/>
                </a:solidFill>
                <a:effectLst/>
                <a:latin typeface="Nunito" pitchFamily="2" charset="0"/>
              </a:rPr>
              <a:t>SQL statements.</a:t>
            </a:r>
            <a:endParaRPr lang="en-IN" dirty="0"/>
          </a:p>
        </p:txBody>
      </p:sp>
      <p:graphicFrame>
        <p:nvGraphicFramePr>
          <p:cNvPr id="4" name="Table 3">
            <a:extLst>
              <a:ext uri="{FF2B5EF4-FFF2-40B4-BE49-F238E27FC236}">
                <a16:creationId xmlns:a16="http://schemas.microsoft.com/office/drawing/2014/main" id="{30DDA5BD-DB60-EA31-75F6-26CCB9B4349C}"/>
              </a:ext>
            </a:extLst>
          </p:cNvPr>
          <p:cNvGraphicFramePr>
            <a:graphicFrameLocks noGrp="1"/>
          </p:cNvGraphicFramePr>
          <p:nvPr/>
        </p:nvGraphicFramePr>
        <p:xfrm>
          <a:off x="1576921" y="1635400"/>
          <a:ext cx="9190557" cy="3585618"/>
        </p:xfrm>
        <a:graphic>
          <a:graphicData uri="http://schemas.openxmlformats.org/drawingml/2006/table">
            <a:tbl>
              <a:tblPr/>
              <a:tblGrid>
                <a:gridCol w="3063519">
                  <a:extLst>
                    <a:ext uri="{9D8B030D-6E8A-4147-A177-3AD203B41FA5}">
                      <a16:colId xmlns:a16="http://schemas.microsoft.com/office/drawing/2014/main" val="4187234505"/>
                    </a:ext>
                  </a:extLst>
                </a:gridCol>
                <a:gridCol w="3063519">
                  <a:extLst>
                    <a:ext uri="{9D8B030D-6E8A-4147-A177-3AD203B41FA5}">
                      <a16:colId xmlns:a16="http://schemas.microsoft.com/office/drawing/2014/main" val="614593333"/>
                    </a:ext>
                  </a:extLst>
                </a:gridCol>
                <a:gridCol w="3063519">
                  <a:extLst>
                    <a:ext uri="{9D8B030D-6E8A-4147-A177-3AD203B41FA5}">
                      <a16:colId xmlns:a16="http://schemas.microsoft.com/office/drawing/2014/main" val="1116280333"/>
                    </a:ext>
                  </a:extLst>
                </a:gridCol>
              </a:tblGrid>
              <a:tr h="350116">
                <a:tc>
                  <a:txBody>
                    <a:bodyPr/>
                    <a:lstStyle/>
                    <a:p>
                      <a:pPr algn="ctr" fontAlgn="base"/>
                      <a:r>
                        <a:rPr lang="en-IN" sz="1300" b="1">
                          <a:effectLst/>
                        </a:rPr>
                        <a:t>Command</a:t>
                      </a:r>
                    </a:p>
                  </a:txBody>
                  <a:tcPr marL="36470" marR="36470" marT="72941" marB="72941"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300" b="1">
                          <a:effectLst/>
                        </a:rPr>
                        <a:t>Description</a:t>
                      </a:r>
                    </a:p>
                  </a:txBody>
                  <a:tcPr marL="72941" marR="72941" marT="72941" marB="72941"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300" b="1">
                          <a:effectLst/>
                        </a:rPr>
                        <a:t>Syntax</a:t>
                      </a:r>
                    </a:p>
                  </a:txBody>
                  <a:tcPr marL="72941" marR="72941" marT="72941" marB="72941"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69688539"/>
                  </a:ext>
                </a:extLst>
              </a:tr>
              <a:tr h="568939">
                <a:tc>
                  <a:txBody>
                    <a:bodyPr/>
                    <a:lstStyle/>
                    <a:p>
                      <a:pPr algn="ctr" fontAlgn="ctr"/>
                      <a:r>
                        <a:rPr lang="en-IN" sz="1200" b="0" u="sng">
                          <a:effectLst/>
                          <a:hlinkClick r:id="rId2"/>
                        </a:rPr>
                        <a:t>INSERT</a:t>
                      </a:r>
                      <a:endParaRPr lang="en-IN" sz="1200" b="0">
                        <a:effectLst/>
                      </a:endParaRP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Insert data into a table</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1">
                          <a:effectLst/>
                        </a:rPr>
                        <a:t>INSERT </a:t>
                      </a:r>
                      <a:r>
                        <a:rPr lang="en-US" sz="1200" b="0">
                          <a:effectLst/>
                        </a:rPr>
                        <a:t>INTO table_name (column1, column2, ...) VALUES (value1, value2, ...);</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30841473"/>
                  </a:ext>
                </a:extLst>
              </a:tr>
              <a:tr h="751292">
                <a:tc>
                  <a:txBody>
                    <a:bodyPr/>
                    <a:lstStyle/>
                    <a:p>
                      <a:pPr algn="ctr" fontAlgn="ctr"/>
                      <a:r>
                        <a:rPr lang="en-IN" sz="1200" b="0" u="sng">
                          <a:effectLst/>
                          <a:hlinkClick r:id="rId3"/>
                        </a:rPr>
                        <a:t>UPDATE</a:t>
                      </a:r>
                      <a:endParaRPr lang="en-IN" sz="1200" b="0">
                        <a:effectLst/>
                      </a:endParaRP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Update existing data within a table</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1">
                          <a:effectLst/>
                        </a:rPr>
                        <a:t>UPDATE</a:t>
                      </a:r>
                      <a:r>
                        <a:rPr lang="en-US" sz="1200" b="0">
                          <a:effectLst/>
                        </a:rPr>
                        <a:t> table_name SET column1 = value1, column2 = value2 WHERE condition;</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3781963"/>
                  </a:ext>
                </a:extLst>
              </a:tr>
              <a:tr h="568939">
                <a:tc>
                  <a:txBody>
                    <a:bodyPr/>
                    <a:lstStyle/>
                    <a:p>
                      <a:pPr algn="ctr" fontAlgn="ctr"/>
                      <a:r>
                        <a:rPr lang="en-IN" sz="1200" b="0" u="sng">
                          <a:effectLst/>
                          <a:hlinkClick r:id="rId4"/>
                        </a:rPr>
                        <a:t>DELETE</a:t>
                      </a:r>
                      <a:endParaRPr lang="en-IN" sz="1200" b="0">
                        <a:effectLst/>
                      </a:endParaRP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Delete records from a database table</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1">
                          <a:effectLst/>
                        </a:rPr>
                        <a:t>DELETE</a:t>
                      </a:r>
                      <a:r>
                        <a:rPr lang="en-US" sz="1200" b="0">
                          <a:effectLst/>
                        </a:rPr>
                        <a:t> FROM table_name WHERE condition;</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232222"/>
                  </a:ext>
                </a:extLst>
              </a:tr>
              <a:tr h="386587">
                <a:tc>
                  <a:txBody>
                    <a:bodyPr/>
                    <a:lstStyle/>
                    <a:p>
                      <a:pPr algn="ctr" fontAlgn="ctr"/>
                      <a:r>
                        <a:rPr lang="en-IN" sz="1200" b="0" u="sng">
                          <a:effectLst/>
                          <a:hlinkClick r:id="rId5"/>
                        </a:rPr>
                        <a:t>LOCK</a:t>
                      </a:r>
                      <a:endParaRPr lang="en-IN" sz="1200" b="0">
                        <a:effectLst/>
                      </a:endParaRP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rPr>
                        <a:t>Table control concurrency</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1">
                          <a:effectLst/>
                        </a:rPr>
                        <a:t>LOCK </a:t>
                      </a:r>
                      <a:r>
                        <a:rPr lang="en-US" sz="1200" b="0">
                          <a:effectLst/>
                        </a:rPr>
                        <a:t>TABLE table_name IN lock_mode;</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629053"/>
                  </a:ext>
                </a:extLst>
              </a:tr>
              <a:tr h="386587">
                <a:tc>
                  <a:txBody>
                    <a:bodyPr/>
                    <a:lstStyle/>
                    <a:p>
                      <a:pPr algn="ctr" fontAlgn="ctr"/>
                      <a:r>
                        <a:rPr lang="en-IN" sz="1200" b="0">
                          <a:effectLst/>
                        </a:rPr>
                        <a:t>CALL</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Call a PL/SQL or JAVA subprogram</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1">
                          <a:effectLst/>
                        </a:rPr>
                        <a:t>CALL </a:t>
                      </a:r>
                      <a:r>
                        <a:rPr lang="en-IN" sz="1200" b="0">
                          <a:effectLst/>
                        </a:rPr>
                        <a:t>procedure_name(arguments);</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00918213"/>
                  </a:ext>
                </a:extLst>
              </a:tr>
              <a:tr h="568939">
                <a:tc>
                  <a:txBody>
                    <a:bodyPr/>
                    <a:lstStyle/>
                    <a:p>
                      <a:pPr algn="ctr" fontAlgn="ctr"/>
                      <a:r>
                        <a:rPr lang="en-IN" sz="1200" b="0">
                          <a:effectLst/>
                        </a:rPr>
                        <a:t>EXPLAIN PLAN</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Describe the access path to data</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1" dirty="0">
                          <a:effectLst/>
                        </a:rPr>
                        <a:t>EXPLAIN</a:t>
                      </a:r>
                      <a:r>
                        <a:rPr lang="en-US" sz="1200" b="0" dirty="0">
                          <a:effectLst/>
                        </a:rPr>
                        <a:t> </a:t>
                      </a:r>
                      <a:r>
                        <a:rPr lang="en-US" sz="1200" b="1" dirty="0">
                          <a:effectLst/>
                        </a:rPr>
                        <a:t>PLAN</a:t>
                      </a:r>
                      <a:r>
                        <a:rPr lang="en-US" sz="1200" b="0" dirty="0">
                          <a:effectLst/>
                        </a:rPr>
                        <a:t> FOR SELECT * FROM </a:t>
                      </a:r>
                      <a:r>
                        <a:rPr lang="en-US" sz="1200" b="0" dirty="0" err="1">
                          <a:effectLst/>
                        </a:rPr>
                        <a:t>table_name</a:t>
                      </a:r>
                      <a:r>
                        <a:rPr lang="en-US" sz="1200" b="0" dirty="0">
                          <a:effectLst/>
                        </a:rPr>
                        <a:t>;</a:t>
                      </a:r>
                    </a:p>
                  </a:txBody>
                  <a:tcPr marL="72941" marR="72941" marT="102117" marB="102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47505649"/>
                  </a:ext>
                </a:extLst>
              </a:tr>
            </a:tbl>
          </a:graphicData>
        </a:graphic>
      </p:graphicFrame>
      <p:sp>
        <p:nvSpPr>
          <p:cNvPr id="6" name="TextBox 5">
            <a:extLst>
              <a:ext uri="{FF2B5EF4-FFF2-40B4-BE49-F238E27FC236}">
                <a16:creationId xmlns:a16="http://schemas.microsoft.com/office/drawing/2014/main" id="{CC7E5594-B219-D03A-A5EA-0E26E76F71F2}"/>
              </a:ext>
            </a:extLst>
          </p:cNvPr>
          <p:cNvSpPr txBox="1"/>
          <p:nvPr/>
        </p:nvSpPr>
        <p:spPr>
          <a:xfrm>
            <a:off x="1576920" y="5310554"/>
            <a:ext cx="7400025" cy="1200329"/>
          </a:xfrm>
          <a:prstGeom prst="rect">
            <a:avLst/>
          </a:prstGeom>
          <a:noFill/>
        </p:spPr>
        <p:txBody>
          <a:bodyPr wrap="square">
            <a:spAutoFit/>
          </a:bodyPr>
          <a:lstStyle/>
          <a:p>
            <a:r>
              <a:rPr lang="en-US" b="1" dirty="0"/>
              <a:t>Example of DML</a:t>
            </a:r>
          </a:p>
          <a:p>
            <a:endParaRPr lang="en-US" dirty="0"/>
          </a:p>
          <a:p>
            <a:r>
              <a:rPr lang="en-US" dirty="0"/>
              <a:t>INSERT INTO employees (</a:t>
            </a:r>
            <a:r>
              <a:rPr lang="en-US" dirty="0" err="1"/>
              <a:t>first_name</a:t>
            </a:r>
            <a:r>
              <a:rPr lang="en-US" dirty="0"/>
              <a:t>, </a:t>
            </a:r>
            <a:r>
              <a:rPr lang="en-US" dirty="0" err="1"/>
              <a:t>last_name</a:t>
            </a:r>
            <a:r>
              <a:rPr lang="en-US" dirty="0"/>
              <a:t>, department) </a:t>
            </a:r>
          </a:p>
          <a:p>
            <a:r>
              <a:rPr lang="en-US" dirty="0"/>
              <a:t>VALUES ('Jane', 'Smith', 'HR');</a:t>
            </a:r>
            <a:endParaRPr lang="en-IN" dirty="0"/>
          </a:p>
        </p:txBody>
      </p:sp>
    </p:spTree>
    <p:extLst>
      <p:ext uri="{BB962C8B-B14F-4D97-AF65-F5344CB8AC3E}">
        <p14:creationId xmlns:p14="http://schemas.microsoft.com/office/powerpoint/2010/main" val="30484701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3763-AC9C-26D3-DAB0-D5F4F1892A33}"/>
              </a:ext>
            </a:extLst>
          </p:cNvPr>
          <p:cNvSpPr>
            <a:spLocks noGrp="1"/>
          </p:cNvSpPr>
          <p:nvPr>
            <p:ph type="title"/>
          </p:nvPr>
        </p:nvSpPr>
        <p:spPr>
          <a:xfrm>
            <a:off x="1170633" y="167473"/>
            <a:ext cx="9601200" cy="931985"/>
          </a:xfrm>
        </p:spPr>
        <p:txBody>
          <a:bodyPr/>
          <a:lstStyle/>
          <a:p>
            <a:r>
              <a:rPr lang="en-IN" dirty="0"/>
              <a:t>Important SQL Commands</a:t>
            </a:r>
          </a:p>
        </p:txBody>
      </p:sp>
      <p:sp>
        <p:nvSpPr>
          <p:cNvPr id="3" name="Text Placeholder 2">
            <a:extLst>
              <a:ext uri="{FF2B5EF4-FFF2-40B4-BE49-F238E27FC236}">
                <a16:creationId xmlns:a16="http://schemas.microsoft.com/office/drawing/2014/main" id="{ECE0927D-9CFB-0630-B132-336DA865B480}"/>
              </a:ext>
            </a:extLst>
          </p:cNvPr>
          <p:cNvSpPr>
            <a:spLocks noGrp="1"/>
          </p:cNvSpPr>
          <p:nvPr>
            <p:ph type="body" idx="1"/>
          </p:nvPr>
        </p:nvSpPr>
        <p:spPr>
          <a:xfrm>
            <a:off x="1170633" y="1174820"/>
            <a:ext cx="11443396" cy="5926015"/>
          </a:xfrm>
        </p:spPr>
        <p:txBody>
          <a:bodyPr>
            <a:normAutofit fontScale="92500" lnSpcReduction="20000"/>
          </a:bodyPr>
          <a:lstStyle/>
          <a:p>
            <a:pPr algn="l" fontAlgn="base">
              <a:spcAft>
                <a:spcPts val="1800"/>
              </a:spcAft>
              <a:buFont typeface="+mj-lt"/>
              <a:buAutoNum type="arabicPeriod"/>
            </a:pPr>
            <a:r>
              <a:rPr lang="en-US" b="1" i="0" dirty="0">
                <a:solidFill>
                  <a:srgbClr val="273239"/>
                </a:solidFill>
                <a:effectLst/>
                <a:latin typeface="Nunito" pitchFamily="2" charset="0"/>
              </a:rPr>
              <a:t>SELECT</a:t>
            </a:r>
            <a:r>
              <a:rPr lang="en-US" b="0" i="0" dirty="0">
                <a:solidFill>
                  <a:srgbClr val="273239"/>
                </a:solidFill>
                <a:effectLst/>
                <a:latin typeface="Nunito" pitchFamily="2" charset="0"/>
              </a:rPr>
              <a:t>: Used to retrieve data from a database.</a:t>
            </a:r>
          </a:p>
          <a:p>
            <a:pPr algn="l" fontAlgn="base">
              <a:spcAft>
                <a:spcPts val="1800"/>
              </a:spcAft>
              <a:buFont typeface="+mj-lt"/>
              <a:buAutoNum type="arabicPeriod" startAt="2"/>
            </a:pPr>
            <a:r>
              <a:rPr lang="en-US" b="1" i="0" dirty="0">
                <a:solidFill>
                  <a:srgbClr val="273239"/>
                </a:solidFill>
                <a:effectLst/>
                <a:latin typeface="Nunito" pitchFamily="2" charset="0"/>
              </a:rPr>
              <a:t>INSERT</a:t>
            </a:r>
            <a:r>
              <a:rPr lang="en-US" b="0" i="0" dirty="0">
                <a:solidFill>
                  <a:srgbClr val="273239"/>
                </a:solidFill>
                <a:effectLst/>
                <a:latin typeface="Nunito" pitchFamily="2" charset="0"/>
              </a:rPr>
              <a:t>: Used to add new data to a database.</a:t>
            </a:r>
          </a:p>
          <a:p>
            <a:pPr algn="l" fontAlgn="base">
              <a:spcAft>
                <a:spcPts val="1800"/>
              </a:spcAft>
              <a:buFont typeface="+mj-lt"/>
              <a:buAutoNum type="arabicPeriod" startAt="3"/>
            </a:pPr>
            <a:r>
              <a:rPr lang="en-US" b="1" i="0" dirty="0">
                <a:solidFill>
                  <a:srgbClr val="273239"/>
                </a:solidFill>
                <a:effectLst/>
                <a:latin typeface="Nunito" pitchFamily="2" charset="0"/>
              </a:rPr>
              <a:t>UPDATE</a:t>
            </a:r>
            <a:r>
              <a:rPr lang="en-US" b="0" i="0" dirty="0">
                <a:solidFill>
                  <a:srgbClr val="273239"/>
                </a:solidFill>
                <a:effectLst/>
                <a:latin typeface="Nunito" pitchFamily="2" charset="0"/>
              </a:rPr>
              <a:t>: Used to modify existing data in a database.</a:t>
            </a:r>
          </a:p>
          <a:p>
            <a:pPr algn="l" fontAlgn="base">
              <a:spcAft>
                <a:spcPts val="1800"/>
              </a:spcAft>
              <a:buFont typeface="+mj-lt"/>
              <a:buAutoNum type="arabicPeriod" startAt="4"/>
            </a:pPr>
            <a:r>
              <a:rPr lang="en-US" b="1" i="0" dirty="0">
                <a:solidFill>
                  <a:srgbClr val="273239"/>
                </a:solidFill>
                <a:effectLst/>
                <a:latin typeface="Nunito" pitchFamily="2" charset="0"/>
              </a:rPr>
              <a:t>DELETE</a:t>
            </a:r>
            <a:r>
              <a:rPr lang="en-US" b="0" i="0" dirty="0">
                <a:solidFill>
                  <a:srgbClr val="273239"/>
                </a:solidFill>
                <a:effectLst/>
                <a:latin typeface="Nunito" pitchFamily="2" charset="0"/>
              </a:rPr>
              <a:t>: Used to remove data from a database.</a:t>
            </a:r>
          </a:p>
          <a:p>
            <a:pPr algn="l" fontAlgn="base">
              <a:spcAft>
                <a:spcPts val="1800"/>
              </a:spcAft>
              <a:buFont typeface="+mj-lt"/>
              <a:buAutoNum type="arabicPeriod" startAt="5"/>
            </a:pPr>
            <a:r>
              <a:rPr lang="en-US" b="1" i="0" dirty="0">
                <a:solidFill>
                  <a:srgbClr val="273239"/>
                </a:solidFill>
                <a:effectLst/>
                <a:latin typeface="Nunito" pitchFamily="2" charset="0"/>
              </a:rPr>
              <a:t>CREATE TABLE</a:t>
            </a:r>
            <a:r>
              <a:rPr lang="en-US" b="0" i="0" dirty="0">
                <a:solidFill>
                  <a:srgbClr val="273239"/>
                </a:solidFill>
                <a:effectLst/>
                <a:latin typeface="Nunito" pitchFamily="2" charset="0"/>
              </a:rPr>
              <a:t>: Used to create a new table in a database.</a:t>
            </a:r>
          </a:p>
          <a:p>
            <a:pPr algn="l" fontAlgn="base">
              <a:spcAft>
                <a:spcPts val="1800"/>
              </a:spcAft>
              <a:buFont typeface="+mj-lt"/>
              <a:buAutoNum type="arabicPeriod" startAt="6"/>
            </a:pPr>
            <a:r>
              <a:rPr lang="en-US" b="1" i="0" dirty="0">
                <a:solidFill>
                  <a:srgbClr val="273239"/>
                </a:solidFill>
                <a:effectLst/>
                <a:latin typeface="Nunito" pitchFamily="2" charset="0"/>
              </a:rPr>
              <a:t>ALTER TABLE</a:t>
            </a:r>
            <a:r>
              <a:rPr lang="en-US" b="0" i="0" dirty="0">
                <a:solidFill>
                  <a:srgbClr val="273239"/>
                </a:solidFill>
                <a:effectLst/>
                <a:latin typeface="Nunito" pitchFamily="2" charset="0"/>
              </a:rPr>
              <a:t>: Used to modify the structure of an existing table.</a:t>
            </a:r>
          </a:p>
          <a:p>
            <a:pPr algn="l" fontAlgn="base">
              <a:spcAft>
                <a:spcPts val="1800"/>
              </a:spcAft>
              <a:buFont typeface="+mj-lt"/>
              <a:buAutoNum type="arabicPeriod" startAt="7"/>
            </a:pPr>
            <a:r>
              <a:rPr lang="en-US" b="1" i="0" dirty="0">
                <a:solidFill>
                  <a:srgbClr val="273239"/>
                </a:solidFill>
                <a:effectLst/>
                <a:latin typeface="Nunito" pitchFamily="2" charset="0"/>
              </a:rPr>
              <a:t>DROP TABLE</a:t>
            </a:r>
            <a:r>
              <a:rPr lang="en-US" b="0" i="0" dirty="0">
                <a:solidFill>
                  <a:srgbClr val="273239"/>
                </a:solidFill>
                <a:effectLst/>
                <a:latin typeface="Nunito" pitchFamily="2" charset="0"/>
              </a:rPr>
              <a:t>: Used to delete an entire table from a database.</a:t>
            </a:r>
          </a:p>
          <a:p>
            <a:pPr algn="l" fontAlgn="base">
              <a:spcAft>
                <a:spcPts val="1800"/>
              </a:spcAft>
              <a:buFont typeface="+mj-lt"/>
              <a:buAutoNum type="arabicPeriod" startAt="8"/>
            </a:pPr>
            <a:r>
              <a:rPr lang="en-US" b="1" i="0" dirty="0">
                <a:solidFill>
                  <a:srgbClr val="273239"/>
                </a:solidFill>
                <a:effectLst/>
                <a:latin typeface="Nunito" pitchFamily="2" charset="0"/>
              </a:rPr>
              <a:t>WHERE</a:t>
            </a:r>
            <a:r>
              <a:rPr lang="en-US" b="0" i="0" dirty="0">
                <a:solidFill>
                  <a:srgbClr val="273239"/>
                </a:solidFill>
                <a:effectLst/>
                <a:latin typeface="Nunito" pitchFamily="2" charset="0"/>
              </a:rPr>
              <a:t>: Used to filter rows based on a specified condition.</a:t>
            </a:r>
          </a:p>
          <a:p>
            <a:pPr algn="l" fontAlgn="base">
              <a:spcAft>
                <a:spcPts val="1800"/>
              </a:spcAft>
              <a:buFont typeface="+mj-lt"/>
              <a:buAutoNum type="arabicPeriod" startAt="9"/>
            </a:pPr>
            <a:r>
              <a:rPr lang="en-US" b="1" i="0" dirty="0">
                <a:solidFill>
                  <a:srgbClr val="273239"/>
                </a:solidFill>
                <a:effectLst/>
                <a:latin typeface="Nunito" pitchFamily="2" charset="0"/>
              </a:rPr>
              <a:t>ORDER BY</a:t>
            </a:r>
            <a:r>
              <a:rPr lang="en-US" b="0" i="0" dirty="0">
                <a:solidFill>
                  <a:srgbClr val="273239"/>
                </a:solidFill>
                <a:effectLst/>
                <a:latin typeface="Nunito" pitchFamily="2" charset="0"/>
              </a:rPr>
              <a:t>: Used to sort the result set in ascending or descending order.</a:t>
            </a:r>
          </a:p>
          <a:p>
            <a:pPr algn="l" fontAlgn="base">
              <a:spcAft>
                <a:spcPts val="1800"/>
              </a:spcAft>
              <a:buFont typeface="+mj-lt"/>
              <a:buAutoNum type="arabicPeriod" startAt="10"/>
            </a:pPr>
            <a:r>
              <a:rPr lang="en-US" b="1" i="0" dirty="0">
                <a:solidFill>
                  <a:srgbClr val="273239"/>
                </a:solidFill>
                <a:effectLst/>
                <a:latin typeface="Nunito" pitchFamily="2" charset="0"/>
              </a:rPr>
              <a:t> JOIN</a:t>
            </a:r>
            <a:r>
              <a:rPr lang="en-US" b="0" i="0" dirty="0">
                <a:solidFill>
                  <a:srgbClr val="273239"/>
                </a:solidFill>
                <a:effectLst/>
                <a:latin typeface="Nunito" pitchFamily="2" charset="0"/>
              </a:rPr>
              <a:t>: Used to combine rows from two or more tables based on a related column between them.</a:t>
            </a:r>
          </a:p>
          <a:p>
            <a:endParaRPr lang="en-IN" dirty="0"/>
          </a:p>
        </p:txBody>
      </p:sp>
    </p:spTree>
    <p:extLst>
      <p:ext uri="{BB962C8B-B14F-4D97-AF65-F5344CB8AC3E}">
        <p14:creationId xmlns:p14="http://schemas.microsoft.com/office/powerpoint/2010/main" val="179117278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0"/>
          <p:cNvSpPr txBox="1">
            <a:spLocks noGrp="1"/>
          </p:cNvSpPr>
          <p:nvPr>
            <p:ph type="title"/>
          </p:nvPr>
        </p:nvSpPr>
        <p:spPr>
          <a:xfrm>
            <a:off x="1394964" y="856206"/>
            <a:ext cx="8596800" cy="5841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2800"/>
              <a:buFont typeface="Libre Franklin"/>
              <a:buNone/>
            </a:pPr>
            <a:r>
              <a:rPr lang="en-US" sz="2800"/>
              <a:t>SQL Operators</a:t>
            </a:r>
            <a:endParaRPr/>
          </a:p>
        </p:txBody>
      </p:sp>
      <p:cxnSp>
        <p:nvCxnSpPr>
          <p:cNvPr id="206" name="Google Shape;206;p30"/>
          <p:cNvCxnSpPr/>
          <p:nvPr/>
        </p:nvCxnSpPr>
        <p:spPr>
          <a:xfrm>
            <a:off x="3009782" y="4005806"/>
            <a:ext cx="0" cy="533400"/>
          </a:xfrm>
          <a:prstGeom prst="straightConnector1">
            <a:avLst/>
          </a:prstGeom>
          <a:noFill/>
          <a:ln w="9525" cap="flat" cmpd="sng">
            <a:solidFill>
              <a:schemeClr val="dk1"/>
            </a:solidFill>
            <a:prstDash val="solid"/>
            <a:round/>
            <a:headEnd type="none" w="sm" len="sm"/>
            <a:tailEnd type="triangle" w="med" len="med"/>
          </a:ln>
        </p:spPr>
      </p:cxnSp>
      <p:sp>
        <p:nvSpPr>
          <p:cNvPr id="207" name="Google Shape;207;p30"/>
          <p:cNvSpPr/>
          <p:nvPr/>
        </p:nvSpPr>
        <p:spPr>
          <a:xfrm>
            <a:off x="2539881" y="4539206"/>
            <a:ext cx="901800" cy="546000"/>
          </a:xfrm>
          <a:prstGeom prst="rect">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Libre Franklin"/>
                <a:ea typeface="Libre Franklin"/>
                <a:cs typeface="Libre Franklin"/>
                <a:sym typeface="Libre Franklin"/>
              </a:rPr>
              <a: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08" name="Google Shape;208;p30"/>
          <p:cNvCxnSpPr/>
          <p:nvPr/>
        </p:nvCxnSpPr>
        <p:spPr>
          <a:xfrm>
            <a:off x="5048330" y="3999456"/>
            <a:ext cx="0" cy="533400"/>
          </a:xfrm>
          <a:prstGeom prst="straightConnector1">
            <a:avLst/>
          </a:prstGeom>
          <a:noFill/>
          <a:ln w="9525" cap="flat" cmpd="sng">
            <a:solidFill>
              <a:schemeClr val="dk1"/>
            </a:solidFill>
            <a:prstDash val="solid"/>
            <a:round/>
            <a:headEnd type="none" w="sm" len="sm"/>
            <a:tailEnd type="triangle" w="med" len="med"/>
          </a:ln>
        </p:spPr>
      </p:cxnSp>
      <p:sp>
        <p:nvSpPr>
          <p:cNvPr id="209" name="Google Shape;209;p30"/>
          <p:cNvSpPr/>
          <p:nvPr/>
        </p:nvSpPr>
        <p:spPr>
          <a:xfrm>
            <a:off x="4112100" y="4539206"/>
            <a:ext cx="1752600" cy="1193700"/>
          </a:xfrm>
          <a:prstGeom prst="rect">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Libre Franklin"/>
                <a:ea typeface="Libre Franklin"/>
                <a:cs typeface="Libre Franklin"/>
                <a:sym typeface="Libre Franklin"/>
              </a:rPr>
              <a:t>=,&lt;&gt;,&gt;,&lt;,&gt;=,&lt;=, IN, LIKE, IS NULL, BETWEEN(lower limit) AND(upper limit)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10" name="Google Shape;210;p30"/>
          <p:cNvCxnSpPr/>
          <p:nvPr/>
        </p:nvCxnSpPr>
        <p:spPr>
          <a:xfrm>
            <a:off x="6908879" y="4005806"/>
            <a:ext cx="0" cy="533400"/>
          </a:xfrm>
          <a:prstGeom prst="straightConnector1">
            <a:avLst/>
          </a:prstGeom>
          <a:noFill/>
          <a:ln w="9525" cap="flat" cmpd="sng">
            <a:solidFill>
              <a:schemeClr val="dk1"/>
            </a:solidFill>
            <a:prstDash val="solid"/>
            <a:round/>
            <a:headEnd type="none" w="sm" len="sm"/>
            <a:tailEnd type="triangle" w="med" len="med"/>
          </a:ln>
        </p:spPr>
      </p:cxnSp>
      <p:sp>
        <p:nvSpPr>
          <p:cNvPr id="211" name="Google Shape;211;p30"/>
          <p:cNvSpPr/>
          <p:nvPr/>
        </p:nvSpPr>
        <p:spPr>
          <a:xfrm>
            <a:off x="6324678" y="4539206"/>
            <a:ext cx="1193700" cy="870000"/>
          </a:xfrm>
          <a:prstGeom prst="rect">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Libre Franklin"/>
                <a:ea typeface="Libre Franklin"/>
                <a:cs typeface="Libre Franklin"/>
                <a:sym typeface="Libre Franklin"/>
              </a:rPr>
              <a:t>AND, OR, NOT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212;p30"/>
          <p:cNvSpPr/>
          <p:nvPr/>
        </p:nvSpPr>
        <p:spPr>
          <a:xfrm>
            <a:off x="2063633" y="3393031"/>
            <a:ext cx="1854300" cy="612900"/>
          </a:xfrm>
          <a:prstGeom prst="ellipse">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libri"/>
                <a:ea typeface="Calibri"/>
                <a:cs typeface="Calibri"/>
                <a:sym typeface="Calibri"/>
              </a:rPr>
              <a:t>Arithmetic operators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213;p30"/>
          <p:cNvSpPr/>
          <p:nvPr/>
        </p:nvSpPr>
        <p:spPr>
          <a:xfrm>
            <a:off x="4112100" y="3380331"/>
            <a:ext cx="1854300" cy="612900"/>
          </a:xfrm>
          <a:prstGeom prst="ellipse">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libri"/>
                <a:ea typeface="Calibri"/>
                <a:cs typeface="Calibri"/>
                <a:sym typeface="Calibri"/>
              </a:rPr>
              <a:t>Comparision operators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ibre Franklin"/>
              <a:ea typeface="Libre Franklin"/>
              <a:cs typeface="Libre Franklin"/>
              <a:sym typeface="Libre Franklin"/>
            </a:endParaRPr>
          </a:p>
        </p:txBody>
      </p:sp>
      <p:sp>
        <p:nvSpPr>
          <p:cNvPr id="214" name="Google Shape;214;p30"/>
          <p:cNvSpPr/>
          <p:nvPr/>
        </p:nvSpPr>
        <p:spPr>
          <a:xfrm>
            <a:off x="6237573" y="3393031"/>
            <a:ext cx="1854300" cy="612900"/>
          </a:xfrm>
          <a:prstGeom prst="ellipse">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Calibri"/>
                <a:ea typeface="Calibri"/>
                <a:cs typeface="Calibri"/>
                <a:sym typeface="Calibri"/>
              </a:rPr>
              <a:t>Logical operators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Libre Franklin"/>
              <a:ea typeface="Libre Franklin"/>
              <a:cs typeface="Libre Franklin"/>
              <a:sym typeface="Libre Franklin"/>
            </a:endParaRPr>
          </a:p>
        </p:txBody>
      </p:sp>
      <p:cxnSp>
        <p:nvCxnSpPr>
          <p:cNvPr id="215" name="Google Shape;215;p30"/>
          <p:cNvCxnSpPr>
            <a:endCxn id="212" idx="0"/>
          </p:cNvCxnSpPr>
          <p:nvPr/>
        </p:nvCxnSpPr>
        <p:spPr>
          <a:xfrm flipH="1">
            <a:off x="2990783" y="2291431"/>
            <a:ext cx="927000" cy="1101600"/>
          </a:xfrm>
          <a:prstGeom prst="straightConnector1">
            <a:avLst/>
          </a:prstGeom>
          <a:noFill/>
          <a:ln w="9525" cap="flat" cmpd="sng">
            <a:solidFill>
              <a:schemeClr val="dk1"/>
            </a:solidFill>
            <a:prstDash val="solid"/>
            <a:round/>
            <a:headEnd type="none" w="sm" len="sm"/>
            <a:tailEnd type="triangle" w="med" len="med"/>
          </a:ln>
        </p:spPr>
      </p:cxnSp>
      <p:cxnSp>
        <p:nvCxnSpPr>
          <p:cNvPr id="216" name="Google Shape;216;p30"/>
          <p:cNvCxnSpPr/>
          <p:nvPr/>
        </p:nvCxnSpPr>
        <p:spPr>
          <a:xfrm>
            <a:off x="4988400" y="2291306"/>
            <a:ext cx="0" cy="1101600"/>
          </a:xfrm>
          <a:prstGeom prst="straightConnector1">
            <a:avLst/>
          </a:prstGeom>
          <a:noFill/>
          <a:ln w="9525" cap="flat" cmpd="sng">
            <a:solidFill>
              <a:schemeClr val="dk1"/>
            </a:solidFill>
            <a:prstDash val="solid"/>
            <a:round/>
            <a:headEnd type="none" w="sm" len="sm"/>
            <a:tailEnd type="triangle" w="med" len="med"/>
          </a:ln>
        </p:spPr>
      </p:cxnSp>
      <p:cxnSp>
        <p:nvCxnSpPr>
          <p:cNvPr id="217" name="Google Shape;217;p30"/>
          <p:cNvCxnSpPr>
            <a:endCxn id="214" idx="0"/>
          </p:cNvCxnSpPr>
          <p:nvPr/>
        </p:nvCxnSpPr>
        <p:spPr>
          <a:xfrm>
            <a:off x="5966223" y="2291431"/>
            <a:ext cx="1198500" cy="1101600"/>
          </a:xfrm>
          <a:prstGeom prst="straightConnector1">
            <a:avLst/>
          </a:prstGeom>
          <a:noFill/>
          <a:ln w="9525" cap="flat" cmpd="sng">
            <a:solidFill>
              <a:schemeClr val="dk1"/>
            </a:solidFill>
            <a:prstDash val="solid"/>
            <a:round/>
            <a:headEnd type="none" w="sm" len="sm"/>
            <a:tailEnd type="triangle" w="med" len="med"/>
          </a:ln>
        </p:spPr>
      </p:cxnSp>
      <p:sp>
        <p:nvSpPr>
          <p:cNvPr id="218" name="Google Shape;218;p30"/>
          <p:cNvSpPr/>
          <p:nvPr/>
        </p:nvSpPr>
        <p:spPr>
          <a:xfrm>
            <a:off x="3794592" y="1580106"/>
            <a:ext cx="2307900" cy="949200"/>
          </a:xfrm>
          <a:prstGeom prst="ellipse">
            <a:avLst/>
          </a:prstGeom>
          <a:solidFill>
            <a:schemeClr val="lt1"/>
          </a:solid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Libre Franklin"/>
                <a:ea typeface="Libre Franklin"/>
                <a:cs typeface="Libre Franklin"/>
                <a:sym typeface="Libre Franklin"/>
              </a:rPr>
              <a:t>SQL operators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B3B54-0F3E-083F-0426-17ED02CC4033}"/>
              </a:ext>
            </a:extLst>
          </p:cNvPr>
          <p:cNvSpPr>
            <a:spLocks noGrp="1"/>
          </p:cNvSpPr>
          <p:nvPr>
            <p:ph type="title"/>
          </p:nvPr>
        </p:nvSpPr>
        <p:spPr>
          <a:xfrm>
            <a:off x="1371601" y="62094"/>
            <a:ext cx="9601200" cy="574540"/>
          </a:xfrm>
        </p:spPr>
        <p:txBody>
          <a:bodyPr>
            <a:normAutofit fontScale="90000"/>
          </a:bodyPr>
          <a:lstStyle/>
          <a:p>
            <a:r>
              <a:rPr lang="en-IN" dirty="0"/>
              <a:t>DCL – Data Control Language</a:t>
            </a:r>
          </a:p>
        </p:txBody>
      </p:sp>
      <p:sp>
        <p:nvSpPr>
          <p:cNvPr id="3" name="Text Placeholder 2">
            <a:extLst>
              <a:ext uri="{FF2B5EF4-FFF2-40B4-BE49-F238E27FC236}">
                <a16:creationId xmlns:a16="http://schemas.microsoft.com/office/drawing/2014/main" id="{903D9183-3B72-32C4-F5DB-617C5E310CD9}"/>
              </a:ext>
            </a:extLst>
          </p:cNvPr>
          <p:cNvSpPr>
            <a:spLocks noGrp="1"/>
          </p:cNvSpPr>
          <p:nvPr>
            <p:ph type="body" idx="1"/>
          </p:nvPr>
        </p:nvSpPr>
        <p:spPr>
          <a:xfrm>
            <a:off x="1371601" y="647012"/>
            <a:ext cx="9601200" cy="1384788"/>
          </a:xfrm>
        </p:spPr>
        <p:txBody>
          <a:bodyPr/>
          <a:lstStyle/>
          <a:p>
            <a:r>
              <a:rPr lang="en-US" b="1" i="0" dirty="0">
                <a:solidFill>
                  <a:srgbClr val="273239"/>
                </a:solidFill>
                <a:effectLst/>
                <a:latin typeface="Nunito" pitchFamily="2" charset="0"/>
              </a:rPr>
              <a:t>DCL (Data Control Language)</a:t>
            </a:r>
            <a:r>
              <a:rPr lang="en-US" b="0" i="0" dirty="0">
                <a:solidFill>
                  <a:srgbClr val="273239"/>
                </a:solidFill>
                <a:effectLst/>
                <a:latin typeface="Nunito" pitchFamily="2" charset="0"/>
              </a:rPr>
              <a:t> includes commands such as </a:t>
            </a:r>
            <a:r>
              <a:rPr lang="en-US" b="1" i="0" dirty="0">
                <a:solidFill>
                  <a:srgbClr val="273239"/>
                </a:solidFill>
                <a:effectLst/>
                <a:latin typeface="Nunito" pitchFamily="2" charset="0"/>
              </a:rPr>
              <a:t>GRANT </a:t>
            </a:r>
            <a:r>
              <a:rPr lang="en-US" b="0" i="0" dirty="0">
                <a:solidFill>
                  <a:srgbClr val="273239"/>
                </a:solidFill>
                <a:effectLst/>
                <a:latin typeface="Nunito" pitchFamily="2" charset="0"/>
              </a:rPr>
              <a:t>and </a:t>
            </a:r>
            <a:r>
              <a:rPr lang="en-US" b="1" i="0" dirty="0">
                <a:solidFill>
                  <a:srgbClr val="273239"/>
                </a:solidFill>
                <a:effectLst/>
                <a:latin typeface="Nunito" pitchFamily="2" charset="0"/>
              </a:rPr>
              <a:t>REVOKE </a:t>
            </a:r>
            <a:r>
              <a:rPr lang="en-US" b="0" i="0" dirty="0">
                <a:solidFill>
                  <a:srgbClr val="273239"/>
                </a:solidFill>
                <a:effectLst/>
                <a:latin typeface="Nunito" pitchFamily="2" charset="0"/>
              </a:rPr>
              <a:t>which mainly deal with the </a:t>
            </a:r>
            <a:r>
              <a:rPr lang="en-US" b="1" i="0" dirty="0">
                <a:solidFill>
                  <a:srgbClr val="273239"/>
                </a:solidFill>
                <a:effectLst/>
                <a:latin typeface="Nunito" pitchFamily="2" charset="0"/>
              </a:rPr>
              <a:t>rights</a:t>
            </a:r>
            <a:r>
              <a:rPr lang="en-US" b="0" i="0" dirty="0">
                <a:solidFill>
                  <a:srgbClr val="273239"/>
                </a:solidFill>
                <a:effectLst/>
                <a:latin typeface="Nunito" pitchFamily="2" charset="0"/>
              </a:rPr>
              <a:t>, </a:t>
            </a:r>
            <a:r>
              <a:rPr lang="en-US" b="1" i="0" dirty="0">
                <a:solidFill>
                  <a:srgbClr val="273239"/>
                </a:solidFill>
                <a:effectLst/>
                <a:latin typeface="Nunito" pitchFamily="2" charset="0"/>
              </a:rPr>
              <a:t>permissions</a:t>
            </a:r>
            <a:r>
              <a:rPr lang="en-US" b="0" i="0" dirty="0">
                <a:solidFill>
                  <a:srgbClr val="273239"/>
                </a:solidFill>
                <a:effectLst/>
                <a:latin typeface="Nunito" pitchFamily="2" charset="0"/>
              </a:rPr>
              <a:t>, and other controls of the </a:t>
            </a:r>
            <a:r>
              <a:rPr lang="en-US" b="1" i="0" dirty="0">
                <a:solidFill>
                  <a:srgbClr val="273239"/>
                </a:solidFill>
                <a:effectLst/>
                <a:latin typeface="Nunito" pitchFamily="2" charset="0"/>
              </a:rPr>
              <a:t>database system</a:t>
            </a:r>
            <a:r>
              <a:rPr lang="en-US" b="0" i="0" dirty="0">
                <a:solidFill>
                  <a:srgbClr val="273239"/>
                </a:solidFill>
                <a:effectLst/>
                <a:latin typeface="Nunito" pitchFamily="2" charset="0"/>
              </a:rPr>
              <a:t>. These commands are used to </a:t>
            </a:r>
            <a:r>
              <a:rPr lang="en-US" b="1" i="0" dirty="0">
                <a:solidFill>
                  <a:srgbClr val="273239"/>
                </a:solidFill>
                <a:effectLst/>
                <a:latin typeface="Nunito" pitchFamily="2" charset="0"/>
              </a:rPr>
              <a:t>control access </a:t>
            </a:r>
            <a:r>
              <a:rPr lang="en-US" b="0" i="0" dirty="0">
                <a:solidFill>
                  <a:srgbClr val="273239"/>
                </a:solidFill>
                <a:effectLst/>
                <a:latin typeface="Nunito" pitchFamily="2" charset="0"/>
              </a:rPr>
              <a:t>to data in the database by </a:t>
            </a:r>
            <a:r>
              <a:rPr lang="en-US" b="1" i="0" dirty="0">
                <a:solidFill>
                  <a:srgbClr val="273239"/>
                </a:solidFill>
                <a:effectLst/>
                <a:latin typeface="Nunito" pitchFamily="2" charset="0"/>
              </a:rPr>
              <a:t>granting </a:t>
            </a:r>
            <a:r>
              <a:rPr lang="en-US" b="0" i="0" dirty="0">
                <a:solidFill>
                  <a:srgbClr val="273239"/>
                </a:solidFill>
                <a:effectLst/>
                <a:latin typeface="Nunito" pitchFamily="2" charset="0"/>
              </a:rPr>
              <a:t>or </a:t>
            </a:r>
            <a:r>
              <a:rPr lang="en-US" b="1" i="0" dirty="0">
                <a:solidFill>
                  <a:srgbClr val="273239"/>
                </a:solidFill>
                <a:effectLst/>
                <a:latin typeface="Nunito" pitchFamily="2" charset="0"/>
              </a:rPr>
              <a:t>revoking permissions</a:t>
            </a:r>
            <a:r>
              <a:rPr lang="en-US" b="0" i="0" dirty="0">
                <a:solidFill>
                  <a:srgbClr val="273239"/>
                </a:solidFill>
                <a:effectLst/>
                <a:latin typeface="Nunito" pitchFamily="2" charset="0"/>
              </a:rPr>
              <a:t>.</a:t>
            </a:r>
          </a:p>
          <a:p>
            <a:endParaRPr lang="en-IN" dirty="0"/>
          </a:p>
        </p:txBody>
      </p:sp>
      <p:graphicFrame>
        <p:nvGraphicFramePr>
          <p:cNvPr id="4" name="Table 3">
            <a:extLst>
              <a:ext uri="{FF2B5EF4-FFF2-40B4-BE49-F238E27FC236}">
                <a16:creationId xmlns:a16="http://schemas.microsoft.com/office/drawing/2014/main" id="{0EAD5F4D-DD01-7B1D-6696-81C17A0A2780}"/>
              </a:ext>
            </a:extLst>
          </p:cNvPr>
          <p:cNvGraphicFramePr>
            <a:graphicFrameLocks noGrp="1"/>
          </p:cNvGraphicFramePr>
          <p:nvPr/>
        </p:nvGraphicFramePr>
        <p:xfrm>
          <a:off x="1283677" y="2031801"/>
          <a:ext cx="10436469" cy="2555061"/>
        </p:xfrm>
        <a:graphic>
          <a:graphicData uri="http://schemas.openxmlformats.org/drawingml/2006/table">
            <a:tbl>
              <a:tblPr/>
              <a:tblGrid>
                <a:gridCol w="3952567">
                  <a:extLst>
                    <a:ext uri="{9D8B030D-6E8A-4147-A177-3AD203B41FA5}">
                      <a16:colId xmlns:a16="http://schemas.microsoft.com/office/drawing/2014/main" val="3257466512"/>
                    </a:ext>
                  </a:extLst>
                </a:gridCol>
                <a:gridCol w="3241951">
                  <a:extLst>
                    <a:ext uri="{9D8B030D-6E8A-4147-A177-3AD203B41FA5}">
                      <a16:colId xmlns:a16="http://schemas.microsoft.com/office/drawing/2014/main" val="297297664"/>
                    </a:ext>
                  </a:extLst>
                </a:gridCol>
                <a:gridCol w="3241951">
                  <a:extLst>
                    <a:ext uri="{9D8B030D-6E8A-4147-A177-3AD203B41FA5}">
                      <a16:colId xmlns:a16="http://schemas.microsoft.com/office/drawing/2014/main" val="1831507188"/>
                    </a:ext>
                  </a:extLst>
                </a:gridCol>
              </a:tblGrid>
              <a:tr h="347873">
                <a:tc>
                  <a:txBody>
                    <a:bodyPr/>
                    <a:lstStyle/>
                    <a:p>
                      <a:pPr algn="ctr" fontAlgn="base"/>
                      <a:r>
                        <a:rPr lang="en-IN" sz="1600" b="1">
                          <a:effectLst/>
                        </a:rPr>
                        <a:t>Command</a:t>
                      </a:r>
                    </a:p>
                  </a:txBody>
                  <a:tcPr marL="22899" marR="22899" marT="45798" marB="4579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600" b="1">
                          <a:effectLst/>
                        </a:rPr>
                        <a:t>Description</a:t>
                      </a:r>
                    </a:p>
                  </a:txBody>
                  <a:tcPr marL="45798" marR="45798" marT="45798" marB="4579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600" b="1">
                          <a:effectLst/>
                        </a:rPr>
                        <a:t>Syntax</a:t>
                      </a:r>
                    </a:p>
                  </a:txBody>
                  <a:tcPr marL="45798" marR="45798" marT="45798" marB="45798"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35765199"/>
                  </a:ext>
                </a:extLst>
              </a:tr>
              <a:tr h="778863">
                <a:tc>
                  <a:txBody>
                    <a:bodyPr/>
                    <a:lstStyle/>
                    <a:p>
                      <a:pPr algn="ctr" fontAlgn="ctr"/>
                      <a:r>
                        <a:rPr lang="en-IN" sz="1600" b="0" u="sng">
                          <a:effectLst/>
                          <a:hlinkClick r:id="rId2"/>
                        </a:rPr>
                        <a:t>GRANT</a:t>
                      </a:r>
                      <a:endParaRPr lang="en-IN" sz="1600" b="0">
                        <a:effectLst/>
                      </a:endParaRPr>
                    </a:p>
                  </a:txBody>
                  <a:tcPr marL="45798" marR="45798" marT="64117" marB="64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dirty="0">
                          <a:effectLst/>
                        </a:rPr>
                        <a:t>Assigns new privileges to a user account, allowing access to specific database objects, actions, or functions.</a:t>
                      </a:r>
                    </a:p>
                  </a:txBody>
                  <a:tcPr marL="45798" marR="45798" marT="64117" marB="64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a:effectLst/>
                        </a:rPr>
                        <a:t>GRANT </a:t>
                      </a:r>
                      <a:r>
                        <a:rPr lang="en-US" sz="1600" b="0">
                          <a:effectLst/>
                        </a:rPr>
                        <a:t>privilege_type [(column_list)] ON [object_type] object_name TO user [WITH GRANT OPTION];</a:t>
                      </a:r>
                    </a:p>
                  </a:txBody>
                  <a:tcPr marL="45798" marR="45798" marT="64117" marB="64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4006443"/>
                  </a:ext>
                </a:extLst>
              </a:tr>
              <a:tr h="1035913">
                <a:tc>
                  <a:txBody>
                    <a:bodyPr/>
                    <a:lstStyle/>
                    <a:p>
                      <a:pPr algn="ctr" fontAlgn="ctr"/>
                      <a:r>
                        <a:rPr lang="en-IN" sz="1600" b="0" u="sng">
                          <a:effectLst/>
                          <a:hlinkClick r:id="rId3"/>
                        </a:rPr>
                        <a:t>REVOKE</a:t>
                      </a:r>
                      <a:endParaRPr lang="en-IN" sz="1600" b="0">
                        <a:effectLst/>
                      </a:endParaRPr>
                    </a:p>
                  </a:txBody>
                  <a:tcPr marL="45798" marR="45798" marT="64117" marB="64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0">
                          <a:effectLst/>
                        </a:rPr>
                        <a:t>Removes previously granted privileges from a user account, taking away their access to certain database objects or actions.</a:t>
                      </a:r>
                    </a:p>
                  </a:txBody>
                  <a:tcPr marL="45798" marR="45798" marT="64117" marB="64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600" b="1" dirty="0">
                          <a:effectLst/>
                        </a:rPr>
                        <a:t>REVOKE </a:t>
                      </a:r>
                      <a:r>
                        <a:rPr lang="en-US" sz="1600" b="0" dirty="0">
                          <a:effectLst/>
                        </a:rPr>
                        <a:t>[GRANT OPTION FOR] </a:t>
                      </a:r>
                      <a:r>
                        <a:rPr lang="en-US" sz="1600" b="0" dirty="0" err="1">
                          <a:effectLst/>
                        </a:rPr>
                        <a:t>privilege_type</a:t>
                      </a:r>
                      <a:r>
                        <a:rPr lang="en-US" sz="1600" b="0" dirty="0">
                          <a:effectLst/>
                        </a:rPr>
                        <a:t> [(</a:t>
                      </a:r>
                      <a:r>
                        <a:rPr lang="en-US" sz="1600" b="0" dirty="0" err="1">
                          <a:effectLst/>
                        </a:rPr>
                        <a:t>column_list</a:t>
                      </a:r>
                      <a:r>
                        <a:rPr lang="en-US" sz="1600" b="0" dirty="0">
                          <a:effectLst/>
                        </a:rPr>
                        <a:t>)] ON [</a:t>
                      </a:r>
                      <a:r>
                        <a:rPr lang="en-US" sz="1600" b="0" dirty="0" err="1">
                          <a:effectLst/>
                        </a:rPr>
                        <a:t>object_type</a:t>
                      </a:r>
                      <a:r>
                        <a:rPr lang="en-US" sz="1600" b="0" dirty="0">
                          <a:effectLst/>
                        </a:rPr>
                        <a:t>] </a:t>
                      </a:r>
                      <a:r>
                        <a:rPr lang="en-US" sz="1600" b="0" dirty="0" err="1">
                          <a:effectLst/>
                        </a:rPr>
                        <a:t>object_name</a:t>
                      </a:r>
                      <a:r>
                        <a:rPr lang="en-US" sz="1600" b="0" dirty="0">
                          <a:effectLst/>
                        </a:rPr>
                        <a:t> FROM user [CASCADE];</a:t>
                      </a:r>
                    </a:p>
                  </a:txBody>
                  <a:tcPr marL="45798" marR="45798" marT="64117" marB="64117"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00030680"/>
                  </a:ext>
                </a:extLst>
              </a:tr>
            </a:tbl>
          </a:graphicData>
        </a:graphic>
      </p:graphicFrame>
      <p:sp>
        <p:nvSpPr>
          <p:cNvPr id="6" name="TextBox 5">
            <a:extLst>
              <a:ext uri="{FF2B5EF4-FFF2-40B4-BE49-F238E27FC236}">
                <a16:creationId xmlns:a16="http://schemas.microsoft.com/office/drawing/2014/main" id="{28EA3451-572C-4927-DBCE-04335FE80160}"/>
              </a:ext>
            </a:extLst>
          </p:cNvPr>
          <p:cNvSpPr txBox="1"/>
          <p:nvPr/>
        </p:nvSpPr>
        <p:spPr>
          <a:xfrm>
            <a:off x="1857009" y="4754310"/>
            <a:ext cx="8477982" cy="1754326"/>
          </a:xfrm>
          <a:prstGeom prst="rect">
            <a:avLst/>
          </a:prstGeom>
          <a:noFill/>
        </p:spPr>
        <p:txBody>
          <a:bodyPr wrap="square">
            <a:spAutoFit/>
          </a:bodyPr>
          <a:lstStyle/>
          <a:p>
            <a:r>
              <a:rPr lang="en-US" dirty="0"/>
              <a:t>Example of DCL</a:t>
            </a:r>
          </a:p>
          <a:p>
            <a:endParaRPr lang="en-US" dirty="0"/>
          </a:p>
          <a:p>
            <a:r>
              <a:rPr lang="en-US" dirty="0"/>
              <a:t>GRANT SELECT, UPDATE ON employees TO </a:t>
            </a:r>
            <a:r>
              <a:rPr lang="en-US" dirty="0" err="1"/>
              <a:t>user_name</a:t>
            </a:r>
            <a:r>
              <a:rPr lang="en-US" dirty="0"/>
              <a:t>;</a:t>
            </a:r>
          </a:p>
          <a:p>
            <a:endParaRPr lang="en-US" dirty="0"/>
          </a:p>
          <a:p>
            <a:r>
              <a:rPr lang="en-US" dirty="0"/>
              <a:t>This command grants the user </a:t>
            </a:r>
            <a:r>
              <a:rPr lang="en-US" dirty="0" err="1"/>
              <a:t>user_name</a:t>
            </a:r>
            <a:r>
              <a:rPr lang="en-US" dirty="0"/>
              <a:t> the permissions to select and update records in the employees table.</a:t>
            </a:r>
            <a:endParaRPr lang="en-IN" dirty="0"/>
          </a:p>
        </p:txBody>
      </p:sp>
    </p:spTree>
    <p:extLst>
      <p:ext uri="{BB962C8B-B14F-4D97-AF65-F5344CB8AC3E}">
        <p14:creationId xmlns:p14="http://schemas.microsoft.com/office/powerpoint/2010/main" val="390646149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7D44-4F03-131C-B5CF-227CBC082918}"/>
              </a:ext>
            </a:extLst>
          </p:cNvPr>
          <p:cNvSpPr>
            <a:spLocks noGrp="1"/>
          </p:cNvSpPr>
          <p:nvPr>
            <p:ph type="title"/>
          </p:nvPr>
        </p:nvSpPr>
        <p:spPr>
          <a:xfrm>
            <a:off x="1371600" y="0"/>
            <a:ext cx="10820400" cy="773723"/>
          </a:xfrm>
        </p:spPr>
        <p:txBody>
          <a:bodyPr>
            <a:normAutofit/>
          </a:bodyPr>
          <a:lstStyle/>
          <a:p>
            <a:r>
              <a:rPr lang="en-IN" dirty="0"/>
              <a:t>TCL – Transaction Control Language</a:t>
            </a:r>
          </a:p>
        </p:txBody>
      </p:sp>
      <p:sp>
        <p:nvSpPr>
          <p:cNvPr id="3" name="Text Placeholder 2">
            <a:extLst>
              <a:ext uri="{FF2B5EF4-FFF2-40B4-BE49-F238E27FC236}">
                <a16:creationId xmlns:a16="http://schemas.microsoft.com/office/drawing/2014/main" id="{B0B8AFB3-ABCB-ADDC-BCA1-E61CA58A7448}"/>
              </a:ext>
            </a:extLst>
          </p:cNvPr>
          <p:cNvSpPr>
            <a:spLocks noGrp="1"/>
          </p:cNvSpPr>
          <p:nvPr>
            <p:ph type="body" idx="1"/>
          </p:nvPr>
        </p:nvSpPr>
        <p:spPr>
          <a:xfrm>
            <a:off x="1371600" y="677008"/>
            <a:ext cx="9601200" cy="1389184"/>
          </a:xfrm>
        </p:spPr>
        <p:txBody>
          <a:bodyPr/>
          <a:lstStyle/>
          <a:p>
            <a:r>
              <a:rPr lang="en-US" b="1" i="0" dirty="0">
                <a:solidFill>
                  <a:srgbClr val="273239"/>
                </a:solidFill>
                <a:effectLst/>
                <a:latin typeface="Nunito" pitchFamily="2" charset="0"/>
              </a:rPr>
              <a:t>Transactions </a:t>
            </a:r>
            <a:r>
              <a:rPr lang="en-US" b="0" i="0" dirty="0">
                <a:solidFill>
                  <a:srgbClr val="273239"/>
                </a:solidFill>
                <a:effectLst/>
                <a:latin typeface="Nunito" pitchFamily="2" charset="0"/>
              </a:rPr>
              <a:t>group a set of tasks into a </a:t>
            </a:r>
            <a:r>
              <a:rPr lang="en-US" b="1" i="0" dirty="0">
                <a:solidFill>
                  <a:srgbClr val="273239"/>
                </a:solidFill>
                <a:effectLst/>
                <a:latin typeface="Nunito" pitchFamily="2" charset="0"/>
              </a:rPr>
              <a:t>single execution unit</a:t>
            </a:r>
            <a:r>
              <a:rPr lang="en-US" b="0" i="0" dirty="0">
                <a:solidFill>
                  <a:srgbClr val="273239"/>
                </a:solidFill>
                <a:effectLst/>
                <a:latin typeface="Nunito" pitchFamily="2" charset="0"/>
              </a:rPr>
              <a:t>. Each transaction begins with a specific task and ends when all the tasks in the group are successfully completed. If any of the </a:t>
            </a:r>
            <a:r>
              <a:rPr lang="en-US" b="1" i="0" dirty="0">
                <a:solidFill>
                  <a:srgbClr val="273239"/>
                </a:solidFill>
                <a:effectLst/>
                <a:latin typeface="Nunito" pitchFamily="2" charset="0"/>
              </a:rPr>
              <a:t>tasks fail</a:t>
            </a:r>
            <a:r>
              <a:rPr lang="en-US" b="0" i="0" dirty="0">
                <a:solidFill>
                  <a:srgbClr val="273239"/>
                </a:solidFill>
                <a:effectLst/>
                <a:latin typeface="Nunito" pitchFamily="2" charset="0"/>
              </a:rPr>
              <a:t>, the transaction fails. Therefore, a transaction has only two results: </a:t>
            </a:r>
            <a:r>
              <a:rPr lang="en-US" b="1" i="0" dirty="0">
                <a:solidFill>
                  <a:srgbClr val="273239"/>
                </a:solidFill>
                <a:effectLst/>
                <a:latin typeface="Nunito" pitchFamily="2" charset="0"/>
              </a:rPr>
              <a:t>success </a:t>
            </a:r>
            <a:r>
              <a:rPr lang="en-US" b="0" i="0" dirty="0">
                <a:solidFill>
                  <a:srgbClr val="273239"/>
                </a:solidFill>
                <a:effectLst/>
                <a:latin typeface="Nunito" pitchFamily="2" charset="0"/>
              </a:rPr>
              <a:t>or </a:t>
            </a:r>
            <a:r>
              <a:rPr lang="en-US" b="1" i="0" dirty="0">
                <a:solidFill>
                  <a:srgbClr val="273239"/>
                </a:solidFill>
                <a:effectLst/>
                <a:latin typeface="Nunito" pitchFamily="2" charset="0"/>
              </a:rPr>
              <a:t>failure</a:t>
            </a:r>
            <a:r>
              <a:rPr lang="en-US" b="0" i="0" dirty="0">
                <a:solidFill>
                  <a:srgbClr val="273239"/>
                </a:solidFill>
                <a:effectLst/>
                <a:latin typeface="Nunito" pitchFamily="2" charset="0"/>
              </a:rPr>
              <a:t>. </a:t>
            </a:r>
            <a:endParaRPr lang="en-IN" dirty="0"/>
          </a:p>
        </p:txBody>
      </p:sp>
      <p:graphicFrame>
        <p:nvGraphicFramePr>
          <p:cNvPr id="6" name="Table 5">
            <a:extLst>
              <a:ext uri="{FF2B5EF4-FFF2-40B4-BE49-F238E27FC236}">
                <a16:creationId xmlns:a16="http://schemas.microsoft.com/office/drawing/2014/main" id="{74A83408-F95E-5C3D-8849-E11CB678CF28}"/>
              </a:ext>
            </a:extLst>
          </p:cNvPr>
          <p:cNvGraphicFramePr>
            <a:graphicFrameLocks noGrp="1"/>
          </p:cNvGraphicFramePr>
          <p:nvPr/>
        </p:nvGraphicFramePr>
        <p:xfrm>
          <a:off x="1037492" y="2066192"/>
          <a:ext cx="10972800" cy="1981200"/>
        </p:xfrm>
        <a:graphic>
          <a:graphicData uri="http://schemas.openxmlformats.org/drawingml/2006/table">
            <a:tbl>
              <a:tblPr/>
              <a:tblGrid>
                <a:gridCol w="3657600">
                  <a:extLst>
                    <a:ext uri="{9D8B030D-6E8A-4147-A177-3AD203B41FA5}">
                      <a16:colId xmlns:a16="http://schemas.microsoft.com/office/drawing/2014/main" val="1810087435"/>
                    </a:ext>
                  </a:extLst>
                </a:gridCol>
                <a:gridCol w="3657600">
                  <a:extLst>
                    <a:ext uri="{9D8B030D-6E8A-4147-A177-3AD203B41FA5}">
                      <a16:colId xmlns:a16="http://schemas.microsoft.com/office/drawing/2014/main" val="3220816363"/>
                    </a:ext>
                  </a:extLst>
                </a:gridCol>
                <a:gridCol w="3657600">
                  <a:extLst>
                    <a:ext uri="{9D8B030D-6E8A-4147-A177-3AD203B41FA5}">
                      <a16:colId xmlns:a16="http://schemas.microsoft.com/office/drawing/2014/main" val="2755236505"/>
                    </a:ext>
                  </a:extLst>
                </a:gridCol>
              </a:tblGrid>
              <a:tr h="0">
                <a:tc>
                  <a:txBody>
                    <a:bodyPr/>
                    <a:lstStyle/>
                    <a:p>
                      <a:pPr algn="ctr" fontAlgn="base"/>
                      <a:r>
                        <a:rPr lang="en-IN" sz="1400" b="1">
                          <a:effectLst/>
                        </a:rPr>
                        <a:t>Command</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Syntax</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52539869"/>
                  </a:ext>
                </a:extLst>
              </a:tr>
              <a:tr h="0">
                <a:tc>
                  <a:txBody>
                    <a:bodyPr/>
                    <a:lstStyle/>
                    <a:p>
                      <a:pPr algn="ctr" fontAlgn="ctr"/>
                      <a:r>
                        <a:rPr lang="en-IN" sz="1250" b="0" u="sng">
                          <a:effectLst/>
                          <a:hlinkClick r:id="rId2"/>
                        </a:rPr>
                        <a:t>BEGIN TRANSACTION</a:t>
                      </a:r>
                      <a:endParaRPr lang="en-IN" sz="125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Starts a new transaction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BEGIN TRANSACTION [transaction_name];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55929360"/>
                  </a:ext>
                </a:extLst>
              </a:tr>
              <a:tr h="0">
                <a:tc>
                  <a:txBody>
                    <a:bodyPr/>
                    <a:lstStyle/>
                    <a:p>
                      <a:pPr algn="ctr" fontAlgn="ctr"/>
                      <a:r>
                        <a:rPr lang="en-IN" sz="1250" b="0" u="sng">
                          <a:effectLst/>
                          <a:hlinkClick r:id="rId2"/>
                        </a:rPr>
                        <a:t>COMMIT</a:t>
                      </a:r>
                      <a:endParaRPr lang="en-IN" sz="125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Saves all changes made during the transaction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COMMIT;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8936661"/>
                  </a:ext>
                </a:extLst>
              </a:tr>
              <a:tr h="0">
                <a:tc>
                  <a:txBody>
                    <a:bodyPr/>
                    <a:lstStyle/>
                    <a:p>
                      <a:pPr algn="ctr" fontAlgn="ctr"/>
                      <a:r>
                        <a:rPr lang="en-IN" sz="1250" b="0" u="sng">
                          <a:effectLst/>
                          <a:hlinkClick r:id="rId2"/>
                        </a:rPr>
                        <a:t>ROLLBACK</a:t>
                      </a:r>
                      <a:endParaRPr lang="en-IN" sz="125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Undoes all changes made during the transaction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ROLLBACK;</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45018498"/>
                  </a:ext>
                </a:extLst>
              </a:tr>
              <a:tr h="0">
                <a:tc>
                  <a:txBody>
                    <a:bodyPr/>
                    <a:lstStyle/>
                    <a:p>
                      <a:pPr algn="ctr" fontAlgn="ctr"/>
                      <a:r>
                        <a:rPr lang="en-IN" sz="1250" b="0" u="sng">
                          <a:effectLst/>
                          <a:hlinkClick r:id="rId2"/>
                        </a:rPr>
                        <a:t>SAVEPOINT</a:t>
                      </a:r>
                      <a:endParaRPr lang="en-IN" sz="1250" b="0">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Creates a savepoint within the current transaction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rPr>
                        <a:t>SAVEPOINT </a:t>
                      </a:r>
                      <a:r>
                        <a:rPr lang="en-IN" sz="1250" b="0" dirty="0" err="1">
                          <a:effectLst/>
                        </a:rPr>
                        <a:t>savepoint_name</a:t>
                      </a:r>
                      <a:r>
                        <a:rPr lang="en-IN" sz="1250" b="0" dirty="0">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22001626"/>
                  </a:ext>
                </a:extLst>
              </a:tr>
            </a:tbl>
          </a:graphicData>
        </a:graphic>
      </p:graphicFrame>
      <p:sp>
        <p:nvSpPr>
          <p:cNvPr id="8" name="TextBox 7">
            <a:extLst>
              <a:ext uri="{FF2B5EF4-FFF2-40B4-BE49-F238E27FC236}">
                <a16:creationId xmlns:a16="http://schemas.microsoft.com/office/drawing/2014/main" id="{1B3E530A-6CB3-0A55-E856-D43A91AC3A17}"/>
              </a:ext>
            </a:extLst>
          </p:cNvPr>
          <p:cNvSpPr txBox="1"/>
          <p:nvPr/>
        </p:nvSpPr>
        <p:spPr>
          <a:xfrm>
            <a:off x="958362" y="4136506"/>
            <a:ext cx="10972800" cy="2585323"/>
          </a:xfrm>
          <a:prstGeom prst="rect">
            <a:avLst/>
          </a:prstGeom>
          <a:noFill/>
        </p:spPr>
        <p:txBody>
          <a:bodyPr wrap="square">
            <a:spAutoFit/>
          </a:bodyPr>
          <a:lstStyle/>
          <a:p>
            <a:r>
              <a:rPr lang="en-US" b="1" dirty="0"/>
              <a:t>Example of TCL</a:t>
            </a:r>
          </a:p>
          <a:p>
            <a:r>
              <a:rPr lang="en-US" dirty="0"/>
              <a:t>BEGIN TRANSACTION;</a:t>
            </a:r>
          </a:p>
          <a:p>
            <a:r>
              <a:rPr lang="en-US" dirty="0"/>
              <a:t>UPDATE employees SET department = 'Marketing' WHERE department = 'Sales';</a:t>
            </a:r>
          </a:p>
          <a:p>
            <a:r>
              <a:rPr lang="en-US" dirty="0"/>
              <a:t>SAVEPOINT </a:t>
            </a:r>
            <a:r>
              <a:rPr lang="en-US" dirty="0" err="1"/>
              <a:t>before_update</a:t>
            </a:r>
            <a:r>
              <a:rPr lang="en-US" dirty="0"/>
              <a:t>;</a:t>
            </a:r>
          </a:p>
          <a:p>
            <a:r>
              <a:rPr lang="en-US" dirty="0"/>
              <a:t>UPDATE employees SET department = 'IT' WHERE department = 'HR';</a:t>
            </a:r>
          </a:p>
          <a:p>
            <a:r>
              <a:rPr lang="en-US" dirty="0"/>
              <a:t>ROLLBACK TO SAVEPOINT </a:t>
            </a:r>
            <a:r>
              <a:rPr lang="en-US" dirty="0" err="1"/>
              <a:t>before_update</a:t>
            </a:r>
            <a:r>
              <a:rPr lang="en-US" dirty="0"/>
              <a:t>;</a:t>
            </a:r>
          </a:p>
          <a:p>
            <a:r>
              <a:rPr lang="en-US" dirty="0"/>
              <a:t>COMMIT;</a:t>
            </a:r>
          </a:p>
          <a:p>
            <a:r>
              <a:rPr lang="en-US" dirty="0"/>
              <a:t>In this example, a transaction is started, changes are made, and a </a:t>
            </a:r>
            <a:r>
              <a:rPr lang="en-US" dirty="0" err="1"/>
              <a:t>savepoint</a:t>
            </a:r>
            <a:r>
              <a:rPr lang="en-US" dirty="0"/>
              <a:t> is set. If needed, the transaction can be rolled back to the </a:t>
            </a:r>
            <a:r>
              <a:rPr lang="en-US" dirty="0" err="1"/>
              <a:t>savepoint</a:t>
            </a:r>
            <a:r>
              <a:rPr lang="en-US" dirty="0"/>
              <a:t> before being committed.</a:t>
            </a:r>
            <a:endParaRPr lang="en-IN" dirty="0"/>
          </a:p>
        </p:txBody>
      </p:sp>
    </p:spTree>
    <p:extLst>
      <p:ext uri="{BB962C8B-B14F-4D97-AF65-F5344CB8AC3E}">
        <p14:creationId xmlns:p14="http://schemas.microsoft.com/office/powerpoint/2010/main" val="295365386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A154-53FE-8280-404A-DA6B7C771E32}"/>
              </a:ext>
            </a:extLst>
          </p:cNvPr>
          <p:cNvSpPr>
            <a:spLocks noGrp="1"/>
          </p:cNvSpPr>
          <p:nvPr>
            <p:ph type="title"/>
          </p:nvPr>
        </p:nvSpPr>
        <p:spPr/>
        <p:txBody>
          <a:bodyPr>
            <a:normAutofit/>
          </a:bodyPr>
          <a:lstStyle/>
          <a:p>
            <a:r>
              <a:rPr lang="en-US" sz="3200" dirty="0"/>
              <a:t>Hands On Exercise with DQL Statements - SELECT </a:t>
            </a:r>
          </a:p>
        </p:txBody>
      </p:sp>
      <p:sp>
        <p:nvSpPr>
          <p:cNvPr id="3" name="Text Placeholder 2">
            <a:extLst>
              <a:ext uri="{FF2B5EF4-FFF2-40B4-BE49-F238E27FC236}">
                <a16:creationId xmlns:a16="http://schemas.microsoft.com/office/drawing/2014/main" id="{E42BAE7B-E1A5-B216-980D-4370EC36A9B0}"/>
              </a:ext>
            </a:extLst>
          </p:cNvPr>
          <p:cNvSpPr>
            <a:spLocks noGrp="1"/>
          </p:cNvSpPr>
          <p:nvPr>
            <p:ph type="body" idx="1"/>
          </p:nvPr>
        </p:nvSpPr>
        <p:spPr>
          <a:xfrm>
            <a:off x="1371600" y="2286000"/>
            <a:ext cx="6008915" cy="3581400"/>
          </a:xfrm>
        </p:spPr>
        <p:txBody>
          <a:bodyPr vert="horz" lIns="91440" tIns="45720" rIns="91440" bIns="45720" rtlCol="0" anchor="t">
            <a:normAutofit fontScale="85000" lnSpcReduction="20000"/>
          </a:bodyPr>
          <a:lstStyle/>
          <a:p>
            <a:pPr marL="383540" indent="-383540"/>
            <a:r>
              <a:rPr lang="en-US" dirty="0"/>
              <a:t>Go To </a:t>
            </a:r>
            <a:r>
              <a:rPr lang="en-US" dirty="0" err="1"/>
              <a:t>Programmiz</a:t>
            </a:r>
            <a:r>
              <a:rPr lang="en-US" dirty="0"/>
              <a:t> Online SQL Editor </a:t>
            </a:r>
            <a:endParaRPr lang="en-US" sz="1500" dirty="0"/>
          </a:p>
          <a:p>
            <a:pPr marL="0" indent="0">
              <a:buNone/>
            </a:pPr>
            <a:endParaRPr lang="en-US" dirty="0">
              <a:ea typeface="+mn-lt"/>
              <a:cs typeface="+mn-lt"/>
            </a:endParaRPr>
          </a:p>
          <a:p>
            <a:pPr marL="0" indent="0">
              <a:buNone/>
            </a:pPr>
            <a:r>
              <a:rPr lang="en-US" dirty="0">
                <a:ea typeface="+mn-lt"/>
                <a:cs typeface="+mn-lt"/>
              </a:rPr>
              <a:t>Run These commands, Tweak with the commands and understand what it does :</a:t>
            </a:r>
          </a:p>
          <a:p>
            <a:pPr marL="0" indent="0">
              <a:buNone/>
            </a:pPr>
            <a:r>
              <a:rPr lang="en-US" dirty="0">
                <a:ea typeface="+mn-lt"/>
                <a:cs typeface="+mn-lt"/>
              </a:rPr>
              <a:t>-- Online SQL Editor to Run SQL Online.</a:t>
            </a:r>
            <a:endParaRPr lang="en-US" dirty="0"/>
          </a:p>
          <a:p>
            <a:pPr marL="0" indent="0">
              <a:buNone/>
            </a:pPr>
            <a:r>
              <a:rPr lang="en-US" dirty="0">
                <a:ea typeface="+mn-lt"/>
                <a:cs typeface="+mn-lt"/>
              </a:rPr>
              <a:t>-- Use the editor to create new tables, insert data and all other SQL operations.</a:t>
            </a:r>
            <a:endParaRPr lang="en-US" dirty="0"/>
          </a:p>
          <a:p>
            <a:pPr marL="383540" indent="-383540"/>
            <a:r>
              <a:rPr lang="en-US" dirty="0">
                <a:ea typeface="+mn-lt"/>
                <a:cs typeface="+mn-lt"/>
              </a:rPr>
              <a:t>SELECT </a:t>
            </a:r>
            <a:r>
              <a:rPr lang="en-US" dirty="0" err="1">
                <a:ea typeface="+mn-lt"/>
                <a:cs typeface="+mn-lt"/>
              </a:rPr>
              <a:t>first_name</a:t>
            </a:r>
            <a:r>
              <a:rPr lang="en-US" dirty="0">
                <a:ea typeface="+mn-lt"/>
                <a:cs typeface="+mn-lt"/>
              </a:rPr>
              <a:t>, </a:t>
            </a:r>
            <a:r>
              <a:rPr lang="en-US" dirty="0" err="1">
                <a:ea typeface="+mn-lt"/>
                <a:cs typeface="+mn-lt"/>
              </a:rPr>
              <a:t>last_name</a:t>
            </a:r>
            <a:r>
              <a:rPr lang="en-US" dirty="0">
                <a:ea typeface="+mn-lt"/>
                <a:cs typeface="+mn-lt"/>
              </a:rPr>
              <a:t>, </a:t>
            </a:r>
            <a:r>
              <a:rPr lang="en-US" dirty="0" err="1">
                <a:ea typeface="+mn-lt"/>
                <a:cs typeface="+mn-lt"/>
              </a:rPr>
              <a:t>hire_date</a:t>
            </a:r>
            <a:endParaRPr lang="en-US" dirty="0" err="1"/>
          </a:p>
          <a:p>
            <a:pPr marL="383540" indent="-383540"/>
            <a:r>
              <a:rPr lang="en-US" dirty="0">
                <a:ea typeface="+mn-lt"/>
                <a:cs typeface="+mn-lt"/>
              </a:rPr>
              <a:t>FROM employees</a:t>
            </a:r>
            <a:endParaRPr lang="en-US" dirty="0"/>
          </a:p>
          <a:p>
            <a:pPr marL="383540" indent="-383540"/>
            <a:r>
              <a:rPr lang="en-US" dirty="0">
                <a:ea typeface="+mn-lt"/>
                <a:cs typeface="+mn-lt"/>
              </a:rPr>
              <a:t>WHERE department = 'Sales'</a:t>
            </a:r>
            <a:endParaRPr lang="en-US" dirty="0"/>
          </a:p>
          <a:p>
            <a:pPr marL="383540" indent="-383540"/>
            <a:r>
              <a:rPr lang="en-US" dirty="0">
                <a:ea typeface="+mn-lt"/>
                <a:cs typeface="+mn-lt"/>
              </a:rPr>
              <a:t>ORDER BY </a:t>
            </a:r>
            <a:r>
              <a:rPr lang="en-US" dirty="0" err="1">
                <a:ea typeface="+mn-lt"/>
                <a:cs typeface="+mn-lt"/>
              </a:rPr>
              <a:t>hire_date</a:t>
            </a:r>
            <a:r>
              <a:rPr lang="en-US" dirty="0">
                <a:ea typeface="+mn-lt"/>
                <a:cs typeface="+mn-lt"/>
              </a:rPr>
              <a:t> DESC;</a:t>
            </a:r>
            <a:endParaRPr lang="en-US" dirty="0"/>
          </a:p>
        </p:txBody>
      </p:sp>
      <p:pic>
        <p:nvPicPr>
          <p:cNvPr id="5" name="Picture 4" descr="A qr code on a white background&#10;&#10;Description automatically generated">
            <a:extLst>
              <a:ext uri="{FF2B5EF4-FFF2-40B4-BE49-F238E27FC236}">
                <a16:creationId xmlns:a16="http://schemas.microsoft.com/office/drawing/2014/main" id="{982CDFA0-1F70-7F80-79C4-62E963E4FB9E}"/>
              </a:ext>
            </a:extLst>
          </p:cNvPr>
          <p:cNvPicPr>
            <a:picLocks noChangeAspect="1"/>
          </p:cNvPicPr>
          <p:nvPr/>
        </p:nvPicPr>
        <p:blipFill>
          <a:blip r:embed="rId2"/>
          <a:stretch>
            <a:fillRect/>
          </a:stretch>
        </p:blipFill>
        <p:spPr>
          <a:xfrm>
            <a:off x="8254250" y="2559608"/>
            <a:ext cx="3043918" cy="3045069"/>
          </a:xfrm>
          <a:prstGeom prst="rect">
            <a:avLst/>
          </a:prstGeom>
        </p:spPr>
      </p:pic>
    </p:spTree>
    <p:extLst>
      <p:ext uri="{BB962C8B-B14F-4D97-AF65-F5344CB8AC3E}">
        <p14:creationId xmlns:p14="http://schemas.microsoft.com/office/powerpoint/2010/main" val="154223387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0425-5E08-058B-9A3B-937DB3C01728}"/>
              </a:ext>
            </a:extLst>
          </p:cNvPr>
          <p:cNvSpPr>
            <a:spLocks noGrp="1"/>
          </p:cNvSpPr>
          <p:nvPr>
            <p:ph type="title"/>
          </p:nvPr>
        </p:nvSpPr>
        <p:spPr/>
        <p:txBody>
          <a:bodyPr/>
          <a:lstStyle/>
          <a:p>
            <a:r>
              <a:rPr lang="en-IN" dirty="0"/>
              <a:t>SQL SELECT Statement Activity</a:t>
            </a:r>
          </a:p>
        </p:txBody>
      </p:sp>
      <p:sp>
        <p:nvSpPr>
          <p:cNvPr id="3" name="Text Placeholder 2">
            <a:extLst>
              <a:ext uri="{FF2B5EF4-FFF2-40B4-BE49-F238E27FC236}">
                <a16:creationId xmlns:a16="http://schemas.microsoft.com/office/drawing/2014/main" id="{7301C085-6F39-3F00-7DD7-1F8B27348BAF}"/>
              </a:ext>
            </a:extLst>
          </p:cNvPr>
          <p:cNvSpPr>
            <a:spLocks noGrp="1"/>
          </p:cNvSpPr>
          <p:nvPr>
            <p:ph type="body" idx="1"/>
          </p:nvPr>
        </p:nvSpPr>
        <p:spPr>
          <a:xfrm>
            <a:off x="1371600" y="2286000"/>
            <a:ext cx="6611816" cy="3581400"/>
          </a:xfrm>
        </p:spPr>
        <p:txBody>
          <a:bodyPr vert="horz" lIns="91440" tIns="45720" rIns="91440" bIns="45720" rtlCol="0" anchor="t">
            <a:normAutofit/>
          </a:bodyPr>
          <a:lstStyle/>
          <a:p>
            <a:pPr marL="383540" indent="-383540"/>
            <a:r>
              <a:rPr lang="en-IN" dirty="0"/>
              <a:t>Source: </a:t>
            </a:r>
            <a:r>
              <a:rPr lang="en-IN" sz="1500" dirty="0">
                <a:ea typeface="+mn-lt"/>
                <a:cs typeface="+mn-lt"/>
                <a:hlinkClick r:id="rId2"/>
              </a:rPr>
              <a:t>https://www.techonthenet.com/sql/select_exercises.php/</a:t>
            </a:r>
            <a:r>
              <a:rPr lang="en-IN" sz="1500" dirty="0">
                <a:ea typeface="+mn-lt"/>
                <a:cs typeface="+mn-lt"/>
              </a:rPr>
              <a:t> </a:t>
            </a:r>
            <a:endParaRPr lang="en-US" dirty="0">
              <a:ea typeface="+mn-lt"/>
              <a:cs typeface="+mn-lt"/>
            </a:endParaRPr>
          </a:p>
          <a:p>
            <a:pPr marL="383540" indent="-383540"/>
            <a:endParaRPr lang="en-IN" sz="1500" dirty="0"/>
          </a:p>
          <a:p>
            <a:pPr marL="383540" indent="-383540"/>
            <a:r>
              <a:rPr lang="en-IN" dirty="0">
                <a:ea typeface="+mn-lt"/>
                <a:cs typeface="+mn-lt"/>
              </a:rPr>
              <a:t>Practice Exercise #1:</a:t>
            </a:r>
            <a:endParaRPr lang="en-IN"/>
          </a:p>
          <a:p>
            <a:pPr marL="383540" indent="-383540"/>
            <a:r>
              <a:rPr lang="en-IN" dirty="0"/>
              <a:t>Based on the employees table below, select all fields from the employees table whose salary is less than or equal to $52,500 </a:t>
            </a:r>
          </a:p>
          <a:p>
            <a:pPr marL="383540" indent="-383540"/>
            <a:endParaRPr lang="en-IN"/>
          </a:p>
          <a:p>
            <a:pPr marL="383540" indent="-383540"/>
            <a:endParaRPr lang="en-IN" dirty="0"/>
          </a:p>
        </p:txBody>
      </p:sp>
      <p:pic>
        <p:nvPicPr>
          <p:cNvPr id="4" name="Picture 3" descr="A qr code on a white background&#10;&#10;Description automatically generated">
            <a:extLst>
              <a:ext uri="{FF2B5EF4-FFF2-40B4-BE49-F238E27FC236}">
                <a16:creationId xmlns:a16="http://schemas.microsoft.com/office/drawing/2014/main" id="{D612A0A2-2A42-A5F5-0567-D15889386F95}"/>
              </a:ext>
            </a:extLst>
          </p:cNvPr>
          <p:cNvPicPr>
            <a:picLocks noChangeAspect="1"/>
          </p:cNvPicPr>
          <p:nvPr/>
        </p:nvPicPr>
        <p:blipFill>
          <a:blip r:embed="rId3"/>
          <a:stretch>
            <a:fillRect/>
          </a:stretch>
        </p:blipFill>
        <p:spPr>
          <a:xfrm>
            <a:off x="8403981" y="2284430"/>
            <a:ext cx="3238500" cy="3143250"/>
          </a:xfrm>
          <a:prstGeom prst="rect">
            <a:avLst/>
          </a:prstGeom>
        </p:spPr>
      </p:pic>
    </p:spTree>
    <p:extLst>
      <p:ext uri="{BB962C8B-B14F-4D97-AF65-F5344CB8AC3E}">
        <p14:creationId xmlns:p14="http://schemas.microsoft.com/office/powerpoint/2010/main" val="1271894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C8619-12E2-E4FE-1C0F-DEBB82899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6AF22-B83B-FE52-FE6A-BF824CCD9B85}"/>
              </a:ext>
            </a:extLst>
          </p:cNvPr>
          <p:cNvSpPr>
            <a:spLocks noGrp="1"/>
          </p:cNvSpPr>
          <p:nvPr>
            <p:ph type="title"/>
          </p:nvPr>
        </p:nvSpPr>
        <p:spPr>
          <a:xfrm>
            <a:off x="1295400" y="2686050"/>
            <a:ext cx="9601200" cy="1485900"/>
          </a:xfrm>
        </p:spPr>
        <p:txBody>
          <a:bodyPr>
            <a:normAutofit/>
          </a:bodyPr>
          <a:lstStyle/>
          <a:p>
            <a:r>
              <a:rPr lang="en-US" b="1" dirty="0"/>
              <a:t>Day 9</a:t>
            </a:r>
            <a:r>
              <a:rPr lang="en-US" dirty="0"/>
              <a:t>: </a:t>
            </a:r>
            <a:r>
              <a:rPr lang="en-IN" dirty="0"/>
              <a:t>SQL- Aggregate functions</a:t>
            </a:r>
            <a:endParaRPr lang="en-US" dirty="0"/>
          </a:p>
        </p:txBody>
      </p:sp>
    </p:spTree>
    <p:extLst>
      <p:ext uri="{BB962C8B-B14F-4D97-AF65-F5344CB8AC3E}">
        <p14:creationId xmlns:p14="http://schemas.microsoft.com/office/powerpoint/2010/main" val="46204097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00425-5E08-058B-9A3B-937DB3C01728}"/>
              </a:ext>
            </a:extLst>
          </p:cNvPr>
          <p:cNvSpPr>
            <a:spLocks noGrp="1"/>
          </p:cNvSpPr>
          <p:nvPr>
            <p:ph type="title"/>
          </p:nvPr>
        </p:nvSpPr>
        <p:spPr/>
        <p:txBody>
          <a:bodyPr/>
          <a:lstStyle/>
          <a:p>
            <a:r>
              <a:rPr lang="en-IN" dirty="0"/>
              <a:t>SQL </a:t>
            </a:r>
            <a:r>
              <a:rPr lang="en-IN" sz="4400" dirty="0"/>
              <a:t>aggregate function</a:t>
            </a:r>
            <a:endParaRPr lang="en-IN" dirty="0"/>
          </a:p>
        </p:txBody>
      </p:sp>
      <p:sp>
        <p:nvSpPr>
          <p:cNvPr id="3" name="Text Placeholder 2">
            <a:extLst>
              <a:ext uri="{FF2B5EF4-FFF2-40B4-BE49-F238E27FC236}">
                <a16:creationId xmlns:a16="http://schemas.microsoft.com/office/drawing/2014/main" id="{7301C085-6F39-3F00-7DD7-1F8B27348BAF}"/>
              </a:ext>
            </a:extLst>
          </p:cNvPr>
          <p:cNvSpPr>
            <a:spLocks noGrp="1"/>
          </p:cNvSpPr>
          <p:nvPr>
            <p:ph type="body" idx="1"/>
          </p:nvPr>
        </p:nvSpPr>
        <p:spPr>
          <a:xfrm>
            <a:off x="1371598" y="1334278"/>
            <a:ext cx="10095723" cy="4837922"/>
          </a:xfrm>
        </p:spPr>
        <p:txBody>
          <a:bodyPr vert="horz" lIns="91440" tIns="45720" rIns="91440" bIns="45720" rtlCol="0" anchor="t">
            <a:noAutofit/>
          </a:bodyPr>
          <a:lstStyle/>
          <a:p>
            <a:pPr marL="383540" indent="-383540"/>
            <a:r>
              <a:rPr lang="en-IN" dirty="0"/>
              <a:t>An aggregate function is a function that performs a calculation on a set of values, and returns a single value.</a:t>
            </a:r>
          </a:p>
          <a:p>
            <a:pPr marL="383540" indent="-383540"/>
            <a:r>
              <a:rPr lang="en-IN" dirty="0"/>
              <a:t>Aggregate functions are often used with the GROUP BY clause of the SELECT statement. The GROUP BY clause splits the result-set into groups of values and the aggregate function can be used to return a single value for each group.</a:t>
            </a:r>
          </a:p>
          <a:p>
            <a:pPr marL="383540" indent="-383540"/>
            <a:r>
              <a:rPr lang="en-IN" dirty="0"/>
              <a:t>The most commonly used SQL aggregate functions are:</a:t>
            </a:r>
          </a:p>
          <a:p>
            <a:pPr marL="383540" indent="-383540"/>
            <a:r>
              <a:rPr lang="en-IN" dirty="0"/>
              <a:t>MIN() - returns the smallest value within the selected column</a:t>
            </a:r>
          </a:p>
          <a:p>
            <a:pPr marL="383540" indent="-383540"/>
            <a:r>
              <a:rPr lang="en-IN" dirty="0"/>
              <a:t>MAX() - returns the largest value within the selected column</a:t>
            </a:r>
          </a:p>
          <a:p>
            <a:pPr marL="383540" indent="-383540"/>
            <a:r>
              <a:rPr lang="en-IN" dirty="0"/>
              <a:t>COUNT() - returns the number of rows in a set</a:t>
            </a:r>
          </a:p>
          <a:p>
            <a:pPr marL="383540" indent="-383540"/>
            <a:r>
              <a:rPr lang="en-IN" dirty="0"/>
              <a:t>SUM() - returns the total sum of a numerical column</a:t>
            </a:r>
          </a:p>
          <a:p>
            <a:pPr marL="383540" indent="-383540"/>
            <a:r>
              <a:rPr lang="en-IN" dirty="0"/>
              <a:t>AVG() - returns the average value of a numerical column</a:t>
            </a:r>
          </a:p>
          <a:p>
            <a:pPr marL="383540" indent="-383540"/>
            <a:r>
              <a:rPr lang="en-IN" dirty="0"/>
              <a:t>Aggregate functions ignore null values (except for COUNT()).</a:t>
            </a:r>
          </a:p>
          <a:p>
            <a:pPr marL="0" indent="0">
              <a:buNone/>
            </a:pPr>
            <a:endParaRPr lang="en-IN" dirty="0"/>
          </a:p>
          <a:p>
            <a:pPr marL="383540" indent="-383540"/>
            <a:endParaRPr lang="en-IN" dirty="0"/>
          </a:p>
        </p:txBody>
      </p:sp>
    </p:spTree>
    <p:extLst>
      <p:ext uri="{BB962C8B-B14F-4D97-AF65-F5344CB8AC3E}">
        <p14:creationId xmlns:p14="http://schemas.microsoft.com/office/powerpoint/2010/main" val="46862914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58D0-83B4-B760-CA3C-33DB416EA253}"/>
              </a:ext>
            </a:extLst>
          </p:cNvPr>
          <p:cNvSpPr>
            <a:spLocks noGrp="1"/>
          </p:cNvSpPr>
          <p:nvPr>
            <p:ph type="title"/>
          </p:nvPr>
        </p:nvSpPr>
        <p:spPr/>
        <p:txBody>
          <a:bodyPr>
            <a:normAutofit fontScale="90000"/>
          </a:bodyPr>
          <a:lstStyle/>
          <a:p>
            <a:r>
              <a:rPr lang="en-IN" sz="4400" dirty="0"/>
              <a:t>MIN() - returns the smallest value within the selected column</a:t>
            </a:r>
            <a:br>
              <a:rPr lang="en-IN" sz="4400" dirty="0"/>
            </a:br>
            <a:endParaRPr lang="en-IN" dirty="0"/>
          </a:p>
        </p:txBody>
      </p:sp>
      <p:sp>
        <p:nvSpPr>
          <p:cNvPr id="3" name="Content Placeholder 2">
            <a:extLst>
              <a:ext uri="{FF2B5EF4-FFF2-40B4-BE49-F238E27FC236}">
                <a16:creationId xmlns:a16="http://schemas.microsoft.com/office/drawing/2014/main" id="{7AFF0E55-107F-0F6E-54AE-416AA1A64712}"/>
              </a:ext>
            </a:extLst>
          </p:cNvPr>
          <p:cNvSpPr>
            <a:spLocks noGrp="1"/>
          </p:cNvSpPr>
          <p:nvPr>
            <p:ph idx="1"/>
          </p:nvPr>
        </p:nvSpPr>
        <p:spPr>
          <a:xfrm>
            <a:off x="1371600" y="2171700"/>
            <a:ext cx="9601200" cy="4495800"/>
          </a:xfrm>
        </p:spPr>
        <p:txBody>
          <a:bodyPr/>
          <a:lstStyle/>
          <a:p>
            <a:r>
              <a:rPr lang="en-IN" dirty="0"/>
              <a:t>Syntax</a:t>
            </a:r>
          </a:p>
          <a:p>
            <a:pPr lvl="1"/>
            <a:r>
              <a:rPr lang="en-IN" dirty="0"/>
              <a:t>SELECT MIN(</a:t>
            </a:r>
            <a:r>
              <a:rPr lang="en-IN" dirty="0" err="1"/>
              <a:t>column_name</a:t>
            </a:r>
            <a:r>
              <a:rPr lang="en-IN" dirty="0"/>
              <a:t>) FROM </a:t>
            </a:r>
            <a:r>
              <a:rPr lang="en-IN" dirty="0" err="1"/>
              <a:t>table_name</a:t>
            </a:r>
            <a:r>
              <a:rPr lang="en-IN" dirty="0"/>
              <a:t> WHERE condition;</a:t>
            </a:r>
          </a:p>
          <a:p>
            <a:pPr algn="l">
              <a:spcBef>
                <a:spcPts val="1200"/>
              </a:spcBef>
              <a:spcAft>
                <a:spcPts val="1200"/>
              </a:spcAft>
            </a:pPr>
            <a:r>
              <a:rPr lang="en-IN" b="0" i="0" dirty="0">
                <a:solidFill>
                  <a:schemeClr val="tx1"/>
                </a:solidFill>
                <a:effectLst/>
                <a:latin typeface="Consolas" panose="020B0609020204030204" pitchFamily="49" charset="0"/>
              </a:rPr>
              <a:t>Example:</a:t>
            </a:r>
          </a:p>
          <a:p>
            <a:pPr marL="0" indent="0" algn="l">
              <a:spcBef>
                <a:spcPts val="1200"/>
              </a:spcBef>
              <a:spcAft>
                <a:spcPts val="1200"/>
              </a:spcAft>
              <a:buNone/>
            </a:pPr>
            <a:r>
              <a:rPr lang="en-IN" dirty="0">
                <a:solidFill>
                  <a:srgbClr val="0000CD"/>
                </a:solidFill>
                <a:latin typeface="Consolas" panose="020B0609020204030204" pitchFamily="49" charset="0"/>
              </a:rPr>
              <a:t>	</a:t>
            </a:r>
            <a:r>
              <a:rPr lang="en-IN" b="0" i="0" dirty="0">
                <a:solidFill>
                  <a:srgbClr val="0000CD"/>
                </a:solidFill>
                <a:effectLst/>
                <a:latin typeface="Consolas" panose="020B0609020204030204" pitchFamily="49" charset="0"/>
              </a:rPr>
              <a:t>SELECT</a:t>
            </a:r>
            <a:r>
              <a:rPr lang="en-IN" b="0" i="0" dirty="0">
                <a:solidFill>
                  <a:srgbClr val="000000"/>
                </a:solidFill>
                <a:effectLst/>
                <a:latin typeface="Consolas" panose="020B0609020204030204" pitchFamily="49" charset="0"/>
              </a:rPr>
              <a:t> MIN(Price) </a:t>
            </a:r>
            <a:r>
              <a:rPr lang="en-IN" b="0" i="0" dirty="0">
                <a:solidFill>
                  <a:srgbClr val="0000CD"/>
                </a:solidFill>
                <a:effectLst/>
                <a:latin typeface="Consolas" panose="020B0609020204030204" pitchFamily="49" charset="0"/>
              </a:rPr>
              <a:t>FROM</a:t>
            </a:r>
            <a:r>
              <a:rPr lang="en-IN" b="0" i="0" dirty="0">
                <a:solidFill>
                  <a:srgbClr val="000000"/>
                </a:solidFill>
                <a:effectLst/>
                <a:latin typeface="Consolas" panose="020B0609020204030204" pitchFamily="49" charset="0"/>
              </a:rPr>
              <a:t> Products;</a:t>
            </a:r>
            <a:r>
              <a:rPr lang="en-IN" b="0" i="0" dirty="0">
                <a:solidFill>
                  <a:srgbClr val="000000"/>
                </a:solidFill>
                <a:effectLst/>
                <a:latin typeface="Verdana" panose="020B0604030504040204" pitchFamily="34" charset="0"/>
              </a:rPr>
              <a:t/>
            </a:r>
            <a:br>
              <a:rPr lang="en-IN" b="0" i="0" dirty="0">
                <a:solidFill>
                  <a:srgbClr val="000000"/>
                </a:solidFill>
                <a:effectLst/>
                <a:latin typeface="Verdana" panose="020B0604030504040204" pitchFamily="34" charset="0"/>
              </a:rPr>
            </a:br>
            <a:endParaRPr lang="en-IN" b="0" i="0" dirty="0">
              <a:solidFill>
                <a:srgbClr val="000000"/>
              </a:solidFill>
              <a:effectLst/>
              <a:latin typeface="Verdana" panose="020B0604030504040204" pitchFamily="34" charset="0"/>
            </a:endParaRPr>
          </a:p>
          <a:p>
            <a:pPr marL="0" indent="0" algn="l">
              <a:spcBef>
                <a:spcPts val="1200"/>
              </a:spcBef>
              <a:spcAft>
                <a:spcPts val="1200"/>
              </a:spcAft>
              <a:buNone/>
            </a:pPr>
            <a:endParaRPr lang="en-IN" dirty="0">
              <a:solidFill>
                <a:srgbClr val="000000"/>
              </a:solidFill>
              <a:latin typeface="Verdana" panose="020B0604030504040204" pitchFamily="34" charset="0"/>
            </a:endParaRPr>
          </a:p>
          <a:p>
            <a:pPr marL="0" indent="0" algn="l">
              <a:spcBef>
                <a:spcPts val="1200"/>
              </a:spcBef>
              <a:spcAft>
                <a:spcPts val="1200"/>
              </a:spcAft>
              <a:buNone/>
            </a:pPr>
            <a:endParaRPr lang="en-IN" dirty="0"/>
          </a:p>
        </p:txBody>
      </p:sp>
      <p:pic>
        <p:nvPicPr>
          <p:cNvPr id="6" name="Picture 5">
            <a:extLst>
              <a:ext uri="{FF2B5EF4-FFF2-40B4-BE49-F238E27FC236}">
                <a16:creationId xmlns:a16="http://schemas.microsoft.com/office/drawing/2014/main" id="{BF92CE8A-B482-ECDB-F1C9-AE2502280563}"/>
              </a:ext>
            </a:extLst>
          </p:cNvPr>
          <p:cNvPicPr>
            <a:picLocks noChangeAspect="1"/>
          </p:cNvPicPr>
          <p:nvPr/>
        </p:nvPicPr>
        <p:blipFill>
          <a:blip r:embed="rId2"/>
          <a:stretch>
            <a:fillRect/>
          </a:stretch>
        </p:blipFill>
        <p:spPr>
          <a:xfrm>
            <a:off x="2103955" y="4082143"/>
            <a:ext cx="4782037" cy="2665692"/>
          </a:xfrm>
          <a:prstGeom prst="rect">
            <a:avLst/>
          </a:prstGeom>
        </p:spPr>
      </p:pic>
    </p:spTree>
    <p:extLst>
      <p:ext uri="{BB962C8B-B14F-4D97-AF65-F5344CB8AC3E}">
        <p14:creationId xmlns:p14="http://schemas.microsoft.com/office/powerpoint/2010/main" val="270682552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3E327-9C3C-7ADE-1A13-0FC36B63E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55BCC-054C-7163-9E07-156A64A99E1F}"/>
              </a:ext>
            </a:extLst>
          </p:cNvPr>
          <p:cNvSpPr>
            <a:spLocks noGrp="1"/>
          </p:cNvSpPr>
          <p:nvPr>
            <p:ph type="title"/>
          </p:nvPr>
        </p:nvSpPr>
        <p:spPr/>
        <p:txBody>
          <a:bodyPr>
            <a:normAutofit fontScale="90000"/>
          </a:bodyPr>
          <a:lstStyle/>
          <a:p>
            <a:r>
              <a:rPr lang="en-IN" sz="4400" dirty="0"/>
              <a:t>MAX() - returns the largest value within the selected column</a:t>
            </a:r>
            <a:br>
              <a:rPr lang="en-IN" sz="4400" dirty="0"/>
            </a:br>
            <a:endParaRPr lang="en-IN" dirty="0"/>
          </a:p>
        </p:txBody>
      </p:sp>
      <p:sp>
        <p:nvSpPr>
          <p:cNvPr id="3" name="Content Placeholder 2">
            <a:extLst>
              <a:ext uri="{FF2B5EF4-FFF2-40B4-BE49-F238E27FC236}">
                <a16:creationId xmlns:a16="http://schemas.microsoft.com/office/drawing/2014/main" id="{2291E16F-8A2B-8828-49A2-E7FE1CDAE396}"/>
              </a:ext>
            </a:extLst>
          </p:cNvPr>
          <p:cNvSpPr>
            <a:spLocks noGrp="1"/>
          </p:cNvSpPr>
          <p:nvPr>
            <p:ph idx="1"/>
          </p:nvPr>
        </p:nvSpPr>
        <p:spPr>
          <a:xfrm>
            <a:off x="1371600" y="2099387"/>
            <a:ext cx="9601200" cy="4495800"/>
          </a:xfrm>
        </p:spPr>
        <p:txBody>
          <a:bodyPr/>
          <a:lstStyle/>
          <a:p>
            <a:r>
              <a:rPr lang="en-IN" dirty="0"/>
              <a:t>Syntax</a:t>
            </a:r>
          </a:p>
          <a:p>
            <a:pPr lvl="1"/>
            <a:r>
              <a:rPr lang="en-IN" dirty="0"/>
              <a:t>SELECT MAX(</a:t>
            </a:r>
            <a:r>
              <a:rPr lang="en-IN" dirty="0" err="1"/>
              <a:t>column_name</a:t>
            </a:r>
            <a:r>
              <a:rPr lang="en-IN" dirty="0"/>
              <a:t>) FROM </a:t>
            </a:r>
            <a:r>
              <a:rPr lang="en-IN" dirty="0" err="1"/>
              <a:t>table_name</a:t>
            </a:r>
            <a:r>
              <a:rPr lang="en-IN" dirty="0"/>
              <a:t> WHERE condition;</a:t>
            </a:r>
          </a:p>
          <a:p>
            <a:pPr algn="l">
              <a:spcBef>
                <a:spcPts val="1200"/>
              </a:spcBef>
              <a:spcAft>
                <a:spcPts val="1200"/>
              </a:spcAft>
            </a:pPr>
            <a:r>
              <a:rPr lang="en-IN" b="0" i="0" dirty="0">
                <a:solidFill>
                  <a:schemeClr val="tx1"/>
                </a:solidFill>
                <a:effectLst/>
                <a:latin typeface="Consolas" panose="020B0609020204030204" pitchFamily="49" charset="0"/>
              </a:rPr>
              <a:t>Example:</a:t>
            </a:r>
          </a:p>
          <a:p>
            <a:pPr marL="0" indent="0" algn="l">
              <a:spcBef>
                <a:spcPts val="1200"/>
              </a:spcBef>
              <a:spcAft>
                <a:spcPts val="1200"/>
              </a:spcAft>
              <a:buNone/>
            </a:pPr>
            <a:r>
              <a:rPr lang="en-IN" dirty="0">
                <a:solidFill>
                  <a:srgbClr val="0000CD"/>
                </a:solidFill>
                <a:latin typeface="Consolas" panose="020B0609020204030204" pitchFamily="49" charset="0"/>
              </a:rPr>
              <a:t>	</a:t>
            </a:r>
            <a:r>
              <a:rPr lang="en-IN" b="0" i="0" dirty="0">
                <a:solidFill>
                  <a:srgbClr val="0000CD"/>
                </a:solidFill>
                <a:effectLst/>
                <a:latin typeface="Consolas" panose="020B0609020204030204" pitchFamily="49" charset="0"/>
              </a:rPr>
              <a:t>SELECT</a:t>
            </a:r>
            <a:r>
              <a:rPr lang="en-IN" b="0" i="0" dirty="0">
                <a:solidFill>
                  <a:srgbClr val="000000"/>
                </a:solidFill>
                <a:effectLst/>
                <a:latin typeface="Consolas" panose="020B0609020204030204" pitchFamily="49" charset="0"/>
              </a:rPr>
              <a:t> MAX(Price) </a:t>
            </a:r>
            <a:r>
              <a:rPr lang="en-IN" b="0" i="0" dirty="0">
                <a:solidFill>
                  <a:srgbClr val="0000CD"/>
                </a:solidFill>
                <a:effectLst/>
                <a:latin typeface="Consolas" panose="020B0609020204030204" pitchFamily="49" charset="0"/>
              </a:rPr>
              <a:t>FROM</a:t>
            </a:r>
            <a:r>
              <a:rPr lang="en-IN" b="0" i="0" dirty="0">
                <a:solidFill>
                  <a:srgbClr val="000000"/>
                </a:solidFill>
                <a:effectLst/>
                <a:latin typeface="Consolas" panose="020B0609020204030204" pitchFamily="49" charset="0"/>
              </a:rPr>
              <a:t> Products;</a:t>
            </a:r>
            <a:r>
              <a:rPr lang="en-IN" b="0" i="0" dirty="0">
                <a:solidFill>
                  <a:srgbClr val="000000"/>
                </a:solidFill>
                <a:effectLst/>
                <a:latin typeface="Verdana" panose="020B0604030504040204" pitchFamily="34" charset="0"/>
              </a:rPr>
              <a:t/>
            </a:r>
            <a:br>
              <a:rPr lang="en-IN" b="0" i="0" dirty="0">
                <a:solidFill>
                  <a:srgbClr val="000000"/>
                </a:solidFill>
                <a:effectLst/>
                <a:latin typeface="Verdana" panose="020B0604030504040204" pitchFamily="34" charset="0"/>
              </a:rPr>
            </a:br>
            <a:endParaRPr lang="en-IN" b="0" i="0" dirty="0">
              <a:solidFill>
                <a:srgbClr val="000000"/>
              </a:solidFill>
              <a:effectLst/>
              <a:latin typeface="Verdana" panose="020B0604030504040204" pitchFamily="34" charset="0"/>
            </a:endParaRPr>
          </a:p>
          <a:p>
            <a:pPr marL="0" indent="0" algn="l">
              <a:spcBef>
                <a:spcPts val="1200"/>
              </a:spcBef>
              <a:spcAft>
                <a:spcPts val="1200"/>
              </a:spcAft>
              <a:buNone/>
            </a:pPr>
            <a:endParaRPr lang="en-IN" dirty="0">
              <a:solidFill>
                <a:srgbClr val="000000"/>
              </a:solidFill>
              <a:latin typeface="Verdana" panose="020B0604030504040204" pitchFamily="34" charset="0"/>
            </a:endParaRPr>
          </a:p>
          <a:p>
            <a:pPr marL="0" indent="0" algn="l">
              <a:spcBef>
                <a:spcPts val="1200"/>
              </a:spcBef>
              <a:spcAft>
                <a:spcPts val="1200"/>
              </a:spcAft>
              <a:buNone/>
            </a:pPr>
            <a:endParaRPr lang="en-IN" dirty="0"/>
          </a:p>
        </p:txBody>
      </p:sp>
      <p:pic>
        <p:nvPicPr>
          <p:cNvPr id="5" name="Picture 4">
            <a:extLst>
              <a:ext uri="{FF2B5EF4-FFF2-40B4-BE49-F238E27FC236}">
                <a16:creationId xmlns:a16="http://schemas.microsoft.com/office/drawing/2014/main" id="{0C2B4ECE-C47D-CE90-1D46-BBE7DE52E9BA}"/>
              </a:ext>
            </a:extLst>
          </p:cNvPr>
          <p:cNvPicPr>
            <a:picLocks noChangeAspect="1"/>
          </p:cNvPicPr>
          <p:nvPr/>
        </p:nvPicPr>
        <p:blipFill>
          <a:blip r:embed="rId2"/>
          <a:stretch>
            <a:fillRect/>
          </a:stretch>
        </p:blipFill>
        <p:spPr>
          <a:xfrm>
            <a:off x="2299991" y="4075518"/>
            <a:ext cx="4091477" cy="2342837"/>
          </a:xfrm>
          <a:prstGeom prst="rect">
            <a:avLst/>
          </a:prstGeom>
        </p:spPr>
      </p:pic>
    </p:spTree>
    <p:extLst>
      <p:ext uri="{BB962C8B-B14F-4D97-AF65-F5344CB8AC3E}">
        <p14:creationId xmlns:p14="http://schemas.microsoft.com/office/powerpoint/2010/main" val="90156561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949C9-E93D-C00F-554D-4383DDEC5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C2357-E93D-581A-73B2-99EBF9BCB03C}"/>
              </a:ext>
            </a:extLst>
          </p:cNvPr>
          <p:cNvSpPr>
            <a:spLocks noGrp="1"/>
          </p:cNvSpPr>
          <p:nvPr>
            <p:ph type="title"/>
          </p:nvPr>
        </p:nvSpPr>
        <p:spPr>
          <a:xfrm>
            <a:off x="1371600" y="723123"/>
            <a:ext cx="9601200" cy="1485900"/>
          </a:xfrm>
        </p:spPr>
        <p:txBody>
          <a:bodyPr/>
          <a:lstStyle/>
          <a:p>
            <a:pPr algn="l">
              <a:spcBef>
                <a:spcPts val="750"/>
              </a:spcBef>
              <a:spcAft>
                <a:spcPts val="750"/>
              </a:spcAft>
            </a:pPr>
            <a:r>
              <a:rPr lang="en-IN" b="0" i="0" dirty="0">
                <a:solidFill>
                  <a:srgbClr val="000000"/>
                </a:solidFill>
                <a:effectLst/>
                <a:latin typeface="Segoe UI" panose="020B0502040204020203" pitchFamily="34" charset="0"/>
              </a:rPr>
              <a:t>COUNT() -</a:t>
            </a:r>
            <a:r>
              <a:rPr lang="en-IN" sz="4400" dirty="0"/>
              <a:t> returns the number of rows in a set</a:t>
            </a:r>
            <a:endParaRPr lang="en-IN" b="0" i="0" dirty="0">
              <a:solidFill>
                <a:srgbClr val="000000"/>
              </a:solidFill>
              <a:effectLst/>
              <a:latin typeface="Segoe UI" panose="020B0502040204020203" pitchFamily="34" charset="0"/>
            </a:endParaRPr>
          </a:p>
        </p:txBody>
      </p:sp>
      <p:sp>
        <p:nvSpPr>
          <p:cNvPr id="3" name="Content Placeholder 2">
            <a:extLst>
              <a:ext uri="{FF2B5EF4-FFF2-40B4-BE49-F238E27FC236}">
                <a16:creationId xmlns:a16="http://schemas.microsoft.com/office/drawing/2014/main" id="{1C1EA29F-B9C3-47B1-829D-899EEFB65936}"/>
              </a:ext>
            </a:extLst>
          </p:cNvPr>
          <p:cNvSpPr>
            <a:spLocks noGrp="1"/>
          </p:cNvSpPr>
          <p:nvPr>
            <p:ph idx="1"/>
          </p:nvPr>
        </p:nvSpPr>
        <p:spPr>
          <a:xfrm>
            <a:off x="1371600" y="2209023"/>
            <a:ext cx="9601200" cy="4495800"/>
          </a:xfrm>
        </p:spPr>
        <p:txBody>
          <a:bodyPr/>
          <a:lstStyle/>
          <a:p>
            <a:r>
              <a:rPr lang="en-IN" dirty="0"/>
              <a:t>Syntax</a:t>
            </a:r>
          </a:p>
          <a:p>
            <a:pPr marL="530352" lvl="1" indent="0">
              <a:buNone/>
            </a:pPr>
            <a:r>
              <a:rPr lang="en-IN" dirty="0"/>
              <a:t>SELECT COUNT(</a:t>
            </a:r>
            <a:r>
              <a:rPr lang="en-IN" dirty="0" err="1"/>
              <a:t>column_name</a:t>
            </a:r>
            <a:r>
              <a:rPr lang="en-IN" dirty="0"/>
              <a:t>) FROM </a:t>
            </a:r>
            <a:r>
              <a:rPr lang="en-IN" dirty="0" err="1"/>
              <a:t>table_name</a:t>
            </a:r>
            <a:r>
              <a:rPr lang="en-IN" dirty="0"/>
              <a:t> WHERE condition;</a:t>
            </a:r>
          </a:p>
          <a:p>
            <a:pPr>
              <a:spcBef>
                <a:spcPts val="1200"/>
              </a:spcBef>
              <a:spcAft>
                <a:spcPts val="1200"/>
              </a:spcAft>
              <a:buFont typeface="Wingdings" panose="05000000000000000000" pitchFamily="2" charset="2"/>
              <a:buChar char="§"/>
            </a:pPr>
            <a:r>
              <a:rPr lang="en-IN" b="0" i="0" dirty="0">
                <a:solidFill>
                  <a:schemeClr val="tx1"/>
                </a:solidFill>
                <a:effectLst/>
                <a:latin typeface="Consolas" panose="020B0609020204030204" pitchFamily="49" charset="0"/>
              </a:rPr>
              <a:t>Example:</a:t>
            </a:r>
          </a:p>
          <a:p>
            <a:pPr lvl="1">
              <a:spcBef>
                <a:spcPts val="1200"/>
              </a:spcBef>
              <a:spcAft>
                <a:spcPts val="1200"/>
              </a:spcAft>
              <a:buFont typeface="Wingdings" panose="05000000000000000000" pitchFamily="2" charset="2"/>
              <a:buChar char="§"/>
            </a:pPr>
            <a:r>
              <a:rPr lang="en-IN" dirty="0">
                <a:solidFill>
                  <a:srgbClr val="0000CD"/>
                </a:solidFill>
                <a:latin typeface="Consolas" panose="020B0609020204030204" pitchFamily="49" charset="0"/>
              </a:rPr>
              <a:t>SELECT COUNT(*)FROM Products;</a:t>
            </a:r>
            <a:endParaRPr lang="en-IN" dirty="0"/>
          </a:p>
          <a:p>
            <a:pPr marL="0" indent="0" algn="l">
              <a:spcBef>
                <a:spcPts val="1200"/>
              </a:spcBef>
              <a:spcAft>
                <a:spcPts val="1200"/>
              </a:spcAft>
              <a:buNone/>
            </a:pPr>
            <a:endParaRPr lang="en-IN" dirty="0">
              <a:solidFill>
                <a:srgbClr val="000000"/>
              </a:solidFill>
              <a:latin typeface="Verdana" panose="020B0604030504040204" pitchFamily="34" charset="0"/>
            </a:endParaRPr>
          </a:p>
          <a:p>
            <a:pPr marL="0" indent="0" algn="l">
              <a:spcBef>
                <a:spcPts val="1200"/>
              </a:spcBef>
              <a:spcAft>
                <a:spcPts val="1200"/>
              </a:spcAft>
              <a:buNone/>
            </a:pPr>
            <a:endParaRPr lang="en-IN" dirty="0"/>
          </a:p>
        </p:txBody>
      </p:sp>
      <p:pic>
        <p:nvPicPr>
          <p:cNvPr id="6" name="Picture 5">
            <a:extLst>
              <a:ext uri="{FF2B5EF4-FFF2-40B4-BE49-F238E27FC236}">
                <a16:creationId xmlns:a16="http://schemas.microsoft.com/office/drawing/2014/main" id="{E4E365FA-7248-0DAA-18DC-B41E01C5E8A9}"/>
              </a:ext>
            </a:extLst>
          </p:cNvPr>
          <p:cNvPicPr>
            <a:picLocks noChangeAspect="1"/>
          </p:cNvPicPr>
          <p:nvPr/>
        </p:nvPicPr>
        <p:blipFill>
          <a:blip r:embed="rId2"/>
          <a:stretch>
            <a:fillRect/>
          </a:stretch>
        </p:blipFill>
        <p:spPr>
          <a:xfrm>
            <a:off x="2196184" y="4225135"/>
            <a:ext cx="3787468" cy="2077693"/>
          </a:xfrm>
          <a:prstGeom prst="rect">
            <a:avLst/>
          </a:prstGeom>
        </p:spPr>
      </p:pic>
    </p:spTree>
    <p:extLst>
      <p:ext uri="{BB962C8B-B14F-4D97-AF65-F5344CB8AC3E}">
        <p14:creationId xmlns:p14="http://schemas.microsoft.com/office/powerpoint/2010/main" val="361525050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DF82A-8092-960F-6A89-4E7D09215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9E4F8-7402-B6C6-38FD-4491DDE75B35}"/>
              </a:ext>
            </a:extLst>
          </p:cNvPr>
          <p:cNvSpPr>
            <a:spLocks noGrp="1"/>
          </p:cNvSpPr>
          <p:nvPr>
            <p:ph type="title"/>
          </p:nvPr>
        </p:nvSpPr>
        <p:spPr>
          <a:xfrm>
            <a:off x="1371600" y="723123"/>
            <a:ext cx="9601200" cy="1485900"/>
          </a:xfrm>
        </p:spPr>
        <p:txBody>
          <a:bodyPr/>
          <a:lstStyle/>
          <a:p>
            <a:pPr algn="l">
              <a:spcBef>
                <a:spcPts val="750"/>
              </a:spcBef>
              <a:spcAft>
                <a:spcPts val="750"/>
              </a:spcAft>
            </a:pPr>
            <a:r>
              <a:rPr lang="en-IN" b="0" i="0" dirty="0">
                <a:solidFill>
                  <a:srgbClr val="000000"/>
                </a:solidFill>
                <a:effectLst/>
                <a:latin typeface="Segoe UI" panose="020B0502040204020203" pitchFamily="34" charset="0"/>
              </a:rPr>
              <a:t>SUM() -</a:t>
            </a:r>
            <a:r>
              <a:rPr lang="en-IN" sz="4400" dirty="0"/>
              <a:t> </a:t>
            </a:r>
            <a:r>
              <a:rPr lang="en-IN" dirty="0"/>
              <a:t>returns the total sum of a numerical column</a:t>
            </a:r>
            <a:endParaRPr lang="en-IN" b="0" i="0" dirty="0">
              <a:solidFill>
                <a:srgbClr val="000000"/>
              </a:solidFill>
              <a:effectLst/>
              <a:latin typeface="Segoe UI" panose="020B0502040204020203" pitchFamily="34" charset="0"/>
            </a:endParaRPr>
          </a:p>
        </p:txBody>
      </p:sp>
      <p:sp>
        <p:nvSpPr>
          <p:cNvPr id="3" name="Content Placeholder 2">
            <a:extLst>
              <a:ext uri="{FF2B5EF4-FFF2-40B4-BE49-F238E27FC236}">
                <a16:creationId xmlns:a16="http://schemas.microsoft.com/office/drawing/2014/main" id="{D63EE338-3B79-6F6F-5BAC-0A61FE8A68D7}"/>
              </a:ext>
            </a:extLst>
          </p:cNvPr>
          <p:cNvSpPr>
            <a:spLocks noGrp="1"/>
          </p:cNvSpPr>
          <p:nvPr>
            <p:ph idx="1"/>
          </p:nvPr>
        </p:nvSpPr>
        <p:spPr>
          <a:xfrm>
            <a:off x="1371600" y="2209023"/>
            <a:ext cx="9601200" cy="4495800"/>
          </a:xfrm>
        </p:spPr>
        <p:txBody>
          <a:bodyPr/>
          <a:lstStyle/>
          <a:p>
            <a:r>
              <a:rPr lang="en-IN" dirty="0"/>
              <a:t>Syntax</a:t>
            </a:r>
          </a:p>
          <a:p>
            <a:pPr marL="530352" lvl="1" indent="0">
              <a:buNone/>
            </a:pPr>
            <a:r>
              <a:rPr lang="en-IN" dirty="0"/>
              <a:t>SELECT SUM(</a:t>
            </a:r>
            <a:r>
              <a:rPr lang="en-IN" dirty="0" err="1"/>
              <a:t>column_name</a:t>
            </a:r>
            <a:r>
              <a:rPr lang="en-IN" dirty="0"/>
              <a:t>)FROM </a:t>
            </a:r>
            <a:r>
              <a:rPr lang="en-IN" dirty="0" err="1"/>
              <a:t>table_name</a:t>
            </a:r>
            <a:r>
              <a:rPr lang="en-IN" dirty="0"/>
              <a:t> WHERE condition;</a:t>
            </a:r>
          </a:p>
          <a:p>
            <a:pPr>
              <a:spcBef>
                <a:spcPts val="1200"/>
              </a:spcBef>
              <a:spcAft>
                <a:spcPts val="1200"/>
              </a:spcAft>
              <a:buFont typeface="Wingdings" panose="05000000000000000000" pitchFamily="2" charset="2"/>
              <a:buChar char="§"/>
            </a:pPr>
            <a:r>
              <a:rPr lang="en-IN" b="0" i="0" dirty="0">
                <a:solidFill>
                  <a:schemeClr val="tx1"/>
                </a:solidFill>
                <a:effectLst/>
                <a:latin typeface="Consolas" panose="020B0609020204030204" pitchFamily="49" charset="0"/>
              </a:rPr>
              <a:t>Example:</a:t>
            </a:r>
          </a:p>
          <a:p>
            <a:pPr lvl="1">
              <a:spcBef>
                <a:spcPts val="1200"/>
              </a:spcBef>
              <a:spcAft>
                <a:spcPts val="1200"/>
              </a:spcAft>
              <a:buFont typeface="Wingdings" panose="05000000000000000000" pitchFamily="2" charset="2"/>
              <a:buChar char="§"/>
            </a:pPr>
            <a:r>
              <a:rPr lang="en-IN" dirty="0">
                <a:solidFill>
                  <a:srgbClr val="0000CD"/>
                </a:solidFill>
                <a:latin typeface="Consolas" panose="020B0609020204030204" pitchFamily="49" charset="0"/>
              </a:rPr>
              <a:t>SELECT SUM(Quantity)FROM </a:t>
            </a:r>
            <a:r>
              <a:rPr lang="en-IN" dirty="0" err="1">
                <a:solidFill>
                  <a:srgbClr val="0000CD"/>
                </a:solidFill>
                <a:latin typeface="Consolas" panose="020B0609020204030204" pitchFamily="49" charset="0"/>
              </a:rPr>
              <a:t>OrderDetails</a:t>
            </a:r>
            <a:r>
              <a:rPr lang="en-IN" dirty="0">
                <a:solidFill>
                  <a:srgbClr val="0000CD"/>
                </a:solidFill>
                <a:latin typeface="Consolas" panose="020B0609020204030204" pitchFamily="49" charset="0"/>
              </a:rPr>
              <a:t>;</a:t>
            </a:r>
          </a:p>
          <a:p>
            <a:pPr marL="0" indent="0" algn="l">
              <a:spcBef>
                <a:spcPts val="1200"/>
              </a:spcBef>
              <a:spcAft>
                <a:spcPts val="1200"/>
              </a:spcAft>
              <a:buNone/>
            </a:pPr>
            <a:endParaRPr lang="en-IN" dirty="0">
              <a:solidFill>
                <a:srgbClr val="000000"/>
              </a:solidFill>
              <a:latin typeface="Verdana" panose="020B0604030504040204" pitchFamily="34" charset="0"/>
            </a:endParaRPr>
          </a:p>
          <a:p>
            <a:pPr marL="0" indent="0" algn="l">
              <a:spcBef>
                <a:spcPts val="1200"/>
              </a:spcBef>
              <a:spcAft>
                <a:spcPts val="1200"/>
              </a:spcAft>
              <a:buNone/>
            </a:pPr>
            <a:endParaRPr lang="en-IN" dirty="0"/>
          </a:p>
        </p:txBody>
      </p:sp>
      <p:pic>
        <p:nvPicPr>
          <p:cNvPr id="7" name="Picture 6">
            <a:extLst>
              <a:ext uri="{FF2B5EF4-FFF2-40B4-BE49-F238E27FC236}">
                <a16:creationId xmlns:a16="http://schemas.microsoft.com/office/drawing/2014/main" id="{F312AD10-FFB8-1C5E-6507-60856777C9AD}"/>
              </a:ext>
            </a:extLst>
          </p:cNvPr>
          <p:cNvPicPr>
            <a:picLocks noChangeAspect="1"/>
          </p:cNvPicPr>
          <p:nvPr/>
        </p:nvPicPr>
        <p:blipFill>
          <a:blip r:embed="rId2"/>
          <a:stretch>
            <a:fillRect/>
          </a:stretch>
        </p:blipFill>
        <p:spPr>
          <a:xfrm>
            <a:off x="2281425" y="4064304"/>
            <a:ext cx="4380632" cy="2640519"/>
          </a:xfrm>
          <a:prstGeom prst="rect">
            <a:avLst/>
          </a:prstGeom>
        </p:spPr>
      </p:pic>
    </p:spTree>
    <p:extLst>
      <p:ext uri="{BB962C8B-B14F-4D97-AF65-F5344CB8AC3E}">
        <p14:creationId xmlns:p14="http://schemas.microsoft.com/office/powerpoint/2010/main" val="254703397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FCB82-C9CB-718B-103A-18752DA1E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9E148-B9C0-9C9B-A0DA-E2AACFCFA296}"/>
              </a:ext>
            </a:extLst>
          </p:cNvPr>
          <p:cNvSpPr>
            <a:spLocks noGrp="1"/>
          </p:cNvSpPr>
          <p:nvPr>
            <p:ph type="title"/>
          </p:nvPr>
        </p:nvSpPr>
        <p:spPr>
          <a:xfrm>
            <a:off x="1371600" y="723123"/>
            <a:ext cx="9601200" cy="1485900"/>
          </a:xfrm>
        </p:spPr>
        <p:txBody>
          <a:bodyPr/>
          <a:lstStyle/>
          <a:p>
            <a:pPr algn="l">
              <a:spcBef>
                <a:spcPts val="750"/>
              </a:spcBef>
              <a:spcAft>
                <a:spcPts val="750"/>
              </a:spcAft>
            </a:pPr>
            <a:r>
              <a:rPr lang="en-IN" b="0" i="0" dirty="0">
                <a:solidFill>
                  <a:srgbClr val="000000"/>
                </a:solidFill>
                <a:effectLst/>
                <a:latin typeface="Segoe UI" panose="020B0502040204020203" pitchFamily="34" charset="0"/>
              </a:rPr>
              <a:t>AVG() -</a:t>
            </a:r>
            <a:r>
              <a:rPr lang="en-IN" sz="4400" dirty="0"/>
              <a:t> </a:t>
            </a:r>
            <a:r>
              <a:rPr lang="en-IN" dirty="0"/>
              <a:t>returns the average value of a numerical column</a:t>
            </a:r>
            <a:endParaRPr lang="en-IN" b="0" i="0" dirty="0">
              <a:solidFill>
                <a:srgbClr val="000000"/>
              </a:solidFill>
              <a:effectLst/>
              <a:latin typeface="Segoe UI" panose="020B0502040204020203" pitchFamily="34" charset="0"/>
            </a:endParaRPr>
          </a:p>
        </p:txBody>
      </p:sp>
      <p:sp>
        <p:nvSpPr>
          <p:cNvPr id="3" name="Content Placeholder 2">
            <a:extLst>
              <a:ext uri="{FF2B5EF4-FFF2-40B4-BE49-F238E27FC236}">
                <a16:creationId xmlns:a16="http://schemas.microsoft.com/office/drawing/2014/main" id="{5395B6F5-AD7E-8706-67DE-FA4FBA849599}"/>
              </a:ext>
            </a:extLst>
          </p:cNvPr>
          <p:cNvSpPr>
            <a:spLocks noGrp="1"/>
          </p:cNvSpPr>
          <p:nvPr>
            <p:ph idx="1"/>
          </p:nvPr>
        </p:nvSpPr>
        <p:spPr>
          <a:xfrm>
            <a:off x="1371600" y="2209023"/>
            <a:ext cx="9601200" cy="4495800"/>
          </a:xfrm>
        </p:spPr>
        <p:txBody>
          <a:bodyPr/>
          <a:lstStyle/>
          <a:p>
            <a:r>
              <a:rPr lang="en-IN" dirty="0"/>
              <a:t>Syntax</a:t>
            </a:r>
          </a:p>
          <a:p>
            <a:pPr marL="530352" lvl="1" indent="0">
              <a:buNone/>
            </a:pPr>
            <a:r>
              <a:rPr lang="en-IN" dirty="0"/>
              <a:t>SELECT AVG(</a:t>
            </a:r>
            <a:r>
              <a:rPr lang="en-IN" dirty="0" err="1"/>
              <a:t>column_name</a:t>
            </a:r>
            <a:r>
              <a:rPr lang="en-IN" dirty="0"/>
              <a:t>)FROM </a:t>
            </a:r>
            <a:r>
              <a:rPr lang="en-IN" dirty="0" err="1"/>
              <a:t>table_name</a:t>
            </a:r>
            <a:r>
              <a:rPr lang="en-IN" dirty="0"/>
              <a:t> WHERE condition;</a:t>
            </a:r>
          </a:p>
          <a:p>
            <a:pPr>
              <a:spcBef>
                <a:spcPts val="1200"/>
              </a:spcBef>
              <a:spcAft>
                <a:spcPts val="1200"/>
              </a:spcAft>
              <a:buFont typeface="Wingdings" panose="05000000000000000000" pitchFamily="2" charset="2"/>
              <a:buChar char="§"/>
            </a:pPr>
            <a:r>
              <a:rPr lang="en-IN" b="0" i="0" dirty="0">
                <a:solidFill>
                  <a:schemeClr val="tx1"/>
                </a:solidFill>
                <a:effectLst/>
                <a:latin typeface="Consolas" panose="020B0609020204030204" pitchFamily="49" charset="0"/>
              </a:rPr>
              <a:t>Example:</a:t>
            </a:r>
          </a:p>
          <a:p>
            <a:pPr lvl="1">
              <a:spcBef>
                <a:spcPts val="1200"/>
              </a:spcBef>
              <a:spcAft>
                <a:spcPts val="1200"/>
              </a:spcAft>
              <a:buFont typeface="Wingdings" panose="05000000000000000000" pitchFamily="2" charset="2"/>
              <a:buChar char="§"/>
            </a:pPr>
            <a:r>
              <a:rPr lang="en-IN" dirty="0">
                <a:solidFill>
                  <a:srgbClr val="0000CD"/>
                </a:solidFill>
                <a:latin typeface="Consolas" panose="020B0609020204030204" pitchFamily="49" charset="0"/>
              </a:rPr>
              <a:t>SELECT AVG(Price)FROM </a:t>
            </a:r>
            <a:r>
              <a:rPr lang="en-IN" b="0" i="0" dirty="0">
                <a:solidFill>
                  <a:srgbClr val="000000"/>
                </a:solidFill>
                <a:effectLst/>
                <a:latin typeface="Consolas" panose="020B0609020204030204" pitchFamily="49" charset="0"/>
              </a:rPr>
              <a:t>Products</a:t>
            </a:r>
            <a:r>
              <a:rPr lang="en-IN" dirty="0">
                <a:solidFill>
                  <a:srgbClr val="0000CD"/>
                </a:solidFill>
                <a:latin typeface="Consolas" panose="020B0609020204030204" pitchFamily="49" charset="0"/>
              </a:rPr>
              <a:t>;</a:t>
            </a:r>
          </a:p>
          <a:p>
            <a:pPr marL="0" indent="0" algn="l">
              <a:spcBef>
                <a:spcPts val="1200"/>
              </a:spcBef>
              <a:spcAft>
                <a:spcPts val="1200"/>
              </a:spcAft>
              <a:buNone/>
            </a:pPr>
            <a:endParaRPr lang="en-IN" dirty="0">
              <a:solidFill>
                <a:srgbClr val="000000"/>
              </a:solidFill>
              <a:latin typeface="Verdana" panose="020B0604030504040204" pitchFamily="34" charset="0"/>
            </a:endParaRPr>
          </a:p>
          <a:p>
            <a:pPr marL="0" indent="0" algn="l">
              <a:spcBef>
                <a:spcPts val="1200"/>
              </a:spcBef>
              <a:spcAft>
                <a:spcPts val="1200"/>
              </a:spcAft>
              <a:buNone/>
            </a:pPr>
            <a:endParaRPr lang="en-IN" dirty="0"/>
          </a:p>
        </p:txBody>
      </p:sp>
      <p:pic>
        <p:nvPicPr>
          <p:cNvPr id="7" name="Picture 6">
            <a:extLst>
              <a:ext uri="{FF2B5EF4-FFF2-40B4-BE49-F238E27FC236}">
                <a16:creationId xmlns:a16="http://schemas.microsoft.com/office/drawing/2014/main" id="{F40B2169-D30B-68C8-FDFC-4E3421C35FEB}"/>
              </a:ext>
            </a:extLst>
          </p:cNvPr>
          <p:cNvPicPr>
            <a:picLocks noChangeAspect="1"/>
          </p:cNvPicPr>
          <p:nvPr/>
        </p:nvPicPr>
        <p:blipFill>
          <a:blip r:embed="rId2"/>
          <a:stretch>
            <a:fillRect/>
          </a:stretch>
        </p:blipFill>
        <p:spPr>
          <a:xfrm>
            <a:off x="2281425" y="4064304"/>
            <a:ext cx="4380632" cy="2640519"/>
          </a:xfrm>
          <a:prstGeom prst="rect">
            <a:avLst/>
          </a:prstGeom>
        </p:spPr>
      </p:pic>
    </p:spTree>
    <p:extLst>
      <p:ext uri="{BB962C8B-B14F-4D97-AF65-F5344CB8AC3E}">
        <p14:creationId xmlns:p14="http://schemas.microsoft.com/office/powerpoint/2010/main" val="89744169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86BE-A992-9693-1ADD-4206113CDCE2}"/>
              </a:ext>
            </a:extLst>
          </p:cNvPr>
          <p:cNvSpPr>
            <a:spLocks noGrp="1"/>
          </p:cNvSpPr>
          <p:nvPr>
            <p:ph type="title"/>
          </p:nvPr>
        </p:nvSpPr>
        <p:spPr>
          <a:xfrm>
            <a:off x="1371600" y="685800"/>
            <a:ext cx="9601200" cy="816429"/>
          </a:xfrm>
        </p:spPr>
        <p:txBody>
          <a:bodyPr>
            <a:normAutofit fontScale="90000"/>
          </a:bodyPr>
          <a:lstStyle/>
          <a:p>
            <a:pPr>
              <a:spcBef>
                <a:spcPts val="750"/>
              </a:spcBef>
              <a:spcAft>
                <a:spcPts val="750"/>
              </a:spcAft>
            </a:pPr>
            <a:r>
              <a:rPr lang="en-IN" b="0" i="0" dirty="0">
                <a:solidFill>
                  <a:srgbClr val="000000"/>
                </a:solidFill>
                <a:effectLst/>
                <a:latin typeface="Segoe UI" panose="020B0502040204020203" pitchFamily="34" charset="0"/>
              </a:rPr>
              <a:t>SQL GROUP BY Statement</a:t>
            </a:r>
            <a:r>
              <a:rPr lang="en-IN" dirty="0"/>
              <a:t/>
            </a:r>
            <a:br>
              <a:rPr lang="en-IN" dirty="0"/>
            </a:br>
            <a:endParaRPr lang="en-IN" dirty="0"/>
          </a:p>
        </p:txBody>
      </p:sp>
      <p:sp>
        <p:nvSpPr>
          <p:cNvPr id="3" name="Content Placeholder 2">
            <a:extLst>
              <a:ext uri="{FF2B5EF4-FFF2-40B4-BE49-F238E27FC236}">
                <a16:creationId xmlns:a16="http://schemas.microsoft.com/office/drawing/2014/main" id="{992DF1F0-4FC8-C87B-1284-502D6CABDDBE}"/>
              </a:ext>
            </a:extLst>
          </p:cNvPr>
          <p:cNvSpPr>
            <a:spLocks noGrp="1"/>
          </p:cNvSpPr>
          <p:nvPr>
            <p:ph idx="1"/>
          </p:nvPr>
        </p:nvSpPr>
        <p:spPr>
          <a:xfrm>
            <a:off x="1371600" y="2285999"/>
            <a:ext cx="9601200" cy="4133461"/>
          </a:xfrm>
        </p:spPr>
        <p:txBody>
          <a:bodyPr>
            <a:normAutofit/>
          </a:bodyPr>
          <a:lstStyle/>
          <a:p>
            <a:r>
              <a:rPr lang="en-IN" dirty="0"/>
              <a:t>The GROUP BY statement groups rows that have the same values into summary rows, like "find the number of customers in each country".</a:t>
            </a:r>
          </a:p>
          <a:p>
            <a:r>
              <a:rPr lang="en-IN" dirty="0"/>
              <a:t>The GROUP BY statement is often used with aggregate functions (COUNT(), MAX(), MIN(), SUM(), AVG()) to group the result-set by one or more columns.</a:t>
            </a:r>
          </a:p>
          <a:p>
            <a:r>
              <a:rPr lang="en-IN" dirty="0"/>
              <a:t>Syntax:</a:t>
            </a:r>
          </a:p>
          <a:p>
            <a:pPr lvl="1"/>
            <a:r>
              <a:rPr lang="en-IN" dirty="0"/>
              <a:t>SELECT </a:t>
            </a:r>
            <a:r>
              <a:rPr lang="en-IN" dirty="0" err="1"/>
              <a:t>column_name</a:t>
            </a:r>
            <a:r>
              <a:rPr lang="en-IN" dirty="0"/>
              <a:t>(s) FROM </a:t>
            </a:r>
            <a:r>
              <a:rPr lang="en-IN" dirty="0" err="1"/>
              <a:t>table_name</a:t>
            </a:r>
            <a:r>
              <a:rPr lang="en-IN" dirty="0"/>
              <a:t> WHERE condition</a:t>
            </a:r>
          </a:p>
          <a:p>
            <a:pPr marL="530352" lvl="1" indent="0">
              <a:buNone/>
            </a:pPr>
            <a:r>
              <a:rPr lang="en-IN" dirty="0"/>
              <a:t>      GROUP BY </a:t>
            </a:r>
            <a:r>
              <a:rPr lang="en-IN" dirty="0" err="1"/>
              <a:t>column_name</a:t>
            </a:r>
            <a:r>
              <a:rPr lang="en-IN" dirty="0"/>
              <a:t>(s) ORDER BY </a:t>
            </a:r>
            <a:r>
              <a:rPr lang="en-IN" dirty="0" err="1"/>
              <a:t>column_name</a:t>
            </a:r>
            <a:r>
              <a:rPr lang="en-IN" dirty="0"/>
              <a:t>(s);</a:t>
            </a:r>
          </a:p>
          <a:p>
            <a:pPr lvl="1"/>
            <a:endParaRPr lang="en-IN" dirty="0"/>
          </a:p>
          <a:p>
            <a:r>
              <a:rPr lang="en-IN" dirty="0"/>
              <a:t>Example:</a:t>
            </a:r>
          </a:p>
          <a:p>
            <a:pPr lvl="1"/>
            <a:r>
              <a:rPr lang="en-IN" dirty="0"/>
              <a:t>SELECT COUNT(</a:t>
            </a:r>
            <a:r>
              <a:rPr lang="en-IN" dirty="0" err="1"/>
              <a:t>CustomerID</a:t>
            </a:r>
            <a:r>
              <a:rPr lang="en-IN" dirty="0"/>
              <a:t>), Country FROM Customers GROUP BY Country ORDER BY COUNT(</a:t>
            </a:r>
            <a:r>
              <a:rPr lang="en-IN" dirty="0" err="1"/>
              <a:t>CustomerID</a:t>
            </a:r>
            <a:r>
              <a:rPr lang="en-IN" dirty="0"/>
              <a:t>) DESC;</a:t>
            </a:r>
          </a:p>
          <a:p>
            <a:endParaRPr lang="en-IN" dirty="0"/>
          </a:p>
        </p:txBody>
      </p:sp>
    </p:spTree>
    <p:extLst>
      <p:ext uri="{BB962C8B-B14F-4D97-AF65-F5344CB8AC3E}">
        <p14:creationId xmlns:p14="http://schemas.microsoft.com/office/powerpoint/2010/main" val="102190504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5A9F-040E-C181-2989-FFCC7AE194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47B09-603C-680D-FBDF-3273E1FBFFD0}"/>
              </a:ext>
            </a:extLst>
          </p:cNvPr>
          <p:cNvSpPr>
            <a:spLocks noGrp="1"/>
          </p:cNvSpPr>
          <p:nvPr>
            <p:ph type="title"/>
          </p:nvPr>
        </p:nvSpPr>
        <p:spPr>
          <a:xfrm>
            <a:off x="1371600" y="685800"/>
            <a:ext cx="9601200" cy="816429"/>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VAR() / VARIANCE() Function</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3EA25304-B9A0-17FD-3445-A95CF5A85604}"/>
              </a:ext>
            </a:extLst>
          </p:cNvPr>
          <p:cNvSpPr>
            <a:spLocks noGrp="1"/>
          </p:cNvSpPr>
          <p:nvPr>
            <p:ph idx="1"/>
          </p:nvPr>
        </p:nvSpPr>
        <p:spPr>
          <a:xfrm>
            <a:off x="1371600" y="2285999"/>
            <a:ext cx="9601200" cy="4133461"/>
          </a:xfrm>
        </p:spPr>
        <p:txBody>
          <a:bodyPr>
            <a:normAutofit/>
          </a:bodyPr>
          <a:lstStyle/>
          <a:p>
            <a:r>
              <a:rPr lang="en-IN" dirty="0"/>
              <a:t>Calculates the population variance of a numeric column</a:t>
            </a:r>
          </a:p>
          <a:p>
            <a:r>
              <a:rPr lang="en-IN" dirty="0"/>
              <a:t>Syntax:</a:t>
            </a:r>
          </a:p>
          <a:p>
            <a:r>
              <a:rPr lang="en-IN" dirty="0"/>
              <a:t>SELECT VAR(</a:t>
            </a:r>
            <a:r>
              <a:rPr lang="en-IN" dirty="0" err="1"/>
              <a:t>column_name</a:t>
            </a:r>
            <a:r>
              <a:rPr lang="en-IN" dirty="0"/>
              <a:t>) FROM </a:t>
            </a:r>
            <a:r>
              <a:rPr lang="en-IN" dirty="0" err="1"/>
              <a:t>table_name</a:t>
            </a:r>
            <a:r>
              <a:rPr lang="en-IN" dirty="0"/>
              <a:t>;</a:t>
            </a:r>
          </a:p>
          <a:p>
            <a:r>
              <a:rPr lang="en-IN" dirty="0"/>
              <a:t>Example Query:</a:t>
            </a:r>
          </a:p>
          <a:p>
            <a:pPr marL="0" indent="0">
              <a:buNone/>
            </a:pPr>
            <a:r>
              <a:rPr lang="en-IN" dirty="0"/>
              <a:t>	SELECT VARIANCE(marks) AS </a:t>
            </a:r>
            <a:r>
              <a:rPr lang="en-IN" dirty="0" err="1"/>
              <a:t>variance_marks</a:t>
            </a:r>
            <a:r>
              <a:rPr lang="en-IN" dirty="0"/>
              <a:t> FROM </a:t>
            </a:r>
            <a:r>
              <a:rPr lang="en-IN" dirty="0" err="1"/>
              <a:t>studentDetails</a:t>
            </a:r>
            <a:r>
              <a:rPr lang="en-IN" dirty="0"/>
              <a:t>;</a:t>
            </a:r>
          </a:p>
          <a:p>
            <a:pPr marL="0" indent="0">
              <a:buNone/>
            </a:pPr>
            <a:r>
              <a:rPr lang="en-IN" dirty="0"/>
              <a:t>Output:</a:t>
            </a:r>
          </a:p>
          <a:p>
            <a:endParaRPr lang="en-IN" dirty="0"/>
          </a:p>
          <a:p>
            <a:endParaRPr lang="en-IN" dirty="0"/>
          </a:p>
        </p:txBody>
      </p:sp>
      <p:pic>
        <p:nvPicPr>
          <p:cNvPr id="6" name="Picture 5">
            <a:extLst>
              <a:ext uri="{FF2B5EF4-FFF2-40B4-BE49-F238E27FC236}">
                <a16:creationId xmlns:a16="http://schemas.microsoft.com/office/drawing/2014/main" id="{DA788BB4-7613-B4A4-49E8-CFA7020BDF5B}"/>
              </a:ext>
            </a:extLst>
          </p:cNvPr>
          <p:cNvPicPr>
            <a:picLocks noChangeAspect="1"/>
          </p:cNvPicPr>
          <p:nvPr/>
        </p:nvPicPr>
        <p:blipFill>
          <a:blip r:embed="rId2"/>
          <a:stretch>
            <a:fillRect/>
          </a:stretch>
        </p:blipFill>
        <p:spPr>
          <a:xfrm>
            <a:off x="2196177" y="4828731"/>
            <a:ext cx="4813843" cy="1497640"/>
          </a:xfrm>
          <a:prstGeom prst="rect">
            <a:avLst/>
          </a:prstGeom>
        </p:spPr>
      </p:pic>
    </p:spTree>
    <p:extLst>
      <p:ext uri="{BB962C8B-B14F-4D97-AF65-F5344CB8AC3E}">
        <p14:creationId xmlns:p14="http://schemas.microsoft.com/office/powerpoint/2010/main" val="12717713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1C0F9-7B55-98BC-C1B1-93C588E97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893EA-A932-59A7-9231-C1732A612817}"/>
              </a:ext>
            </a:extLst>
          </p:cNvPr>
          <p:cNvSpPr>
            <a:spLocks noGrp="1"/>
          </p:cNvSpPr>
          <p:nvPr>
            <p:ph type="title"/>
          </p:nvPr>
        </p:nvSpPr>
        <p:spPr>
          <a:xfrm>
            <a:off x="1371600" y="685800"/>
            <a:ext cx="9601200" cy="816429"/>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STDDEV() / STDDEV_POP() Function</a:t>
            </a:r>
          </a:p>
        </p:txBody>
      </p:sp>
      <p:sp>
        <p:nvSpPr>
          <p:cNvPr id="3" name="Content Placeholder 2">
            <a:extLst>
              <a:ext uri="{FF2B5EF4-FFF2-40B4-BE49-F238E27FC236}">
                <a16:creationId xmlns:a16="http://schemas.microsoft.com/office/drawing/2014/main" id="{93F41F6F-8747-2095-71F1-A154A9735BE3}"/>
              </a:ext>
            </a:extLst>
          </p:cNvPr>
          <p:cNvSpPr>
            <a:spLocks noGrp="1"/>
          </p:cNvSpPr>
          <p:nvPr>
            <p:ph idx="1"/>
          </p:nvPr>
        </p:nvSpPr>
        <p:spPr>
          <a:xfrm>
            <a:off x="1371600" y="2285999"/>
            <a:ext cx="9601200" cy="4133461"/>
          </a:xfrm>
        </p:spPr>
        <p:txBody>
          <a:bodyPr>
            <a:normAutofit/>
          </a:bodyPr>
          <a:lstStyle/>
          <a:p>
            <a:r>
              <a:rPr lang="en-IN" dirty="0"/>
              <a:t>The standard deviation for a group of numbers based on a sample</a:t>
            </a:r>
          </a:p>
          <a:p>
            <a:r>
              <a:rPr lang="en-IN" dirty="0"/>
              <a:t>Syntax:</a:t>
            </a:r>
          </a:p>
          <a:p>
            <a:r>
              <a:rPr lang="en-IN" dirty="0"/>
              <a:t>SELECT STDDEV(</a:t>
            </a:r>
            <a:r>
              <a:rPr lang="en-IN" dirty="0" err="1"/>
              <a:t>column_name</a:t>
            </a:r>
            <a:r>
              <a:rPr lang="en-IN" dirty="0"/>
              <a:t>) FROM </a:t>
            </a:r>
            <a:r>
              <a:rPr lang="en-IN" dirty="0" err="1"/>
              <a:t>table_name</a:t>
            </a:r>
            <a:r>
              <a:rPr lang="en-IN" dirty="0"/>
              <a:t>;</a:t>
            </a:r>
          </a:p>
          <a:p>
            <a:pPr algn="l" rtl="0" fontAlgn="base">
              <a:spcAft>
                <a:spcPts val="750"/>
              </a:spcAft>
            </a:pPr>
            <a:r>
              <a:rPr lang="en-IN" b="1" i="0" dirty="0">
                <a:solidFill>
                  <a:srgbClr val="273239"/>
                </a:solidFill>
                <a:effectLst/>
                <a:latin typeface="Nunito" pitchFamily="2" charset="0"/>
              </a:rPr>
              <a:t>Example Query:</a:t>
            </a:r>
            <a:endParaRPr lang="en-IN" b="0" i="0" dirty="0">
              <a:solidFill>
                <a:srgbClr val="273239"/>
              </a:solidFill>
              <a:effectLst/>
              <a:latin typeface="Nunito" pitchFamily="2" charset="0"/>
            </a:endParaRPr>
          </a:p>
          <a:p>
            <a:pPr marL="0" indent="0">
              <a:buNone/>
            </a:pPr>
            <a:r>
              <a:rPr lang="en-IN" dirty="0"/>
              <a:t>	SELECT STDDEV(marks) AS </a:t>
            </a:r>
            <a:r>
              <a:rPr lang="en-IN" dirty="0" err="1"/>
              <a:t>stddev_marks</a:t>
            </a:r>
            <a:r>
              <a:rPr lang="en-IN" dirty="0"/>
              <a:t> FROM </a:t>
            </a:r>
            <a:r>
              <a:rPr lang="en-IN" dirty="0" err="1"/>
              <a:t>studentDetails</a:t>
            </a:r>
            <a:r>
              <a:rPr lang="en-IN" dirty="0"/>
              <a:t>;</a:t>
            </a:r>
          </a:p>
          <a:p>
            <a:pPr marL="0" indent="0">
              <a:buNone/>
            </a:pPr>
            <a:endParaRPr lang="en-IN" dirty="0"/>
          </a:p>
          <a:p>
            <a:pPr marL="0" indent="0">
              <a:buNone/>
            </a:pPr>
            <a:r>
              <a:rPr lang="en-IN" dirty="0"/>
              <a:t>Output:</a:t>
            </a:r>
          </a:p>
          <a:p>
            <a:endParaRPr lang="en-IN" dirty="0"/>
          </a:p>
          <a:p>
            <a:endParaRPr lang="en-IN" dirty="0"/>
          </a:p>
        </p:txBody>
      </p:sp>
      <p:pic>
        <p:nvPicPr>
          <p:cNvPr id="8" name="Picture 7">
            <a:extLst>
              <a:ext uri="{FF2B5EF4-FFF2-40B4-BE49-F238E27FC236}">
                <a16:creationId xmlns:a16="http://schemas.microsoft.com/office/drawing/2014/main" id="{013BE5E5-3227-CEE4-056C-E845FAF26287}"/>
              </a:ext>
            </a:extLst>
          </p:cNvPr>
          <p:cNvPicPr>
            <a:picLocks noChangeAspect="1"/>
          </p:cNvPicPr>
          <p:nvPr/>
        </p:nvPicPr>
        <p:blipFill>
          <a:blip r:embed="rId2"/>
          <a:stretch>
            <a:fillRect/>
          </a:stretch>
        </p:blipFill>
        <p:spPr>
          <a:xfrm>
            <a:off x="2409935" y="4921861"/>
            <a:ext cx="3686065" cy="1250339"/>
          </a:xfrm>
          <a:prstGeom prst="rect">
            <a:avLst/>
          </a:prstGeom>
        </p:spPr>
      </p:pic>
    </p:spTree>
    <p:extLst>
      <p:ext uri="{BB962C8B-B14F-4D97-AF65-F5344CB8AC3E}">
        <p14:creationId xmlns:p14="http://schemas.microsoft.com/office/powerpoint/2010/main" val="415361726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DF40-CDB8-899F-E169-2364DBADA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3DC17-1802-884D-3422-F065590F68B0}"/>
              </a:ext>
            </a:extLst>
          </p:cNvPr>
          <p:cNvSpPr>
            <a:spLocks noGrp="1"/>
          </p:cNvSpPr>
          <p:nvPr>
            <p:ph type="title"/>
          </p:nvPr>
        </p:nvSpPr>
        <p:spPr>
          <a:xfrm>
            <a:off x="1371600" y="685800"/>
            <a:ext cx="9601200" cy="816429"/>
          </a:xfrm>
        </p:spPr>
        <p:txBody>
          <a:bodyPr>
            <a:normAutofit/>
          </a:bodyPr>
          <a:lstStyle/>
          <a:p>
            <a:pPr algn="l" fontAlgn="base">
              <a:spcBef>
                <a:spcPts val="1800"/>
              </a:spcBef>
              <a:spcAft>
                <a:spcPts val="1800"/>
              </a:spcAft>
            </a:pPr>
            <a:r>
              <a:rPr lang="en-IN" b="1" i="0" dirty="0">
                <a:solidFill>
                  <a:srgbClr val="273239"/>
                </a:solidFill>
                <a:effectLst/>
                <a:latin typeface="Nunito" pitchFamily="2" charset="0"/>
              </a:rPr>
              <a:t>PERCENTILE_CONT() Function</a:t>
            </a:r>
          </a:p>
        </p:txBody>
      </p:sp>
      <p:sp>
        <p:nvSpPr>
          <p:cNvPr id="3" name="Content Placeholder 2">
            <a:extLst>
              <a:ext uri="{FF2B5EF4-FFF2-40B4-BE49-F238E27FC236}">
                <a16:creationId xmlns:a16="http://schemas.microsoft.com/office/drawing/2014/main" id="{77F30AB6-53E7-FEB8-031C-11087DF78520}"/>
              </a:ext>
            </a:extLst>
          </p:cNvPr>
          <p:cNvSpPr>
            <a:spLocks noGrp="1"/>
          </p:cNvSpPr>
          <p:nvPr>
            <p:ph idx="1"/>
          </p:nvPr>
        </p:nvSpPr>
        <p:spPr>
          <a:xfrm>
            <a:off x="1371600" y="1594885"/>
            <a:ext cx="10515600" cy="4824576"/>
          </a:xfrm>
        </p:spPr>
        <p:txBody>
          <a:bodyPr>
            <a:normAutofit/>
          </a:bodyPr>
          <a:lstStyle/>
          <a:p>
            <a:r>
              <a:rPr lang="en-IN" dirty="0"/>
              <a:t>Calculates a specified percentile value for a numeric column.</a:t>
            </a:r>
          </a:p>
          <a:p>
            <a:r>
              <a:rPr lang="en-IN" dirty="0"/>
              <a:t>Syntax:</a:t>
            </a:r>
          </a:p>
          <a:p>
            <a:r>
              <a:rPr lang="en-IN" dirty="0"/>
              <a:t>SELECT PERCENTILE_CONT(0.5) WITHIN GROUP (ORDER BY </a:t>
            </a:r>
            <a:r>
              <a:rPr lang="en-IN" dirty="0" err="1"/>
              <a:t>column_name</a:t>
            </a:r>
            <a:r>
              <a:rPr lang="en-IN" dirty="0"/>
              <a:t>) FROM </a:t>
            </a:r>
            <a:r>
              <a:rPr lang="en-IN" dirty="0" err="1"/>
              <a:t>table_name</a:t>
            </a:r>
            <a:r>
              <a:rPr lang="en-IN" dirty="0"/>
              <a:t>;</a:t>
            </a:r>
          </a:p>
          <a:p>
            <a:r>
              <a:rPr lang="en-IN" dirty="0"/>
              <a:t>Example Query:</a:t>
            </a:r>
          </a:p>
          <a:p>
            <a:pPr marL="0" indent="0">
              <a:buNone/>
            </a:pPr>
            <a:r>
              <a:rPr lang="en-IN" dirty="0"/>
              <a:t>	SELECT PERCENTILE_CONT(0.5) WITHIN GROUP (ORDER BY salary) AS </a:t>
            </a:r>
            <a:r>
              <a:rPr lang="en-IN" dirty="0" err="1"/>
              <a:t>median_salary</a:t>
            </a:r>
            <a:r>
              <a:rPr lang="en-IN" dirty="0"/>
              <a:t> FROM employees;</a:t>
            </a:r>
          </a:p>
          <a:p>
            <a:pPr marL="0" indent="0">
              <a:buNone/>
            </a:pPr>
            <a:r>
              <a:rPr lang="en-IN" dirty="0"/>
              <a:t>Output:</a:t>
            </a:r>
          </a:p>
          <a:p>
            <a:endParaRPr lang="en-IN" dirty="0"/>
          </a:p>
          <a:p>
            <a:endParaRPr lang="en-IN" dirty="0"/>
          </a:p>
        </p:txBody>
      </p:sp>
      <p:pic>
        <p:nvPicPr>
          <p:cNvPr id="6" name="Picture 5">
            <a:extLst>
              <a:ext uri="{FF2B5EF4-FFF2-40B4-BE49-F238E27FC236}">
                <a16:creationId xmlns:a16="http://schemas.microsoft.com/office/drawing/2014/main" id="{24E5DCA0-374F-0BDB-B81F-042EDD5589C8}"/>
              </a:ext>
            </a:extLst>
          </p:cNvPr>
          <p:cNvPicPr>
            <a:picLocks noChangeAspect="1"/>
          </p:cNvPicPr>
          <p:nvPr/>
        </p:nvPicPr>
        <p:blipFill>
          <a:blip r:embed="rId2"/>
          <a:stretch>
            <a:fillRect/>
          </a:stretch>
        </p:blipFill>
        <p:spPr>
          <a:xfrm>
            <a:off x="3298308" y="4673792"/>
            <a:ext cx="2171700" cy="1838325"/>
          </a:xfrm>
          <a:prstGeom prst="rect">
            <a:avLst/>
          </a:prstGeom>
        </p:spPr>
      </p:pic>
    </p:spTree>
    <p:extLst>
      <p:ext uri="{BB962C8B-B14F-4D97-AF65-F5344CB8AC3E}">
        <p14:creationId xmlns:p14="http://schemas.microsoft.com/office/powerpoint/2010/main" val="254400976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9865-E9B0-3CB7-3540-005D19F7A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19B90-E28C-B0CD-C5E3-10075FE84BB6}"/>
              </a:ext>
            </a:extLst>
          </p:cNvPr>
          <p:cNvSpPr>
            <a:spLocks noGrp="1"/>
          </p:cNvSpPr>
          <p:nvPr>
            <p:ph type="title"/>
          </p:nvPr>
        </p:nvSpPr>
        <p:spPr>
          <a:xfrm>
            <a:off x="1371600" y="685800"/>
            <a:ext cx="9601200" cy="816429"/>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CORR() Function</a:t>
            </a:r>
            <a:br>
              <a:rPr lang="en-IN" b="1" i="0" dirty="0">
                <a:solidFill>
                  <a:srgbClr val="273239"/>
                </a:solidFill>
                <a:effectLst/>
                <a:latin typeface="Nunito" pitchFamily="2" charset="0"/>
              </a:rPr>
            </a:br>
            <a:r>
              <a:rPr lang="en-IN" dirty="0"/>
              <a:t/>
            </a:r>
            <a:br>
              <a:rPr lang="en-IN" dirty="0"/>
            </a:br>
            <a:endParaRPr lang="en-IN" b="1" i="0" dirty="0">
              <a:solidFill>
                <a:srgbClr val="273239"/>
              </a:solidFill>
              <a:effectLst/>
              <a:latin typeface="Nunito" pitchFamily="2" charset="0"/>
            </a:endParaRPr>
          </a:p>
        </p:txBody>
      </p:sp>
      <p:sp>
        <p:nvSpPr>
          <p:cNvPr id="3" name="Content Placeholder 2">
            <a:extLst>
              <a:ext uri="{FF2B5EF4-FFF2-40B4-BE49-F238E27FC236}">
                <a16:creationId xmlns:a16="http://schemas.microsoft.com/office/drawing/2014/main" id="{E43DCBC7-8E57-D400-77A5-157B9DEC5F78}"/>
              </a:ext>
            </a:extLst>
          </p:cNvPr>
          <p:cNvSpPr>
            <a:spLocks noGrp="1"/>
          </p:cNvSpPr>
          <p:nvPr>
            <p:ph idx="1"/>
          </p:nvPr>
        </p:nvSpPr>
        <p:spPr>
          <a:xfrm>
            <a:off x="1371600" y="1594885"/>
            <a:ext cx="10515600" cy="4824576"/>
          </a:xfrm>
        </p:spPr>
        <p:txBody>
          <a:bodyPr>
            <a:normAutofit/>
          </a:bodyPr>
          <a:lstStyle/>
          <a:p>
            <a:r>
              <a:rPr lang="en-IN" dirty="0"/>
              <a:t>Calculates the correlation coefficient between two numeric columns.</a:t>
            </a:r>
          </a:p>
          <a:p>
            <a:r>
              <a:rPr lang="en-IN" dirty="0"/>
              <a:t>Syntax:</a:t>
            </a:r>
          </a:p>
          <a:p>
            <a:r>
              <a:rPr lang="en-IN" dirty="0"/>
              <a:t>SELECT CORR(column1, column2) FROM </a:t>
            </a:r>
            <a:r>
              <a:rPr lang="en-IN" dirty="0" err="1"/>
              <a:t>table_name</a:t>
            </a:r>
            <a:r>
              <a:rPr lang="en-IN" dirty="0"/>
              <a:t>;</a:t>
            </a:r>
          </a:p>
          <a:p>
            <a:r>
              <a:rPr lang="en-IN" dirty="0"/>
              <a:t>Example Query:</a:t>
            </a:r>
          </a:p>
          <a:p>
            <a:pPr marL="0" indent="0">
              <a:buNone/>
            </a:pPr>
            <a:r>
              <a:rPr lang="en-IN" dirty="0"/>
              <a:t>	SELECT CORR(sales, profit) AS </a:t>
            </a:r>
            <a:r>
              <a:rPr lang="en-IN" dirty="0" err="1"/>
              <a:t>correlation_coefficient</a:t>
            </a:r>
            <a:r>
              <a:rPr lang="en-IN" dirty="0"/>
              <a:t> FROM </a:t>
            </a:r>
            <a:r>
              <a:rPr lang="en-IN" dirty="0" err="1"/>
              <a:t>sales_data</a:t>
            </a:r>
            <a:r>
              <a:rPr lang="en-IN" dirty="0"/>
              <a:t>;</a:t>
            </a:r>
          </a:p>
          <a:p>
            <a:pPr marL="0" indent="0">
              <a:buNone/>
            </a:pPr>
            <a:endParaRPr lang="en-IN" dirty="0"/>
          </a:p>
          <a:p>
            <a:pPr marL="0" indent="0">
              <a:buNone/>
            </a:pPr>
            <a:r>
              <a:rPr lang="en-IN" dirty="0"/>
              <a:t>Output:</a:t>
            </a:r>
          </a:p>
          <a:p>
            <a:endParaRPr lang="en-IN" dirty="0"/>
          </a:p>
          <a:p>
            <a:endParaRPr lang="en-IN" dirty="0"/>
          </a:p>
        </p:txBody>
      </p:sp>
      <p:pic>
        <p:nvPicPr>
          <p:cNvPr id="8" name="Picture 7">
            <a:extLst>
              <a:ext uri="{FF2B5EF4-FFF2-40B4-BE49-F238E27FC236}">
                <a16:creationId xmlns:a16="http://schemas.microsoft.com/office/drawing/2014/main" id="{08945772-2F35-7D2C-38A6-3F835917FC0A}"/>
              </a:ext>
            </a:extLst>
          </p:cNvPr>
          <p:cNvPicPr>
            <a:picLocks noChangeAspect="1"/>
          </p:cNvPicPr>
          <p:nvPr/>
        </p:nvPicPr>
        <p:blipFill>
          <a:blip r:embed="rId2"/>
          <a:stretch>
            <a:fillRect/>
          </a:stretch>
        </p:blipFill>
        <p:spPr>
          <a:xfrm>
            <a:off x="2673091" y="4705349"/>
            <a:ext cx="3328047" cy="1714111"/>
          </a:xfrm>
          <a:prstGeom prst="rect">
            <a:avLst/>
          </a:prstGeom>
        </p:spPr>
      </p:pic>
    </p:spTree>
    <p:extLst>
      <p:ext uri="{BB962C8B-B14F-4D97-AF65-F5344CB8AC3E}">
        <p14:creationId xmlns:p14="http://schemas.microsoft.com/office/powerpoint/2010/main" val="136691986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8C61C-D4DE-EA29-A2FF-90C63897F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CE917-0BB8-4497-3609-AC2AEEDF716F}"/>
              </a:ext>
            </a:extLst>
          </p:cNvPr>
          <p:cNvSpPr>
            <a:spLocks noGrp="1"/>
          </p:cNvSpPr>
          <p:nvPr>
            <p:ph type="title"/>
          </p:nvPr>
        </p:nvSpPr>
        <p:spPr>
          <a:xfrm>
            <a:off x="1371600" y="685800"/>
            <a:ext cx="9601200" cy="816429"/>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COVAR_POP() Function</a:t>
            </a:r>
            <a:br>
              <a:rPr lang="en-IN" b="1" i="0" dirty="0">
                <a:solidFill>
                  <a:srgbClr val="273239"/>
                </a:solidFill>
                <a:effectLst/>
                <a:latin typeface="Nunito" pitchFamily="2" charset="0"/>
              </a:rPr>
            </a:br>
            <a:r>
              <a:rPr lang="en-IN" dirty="0"/>
              <a:t/>
            </a:r>
            <a:br>
              <a:rPr lang="en-IN" dirty="0"/>
            </a:br>
            <a:endParaRPr lang="en-IN" b="1" i="0" dirty="0">
              <a:solidFill>
                <a:srgbClr val="273239"/>
              </a:solidFill>
              <a:effectLst/>
              <a:latin typeface="Nunito" pitchFamily="2" charset="0"/>
            </a:endParaRPr>
          </a:p>
        </p:txBody>
      </p:sp>
      <p:sp>
        <p:nvSpPr>
          <p:cNvPr id="3" name="Content Placeholder 2">
            <a:extLst>
              <a:ext uri="{FF2B5EF4-FFF2-40B4-BE49-F238E27FC236}">
                <a16:creationId xmlns:a16="http://schemas.microsoft.com/office/drawing/2014/main" id="{143DF3A6-6B75-E89E-DB6B-B8ED2F1FE4BD}"/>
              </a:ext>
            </a:extLst>
          </p:cNvPr>
          <p:cNvSpPr>
            <a:spLocks noGrp="1"/>
          </p:cNvSpPr>
          <p:nvPr>
            <p:ph idx="1"/>
          </p:nvPr>
        </p:nvSpPr>
        <p:spPr>
          <a:xfrm>
            <a:off x="1371600" y="1594885"/>
            <a:ext cx="10515600" cy="4824576"/>
          </a:xfrm>
        </p:spPr>
        <p:txBody>
          <a:bodyPr>
            <a:normAutofit/>
          </a:bodyPr>
          <a:lstStyle/>
          <a:p>
            <a:r>
              <a:rPr lang="en-IN" dirty="0"/>
              <a:t>Calculates the population covariance between two numeric columns.</a:t>
            </a:r>
          </a:p>
          <a:p>
            <a:r>
              <a:rPr lang="en-IN" dirty="0"/>
              <a:t>Syntax:</a:t>
            </a:r>
          </a:p>
          <a:p>
            <a:r>
              <a:rPr lang="en-IN" dirty="0"/>
              <a:t>SELECT COVAR_POP(column1, column2) FROM </a:t>
            </a:r>
            <a:r>
              <a:rPr lang="en-IN" dirty="0" err="1"/>
              <a:t>table_name</a:t>
            </a:r>
            <a:r>
              <a:rPr lang="en-IN" dirty="0"/>
              <a:t>;</a:t>
            </a:r>
          </a:p>
          <a:p>
            <a:r>
              <a:rPr lang="en-IN" dirty="0"/>
              <a:t>Example Query:</a:t>
            </a:r>
          </a:p>
          <a:p>
            <a:pPr marL="0" indent="0">
              <a:buNone/>
            </a:pPr>
            <a:r>
              <a:rPr lang="en-IN" dirty="0"/>
              <a:t>	SELECT COVAR_POP(revenue, expenses) AS </a:t>
            </a:r>
            <a:r>
              <a:rPr lang="en-IN" dirty="0" err="1"/>
              <a:t>population_covariance</a:t>
            </a:r>
            <a:r>
              <a:rPr lang="en-IN" dirty="0"/>
              <a:t> FROM </a:t>
            </a:r>
            <a:r>
              <a:rPr lang="en-IN" dirty="0" err="1"/>
              <a:t>financial_data</a:t>
            </a:r>
            <a:r>
              <a:rPr lang="en-IN" dirty="0"/>
              <a:t>;</a:t>
            </a:r>
          </a:p>
          <a:p>
            <a:pPr marL="0" indent="0">
              <a:buNone/>
            </a:pPr>
            <a:endParaRPr lang="en-IN" dirty="0"/>
          </a:p>
          <a:p>
            <a:pPr marL="0" indent="0">
              <a:buNone/>
            </a:pPr>
            <a:r>
              <a:rPr lang="en-IN" dirty="0"/>
              <a:t>Output:</a:t>
            </a:r>
          </a:p>
          <a:p>
            <a:pPr marL="0" indent="0">
              <a:buNone/>
            </a:pPr>
            <a:endParaRPr lang="en-IN" dirty="0"/>
          </a:p>
        </p:txBody>
      </p:sp>
      <p:pic>
        <p:nvPicPr>
          <p:cNvPr id="7" name="Picture 6">
            <a:extLst>
              <a:ext uri="{FF2B5EF4-FFF2-40B4-BE49-F238E27FC236}">
                <a16:creationId xmlns:a16="http://schemas.microsoft.com/office/drawing/2014/main" id="{47617013-C246-1A9B-4018-089822ACF408}"/>
              </a:ext>
            </a:extLst>
          </p:cNvPr>
          <p:cNvPicPr>
            <a:picLocks noChangeAspect="1"/>
          </p:cNvPicPr>
          <p:nvPr/>
        </p:nvPicPr>
        <p:blipFill>
          <a:blip r:embed="rId2"/>
          <a:stretch>
            <a:fillRect/>
          </a:stretch>
        </p:blipFill>
        <p:spPr>
          <a:xfrm>
            <a:off x="2908006" y="4629702"/>
            <a:ext cx="2590800" cy="1266825"/>
          </a:xfrm>
          <a:prstGeom prst="rect">
            <a:avLst/>
          </a:prstGeom>
        </p:spPr>
      </p:pic>
    </p:spTree>
    <p:extLst>
      <p:ext uri="{BB962C8B-B14F-4D97-AF65-F5344CB8AC3E}">
        <p14:creationId xmlns:p14="http://schemas.microsoft.com/office/powerpoint/2010/main" val="419610998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4333E-FE26-0304-9BBC-DFD6E2A7A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3DC84-E1FD-8DBC-F1B4-2D046E860111}"/>
              </a:ext>
            </a:extLst>
          </p:cNvPr>
          <p:cNvSpPr>
            <a:spLocks noGrp="1"/>
          </p:cNvSpPr>
          <p:nvPr>
            <p:ph type="title"/>
          </p:nvPr>
        </p:nvSpPr>
        <p:spPr>
          <a:xfrm>
            <a:off x="1371600" y="685800"/>
            <a:ext cx="9601200" cy="816429"/>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COVAR_POP() Function</a:t>
            </a:r>
            <a:br>
              <a:rPr lang="en-IN" b="1" i="0" dirty="0">
                <a:solidFill>
                  <a:srgbClr val="273239"/>
                </a:solidFill>
                <a:effectLst/>
                <a:latin typeface="Nunito" pitchFamily="2" charset="0"/>
              </a:rPr>
            </a:br>
            <a:r>
              <a:rPr lang="en-IN" dirty="0"/>
              <a:t/>
            </a:r>
            <a:br>
              <a:rPr lang="en-IN" dirty="0"/>
            </a:br>
            <a:endParaRPr lang="en-IN" b="1" i="0" dirty="0">
              <a:solidFill>
                <a:srgbClr val="273239"/>
              </a:solidFill>
              <a:effectLst/>
              <a:latin typeface="Nunito" pitchFamily="2" charset="0"/>
            </a:endParaRPr>
          </a:p>
        </p:txBody>
      </p:sp>
      <p:sp>
        <p:nvSpPr>
          <p:cNvPr id="3" name="Content Placeholder 2">
            <a:extLst>
              <a:ext uri="{FF2B5EF4-FFF2-40B4-BE49-F238E27FC236}">
                <a16:creationId xmlns:a16="http://schemas.microsoft.com/office/drawing/2014/main" id="{3D61A912-74A5-2641-8E51-864438414D2A}"/>
              </a:ext>
            </a:extLst>
          </p:cNvPr>
          <p:cNvSpPr>
            <a:spLocks noGrp="1"/>
          </p:cNvSpPr>
          <p:nvPr>
            <p:ph idx="1"/>
          </p:nvPr>
        </p:nvSpPr>
        <p:spPr>
          <a:xfrm>
            <a:off x="1371600" y="1594885"/>
            <a:ext cx="10515600" cy="4824576"/>
          </a:xfrm>
        </p:spPr>
        <p:txBody>
          <a:bodyPr>
            <a:normAutofit/>
          </a:bodyPr>
          <a:lstStyle/>
          <a:p>
            <a:r>
              <a:rPr lang="en-IN" dirty="0"/>
              <a:t>Calculates the population covariance between two numeric columns.</a:t>
            </a:r>
          </a:p>
          <a:p>
            <a:r>
              <a:rPr lang="en-IN" dirty="0"/>
              <a:t>Syntax:</a:t>
            </a:r>
          </a:p>
          <a:p>
            <a:r>
              <a:rPr lang="en-IN" dirty="0"/>
              <a:t>SELECT COVAR_POP(column1, column2) FROM </a:t>
            </a:r>
            <a:r>
              <a:rPr lang="en-IN" dirty="0" err="1"/>
              <a:t>table_name</a:t>
            </a:r>
            <a:r>
              <a:rPr lang="en-IN" dirty="0"/>
              <a:t>;</a:t>
            </a:r>
          </a:p>
          <a:p>
            <a:r>
              <a:rPr lang="en-IN" dirty="0"/>
              <a:t>Example Query:</a:t>
            </a:r>
          </a:p>
          <a:p>
            <a:pPr marL="0" indent="0">
              <a:buNone/>
            </a:pPr>
            <a:r>
              <a:rPr lang="en-IN" dirty="0"/>
              <a:t>	SELECT COVAR_POP(revenue, expenses) AS </a:t>
            </a:r>
            <a:r>
              <a:rPr lang="en-IN" dirty="0" err="1"/>
              <a:t>population_covariance</a:t>
            </a:r>
            <a:r>
              <a:rPr lang="en-IN" dirty="0"/>
              <a:t> FROM </a:t>
            </a:r>
            <a:r>
              <a:rPr lang="en-IN" dirty="0" err="1"/>
              <a:t>financial_data</a:t>
            </a:r>
            <a:r>
              <a:rPr lang="en-IN" dirty="0"/>
              <a:t>;</a:t>
            </a:r>
          </a:p>
          <a:p>
            <a:pPr marL="0" indent="0">
              <a:buNone/>
            </a:pPr>
            <a:endParaRPr lang="en-IN" dirty="0"/>
          </a:p>
          <a:p>
            <a:pPr marL="0" indent="0">
              <a:buNone/>
            </a:pPr>
            <a:r>
              <a:rPr lang="en-IN" dirty="0"/>
              <a:t>Output:</a:t>
            </a:r>
          </a:p>
          <a:p>
            <a:pPr marL="0" indent="0">
              <a:buNone/>
            </a:pPr>
            <a:endParaRPr lang="en-IN" dirty="0"/>
          </a:p>
        </p:txBody>
      </p:sp>
      <p:pic>
        <p:nvPicPr>
          <p:cNvPr id="7" name="Picture 6">
            <a:extLst>
              <a:ext uri="{FF2B5EF4-FFF2-40B4-BE49-F238E27FC236}">
                <a16:creationId xmlns:a16="http://schemas.microsoft.com/office/drawing/2014/main" id="{AC7B3C8B-EDD5-261F-6ED1-AD7C29814E16}"/>
              </a:ext>
            </a:extLst>
          </p:cNvPr>
          <p:cNvPicPr>
            <a:picLocks noChangeAspect="1"/>
          </p:cNvPicPr>
          <p:nvPr/>
        </p:nvPicPr>
        <p:blipFill>
          <a:blip r:embed="rId2"/>
          <a:stretch>
            <a:fillRect/>
          </a:stretch>
        </p:blipFill>
        <p:spPr>
          <a:xfrm>
            <a:off x="2908006" y="4629702"/>
            <a:ext cx="2590800" cy="1266825"/>
          </a:xfrm>
          <a:prstGeom prst="rect">
            <a:avLst/>
          </a:prstGeom>
        </p:spPr>
      </p:pic>
    </p:spTree>
    <p:extLst>
      <p:ext uri="{BB962C8B-B14F-4D97-AF65-F5344CB8AC3E}">
        <p14:creationId xmlns:p14="http://schemas.microsoft.com/office/powerpoint/2010/main" val="66097542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22BC3-8E40-473D-DDBE-697D88867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2BB9D-2EC5-978D-9107-FBEA687817DB}"/>
              </a:ext>
            </a:extLst>
          </p:cNvPr>
          <p:cNvSpPr>
            <a:spLocks noGrp="1"/>
          </p:cNvSpPr>
          <p:nvPr>
            <p:ph type="title"/>
          </p:nvPr>
        </p:nvSpPr>
        <p:spPr>
          <a:xfrm>
            <a:off x="1371600" y="685800"/>
            <a:ext cx="9601200" cy="816429"/>
          </a:xfrm>
        </p:spPr>
        <p:txBody>
          <a:bodyPr>
            <a:normAutofit fontScale="90000"/>
          </a:bodyPr>
          <a:lstStyle/>
          <a:p>
            <a:pPr algn="l" fontAlgn="base">
              <a:spcBef>
                <a:spcPts val="1800"/>
              </a:spcBef>
              <a:spcAft>
                <a:spcPts val="1800"/>
              </a:spcAft>
            </a:pPr>
            <a:r>
              <a:rPr lang="en-IN" b="1" i="0" dirty="0">
                <a:solidFill>
                  <a:srgbClr val="273239"/>
                </a:solidFill>
                <a:effectLst/>
                <a:latin typeface="Nunito" pitchFamily="2" charset="0"/>
              </a:rPr>
              <a:t>DATE() Function</a:t>
            </a:r>
            <a:br>
              <a:rPr lang="en-IN" b="1" i="0" dirty="0">
                <a:solidFill>
                  <a:srgbClr val="273239"/>
                </a:solidFill>
                <a:effectLst/>
                <a:latin typeface="Nunito" pitchFamily="2" charset="0"/>
              </a:rPr>
            </a:br>
            <a:r>
              <a:rPr lang="en-IN" dirty="0"/>
              <a:t/>
            </a:r>
            <a:br>
              <a:rPr lang="en-IN" dirty="0"/>
            </a:br>
            <a:endParaRPr lang="en-IN" b="1" i="0" dirty="0">
              <a:solidFill>
                <a:srgbClr val="273239"/>
              </a:solidFill>
              <a:effectLst/>
              <a:latin typeface="Nunito" pitchFamily="2" charset="0"/>
            </a:endParaRPr>
          </a:p>
        </p:txBody>
      </p:sp>
      <p:sp>
        <p:nvSpPr>
          <p:cNvPr id="3" name="Content Placeholder 2">
            <a:extLst>
              <a:ext uri="{FF2B5EF4-FFF2-40B4-BE49-F238E27FC236}">
                <a16:creationId xmlns:a16="http://schemas.microsoft.com/office/drawing/2014/main" id="{114757B2-C051-9291-F037-F534E1758FFA}"/>
              </a:ext>
            </a:extLst>
          </p:cNvPr>
          <p:cNvSpPr>
            <a:spLocks noGrp="1"/>
          </p:cNvSpPr>
          <p:nvPr>
            <p:ph idx="1"/>
          </p:nvPr>
        </p:nvSpPr>
        <p:spPr>
          <a:xfrm>
            <a:off x="1371600" y="1594885"/>
            <a:ext cx="10515600" cy="4824576"/>
          </a:xfrm>
        </p:spPr>
        <p:txBody>
          <a:bodyPr>
            <a:normAutofit/>
          </a:bodyPr>
          <a:lstStyle/>
          <a:p>
            <a:pPr algn="just" rtl="0" fontAlgn="base">
              <a:spcAft>
                <a:spcPts val="750"/>
              </a:spcAft>
            </a:pPr>
            <a:r>
              <a:rPr lang="en-IN" b="0" i="0" dirty="0">
                <a:solidFill>
                  <a:srgbClr val="273239"/>
                </a:solidFill>
                <a:effectLst/>
                <a:latin typeface="Nunito" pitchFamily="2" charset="0"/>
              </a:rPr>
              <a:t>Extracts the date part of a date or date/time expression. Example: For the below table named ‘Test’</a:t>
            </a:r>
          </a:p>
          <a:p>
            <a:pPr algn="l" rtl="0" fontAlgn="base">
              <a:spcAft>
                <a:spcPts val="750"/>
              </a:spcAft>
            </a:pPr>
            <a:r>
              <a:rPr lang="en-IN" b="1" i="0" dirty="0">
                <a:solidFill>
                  <a:srgbClr val="273239"/>
                </a:solidFill>
                <a:effectLst/>
                <a:latin typeface="Nunito" pitchFamily="2" charset="0"/>
              </a:rPr>
              <a:t>Query:</a:t>
            </a:r>
            <a:endParaRPr lang="en-IN" b="0" i="0" dirty="0">
              <a:solidFill>
                <a:srgbClr val="273239"/>
              </a:solidFill>
              <a:effectLst/>
              <a:latin typeface="Nunito" pitchFamily="2" charset="0"/>
            </a:endParaRPr>
          </a:p>
          <a:p>
            <a:pPr marL="0" indent="0">
              <a:buNone/>
            </a:pPr>
            <a:r>
              <a:rPr lang="en-IN" dirty="0"/>
              <a:t>	SELECT Name, DATE(</a:t>
            </a:r>
            <a:r>
              <a:rPr lang="en-IN" dirty="0" err="1"/>
              <a:t>BirthTime</a:t>
            </a:r>
            <a:r>
              <a:rPr lang="en-IN" dirty="0"/>
              <a:t>) AS </a:t>
            </a:r>
            <a:r>
              <a:rPr lang="en-IN" dirty="0" err="1"/>
              <a:t>BirthDate</a:t>
            </a:r>
            <a:r>
              <a:rPr lang="en-IN" dirty="0"/>
              <a:t> FROM Test;</a:t>
            </a:r>
          </a:p>
          <a:p>
            <a:endParaRPr lang="en-IN" dirty="0"/>
          </a:p>
          <a:p>
            <a:endParaRPr lang="en-IN" dirty="0"/>
          </a:p>
          <a:p>
            <a:r>
              <a:rPr lang="en-IN" dirty="0"/>
              <a:t>Output:</a:t>
            </a:r>
          </a:p>
        </p:txBody>
      </p:sp>
      <p:pic>
        <p:nvPicPr>
          <p:cNvPr id="8" name="Picture 7">
            <a:extLst>
              <a:ext uri="{FF2B5EF4-FFF2-40B4-BE49-F238E27FC236}">
                <a16:creationId xmlns:a16="http://schemas.microsoft.com/office/drawing/2014/main" id="{019417BF-EB4E-3D57-FDC0-7E4540D6C000}"/>
              </a:ext>
            </a:extLst>
          </p:cNvPr>
          <p:cNvPicPr>
            <a:picLocks noChangeAspect="1"/>
          </p:cNvPicPr>
          <p:nvPr/>
        </p:nvPicPr>
        <p:blipFill>
          <a:blip r:embed="rId2"/>
          <a:stretch>
            <a:fillRect/>
          </a:stretch>
        </p:blipFill>
        <p:spPr>
          <a:xfrm>
            <a:off x="2757368" y="4436273"/>
            <a:ext cx="2232853" cy="1653683"/>
          </a:xfrm>
          <a:prstGeom prst="rect">
            <a:avLst/>
          </a:prstGeom>
        </p:spPr>
      </p:pic>
    </p:spTree>
    <p:extLst>
      <p:ext uri="{BB962C8B-B14F-4D97-AF65-F5344CB8AC3E}">
        <p14:creationId xmlns:p14="http://schemas.microsoft.com/office/powerpoint/2010/main" val="60171632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C9EFA-E861-C0C7-7608-99085C209A48}"/>
              </a:ext>
            </a:extLst>
          </p:cNvPr>
          <p:cNvSpPr>
            <a:spLocks noGrp="1"/>
          </p:cNvSpPr>
          <p:nvPr>
            <p:ph type="title"/>
          </p:nvPr>
        </p:nvSpPr>
        <p:spPr/>
        <p:txBody>
          <a:bodyPr/>
          <a:lstStyle/>
          <a:p>
            <a:r>
              <a:rPr lang="en-IN" dirty="0"/>
              <a:t>Activity to do</a:t>
            </a:r>
          </a:p>
        </p:txBody>
      </p:sp>
      <p:sp>
        <p:nvSpPr>
          <p:cNvPr id="3" name="Content Placeholder 2">
            <a:extLst>
              <a:ext uri="{FF2B5EF4-FFF2-40B4-BE49-F238E27FC236}">
                <a16:creationId xmlns:a16="http://schemas.microsoft.com/office/drawing/2014/main" id="{8F6882C5-A167-C9CF-4A47-13D673AEC2AC}"/>
              </a:ext>
            </a:extLst>
          </p:cNvPr>
          <p:cNvSpPr>
            <a:spLocks noGrp="1"/>
          </p:cNvSpPr>
          <p:nvPr>
            <p:ph idx="1"/>
          </p:nvPr>
        </p:nvSpPr>
        <p:spPr>
          <a:xfrm>
            <a:off x="1371600" y="1390261"/>
            <a:ext cx="9601200" cy="4477139"/>
          </a:xfrm>
        </p:spPr>
        <p:txBody>
          <a:bodyPr/>
          <a:lstStyle/>
          <a:p>
            <a:endParaRPr lang="en-IN" dirty="0"/>
          </a:p>
          <a:p>
            <a:r>
              <a:rPr lang="en-IN" dirty="0"/>
              <a:t>Create Tables for Retail Sales, Customer , Product, Stores as per Excel data file</a:t>
            </a:r>
          </a:p>
          <a:p>
            <a:r>
              <a:rPr lang="en-IN" dirty="0"/>
              <a:t>Involve all Aggregate functions  with Created Tables</a:t>
            </a:r>
          </a:p>
          <a:p>
            <a:r>
              <a:rPr lang="en-IN" dirty="0"/>
              <a:t>Calculate count of quantity sales ?</a:t>
            </a:r>
          </a:p>
          <a:p>
            <a:r>
              <a:rPr lang="en-IN" dirty="0"/>
              <a:t>Calculate Total Sales Amount?</a:t>
            </a:r>
          </a:p>
          <a:p>
            <a:r>
              <a:rPr lang="en-IN" dirty="0"/>
              <a:t>Calculate Min/ Max Product  Price?</a:t>
            </a:r>
          </a:p>
          <a:p>
            <a:r>
              <a:rPr lang="en-IN" dirty="0"/>
              <a:t>Discuss and implement all Queries learned till now</a:t>
            </a:r>
          </a:p>
          <a:p>
            <a:r>
              <a:rPr lang="en-IN" dirty="0"/>
              <a:t>Review of all SQL queries</a:t>
            </a:r>
          </a:p>
          <a:p>
            <a:endParaRPr lang="en-IN" dirty="0"/>
          </a:p>
        </p:txBody>
      </p:sp>
    </p:spTree>
    <p:extLst>
      <p:ext uri="{BB962C8B-B14F-4D97-AF65-F5344CB8AC3E}">
        <p14:creationId xmlns:p14="http://schemas.microsoft.com/office/powerpoint/2010/main" val="243941039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B7094-9C45-BE27-612D-227091745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E218E-BD33-1931-D93E-5C78CE8DB569}"/>
              </a:ext>
            </a:extLst>
          </p:cNvPr>
          <p:cNvSpPr>
            <a:spLocks noGrp="1"/>
          </p:cNvSpPr>
          <p:nvPr>
            <p:ph type="title"/>
          </p:nvPr>
        </p:nvSpPr>
        <p:spPr>
          <a:xfrm>
            <a:off x="1295399" y="2686050"/>
            <a:ext cx="9901335" cy="1485900"/>
          </a:xfrm>
        </p:spPr>
        <p:txBody>
          <a:bodyPr>
            <a:normAutofit/>
          </a:bodyPr>
          <a:lstStyle/>
          <a:p>
            <a:r>
              <a:rPr lang="en-US" b="1" dirty="0"/>
              <a:t>Day 10</a:t>
            </a:r>
            <a:r>
              <a:rPr lang="en-US" dirty="0"/>
              <a:t>: </a:t>
            </a:r>
            <a:r>
              <a:rPr lang="en-IN" dirty="0"/>
              <a:t>Data Analytics Visualization Using Power BI</a:t>
            </a:r>
            <a:endParaRPr lang="en-US" dirty="0"/>
          </a:p>
        </p:txBody>
      </p:sp>
    </p:spTree>
    <p:extLst>
      <p:ext uri="{BB962C8B-B14F-4D97-AF65-F5344CB8AC3E}">
        <p14:creationId xmlns:p14="http://schemas.microsoft.com/office/powerpoint/2010/main" val="169989090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69805AF4-7989-43AB-9A60-14E3F851FB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A4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0036B63-B0EC-4AF3-95D3-2E2DCA25F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data science&#10;&#10;Description automatically generated">
            <a:extLst>
              <a:ext uri="{FF2B5EF4-FFF2-40B4-BE49-F238E27FC236}">
                <a16:creationId xmlns:a16="http://schemas.microsoft.com/office/drawing/2014/main" id="{D9301C04-BB46-43EF-3CF2-2622D986F932}"/>
              </a:ext>
            </a:extLst>
          </p:cNvPr>
          <p:cNvPicPr>
            <a:picLocks noChangeAspect="1"/>
          </p:cNvPicPr>
          <p:nvPr/>
        </p:nvPicPr>
        <p:blipFill>
          <a:blip r:embed="rId2"/>
          <a:stretch>
            <a:fillRect/>
          </a:stretch>
        </p:blipFill>
        <p:spPr>
          <a:xfrm>
            <a:off x="1504034" y="800100"/>
            <a:ext cx="9183932" cy="5257801"/>
          </a:xfrm>
          <a:prstGeom prst="rect">
            <a:avLst/>
          </a:prstGeom>
        </p:spPr>
      </p:pic>
    </p:spTree>
    <p:extLst>
      <p:ext uri="{BB962C8B-B14F-4D97-AF65-F5344CB8AC3E}">
        <p14:creationId xmlns:p14="http://schemas.microsoft.com/office/powerpoint/2010/main" val="293575614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Picture 1" descr="Data Engineer vs Data Scientist: Roles and Responsibilities - Jelvix">
            <a:extLst>
              <a:ext uri="{FF2B5EF4-FFF2-40B4-BE49-F238E27FC236}">
                <a16:creationId xmlns:a16="http://schemas.microsoft.com/office/drawing/2014/main" id="{96DCAC4F-B074-87E0-4EA6-FF9E8A0233A0}"/>
              </a:ext>
            </a:extLst>
          </p:cNvPr>
          <p:cNvPicPr>
            <a:picLocks noChangeAspect="1"/>
          </p:cNvPicPr>
          <p:nvPr/>
        </p:nvPicPr>
        <p:blipFill>
          <a:blip r:embed="rId2"/>
          <a:stretch>
            <a:fillRect/>
          </a:stretch>
        </p:blipFill>
        <p:spPr>
          <a:xfrm>
            <a:off x="1094470" y="1639525"/>
            <a:ext cx="5675291" cy="3332590"/>
          </a:xfrm>
          <a:prstGeom prst="rect">
            <a:avLst/>
          </a:prstGeom>
        </p:spPr>
      </p:pic>
      <p:pic>
        <p:nvPicPr>
          <p:cNvPr id="3" name="Picture 2" descr="A group of icons of people and computers&#10;&#10;Description automatically generated">
            <a:extLst>
              <a:ext uri="{FF2B5EF4-FFF2-40B4-BE49-F238E27FC236}">
                <a16:creationId xmlns:a16="http://schemas.microsoft.com/office/drawing/2014/main" id="{1D210B30-7285-89C1-356A-B02FE8735402}"/>
              </a:ext>
            </a:extLst>
          </p:cNvPr>
          <p:cNvPicPr>
            <a:picLocks noChangeAspect="1"/>
          </p:cNvPicPr>
          <p:nvPr/>
        </p:nvPicPr>
        <p:blipFill>
          <a:blip r:embed="rId3"/>
          <a:stretch>
            <a:fillRect/>
          </a:stretch>
        </p:blipFill>
        <p:spPr>
          <a:xfrm>
            <a:off x="6128934" y="1638185"/>
            <a:ext cx="4405288" cy="3414098"/>
          </a:xfrm>
          <a:prstGeom prst="rect">
            <a:avLst/>
          </a:prstGeom>
        </p:spPr>
      </p:pic>
    </p:spTree>
    <p:extLst>
      <p:ext uri="{BB962C8B-B14F-4D97-AF65-F5344CB8AC3E}">
        <p14:creationId xmlns:p14="http://schemas.microsoft.com/office/powerpoint/2010/main" val="119453809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69805AF4-7989-43AB-9A60-14E3F851FB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6044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0036B63-B0EC-4AF3-95D3-2E2DCA25F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pyramid of needs with text&#10;&#10;Description automatically generated">
            <a:extLst>
              <a:ext uri="{FF2B5EF4-FFF2-40B4-BE49-F238E27FC236}">
                <a16:creationId xmlns:a16="http://schemas.microsoft.com/office/drawing/2014/main" id="{B91D3261-39DB-EA5B-6589-6A72A90F5C5C}"/>
              </a:ext>
            </a:extLst>
          </p:cNvPr>
          <p:cNvPicPr>
            <a:picLocks noChangeAspect="1"/>
          </p:cNvPicPr>
          <p:nvPr/>
        </p:nvPicPr>
        <p:blipFill>
          <a:blip r:embed="rId2"/>
          <a:stretch>
            <a:fillRect/>
          </a:stretch>
        </p:blipFill>
        <p:spPr>
          <a:xfrm>
            <a:off x="1337810" y="800100"/>
            <a:ext cx="9516381" cy="5257801"/>
          </a:xfrm>
          <a:prstGeom prst="rect">
            <a:avLst/>
          </a:prstGeom>
        </p:spPr>
      </p:pic>
    </p:spTree>
    <p:extLst>
      <p:ext uri="{BB962C8B-B14F-4D97-AF65-F5344CB8AC3E}">
        <p14:creationId xmlns:p14="http://schemas.microsoft.com/office/powerpoint/2010/main" val="282303296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69805AF4-7989-43AB-9A60-14E3F851FB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0036B63-B0EC-4AF3-95D3-2E2DCA25F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pyramid&#10;&#10;Description automatically generated">
            <a:extLst>
              <a:ext uri="{FF2B5EF4-FFF2-40B4-BE49-F238E27FC236}">
                <a16:creationId xmlns:a16="http://schemas.microsoft.com/office/drawing/2014/main" id="{B63DDBAD-0BA6-BA9C-9A0C-C498CFEE3B16}"/>
              </a:ext>
            </a:extLst>
          </p:cNvPr>
          <p:cNvPicPr>
            <a:picLocks noChangeAspect="1"/>
          </p:cNvPicPr>
          <p:nvPr/>
        </p:nvPicPr>
        <p:blipFill>
          <a:blip r:embed="rId2"/>
          <a:stretch>
            <a:fillRect/>
          </a:stretch>
        </p:blipFill>
        <p:spPr>
          <a:xfrm>
            <a:off x="1732680" y="800100"/>
            <a:ext cx="8726640" cy="5257801"/>
          </a:xfrm>
          <a:prstGeom prst="rect">
            <a:avLst/>
          </a:prstGeom>
        </p:spPr>
      </p:pic>
    </p:spTree>
    <p:extLst>
      <p:ext uri="{BB962C8B-B14F-4D97-AF65-F5344CB8AC3E}">
        <p14:creationId xmlns:p14="http://schemas.microsoft.com/office/powerpoint/2010/main" val="29947188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Picture 1" descr="Primary Purpose: To provide apprenticeship, certificate, technical ...">
            <a:extLst>
              <a:ext uri="{FF2B5EF4-FFF2-40B4-BE49-F238E27FC236}">
                <a16:creationId xmlns:a16="http://schemas.microsoft.com/office/drawing/2014/main" id="{60B7E336-2441-C572-51A2-82FF6308B739}"/>
              </a:ext>
            </a:extLst>
          </p:cNvPr>
          <p:cNvPicPr>
            <a:picLocks noChangeAspect="1"/>
          </p:cNvPicPr>
          <p:nvPr/>
        </p:nvPicPr>
        <p:blipFill>
          <a:blip r:embed="rId2"/>
          <a:stretch>
            <a:fillRect/>
          </a:stretch>
        </p:blipFill>
        <p:spPr>
          <a:xfrm>
            <a:off x="783286" y="1237506"/>
            <a:ext cx="10625429" cy="4382988"/>
          </a:xfrm>
          <a:prstGeom prst="rect">
            <a:avLst/>
          </a:prstGeom>
        </p:spPr>
      </p:pic>
      <p:sp>
        <p:nvSpPr>
          <p:cNvPr id="3" name="TextBox 2">
            <a:extLst>
              <a:ext uri="{FF2B5EF4-FFF2-40B4-BE49-F238E27FC236}">
                <a16:creationId xmlns:a16="http://schemas.microsoft.com/office/drawing/2014/main" id="{E3DAA5A0-C2EC-7C46-46A8-C44EFA1A2C2A}"/>
              </a:ext>
            </a:extLst>
          </p:cNvPr>
          <p:cNvSpPr txBox="1"/>
          <p:nvPr/>
        </p:nvSpPr>
        <p:spPr>
          <a:xfrm>
            <a:off x="8665780" y="581922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hlinkClick r:id="rId3"/>
              </a:rPr>
              <a:t>Source - Data Scientist vs DataAnalyst vs Data Engineer: Scope and Opportunities</a:t>
            </a:r>
            <a:endParaRPr lang="en-US" sz="900"/>
          </a:p>
        </p:txBody>
      </p:sp>
    </p:spTree>
    <p:extLst>
      <p:ext uri="{BB962C8B-B14F-4D97-AF65-F5344CB8AC3E}">
        <p14:creationId xmlns:p14="http://schemas.microsoft.com/office/powerpoint/2010/main" val="205836052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F79084-E805-48DA-8EAC-CD5FD493EE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AFD2B662-BB28-4E9C-B74D-059260147BF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white background with black text&#10;&#10;Description automatically generated">
            <a:extLst>
              <a:ext uri="{FF2B5EF4-FFF2-40B4-BE49-F238E27FC236}">
                <a16:creationId xmlns:a16="http://schemas.microsoft.com/office/drawing/2014/main" id="{9D52E1C7-A352-4422-B15D-C6E3D1ABC7BF}"/>
              </a:ext>
            </a:extLst>
          </p:cNvPr>
          <p:cNvPicPr>
            <a:picLocks noChangeAspect="1"/>
          </p:cNvPicPr>
          <p:nvPr/>
        </p:nvPicPr>
        <p:blipFill>
          <a:blip r:embed="rId2"/>
          <a:srcRect r="10935" b="-1"/>
          <a:stretch/>
        </p:blipFill>
        <p:spPr>
          <a:xfrm>
            <a:off x="643467" y="643467"/>
            <a:ext cx="10905066" cy="5571066"/>
          </a:xfrm>
          <a:prstGeom prst="rect">
            <a:avLst/>
          </a:prstGeom>
        </p:spPr>
      </p:pic>
      <p:sp>
        <p:nvSpPr>
          <p:cNvPr id="11" name="Rectangle 10">
            <a:extLst>
              <a:ext uri="{FF2B5EF4-FFF2-40B4-BE49-F238E27FC236}">
                <a16:creationId xmlns:a16="http://schemas.microsoft.com/office/drawing/2014/main" id="{461FDAFA-FD09-4608-9315-99BFF55288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353392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A643C-25DB-7126-6AA3-06DC607DF882}"/>
              </a:ext>
            </a:extLst>
          </p:cNvPr>
          <p:cNvSpPr>
            <a:spLocks noGrp="1"/>
          </p:cNvSpPr>
          <p:nvPr>
            <p:ph type="title"/>
          </p:nvPr>
        </p:nvSpPr>
        <p:spPr/>
        <p:txBody>
          <a:bodyPr/>
          <a:lstStyle/>
          <a:p>
            <a:r>
              <a:rPr lang="en-US" dirty="0"/>
              <a:t>What is Power BI?</a:t>
            </a:r>
          </a:p>
        </p:txBody>
      </p:sp>
      <p:graphicFrame>
        <p:nvGraphicFramePr>
          <p:cNvPr id="5" name="Content Placeholder 2">
            <a:extLst>
              <a:ext uri="{FF2B5EF4-FFF2-40B4-BE49-F238E27FC236}">
                <a16:creationId xmlns:a16="http://schemas.microsoft.com/office/drawing/2014/main" id="{DFD8C8B8-FD46-2491-C780-19B52474C810}"/>
              </a:ext>
            </a:extLst>
          </p:cNvPr>
          <p:cNvGraphicFramePr>
            <a:graphicFrameLocks noGrp="1"/>
          </p:cNvGraphicFramePr>
          <p:nvPr>
            <p:ph idx="1"/>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781613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FF48-0AD4-C343-C707-5E15A0837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C31E-713F-B39F-83D5-B66C2199B305}"/>
              </a:ext>
            </a:extLst>
          </p:cNvPr>
          <p:cNvSpPr>
            <a:spLocks noGrp="1"/>
          </p:cNvSpPr>
          <p:nvPr>
            <p:ph type="title"/>
          </p:nvPr>
        </p:nvSpPr>
        <p:spPr/>
        <p:txBody>
          <a:bodyPr/>
          <a:lstStyle/>
          <a:p>
            <a:r>
              <a:rPr lang="en-US" dirty="0"/>
              <a:t>Power BI Architecture</a:t>
            </a:r>
          </a:p>
        </p:txBody>
      </p:sp>
      <p:pic>
        <p:nvPicPr>
          <p:cNvPr id="7" name="Content Placeholder 6">
            <a:extLst>
              <a:ext uri="{FF2B5EF4-FFF2-40B4-BE49-F238E27FC236}">
                <a16:creationId xmlns:a16="http://schemas.microsoft.com/office/drawing/2014/main" id="{19D19E59-E1FF-E371-B7DE-02A92EFEBF2A}"/>
              </a:ext>
            </a:extLst>
          </p:cNvPr>
          <p:cNvPicPr>
            <a:picLocks noGrp="1" noChangeAspect="1"/>
          </p:cNvPicPr>
          <p:nvPr>
            <p:ph idx="1"/>
          </p:nvPr>
        </p:nvPicPr>
        <p:blipFill>
          <a:blip r:embed="rId2"/>
          <a:stretch>
            <a:fillRect/>
          </a:stretch>
        </p:blipFill>
        <p:spPr>
          <a:xfrm>
            <a:off x="1484053" y="1073888"/>
            <a:ext cx="9223893" cy="5592726"/>
          </a:xfrm>
        </p:spPr>
      </p:pic>
    </p:spTree>
    <p:extLst>
      <p:ext uri="{BB962C8B-B14F-4D97-AF65-F5344CB8AC3E}">
        <p14:creationId xmlns:p14="http://schemas.microsoft.com/office/powerpoint/2010/main" val="235425532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6EC888-B85F-410F-B430-06583E94BE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9485DA84-CB73-4E5E-9864-2460CE2805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49185E-361A-421B-8F2D-11C7FFC686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B85BAA-C37F-44B4-B427-B4F10EBB418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26240" y="-4668"/>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DC4EE06-D7B4-4FAC-A561-38A1C380232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94325"/>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018D83B-903C-4782-B1BB-A45164A71F6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26240" y="6494325"/>
            <a:ext cx="365760" cy="365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785589A-A5AC-409A-B2A2-24D871B4CE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867" y="158782"/>
            <a:ext cx="11870265" cy="65378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Description automatically generated">
            <a:extLst>
              <a:ext uri="{FF2B5EF4-FFF2-40B4-BE49-F238E27FC236}">
                <a16:creationId xmlns:a16="http://schemas.microsoft.com/office/drawing/2014/main" id="{55B63142-8DEC-677D-05E7-EC0F2E33F301}"/>
              </a:ext>
            </a:extLst>
          </p:cNvPr>
          <p:cNvPicPr>
            <a:picLocks noChangeAspect="1"/>
          </p:cNvPicPr>
          <p:nvPr/>
        </p:nvPicPr>
        <p:blipFill>
          <a:blip r:embed="rId2"/>
          <a:stretch>
            <a:fillRect/>
          </a:stretch>
        </p:blipFill>
        <p:spPr>
          <a:xfrm>
            <a:off x="927315" y="480515"/>
            <a:ext cx="10337368" cy="5892302"/>
          </a:xfrm>
          <a:prstGeom prst="rect">
            <a:avLst/>
          </a:prstGeom>
        </p:spPr>
      </p:pic>
    </p:spTree>
    <p:extLst>
      <p:ext uri="{BB962C8B-B14F-4D97-AF65-F5344CB8AC3E}">
        <p14:creationId xmlns:p14="http://schemas.microsoft.com/office/powerpoint/2010/main" val="276250687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A154-53FE-8280-404A-DA6B7C771E32}"/>
              </a:ext>
            </a:extLst>
          </p:cNvPr>
          <p:cNvSpPr>
            <a:spLocks noGrp="1"/>
          </p:cNvSpPr>
          <p:nvPr>
            <p:ph type="title"/>
          </p:nvPr>
        </p:nvSpPr>
        <p:spPr>
          <a:xfrm>
            <a:off x="1287864" y="233624"/>
            <a:ext cx="9601200" cy="1485900"/>
          </a:xfrm>
        </p:spPr>
        <p:txBody>
          <a:bodyPr/>
          <a:lstStyle/>
          <a:p>
            <a:r>
              <a:rPr lang="en-US" dirty="0"/>
              <a:t>ETL vs ELT</a:t>
            </a:r>
          </a:p>
        </p:txBody>
      </p:sp>
      <p:graphicFrame>
        <p:nvGraphicFramePr>
          <p:cNvPr id="5" name="Table 4">
            <a:extLst>
              <a:ext uri="{FF2B5EF4-FFF2-40B4-BE49-F238E27FC236}">
                <a16:creationId xmlns:a16="http://schemas.microsoft.com/office/drawing/2014/main" id="{CD487843-F46C-4267-2704-F9589C74C2A4}"/>
              </a:ext>
            </a:extLst>
          </p:cNvPr>
          <p:cNvGraphicFramePr>
            <a:graphicFrameLocks noGrp="1"/>
          </p:cNvGraphicFramePr>
          <p:nvPr/>
        </p:nvGraphicFramePr>
        <p:xfrm>
          <a:off x="1289538" y="1314660"/>
          <a:ext cx="10119832" cy="5543472"/>
        </p:xfrm>
        <a:graphic>
          <a:graphicData uri="http://schemas.openxmlformats.org/drawingml/2006/table">
            <a:tbl>
              <a:tblPr bandRow="1">
                <a:tableStyleId>{21E4AEA4-8DFA-4A89-87EB-49C32662AFE0}</a:tableStyleId>
              </a:tblPr>
              <a:tblGrid>
                <a:gridCol w="2355082">
                  <a:extLst>
                    <a:ext uri="{9D8B030D-6E8A-4147-A177-3AD203B41FA5}">
                      <a16:colId xmlns:a16="http://schemas.microsoft.com/office/drawing/2014/main" val="2529750823"/>
                    </a:ext>
                  </a:extLst>
                </a:gridCol>
                <a:gridCol w="3600655">
                  <a:extLst>
                    <a:ext uri="{9D8B030D-6E8A-4147-A177-3AD203B41FA5}">
                      <a16:colId xmlns:a16="http://schemas.microsoft.com/office/drawing/2014/main" val="3213232761"/>
                    </a:ext>
                  </a:extLst>
                </a:gridCol>
                <a:gridCol w="4164095">
                  <a:extLst>
                    <a:ext uri="{9D8B030D-6E8A-4147-A177-3AD203B41FA5}">
                      <a16:colId xmlns:a16="http://schemas.microsoft.com/office/drawing/2014/main" val="1957308285"/>
                    </a:ext>
                  </a:extLst>
                </a:gridCol>
              </a:tblGrid>
              <a:tr h="318068">
                <a:tc>
                  <a:txBody>
                    <a:bodyPr/>
                    <a:lstStyle/>
                    <a:p>
                      <a:r>
                        <a:rPr lang="en-US" sz="1400" dirty="0"/>
                        <a:t>Aspect</a:t>
                      </a:r>
                    </a:p>
                  </a:txBody>
                  <a:tcPr anchor="ctr"/>
                </a:tc>
                <a:tc>
                  <a:txBody>
                    <a:bodyPr/>
                    <a:lstStyle/>
                    <a:p>
                      <a:r>
                        <a:rPr lang="en-US" sz="1400" dirty="0"/>
                        <a:t>ETL (Extract, Transform, Load)</a:t>
                      </a:r>
                    </a:p>
                  </a:txBody>
                  <a:tcPr anchor="ctr"/>
                </a:tc>
                <a:tc>
                  <a:txBody>
                    <a:bodyPr/>
                    <a:lstStyle/>
                    <a:p>
                      <a:r>
                        <a:rPr lang="en-US" sz="1400" dirty="0"/>
                        <a:t>ELT (Extract, Load, Transform)</a:t>
                      </a:r>
                    </a:p>
                  </a:txBody>
                  <a:tcPr anchor="ctr"/>
                </a:tc>
                <a:extLst>
                  <a:ext uri="{0D108BD9-81ED-4DB2-BD59-A6C34878D82A}">
                    <a16:rowId xmlns:a16="http://schemas.microsoft.com/office/drawing/2014/main" val="3703014541"/>
                  </a:ext>
                </a:extLst>
              </a:tr>
              <a:tr h="318068">
                <a:tc>
                  <a:txBody>
                    <a:bodyPr/>
                    <a:lstStyle/>
                    <a:p>
                      <a:r>
                        <a:rPr lang="en-US" sz="1400" dirty="0"/>
                        <a:t>Process Flow</a:t>
                      </a:r>
                    </a:p>
                  </a:txBody>
                  <a:tcPr anchor="ctr"/>
                </a:tc>
                <a:tc>
                  <a:txBody>
                    <a:bodyPr/>
                    <a:lstStyle/>
                    <a:p>
                      <a:r>
                        <a:rPr lang="en-US" sz="1400" dirty="0"/>
                        <a:t>Extract → Transform → Load</a:t>
                      </a:r>
                    </a:p>
                  </a:txBody>
                  <a:tcPr anchor="ctr"/>
                </a:tc>
                <a:tc>
                  <a:txBody>
                    <a:bodyPr/>
                    <a:lstStyle/>
                    <a:p>
                      <a:r>
                        <a:rPr lang="en-US" sz="1400" dirty="0"/>
                        <a:t>Extract → Load → Transform</a:t>
                      </a:r>
                    </a:p>
                  </a:txBody>
                  <a:tcPr anchor="ctr"/>
                </a:tc>
                <a:extLst>
                  <a:ext uri="{0D108BD9-81ED-4DB2-BD59-A6C34878D82A}">
                    <a16:rowId xmlns:a16="http://schemas.microsoft.com/office/drawing/2014/main" val="3493436821"/>
                  </a:ext>
                </a:extLst>
              </a:tr>
              <a:tr h="554347">
                <a:tc>
                  <a:txBody>
                    <a:bodyPr/>
                    <a:lstStyle/>
                    <a:p>
                      <a:r>
                        <a:rPr lang="en-US" sz="1400" dirty="0"/>
                        <a:t>Transformation Timing</a:t>
                      </a:r>
                    </a:p>
                  </a:txBody>
                  <a:tcPr anchor="ctr"/>
                </a:tc>
                <a:tc>
                  <a:txBody>
                    <a:bodyPr/>
                    <a:lstStyle/>
                    <a:p>
                      <a:r>
                        <a:rPr lang="en-US" sz="1400" dirty="0"/>
                        <a:t>Data is transformed before loading into the warehouse</a:t>
                      </a:r>
                    </a:p>
                  </a:txBody>
                  <a:tcPr anchor="ctr"/>
                </a:tc>
                <a:tc>
                  <a:txBody>
                    <a:bodyPr/>
                    <a:lstStyle/>
                    <a:p>
                      <a:r>
                        <a:rPr lang="en-US" sz="1400" dirty="0"/>
                        <a:t>Data is transformed after loading into the warehouse</a:t>
                      </a:r>
                    </a:p>
                  </a:txBody>
                  <a:tcPr anchor="ctr"/>
                </a:tc>
                <a:extLst>
                  <a:ext uri="{0D108BD9-81ED-4DB2-BD59-A6C34878D82A}">
                    <a16:rowId xmlns:a16="http://schemas.microsoft.com/office/drawing/2014/main" val="598819422"/>
                  </a:ext>
                </a:extLst>
              </a:tr>
              <a:tr h="554347">
                <a:tc>
                  <a:txBody>
                    <a:bodyPr/>
                    <a:lstStyle/>
                    <a:p>
                      <a:r>
                        <a:rPr lang="en-US" sz="1400" dirty="0"/>
                        <a:t>Use Cases</a:t>
                      </a:r>
                    </a:p>
                  </a:txBody>
                  <a:tcPr anchor="ctr"/>
                </a:tc>
                <a:tc>
                  <a:txBody>
                    <a:bodyPr/>
                    <a:lstStyle/>
                    <a:p>
                      <a:r>
                        <a:rPr lang="en-US" sz="1400" dirty="0"/>
                        <a:t>Ideal for complex transformations and data consistency</a:t>
                      </a:r>
                    </a:p>
                  </a:txBody>
                  <a:tcPr anchor="ctr"/>
                </a:tc>
                <a:tc>
                  <a:txBody>
                    <a:bodyPr/>
                    <a:lstStyle/>
                    <a:p>
                      <a:r>
                        <a:rPr lang="en-US" sz="1400" dirty="0"/>
                        <a:t>Suitable for flexible, large datasets and cloud environments</a:t>
                      </a:r>
                    </a:p>
                  </a:txBody>
                  <a:tcPr anchor="ctr"/>
                </a:tc>
                <a:extLst>
                  <a:ext uri="{0D108BD9-81ED-4DB2-BD59-A6C34878D82A}">
                    <a16:rowId xmlns:a16="http://schemas.microsoft.com/office/drawing/2014/main" val="71816558"/>
                  </a:ext>
                </a:extLst>
              </a:tr>
              <a:tr h="554347">
                <a:tc>
                  <a:txBody>
                    <a:bodyPr/>
                    <a:lstStyle/>
                    <a:p>
                      <a:r>
                        <a:rPr lang="en-US" sz="1400" dirty="0"/>
                        <a:t>Data Security</a:t>
                      </a:r>
                    </a:p>
                  </a:txBody>
                  <a:tcPr anchor="ctr"/>
                </a:tc>
                <a:tc>
                  <a:txBody>
                    <a:bodyPr/>
                    <a:lstStyle/>
                    <a:p>
                      <a:r>
                        <a:rPr lang="en-US" sz="1400" dirty="0"/>
                        <a:t>Ensures security by transforming before loading</a:t>
                      </a:r>
                    </a:p>
                  </a:txBody>
                  <a:tcPr anchor="ctr"/>
                </a:tc>
                <a:tc>
                  <a:txBody>
                    <a:bodyPr/>
                    <a:lstStyle/>
                    <a:p>
                      <a:r>
                        <a:rPr lang="en-US" sz="1400" dirty="0"/>
                        <a:t>Less secure as raw data is loaded before transformation</a:t>
                      </a:r>
                    </a:p>
                  </a:txBody>
                  <a:tcPr anchor="ctr"/>
                </a:tc>
                <a:extLst>
                  <a:ext uri="{0D108BD9-81ED-4DB2-BD59-A6C34878D82A}">
                    <a16:rowId xmlns:a16="http://schemas.microsoft.com/office/drawing/2014/main" val="2771009007"/>
                  </a:ext>
                </a:extLst>
              </a:tr>
              <a:tr h="790627">
                <a:tc>
                  <a:txBody>
                    <a:bodyPr/>
                    <a:lstStyle/>
                    <a:p>
                      <a:r>
                        <a:rPr lang="en-US" sz="1400" dirty="0"/>
                        <a:t>Efficiency</a:t>
                      </a:r>
                    </a:p>
                  </a:txBody>
                  <a:tcPr anchor="ctr"/>
                </a:tc>
                <a:tc>
                  <a:txBody>
                    <a:bodyPr/>
                    <a:lstStyle/>
                    <a:p>
                      <a:r>
                        <a:rPr lang="en-US" sz="1400" dirty="0"/>
                        <a:t>Slower due to more data movement before loading</a:t>
                      </a:r>
                    </a:p>
                  </a:txBody>
                  <a:tcPr anchor="ctr"/>
                </a:tc>
                <a:tc>
                  <a:txBody>
                    <a:bodyPr/>
                    <a:lstStyle/>
                    <a:p>
                      <a:r>
                        <a:rPr lang="en-US" sz="1400" dirty="0"/>
                        <a:t>Faster due to reduced data movement and use of cloud processing</a:t>
                      </a:r>
                    </a:p>
                  </a:txBody>
                  <a:tcPr anchor="ctr"/>
                </a:tc>
                <a:extLst>
                  <a:ext uri="{0D108BD9-81ED-4DB2-BD59-A6C34878D82A}">
                    <a16:rowId xmlns:a16="http://schemas.microsoft.com/office/drawing/2014/main" val="1158551184"/>
                  </a:ext>
                </a:extLst>
              </a:tr>
              <a:tr h="554347">
                <a:tc>
                  <a:txBody>
                    <a:bodyPr/>
                    <a:lstStyle/>
                    <a:p>
                      <a:r>
                        <a:rPr lang="en-US" sz="1400" dirty="0"/>
                        <a:t>Scalability</a:t>
                      </a:r>
                    </a:p>
                  </a:txBody>
                  <a:tcPr anchor="ctr"/>
                </a:tc>
                <a:tc>
                  <a:txBody>
                    <a:bodyPr/>
                    <a:lstStyle/>
                    <a:p>
                      <a:r>
                        <a:rPr lang="en-US" sz="1400" dirty="0"/>
                        <a:t>Less scalable for large datasets</a:t>
                      </a:r>
                    </a:p>
                  </a:txBody>
                  <a:tcPr anchor="ctr"/>
                </a:tc>
                <a:tc>
                  <a:txBody>
                    <a:bodyPr/>
                    <a:lstStyle/>
                    <a:p>
                      <a:r>
                        <a:rPr lang="en-US" sz="1400" dirty="0"/>
                        <a:t>More scalable, leveraging cloud parallel processing capabilities</a:t>
                      </a:r>
                    </a:p>
                  </a:txBody>
                  <a:tcPr anchor="ctr"/>
                </a:tc>
                <a:extLst>
                  <a:ext uri="{0D108BD9-81ED-4DB2-BD59-A6C34878D82A}">
                    <a16:rowId xmlns:a16="http://schemas.microsoft.com/office/drawing/2014/main" val="3791850042"/>
                  </a:ext>
                </a:extLst>
              </a:tr>
              <a:tr h="790627">
                <a:tc>
                  <a:txBody>
                    <a:bodyPr/>
                    <a:lstStyle/>
                    <a:p>
                      <a:r>
                        <a:rPr lang="en-US" sz="1400" dirty="0"/>
                        <a:t>Flexibility</a:t>
                      </a:r>
                    </a:p>
                  </a:txBody>
                  <a:tcPr anchor="ctr"/>
                </a:tc>
                <a:tc>
                  <a:txBody>
                    <a:bodyPr/>
                    <a:lstStyle/>
                    <a:p>
                      <a:r>
                        <a:rPr lang="en-US" sz="1400" dirty="0"/>
                        <a:t>Less flexible, as transformations are done upfront</a:t>
                      </a:r>
                    </a:p>
                  </a:txBody>
                  <a:tcPr anchor="ctr"/>
                </a:tc>
                <a:tc>
                  <a:txBody>
                    <a:bodyPr/>
                    <a:lstStyle/>
                    <a:p>
                      <a:r>
                        <a:rPr lang="en-US" sz="1400" dirty="0"/>
                        <a:t>More flexible, allows delayed decision-making on transformation logic</a:t>
                      </a:r>
                    </a:p>
                  </a:txBody>
                  <a:tcPr anchor="ctr"/>
                </a:tc>
                <a:extLst>
                  <a:ext uri="{0D108BD9-81ED-4DB2-BD59-A6C34878D82A}">
                    <a16:rowId xmlns:a16="http://schemas.microsoft.com/office/drawing/2014/main" val="1201173754"/>
                  </a:ext>
                </a:extLst>
              </a:tr>
              <a:tr h="554347">
                <a:tc>
                  <a:txBody>
                    <a:bodyPr/>
                    <a:lstStyle/>
                    <a:p>
                      <a:r>
                        <a:rPr lang="en-US" sz="1400" dirty="0"/>
                        <a:t>Compliance and Control</a:t>
                      </a:r>
                    </a:p>
                  </a:txBody>
                  <a:tcPr anchor="ctr"/>
                </a:tc>
                <a:tc>
                  <a:txBody>
                    <a:bodyPr/>
                    <a:lstStyle/>
                    <a:p>
                      <a:r>
                        <a:rPr lang="en-US" sz="1400" dirty="0"/>
                        <a:t>Provides more control over data transformation for compliance</a:t>
                      </a:r>
                    </a:p>
                  </a:txBody>
                  <a:tcPr anchor="ctr"/>
                </a:tc>
                <a:tc>
                  <a:txBody>
                    <a:bodyPr/>
                    <a:lstStyle/>
                    <a:p>
                      <a:r>
                        <a:rPr lang="en-US" sz="1400" dirty="0"/>
                        <a:t>May not offer as granular control, may be challenging for compliance</a:t>
                      </a:r>
                    </a:p>
                  </a:txBody>
                  <a:tcPr anchor="ctr"/>
                </a:tc>
                <a:extLst>
                  <a:ext uri="{0D108BD9-81ED-4DB2-BD59-A6C34878D82A}">
                    <a16:rowId xmlns:a16="http://schemas.microsoft.com/office/drawing/2014/main" val="3239099046"/>
                  </a:ext>
                </a:extLst>
              </a:tr>
              <a:tr h="554347">
                <a:tc>
                  <a:txBody>
                    <a:bodyPr/>
                    <a:lstStyle/>
                    <a:p>
                      <a:r>
                        <a:rPr lang="en-US" sz="1400" dirty="0"/>
                        <a:t>Best For</a:t>
                      </a:r>
                    </a:p>
                  </a:txBody>
                  <a:tcPr anchor="ctr"/>
                </a:tc>
                <a:tc>
                  <a:txBody>
                    <a:bodyPr/>
                    <a:lstStyle/>
                    <a:p>
                      <a:r>
                        <a:rPr lang="en-US" sz="1400" dirty="0"/>
                        <a:t>Complex data transformations, data consistency, and security</a:t>
                      </a:r>
                    </a:p>
                  </a:txBody>
                  <a:tcPr anchor="ctr"/>
                </a:tc>
                <a:tc>
                  <a:txBody>
                    <a:bodyPr/>
                    <a:lstStyle/>
                    <a:p>
                      <a:r>
                        <a:rPr lang="en-US" sz="1400" dirty="0"/>
                        <a:t>Large datasets, real-time or batch processing, and cloud platforms</a:t>
                      </a:r>
                    </a:p>
                  </a:txBody>
                  <a:tcPr anchor="ctr"/>
                </a:tc>
                <a:extLst>
                  <a:ext uri="{0D108BD9-81ED-4DB2-BD59-A6C34878D82A}">
                    <a16:rowId xmlns:a16="http://schemas.microsoft.com/office/drawing/2014/main" val="2354638400"/>
                  </a:ext>
                </a:extLst>
              </a:tr>
            </a:tbl>
          </a:graphicData>
        </a:graphic>
      </p:graphicFrame>
    </p:spTree>
    <p:extLst>
      <p:ext uri="{BB962C8B-B14F-4D97-AF65-F5344CB8AC3E}">
        <p14:creationId xmlns:p14="http://schemas.microsoft.com/office/powerpoint/2010/main" val="11556924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03A3D-7106-6093-30A5-67BB6E87D689}"/>
              </a:ext>
            </a:extLst>
          </p:cNvPr>
          <p:cNvSpPr>
            <a:spLocks noGrp="1"/>
          </p:cNvSpPr>
          <p:nvPr>
            <p:ph type="title"/>
          </p:nvPr>
        </p:nvSpPr>
        <p:spPr>
          <a:xfrm>
            <a:off x="640080" y="639704"/>
            <a:ext cx="3299579" cy="5577840"/>
          </a:xfrm>
        </p:spPr>
        <p:txBody>
          <a:bodyPr anchor="ctr">
            <a:normAutofit/>
          </a:bodyPr>
          <a:lstStyle/>
          <a:p>
            <a:pPr algn="ctr"/>
            <a:r>
              <a:rPr lang="en-IN" dirty="0"/>
              <a:t>Features of Power BI</a:t>
            </a:r>
            <a:endParaRPr lang="en-IN"/>
          </a:p>
        </p:txBody>
      </p:sp>
      <p:graphicFrame>
        <p:nvGraphicFramePr>
          <p:cNvPr id="5" name="Content Placeholder 2">
            <a:extLst>
              <a:ext uri="{FF2B5EF4-FFF2-40B4-BE49-F238E27FC236}">
                <a16:creationId xmlns:a16="http://schemas.microsoft.com/office/drawing/2014/main" id="{DA995BE1-9793-A3CE-42B1-F61148CAA1CD}"/>
              </a:ext>
            </a:extLst>
          </p:cNvPr>
          <p:cNvGraphicFramePr>
            <a:graphicFrameLocks noGrp="1"/>
          </p:cNvGraphicFramePr>
          <p:nvPr>
            <p:ph idx="1"/>
          </p:nvPr>
        </p:nvGraphicFramePr>
        <p:xfrm>
          <a:off x="4901472" y="639705"/>
          <a:ext cx="6506304"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049049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DE1A-0E0F-E6EB-ED23-4B4BC58503DB}"/>
              </a:ext>
            </a:extLst>
          </p:cNvPr>
          <p:cNvSpPr>
            <a:spLocks noGrp="1"/>
          </p:cNvSpPr>
          <p:nvPr>
            <p:ph type="title"/>
          </p:nvPr>
        </p:nvSpPr>
        <p:spPr>
          <a:xfrm>
            <a:off x="640080" y="639704"/>
            <a:ext cx="3299579" cy="5577840"/>
          </a:xfrm>
        </p:spPr>
        <p:txBody>
          <a:bodyPr anchor="ctr">
            <a:normAutofit/>
          </a:bodyPr>
          <a:lstStyle/>
          <a:p>
            <a:pPr algn="ctr"/>
            <a:r>
              <a:rPr lang="en-IN"/>
              <a:t>Advanced Features of Power BI</a:t>
            </a:r>
          </a:p>
        </p:txBody>
      </p:sp>
      <p:graphicFrame>
        <p:nvGraphicFramePr>
          <p:cNvPr id="5" name="Content Placeholder 2">
            <a:extLst>
              <a:ext uri="{FF2B5EF4-FFF2-40B4-BE49-F238E27FC236}">
                <a16:creationId xmlns:a16="http://schemas.microsoft.com/office/drawing/2014/main" id="{A4288299-BA53-573A-5894-D45E9AAFDCC9}"/>
              </a:ext>
            </a:extLst>
          </p:cNvPr>
          <p:cNvGraphicFramePr>
            <a:graphicFrameLocks noGrp="1"/>
          </p:cNvGraphicFramePr>
          <p:nvPr>
            <p:ph idx="1"/>
          </p:nvPr>
        </p:nvGraphicFramePr>
        <p:xfrm>
          <a:off x="4901472" y="639705"/>
          <a:ext cx="6506304"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515659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61D8973-EAA9-459A-AF59-BBB4233D6C7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D08845-0138-C6BE-0560-C38DADE67682}"/>
              </a:ext>
            </a:extLst>
          </p:cNvPr>
          <p:cNvSpPr>
            <a:spLocks noGrp="1"/>
          </p:cNvSpPr>
          <p:nvPr>
            <p:ph type="title"/>
          </p:nvPr>
        </p:nvSpPr>
        <p:spPr>
          <a:xfrm>
            <a:off x="784743" y="685800"/>
            <a:ext cx="6136793" cy="1485900"/>
          </a:xfrm>
        </p:spPr>
        <p:txBody>
          <a:bodyPr>
            <a:normAutofit/>
          </a:bodyPr>
          <a:lstStyle/>
          <a:p>
            <a:r>
              <a:rPr lang="en-IN" dirty="0"/>
              <a:t>Components of Power BI</a:t>
            </a:r>
          </a:p>
        </p:txBody>
      </p:sp>
      <p:sp>
        <p:nvSpPr>
          <p:cNvPr id="3" name="Content Placeholder 2">
            <a:extLst>
              <a:ext uri="{FF2B5EF4-FFF2-40B4-BE49-F238E27FC236}">
                <a16:creationId xmlns:a16="http://schemas.microsoft.com/office/drawing/2014/main" id="{A0919CB2-F8F8-4665-D9F6-830F3E514E13}"/>
              </a:ext>
            </a:extLst>
          </p:cNvPr>
          <p:cNvSpPr>
            <a:spLocks noGrp="1"/>
          </p:cNvSpPr>
          <p:nvPr>
            <p:ph idx="1"/>
          </p:nvPr>
        </p:nvSpPr>
        <p:spPr>
          <a:xfrm>
            <a:off x="784743" y="2286000"/>
            <a:ext cx="5793475" cy="3581400"/>
          </a:xfrm>
        </p:spPr>
        <p:txBody>
          <a:bodyPr>
            <a:normAutofit/>
          </a:bodyPr>
          <a:lstStyle/>
          <a:p>
            <a:r>
              <a:rPr lang="en-US" sz="1600"/>
              <a:t>Power BI Desktop: A Windows-based application for creating reports and dashboards. It's the primary tool for data analysts to work with data, create visualizations, and develop reports.</a:t>
            </a:r>
          </a:p>
          <a:p>
            <a:r>
              <a:rPr lang="en-US" sz="1600"/>
              <a:t>Power BI Service: A cloud-based platform where users can publish, share, and collaborate on Power BI reports and dashboards.</a:t>
            </a:r>
          </a:p>
          <a:p>
            <a:r>
              <a:rPr lang="en-US" sz="1600"/>
              <a:t>Power BI Mobile: Mobile apps (iOS and Android) that allow users to view and interact with reports and dashboards on the go.</a:t>
            </a:r>
          </a:p>
          <a:p>
            <a:r>
              <a:rPr lang="en-US" sz="1600"/>
              <a:t>Power BI Report Server: An on-premises server for businesses that want to keep their BI solution within their infrastructure.</a:t>
            </a:r>
            <a:endParaRPr lang="en-IN" sz="1600"/>
          </a:p>
        </p:txBody>
      </p:sp>
      <p:sp>
        <p:nvSpPr>
          <p:cNvPr id="17" name="Rectangle 16">
            <a:extLst>
              <a:ext uri="{FF2B5EF4-FFF2-40B4-BE49-F238E27FC236}">
                <a16:creationId xmlns:a16="http://schemas.microsoft.com/office/drawing/2014/main" id="{FBEA8A33-C0D0-416D-8359-724B8828C7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descr="Digital financial graph">
            <a:extLst>
              <a:ext uri="{FF2B5EF4-FFF2-40B4-BE49-F238E27FC236}">
                <a16:creationId xmlns:a16="http://schemas.microsoft.com/office/drawing/2014/main" id="{3C3BC717-3251-D8F2-F02B-E24323185A02}"/>
              </a:ext>
            </a:extLst>
          </p:cNvPr>
          <p:cNvPicPr>
            <a:picLocks noChangeAspect="1"/>
          </p:cNvPicPr>
          <p:nvPr/>
        </p:nvPicPr>
        <p:blipFill>
          <a:blip r:embed="rId2"/>
          <a:srcRect l="35971" r="26466"/>
          <a:stretch/>
        </p:blipFill>
        <p:spPr>
          <a:xfrm>
            <a:off x="7612260" y="10"/>
            <a:ext cx="4579739" cy="6857990"/>
          </a:xfrm>
          <a:prstGeom prst="rect">
            <a:avLst/>
          </a:prstGeom>
        </p:spPr>
      </p:pic>
    </p:spTree>
    <p:extLst>
      <p:ext uri="{BB962C8B-B14F-4D97-AF65-F5344CB8AC3E}">
        <p14:creationId xmlns:p14="http://schemas.microsoft.com/office/powerpoint/2010/main" val="370196976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B083-B9C5-DC1A-C95D-5BA6D99BFF23}"/>
              </a:ext>
            </a:extLst>
          </p:cNvPr>
          <p:cNvSpPr>
            <a:spLocks noGrp="1"/>
          </p:cNvSpPr>
          <p:nvPr>
            <p:ph type="title"/>
          </p:nvPr>
        </p:nvSpPr>
        <p:spPr>
          <a:xfrm>
            <a:off x="5100824" y="685800"/>
            <a:ext cx="6176776" cy="1485900"/>
          </a:xfrm>
        </p:spPr>
        <p:txBody>
          <a:bodyPr>
            <a:normAutofit/>
          </a:bodyPr>
          <a:lstStyle/>
          <a:p>
            <a:r>
              <a:rPr lang="en-IN" dirty="0"/>
              <a:t>Benefits of Power BI</a:t>
            </a:r>
          </a:p>
        </p:txBody>
      </p:sp>
      <p:pic>
        <p:nvPicPr>
          <p:cNvPr id="5" name="Picture 4" descr="Blue and orange gradient with arrows">
            <a:extLst>
              <a:ext uri="{FF2B5EF4-FFF2-40B4-BE49-F238E27FC236}">
                <a16:creationId xmlns:a16="http://schemas.microsoft.com/office/drawing/2014/main" id="{1FB2F63A-3B10-309A-D6BE-C48A5DBF55ED}"/>
              </a:ext>
            </a:extLst>
          </p:cNvPr>
          <p:cNvPicPr>
            <a:picLocks noChangeAspect="1"/>
          </p:cNvPicPr>
          <p:nvPr/>
        </p:nvPicPr>
        <p:blipFill>
          <a:blip r:embed="rId2"/>
          <a:srcRect l="43899" r="17838"/>
          <a:stretch/>
        </p:blipFill>
        <p:spPr>
          <a:xfrm>
            <a:off x="-1" y="10"/>
            <a:ext cx="4373546" cy="6857990"/>
          </a:xfrm>
          <a:prstGeom prst="rect">
            <a:avLst/>
          </a:prstGeom>
        </p:spPr>
      </p:pic>
      <p:sp>
        <p:nvSpPr>
          <p:cNvPr id="3" name="Content Placeholder 2">
            <a:extLst>
              <a:ext uri="{FF2B5EF4-FFF2-40B4-BE49-F238E27FC236}">
                <a16:creationId xmlns:a16="http://schemas.microsoft.com/office/drawing/2014/main" id="{7E9607FA-6A18-E488-16CD-3AB60F82CF05}"/>
              </a:ext>
            </a:extLst>
          </p:cNvPr>
          <p:cNvSpPr>
            <a:spLocks noGrp="1"/>
          </p:cNvSpPr>
          <p:nvPr>
            <p:ph idx="1"/>
          </p:nvPr>
        </p:nvSpPr>
        <p:spPr>
          <a:xfrm>
            <a:off x="5100824" y="2286000"/>
            <a:ext cx="6176776" cy="3581400"/>
          </a:xfrm>
        </p:spPr>
        <p:txBody>
          <a:bodyPr>
            <a:normAutofit/>
          </a:bodyPr>
          <a:lstStyle/>
          <a:p>
            <a:r>
              <a:rPr lang="en-US" sz="1700"/>
              <a:t>User-Friendly Interface: Power BI has a relatively low learning curve, making it accessible to both technical and non-technical users.</a:t>
            </a:r>
          </a:p>
          <a:p>
            <a:r>
              <a:rPr lang="en-US" sz="1700"/>
              <a:t>Real-Time Data: With Power BI, users can access real-time data and insights, which is crucial for fast decision-making.</a:t>
            </a:r>
          </a:p>
          <a:p>
            <a:r>
              <a:rPr lang="en-US" sz="1700"/>
              <a:t>Cost-Effective: Power BI offers a free version with robust features and an affordable Pro version, making it accessible to a wide range of businesses, from small startups to large enterprises.</a:t>
            </a:r>
          </a:p>
          <a:p>
            <a:r>
              <a:rPr lang="en-US" sz="1700"/>
              <a:t>Scalability: Power BI can scale with your business, from individual reports to enterprise-wide solutions with complex data models.</a:t>
            </a:r>
            <a:endParaRPr lang="en-IN" sz="1700"/>
          </a:p>
        </p:txBody>
      </p:sp>
    </p:spTree>
    <p:extLst>
      <p:ext uri="{BB962C8B-B14F-4D97-AF65-F5344CB8AC3E}">
        <p14:creationId xmlns:p14="http://schemas.microsoft.com/office/powerpoint/2010/main" val="325198243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A72A4-6B3C-8F72-B986-3904BE4CE932}"/>
              </a:ext>
            </a:extLst>
          </p:cNvPr>
          <p:cNvSpPr>
            <a:spLocks noGrp="1"/>
          </p:cNvSpPr>
          <p:nvPr>
            <p:ph type="title"/>
          </p:nvPr>
        </p:nvSpPr>
        <p:spPr>
          <a:xfrm>
            <a:off x="784743" y="685800"/>
            <a:ext cx="5793475" cy="1485900"/>
          </a:xfrm>
        </p:spPr>
        <p:txBody>
          <a:bodyPr>
            <a:normAutofit/>
          </a:bodyPr>
          <a:lstStyle/>
          <a:p>
            <a:r>
              <a:rPr lang="en-US" dirty="0"/>
              <a:t>Use Cases for Power BI</a:t>
            </a:r>
            <a:endParaRPr lang="en-IN" dirty="0"/>
          </a:p>
        </p:txBody>
      </p:sp>
      <p:sp>
        <p:nvSpPr>
          <p:cNvPr id="3" name="Content Placeholder 2">
            <a:extLst>
              <a:ext uri="{FF2B5EF4-FFF2-40B4-BE49-F238E27FC236}">
                <a16:creationId xmlns:a16="http://schemas.microsoft.com/office/drawing/2014/main" id="{B04263A5-328B-79BE-A963-17D6E79C75F3}"/>
              </a:ext>
            </a:extLst>
          </p:cNvPr>
          <p:cNvSpPr>
            <a:spLocks noGrp="1"/>
          </p:cNvSpPr>
          <p:nvPr>
            <p:ph idx="1"/>
          </p:nvPr>
        </p:nvSpPr>
        <p:spPr>
          <a:xfrm>
            <a:off x="784743" y="2286000"/>
            <a:ext cx="5793475" cy="3581400"/>
          </a:xfrm>
        </p:spPr>
        <p:txBody>
          <a:bodyPr>
            <a:normAutofit/>
          </a:bodyPr>
          <a:lstStyle/>
          <a:p>
            <a:r>
              <a:rPr lang="en-US" sz="1900"/>
              <a:t>Business Intelligence: Analyzing sales, customer, and financial data to uncover trends and insights.</a:t>
            </a:r>
          </a:p>
          <a:p>
            <a:r>
              <a:rPr lang="en-US" sz="1900"/>
              <a:t>Performance Tracking: Creating key performance indicators (KPIs) to monitor business performance.</a:t>
            </a:r>
          </a:p>
          <a:p>
            <a:r>
              <a:rPr lang="en-US" sz="1900"/>
              <a:t>Market Analysis: Using Power BI’s integration with tools like Google Analytics to analyze web traffic and marketing performance.</a:t>
            </a:r>
          </a:p>
          <a:p>
            <a:r>
              <a:rPr lang="en-US" sz="1900"/>
              <a:t>Forecasting and Predictive Analytics: Leveraging built-in AI and forecasting capabilities to predict future trends based on historical data.</a:t>
            </a:r>
            <a:endParaRPr lang="en-IN" sz="1900"/>
          </a:p>
        </p:txBody>
      </p:sp>
      <p:pic>
        <p:nvPicPr>
          <p:cNvPr id="5" name="Picture 4" descr="Graph">
            <a:extLst>
              <a:ext uri="{FF2B5EF4-FFF2-40B4-BE49-F238E27FC236}">
                <a16:creationId xmlns:a16="http://schemas.microsoft.com/office/drawing/2014/main" id="{1E93B8A9-FB86-4BCF-A01B-AEFA6E7FA90C}"/>
              </a:ext>
            </a:extLst>
          </p:cNvPr>
          <p:cNvPicPr>
            <a:picLocks noChangeAspect="1"/>
          </p:cNvPicPr>
          <p:nvPr/>
        </p:nvPicPr>
        <p:blipFill>
          <a:blip r:embed="rId2"/>
          <a:srcRect l="23498" r="34764"/>
          <a:stretch/>
        </p:blipFill>
        <p:spPr>
          <a:xfrm>
            <a:off x="7612260" y="10"/>
            <a:ext cx="4579739" cy="6857990"/>
          </a:xfrm>
          <a:prstGeom prst="rect">
            <a:avLst/>
          </a:prstGeom>
        </p:spPr>
      </p:pic>
    </p:spTree>
    <p:extLst>
      <p:ext uri="{BB962C8B-B14F-4D97-AF65-F5344CB8AC3E}">
        <p14:creationId xmlns:p14="http://schemas.microsoft.com/office/powerpoint/2010/main" val="26288031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5847BA0-50A9-9965-87F9-DB2D9279645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93D97C6-63EF-4CA6-B01D-25E2772DC9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DE514A-40BE-C5AC-E6B6-6BD8D735F82E}"/>
              </a:ext>
            </a:extLst>
          </p:cNvPr>
          <p:cNvSpPr>
            <a:spLocks noGrp="1"/>
          </p:cNvSpPr>
          <p:nvPr>
            <p:ph type="title"/>
          </p:nvPr>
        </p:nvSpPr>
        <p:spPr>
          <a:xfrm>
            <a:off x="5100824" y="685800"/>
            <a:ext cx="6176776" cy="1485900"/>
          </a:xfrm>
        </p:spPr>
        <p:txBody>
          <a:bodyPr>
            <a:normAutofit/>
          </a:bodyPr>
          <a:lstStyle/>
          <a:p>
            <a:r>
              <a:rPr lang="en-US" dirty="0"/>
              <a:t>Open Questions for Discussion</a:t>
            </a:r>
            <a:endParaRPr lang="en-US"/>
          </a:p>
        </p:txBody>
      </p:sp>
      <p:pic>
        <p:nvPicPr>
          <p:cNvPr id="7" name="Graphic 6" descr="Statistics">
            <a:extLst>
              <a:ext uri="{FF2B5EF4-FFF2-40B4-BE49-F238E27FC236}">
                <a16:creationId xmlns:a16="http://schemas.microsoft.com/office/drawing/2014/main" id="{29E2EE9E-B168-718A-E1C9-2715C71B7B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4276" y="1881930"/>
            <a:ext cx="3093388" cy="3093388"/>
          </a:xfrm>
          <a:prstGeom prst="rect">
            <a:avLst/>
          </a:prstGeom>
        </p:spPr>
      </p:pic>
      <p:sp>
        <p:nvSpPr>
          <p:cNvPr id="12" name="Rectangle 11">
            <a:extLst>
              <a:ext uri="{FF2B5EF4-FFF2-40B4-BE49-F238E27FC236}">
                <a16:creationId xmlns:a16="http://schemas.microsoft.com/office/drawing/2014/main" id="{5DA4A40B-EDCE-42FC-B189-AEFB4F82E8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E56CFE57-DC97-6B05-176B-B206BEC13BC6}"/>
              </a:ext>
            </a:extLst>
          </p:cNvPr>
          <p:cNvSpPr>
            <a:spLocks noGrp="1"/>
          </p:cNvSpPr>
          <p:nvPr>
            <p:ph idx="1"/>
          </p:nvPr>
        </p:nvSpPr>
        <p:spPr>
          <a:xfrm>
            <a:off x="5100824" y="2286000"/>
            <a:ext cx="6838292" cy="3874476"/>
          </a:xfrm>
        </p:spPr>
        <p:txBody>
          <a:bodyPr vert="horz" lIns="91440" tIns="45720" rIns="91440" bIns="45720" rtlCol="0" anchor="t">
            <a:normAutofit/>
          </a:bodyPr>
          <a:lstStyle/>
          <a:p>
            <a:pPr marL="383540" indent="-383540"/>
            <a:r>
              <a:rPr lang="en-US" sz="1900" dirty="0">
                <a:ea typeface="+mn-lt"/>
                <a:cs typeface="+mn-lt"/>
              </a:rPr>
              <a:t>How can Power BI be used to simplify complex datasets for decision-making?</a:t>
            </a:r>
            <a:endParaRPr lang="en-US" sz="1900" dirty="0"/>
          </a:p>
          <a:p>
            <a:pPr marL="383540" indent="-383540"/>
            <a:r>
              <a:rPr lang="en-US" sz="1900" dirty="0">
                <a:ea typeface="+mn-lt"/>
                <a:cs typeface="+mn-lt"/>
              </a:rPr>
              <a:t>What are the best practices for creating interactive dashboards in Power BI?</a:t>
            </a:r>
            <a:endParaRPr lang="en-US" dirty="0"/>
          </a:p>
          <a:p>
            <a:pPr marL="383540" indent="-383540"/>
            <a:r>
              <a:rPr lang="en-US" sz="1900" dirty="0">
                <a:ea typeface="+mn-lt"/>
                <a:cs typeface="+mn-lt"/>
              </a:rPr>
              <a:t>How can Power BI help in uncovering hidden patterns or trends in business data?</a:t>
            </a:r>
            <a:endParaRPr lang="en-US" dirty="0"/>
          </a:p>
          <a:p>
            <a:pPr marL="383540" indent="-383540"/>
            <a:r>
              <a:rPr lang="en-US" sz="1900" dirty="0">
                <a:ea typeface="+mn-lt"/>
                <a:cs typeface="+mn-lt"/>
              </a:rPr>
              <a:t>What role does data storytelling play in creating effective Power BI visualizations?</a:t>
            </a:r>
            <a:endParaRPr lang="en-US" dirty="0"/>
          </a:p>
          <a:p>
            <a:pPr marL="383540" indent="-383540"/>
            <a:r>
              <a:rPr lang="en-US" sz="1900" dirty="0">
                <a:ea typeface="+mn-lt"/>
                <a:cs typeface="+mn-lt"/>
              </a:rPr>
              <a:t>How does Power BI's integration with other tools enhance its functionality?</a:t>
            </a:r>
            <a:endParaRPr lang="en-US"/>
          </a:p>
        </p:txBody>
      </p:sp>
    </p:spTree>
    <p:extLst>
      <p:ext uri="{BB962C8B-B14F-4D97-AF65-F5344CB8AC3E}">
        <p14:creationId xmlns:p14="http://schemas.microsoft.com/office/powerpoint/2010/main" val="115303577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5847BA0-50A9-9965-87F9-DB2D9279645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93D97C6-63EF-4CA6-B01D-25E2772DC9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tatistics">
            <a:extLst>
              <a:ext uri="{FF2B5EF4-FFF2-40B4-BE49-F238E27FC236}">
                <a16:creationId xmlns:a16="http://schemas.microsoft.com/office/drawing/2014/main" id="{29E2EE9E-B168-718A-E1C9-2715C71B7B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4276" y="1881930"/>
            <a:ext cx="3093388" cy="3093388"/>
          </a:xfrm>
          <a:prstGeom prst="rect">
            <a:avLst/>
          </a:prstGeom>
        </p:spPr>
      </p:pic>
      <p:sp>
        <p:nvSpPr>
          <p:cNvPr id="12" name="Rectangle 11">
            <a:extLst>
              <a:ext uri="{FF2B5EF4-FFF2-40B4-BE49-F238E27FC236}">
                <a16:creationId xmlns:a16="http://schemas.microsoft.com/office/drawing/2014/main" id="{5DA4A40B-EDCE-42FC-B189-AEFB4F82E8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E56CFE57-DC97-6B05-176B-B206BEC13BC6}"/>
              </a:ext>
            </a:extLst>
          </p:cNvPr>
          <p:cNvSpPr>
            <a:spLocks noGrp="1"/>
          </p:cNvSpPr>
          <p:nvPr>
            <p:ph idx="1"/>
          </p:nvPr>
        </p:nvSpPr>
        <p:spPr>
          <a:xfrm>
            <a:off x="5100824" y="150726"/>
            <a:ext cx="6838292" cy="6595903"/>
          </a:xfrm>
        </p:spPr>
        <p:txBody>
          <a:bodyPr vert="horz" lIns="91440" tIns="45720" rIns="91440" bIns="45720" rtlCol="0" anchor="t">
            <a:normAutofit fontScale="92500" lnSpcReduction="20000"/>
          </a:bodyPr>
          <a:lstStyle/>
          <a:p>
            <a:pPr marL="383540" indent="-383540"/>
            <a:r>
              <a:rPr lang="en-US" sz="1900" dirty="0">
                <a:ea typeface="+mn-lt"/>
                <a:cs typeface="+mn-lt"/>
              </a:rPr>
              <a:t>How can Power BI be used to simplify complex datasets for decision-making?</a:t>
            </a:r>
            <a:endParaRPr lang="en-US" sz="1900" dirty="0"/>
          </a:p>
          <a:p>
            <a:pPr marL="0" indent="0">
              <a:buNone/>
            </a:pPr>
            <a:r>
              <a:rPr lang="en-US" sz="1900" dirty="0">
                <a:ea typeface="+mn-lt"/>
                <a:cs typeface="+mn-lt"/>
              </a:rPr>
              <a:t>Application: A retail chain uses Power BI to visualize sales data across regions, helping managers identify low-performing stores and target them with promotional strategies.</a:t>
            </a:r>
            <a:endParaRPr lang="en-US" dirty="0"/>
          </a:p>
          <a:p>
            <a:pPr marL="383540" indent="-383540"/>
            <a:r>
              <a:rPr lang="en-US" sz="1900" dirty="0">
                <a:ea typeface="+mn-lt"/>
                <a:cs typeface="+mn-lt"/>
              </a:rPr>
              <a:t>What are the best practices for creating interactive dashboards in Power BI?</a:t>
            </a:r>
            <a:endParaRPr lang="en-US" dirty="0"/>
          </a:p>
          <a:p>
            <a:pPr marL="0" indent="0">
              <a:buNone/>
            </a:pPr>
            <a:r>
              <a:rPr lang="en-US" sz="1900" dirty="0">
                <a:ea typeface="+mn-lt"/>
                <a:cs typeface="+mn-lt"/>
              </a:rPr>
              <a:t>Application: A healthcare provider creates an interactive dashboard showing patient admission trends, enabling real-time adjustments in staff allocation.</a:t>
            </a:r>
            <a:endParaRPr lang="en-US" dirty="0"/>
          </a:p>
          <a:p>
            <a:pPr marL="383540" indent="-383540"/>
            <a:r>
              <a:rPr lang="en-US" sz="1900" dirty="0">
                <a:ea typeface="+mn-lt"/>
                <a:cs typeface="+mn-lt"/>
              </a:rPr>
              <a:t>How can Power BI help in uncovering hidden patterns or trends in business data?</a:t>
            </a:r>
            <a:endParaRPr lang="en-US" dirty="0"/>
          </a:p>
          <a:p>
            <a:pPr marL="0" indent="0">
              <a:buNone/>
            </a:pPr>
            <a:r>
              <a:rPr lang="en-US" sz="1900" dirty="0">
                <a:ea typeface="+mn-lt"/>
                <a:cs typeface="+mn-lt"/>
              </a:rPr>
              <a:t>Application: A logistics company uses Power BI to analyze delivery data, uncovering bottlenecks in specific routes and optimizing them for cost savings.</a:t>
            </a:r>
            <a:endParaRPr lang="en-US" dirty="0"/>
          </a:p>
          <a:p>
            <a:pPr marL="383540" indent="-383540"/>
            <a:r>
              <a:rPr lang="en-US" sz="1900" dirty="0">
                <a:ea typeface="+mn-lt"/>
                <a:cs typeface="+mn-lt"/>
              </a:rPr>
              <a:t>What role does data storytelling play in creating effective Power BI visualizations?</a:t>
            </a:r>
            <a:endParaRPr lang="en-US" dirty="0"/>
          </a:p>
          <a:p>
            <a:pPr marL="0" indent="0">
              <a:buNone/>
            </a:pPr>
            <a:r>
              <a:rPr lang="en-US" sz="1900" dirty="0">
                <a:ea typeface="+mn-lt"/>
                <a:cs typeface="+mn-lt"/>
              </a:rPr>
              <a:t>Application: A marketing team uses Power BI to present campaign performance data in a story format, making it easier for stakeholders to understand ROI and plan future strategies.</a:t>
            </a:r>
            <a:endParaRPr lang="en-US" dirty="0"/>
          </a:p>
          <a:p>
            <a:pPr marL="383540" indent="-383540"/>
            <a:r>
              <a:rPr lang="en-US" sz="1900" dirty="0">
                <a:ea typeface="+mn-lt"/>
                <a:cs typeface="+mn-lt"/>
              </a:rPr>
              <a:t>How does Power BI's integration with other tools enhance its functionality?</a:t>
            </a:r>
            <a:endParaRPr lang="en-US" dirty="0"/>
          </a:p>
          <a:p>
            <a:pPr marL="0" indent="0">
              <a:buNone/>
            </a:pPr>
            <a:r>
              <a:rPr lang="en-US" sz="1900" dirty="0">
                <a:ea typeface="+mn-lt"/>
                <a:cs typeface="+mn-lt"/>
              </a:rPr>
              <a:t>Application: An HR team integrates Power BI with Excel and Dynamics 365 to visualize employee performance metrics and design better training programs.</a:t>
            </a:r>
            <a:endParaRPr lang="en-US" dirty="0"/>
          </a:p>
        </p:txBody>
      </p:sp>
    </p:spTree>
    <p:extLst>
      <p:ext uri="{BB962C8B-B14F-4D97-AF65-F5344CB8AC3E}">
        <p14:creationId xmlns:p14="http://schemas.microsoft.com/office/powerpoint/2010/main" val="39964390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38D61-FA9E-4B7A-4CF9-F9DC60811A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A7D61-5144-45B8-1986-9C22D0EDA1B3}"/>
              </a:ext>
            </a:extLst>
          </p:cNvPr>
          <p:cNvSpPr>
            <a:spLocks noGrp="1"/>
          </p:cNvSpPr>
          <p:nvPr>
            <p:ph type="title"/>
          </p:nvPr>
        </p:nvSpPr>
        <p:spPr>
          <a:xfrm>
            <a:off x="1295399" y="2686050"/>
            <a:ext cx="9901335" cy="1485900"/>
          </a:xfrm>
        </p:spPr>
        <p:txBody>
          <a:bodyPr>
            <a:normAutofit/>
          </a:bodyPr>
          <a:lstStyle/>
          <a:p>
            <a:r>
              <a:rPr lang="en-US" b="1" dirty="0"/>
              <a:t>Day 11</a:t>
            </a:r>
            <a:r>
              <a:rPr lang="en-US" dirty="0"/>
              <a:t>: </a:t>
            </a:r>
            <a:r>
              <a:rPr lang="en-IN" dirty="0"/>
              <a:t>Power BI – Data Processing</a:t>
            </a:r>
            <a:br>
              <a:rPr lang="en-IN" dirty="0"/>
            </a:br>
            <a:r>
              <a:rPr lang="en-IN" dirty="0"/>
              <a:t> ETL Process</a:t>
            </a:r>
            <a:endParaRPr lang="en-US" dirty="0"/>
          </a:p>
        </p:txBody>
      </p:sp>
    </p:spTree>
    <p:extLst>
      <p:ext uri="{BB962C8B-B14F-4D97-AF65-F5344CB8AC3E}">
        <p14:creationId xmlns:p14="http://schemas.microsoft.com/office/powerpoint/2010/main" val="262122130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A3FDA-C640-BAEB-232B-C1C230D26EB8}"/>
              </a:ext>
            </a:extLst>
          </p:cNvPr>
          <p:cNvSpPr>
            <a:spLocks noGrp="1"/>
          </p:cNvSpPr>
          <p:nvPr>
            <p:ph type="title"/>
          </p:nvPr>
        </p:nvSpPr>
        <p:spPr/>
        <p:txBody>
          <a:bodyPr/>
          <a:lstStyle/>
          <a:p>
            <a:r>
              <a:rPr lang="en-US" dirty="0"/>
              <a:t>Installing Power BI</a:t>
            </a:r>
          </a:p>
        </p:txBody>
      </p:sp>
      <p:sp>
        <p:nvSpPr>
          <p:cNvPr id="3" name="Content Placeholder 2">
            <a:extLst>
              <a:ext uri="{FF2B5EF4-FFF2-40B4-BE49-F238E27FC236}">
                <a16:creationId xmlns:a16="http://schemas.microsoft.com/office/drawing/2014/main" id="{5E481887-7276-220C-4A39-49BE79AAF8A1}"/>
              </a:ext>
            </a:extLst>
          </p:cNvPr>
          <p:cNvSpPr>
            <a:spLocks noGrp="1"/>
          </p:cNvSpPr>
          <p:nvPr>
            <p:ph idx="1"/>
          </p:nvPr>
        </p:nvSpPr>
        <p:spPr/>
        <p:txBody>
          <a:bodyPr/>
          <a:lstStyle/>
          <a:p>
            <a:r>
              <a:rPr lang="en-US" dirty="0"/>
              <a:t>Go to your Microsoft play store and download Power BI Desktop</a:t>
            </a:r>
          </a:p>
          <a:p>
            <a:r>
              <a:rPr lang="en-US" dirty="0"/>
              <a:t>Or else go to your search engine like Google Chrome/Microsoft Edge/Mozilla Firefox etc.</a:t>
            </a:r>
          </a:p>
          <a:p>
            <a:r>
              <a:rPr lang="en-US" dirty="0"/>
              <a:t>Then enter the link given below.</a:t>
            </a:r>
          </a:p>
          <a:p>
            <a:r>
              <a:rPr lang="en-US" dirty="0">
                <a:hlinkClick r:id="rId2"/>
              </a:rPr>
              <a:t>https://www.microsoft.com/en-us/power-platform/products/power-bi/downloads</a:t>
            </a:r>
            <a:endParaRPr lang="en-US" dirty="0"/>
          </a:p>
          <a:p>
            <a:r>
              <a:rPr lang="en-US" dirty="0"/>
              <a:t>Click on Download Power BI Desktop.</a:t>
            </a:r>
          </a:p>
          <a:p>
            <a:endParaRPr lang="en-US" dirty="0"/>
          </a:p>
        </p:txBody>
      </p:sp>
    </p:spTree>
    <p:extLst>
      <p:ext uri="{BB962C8B-B14F-4D97-AF65-F5344CB8AC3E}">
        <p14:creationId xmlns:p14="http://schemas.microsoft.com/office/powerpoint/2010/main" val="311277256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1606B-45DB-666E-2CB2-4F8945553E5B}"/>
              </a:ext>
            </a:extLst>
          </p:cNvPr>
          <p:cNvSpPr>
            <a:spLocks noGrp="1"/>
          </p:cNvSpPr>
          <p:nvPr>
            <p:ph type="title"/>
          </p:nvPr>
        </p:nvSpPr>
        <p:spPr/>
        <p:txBody>
          <a:bodyPr/>
          <a:lstStyle/>
          <a:p>
            <a:r>
              <a:rPr lang="en-IN" dirty="0"/>
              <a:t>Data and Dataset</a:t>
            </a:r>
          </a:p>
        </p:txBody>
      </p:sp>
      <p:sp>
        <p:nvSpPr>
          <p:cNvPr id="3" name="Content Placeholder 2">
            <a:extLst>
              <a:ext uri="{FF2B5EF4-FFF2-40B4-BE49-F238E27FC236}">
                <a16:creationId xmlns:a16="http://schemas.microsoft.com/office/drawing/2014/main" id="{1FC5105D-9281-74D6-70C6-3EDA0B8D9524}"/>
              </a:ext>
            </a:extLst>
          </p:cNvPr>
          <p:cNvSpPr>
            <a:spLocks noGrp="1"/>
          </p:cNvSpPr>
          <p:nvPr>
            <p:ph idx="1"/>
          </p:nvPr>
        </p:nvSpPr>
        <p:spPr>
          <a:xfrm>
            <a:off x="1371600" y="1759131"/>
            <a:ext cx="9601200" cy="4108269"/>
          </a:xfrm>
        </p:spPr>
        <p:txBody>
          <a:bodyPr>
            <a:normAutofit/>
          </a:bodyPr>
          <a:lstStyle/>
          <a:p>
            <a:r>
              <a:rPr lang="en-US" dirty="0">
                <a:latin typeface="+mj-lt"/>
              </a:rPr>
              <a:t>Data is a collection of facts, numbers, words, observations, or other useful information. It can be represented in many ways and come from a variety of sources: </a:t>
            </a:r>
          </a:p>
          <a:p>
            <a:r>
              <a:rPr lang="en-US" dirty="0">
                <a:latin typeface="+mj-lt"/>
              </a:rPr>
              <a:t>Examples: The number of people in Australia, the value of sales of a product, or the number of calls received by emergency services each day </a:t>
            </a:r>
          </a:p>
          <a:p>
            <a:r>
              <a:rPr lang="en-US" dirty="0">
                <a:latin typeface="+mj-lt"/>
              </a:rPr>
              <a:t>Sources: User input, sensors, or algorithms </a:t>
            </a:r>
          </a:p>
          <a:p>
            <a:r>
              <a:rPr lang="en-US" dirty="0">
                <a:latin typeface="+mj-lt"/>
              </a:rPr>
              <a:t>Formats: Non-numerical qualitative data (customer reviews) or numerical quantitative data (sales figures) </a:t>
            </a:r>
          </a:p>
          <a:p>
            <a:r>
              <a:rPr lang="en-US" b="0" i="0" dirty="0">
                <a:solidFill>
                  <a:srgbClr val="001D35"/>
                </a:solidFill>
                <a:effectLst/>
                <a:latin typeface="+mj-lt"/>
              </a:rPr>
              <a:t>A dataset is a collection of data that is usually organized in a spreadsheet, table, or database. </a:t>
            </a:r>
          </a:p>
          <a:p>
            <a:r>
              <a:rPr lang="en-US" b="0" i="0" dirty="0">
                <a:solidFill>
                  <a:srgbClr val="001D35"/>
                </a:solidFill>
                <a:effectLst/>
                <a:latin typeface="+mj-lt"/>
              </a:rPr>
              <a:t>Datasets can also be a collection of notes, images, or videos from a research project.</a:t>
            </a:r>
            <a:endParaRPr lang="en-IN" dirty="0">
              <a:latin typeface="+mj-lt"/>
            </a:endParaRPr>
          </a:p>
        </p:txBody>
      </p:sp>
    </p:spTree>
    <p:extLst>
      <p:ext uri="{BB962C8B-B14F-4D97-AF65-F5344CB8AC3E}">
        <p14:creationId xmlns:p14="http://schemas.microsoft.com/office/powerpoint/2010/main" val="78521735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8434" name="Picture 2" descr="Screenshot that shows the Get Data icon and the Get Data dialog box in Power BI Desktop.">
            <a:extLst>
              <a:ext uri="{FF2B5EF4-FFF2-40B4-BE49-F238E27FC236}">
                <a16:creationId xmlns:a16="http://schemas.microsoft.com/office/drawing/2014/main" id="{90438F0C-C519-8A5C-A4D0-DF61614AA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29" r="21096"/>
          <a:stretch/>
        </p:blipFill>
        <p:spPr bwMode="auto">
          <a:xfrm>
            <a:off x="20" y="10"/>
            <a:ext cx="541232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82DE032-6829-DE03-F5ED-8D269D5F55E3}"/>
              </a:ext>
            </a:extLst>
          </p:cNvPr>
          <p:cNvSpPr>
            <a:spLocks noGrp="1"/>
          </p:cNvSpPr>
          <p:nvPr>
            <p:ph type="title"/>
          </p:nvPr>
        </p:nvSpPr>
        <p:spPr>
          <a:xfrm>
            <a:off x="6138004" y="1480930"/>
            <a:ext cx="5607908" cy="3254321"/>
          </a:xfrm>
        </p:spPr>
        <p:txBody>
          <a:bodyPr vert="horz" lIns="91440" tIns="45720" rIns="91440" bIns="45720" rtlCol="0" anchor="b">
            <a:normAutofit/>
          </a:bodyPr>
          <a:lstStyle/>
          <a:p>
            <a:r>
              <a:rPr lang="en-US" sz="7000" cap="all"/>
              <a:t>Data Sources in Power BI</a:t>
            </a:r>
          </a:p>
        </p:txBody>
      </p:sp>
    </p:spTree>
    <p:extLst>
      <p:ext uri="{BB962C8B-B14F-4D97-AF65-F5344CB8AC3E}">
        <p14:creationId xmlns:p14="http://schemas.microsoft.com/office/powerpoint/2010/main" val="292833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D7B79-25A0-CBD0-888B-45CE1D73F025}"/>
              </a:ext>
            </a:extLst>
          </p:cNvPr>
          <p:cNvSpPr>
            <a:spLocks noGrp="1"/>
          </p:cNvSpPr>
          <p:nvPr>
            <p:ph type="title"/>
          </p:nvPr>
        </p:nvSpPr>
        <p:spPr>
          <a:xfrm>
            <a:off x="1365068" y="235132"/>
            <a:ext cx="9601200" cy="1105989"/>
          </a:xfrm>
        </p:spPr>
        <p:txBody>
          <a:bodyPr/>
          <a:lstStyle/>
          <a:p>
            <a:r>
              <a:rPr lang="en-IN" dirty="0"/>
              <a:t>Types of Data used in Power BI</a:t>
            </a:r>
          </a:p>
        </p:txBody>
      </p:sp>
      <p:sp>
        <p:nvSpPr>
          <p:cNvPr id="6" name="TextBox 5">
            <a:extLst>
              <a:ext uri="{FF2B5EF4-FFF2-40B4-BE49-F238E27FC236}">
                <a16:creationId xmlns:a16="http://schemas.microsoft.com/office/drawing/2014/main" id="{815005EB-1364-A4D0-B670-C5B99A988C37}"/>
              </a:ext>
            </a:extLst>
          </p:cNvPr>
          <p:cNvSpPr txBox="1"/>
          <p:nvPr/>
        </p:nvSpPr>
        <p:spPr>
          <a:xfrm>
            <a:off x="1793966" y="1627222"/>
            <a:ext cx="8116388" cy="4154984"/>
          </a:xfrm>
          <a:prstGeom prst="rect">
            <a:avLst/>
          </a:prstGeom>
          <a:noFill/>
        </p:spPr>
        <p:txBody>
          <a:bodyPr wrap="square">
            <a:spAutoFit/>
          </a:bodyPr>
          <a:lstStyle/>
          <a:p>
            <a:r>
              <a:rPr lang="en-US" dirty="0"/>
              <a:t> </a:t>
            </a:r>
            <a:r>
              <a:rPr lang="en-US" sz="2200" dirty="0"/>
              <a:t>In power BI, we have 12 unique data types, which we broadly classify into:</a:t>
            </a:r>
          </a:p>
          <a:p>
            <a:endParaRPr lang="en-US" sz="2200" dirty="0"/>
          </a:p>
          <a:p>
            <a:r>
              <a:rPr lang="en-US" sz="2200" dirty="0"/>
              <a:t>-          Number types.</a:t>
            </a:r>
          </a:p>
          <a:p>
            <a:endParaRPr lang="en-US" sz="2200" dirty="0"/>
          </a:p>
          <a:p>
            <a:r>
              <a:rPr lang="en-US" sz="2200" dirty="0"/>
              <a:t>-          Date/Time type.</a:t>
            </a:r>
          </a:p>
          <a:p>
            <a:endParaRPr lang="en-US" sz="2200" dirty="0"/>
          </a:p>
          <a:p>
            <a:r>
              <a:rPr lang="en-US" sz="2200" dirty="0"/>
              <a:t>-          Text data type.</a:t>
            </a:r>
          </a:p>
          <a:p>
            <a:endParaRPr lang="en-US" sz="2200" dirty="0"/>
          </a:p>
          <a:p>
            <a:r>
              <a:rPr lang="en-US" sz="2200" dirty="0"/>
              <a:t>-          Boolean – True/False</a:t>
            </a:r>
          </a:p>
          <a:p>
            <a:endParaRPr lang="en-US" sz="2200" dirty="0"/>
          </a:p>
          <a:p>
            <a:r>
              <a:rPr lang="en-US" sz="2200" dirty="0"/>
              <a:t>-          Binary Data type.</a:t>
            </a:r>
            <a:endParaRPr lang="en-IN" sz="2200" dirty="0"/>
          </a:p>
        </p:txBody>
      </p:sp>
    </p:spTree>
    <p:extLst>
      <p:ext uri="{BB962C8B-B14F-4D97-AF65-F5344CB8AC3E}">
        <p14:creationId xmlns:p14="http://schemas.microsoft.com/office/powerpoint/2010/main" val="211415491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F41A0-DEAB-61CF-F167-07DA0C5A6013}"/>
              </a:ext>
            </a:extLst>
          </p:cNvPr>
          <p:cNvSpPr>
            <a:spLocks noGrp="1"/>
          </p:cNvSpPr>
          <p:nvPr>
            <p:ph type="title"/>
          </p:nvPr>
        </p:nvSpPr>
        <p:spPr>
          <a:xfrm>
            <a:off x="1371600" y="386542"/>
            <a:ext cx="9601200" cy="1485900"/>
          </a:xfrm>
        </p:spPr>
        <p:txBody>
          <a:bodyPr>
            <a:normAutofit fontScale="90000"/>
          </a:bodyPr>
          <a:lstStyle/>
          <a:p>
            <a:r>
              <a:rPr lang="en-US" b="1" dirty="0"/>
              <a:t>Best Practices for Missing Data Handling</a:t>
            </a:r>
            <a:br>
              <a:rPr lang="en-US" b="1" dirty="0"/>
            </a:br>
            <a:endParaRPr lang="en-IN" dirty="0"/>
          </a:p>
        </p:txBody>
      </p:sp>
      <p:sp>
        <p:nvSpPr>
          <p:cNvPr id="3" name="Content Placeholder 2">
            <a:extLst>
              <a:ext uri="{FF2B5EF4-FFF2-40B4-BE49-F238E27FC236}">
                <a16:creationId xmlns:a16="http://schemas.microsoft.com/office/drawing/2014/main" id="{2DFDAB22-5098-B233-0436-15F273F7B4C0}"/>
              </a:ext>
            </a:extLst>
          </p:cNvPr>
          <p:cNvSpPr>
            <a:spLocks noGrp="1"/>
          </p:cNvSpPr>
          <p:nvPr>
            <p:ph idx="1"/>
          </p:nvPr>
        </p:nvSpPr>
        <p:spPr/>
        <p:txBody>
          <a:bodyPr/>
          <a:lstStyle/>
          <a:p>
            <a:pPr>
              <a:buFont typeface="+mj-lt"/>
              <a:buAutoNum type="arabicPeriod"/>
            </a:pPr>
            <a:r>
              <a:rPr lang="en-US" dirty="0"/>
              <a:t>Analyze the root cause of missing data before deciding on a method.</a:t>
            </a:r>
          </a:p>
          <a:p>
            <a:pPr>
              <a:buFont typeface="+mj-lt"/>
              <a:buAutoNum type="arabicPeriod"/>
            </a:pPr>
            <a:r>
              <a:rPr lang="en-US" dirty="0"/>
              <a:t>Use domain knowledge to determine appropriate replacement values.</a:t>
            </a:r>
          </a:p>
          <a:p>
            <a:pPr>
              <a:buFont typeface="+mj-lt"/>
              <a:buAutoNum type="arabicPeriod"/>
            </a:pPr>
            <a:r>
              <a:rPr lang="en-US" dirty="0"/>
              <a:t>Always document your changes for reproducibility.</a:t>
            </a:r>
          </a:p>
          <a:p>
            <a:pPr>
              <a:buFont typeface="+mj-lt"/>
              <a:buAutoNum type="arabicPeriod"/>
            </a:pPr>
            <a:r>
              <a:rPr lang="en-US" dirty="0"/>
              <a:t>Validate the impact of missing data handling on the final analysis.</a:t>
            </a:r>
          </a:p>
          <a:p>
            <a:endParaRPr lang="en-IN" dirty="0"/>
          </a:p>
        </p:txBody>
      </p:sp>
    </p:spTree>
    <p:extLst>
      <p:ext uri="{BB962C8B-B14F-4D97-AF65-F5344CB8AC3E}">
        <p14:creationId xmlns:p14="http://schemas.microsoft.com/office/powerpoint/2010/main" val="378438820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42F50-74CA-F34A-50CD-F7E3846505AE}"/>
              </a:ext>
            </a:extLst>
          </p:cNvPr>
          <p:cNvSpPr>
            <a:spLocks noGrp="1"/>
          </p:cNvSpPr>
          <p:nvPr>
            <p:ph type="title"/>
          </p:nvPr>
        </p:nvSpPr>
        <p:spPr>
          <a:xfrm>
            <a:off x="5100824" y="685800"/>
            <a:ext cx="6176776" cy="1485900"/>
          </a:xfrm>
        </p:spPr>
        <p:txBody>
          <a:bodyPr>
            <a:normAutofit/>
          </a:bodyPr>
          <a:lstStyle/>
          <a:p>
            <a:r>
              <a:rPr lang="en-US" dirty="0"/>
              <a:t>DATA VISUALIZATION</a:t>
            </a:r>
            <a:endParaRPr lang="en-IN" dirty="0"/>
          </a:p>
        </p:txBody>
      </p:sp>
      <p:pic>
        <p:nvPicPr>
          <p:cNvPr id="5" name="Picture 4" descr="A circular pattern with dots and lines&#10;&#10;Description automatically generated">
            <a:extLst>
              <a:ext uri="{FF2B5EF4-FFF2-40B4-BE49-F238E27FC236}">
                <a16:creationId xmlns:a16="http://schemas.microsoft.com/office/drawing/2014/main" id="{0F49A994-784D-DFF0-93E4-18F6CFE72AEA}"/>
              </a:ext>
            </a:extLst>
          </p:cNvPr>
          <p:cNvPicPr>
            <a:picLocks noChangeAspect="1"/>
          </p:cNvPicPr>
          <p:nvPr/>
        </p:nvPicPr>
        <p:blipFill>
          <a:blip r:embed="rId2"/>
          <a:srcRect l="28295" r="31441"/>
          <a:stretch/>
        </p:blipFill>
        <p:spPr>
          <a:xfrm>
            <a:off x="-1" y="10"/>
            <a:ext cx="4602146" cy="6857990"/>
          </a:xfrm>
          <a:prstGeom prst="rect">
            <a:avLst/>
          </a:prstGeom>
        </p:spPr>
      </p:pic>
      <p:sp>
        <p:nvSpPr>
          <p:cNvPr id="3" name="Content Placeholder 2">
            <a:extLst>
              <a:ext uri="{FF2B5EF4-FFF2-40B4-BE49-F238E27FC236}">
                <a16:creationId xmlns:a16="http://schemas.microsoft.com/office/drawing/2014/main" id="{5A48DC9F-E004-56C1-6AE1-291DB946DBC5}"/>
              </a:ext>
            </a:extLst>
          </p:cNvPr>
          <p:cNvSpPr>
            <a:spLocks noGrp="1"/>
          </p:cNvSpPr>
          <p:nvPr>
            <p:ph idx="1"/>
          </p:nvPr>
        </p:nvSpPr>
        <p:spPr>
          <a:xfrm>
            <a:off x="5100824" y="2286000"/>
            <a:ext cx="6176776" cy="3581400"/>
          </a:xfrm>
        </p:spPr>
        <p:txBody>
          <a:bodyPr>
            <a:normAutofit/>
          </a:bodyPr>
          <a:lstStyle/>
          <a:p>
            <a:r>
              <a:rPr lang="en-US" b="0" i="0">
                <a:effectLst/>
                <a:latin typeface="Google Sans"/>
              </a:rPr>
              <a:t>Data visualization is the graphical representation of information and data. </a:t>
            </a:r>
          </a:p>
          <a:p>
            <a:r>
              <a:rPr lang="en-US" b="0" i="0">
                <a:effectLst/>
                <a:latin typeface="Google Sans"/>
              </a:rPr>
              <a:t>By using visual elements like charts, graphs, and maps, data visualization tools provide an accessible way to see and understand trends, outliers, and patterns in data.</a:t>
            </a:r>
            <a:endParaRPr lang="en-IN" dirty="0"/>
          </a:p>
        </p:txBody>
      </p:sp>
    </p:spTree>
    <p:extLst>
      <p:ext uri="{BB962C8B-B14F-4D97-AF65-F5344CB8AC3E}">
        <p14:creationId xmlns:p14="http://schemas.microsoft.com/office/powerpoint/2010/main" val="2124636337"/>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4535A-81F2-6AE3-4A70-EDB014EC3F37}"/>
              </a:ext>
            </a:extLst>
          </p:cNvPr>
          <p:cNvSpPr>
            <a:spLocks noGrp="1"/>
          </p:cNvSpPr>
          <p:nvPr>
            <p:ph type="title"/>
          </p:nvPr>
        </p:nvSpPr>
        <p:spPr>
          <a:xfrm>
            <a:off x="1371600" y="685800"/>
            <a:ext cx="3282695" cy="1485900"/>
          </a:xfrm>
        </p:spPr>
        <p:txBody>
          <a:bodyPr>
            <a:normAutofit/>
          </a:bodyPr>
          <a:lstStyle/>
          <a:p>
            <a:r>
              <a:rPr lang="en-US" sz="3700"/>
              <a:t>DASHBOARD VISUALIZATION</a:t>
            </a:r>
            <a:endParaRPr lang="en-IN" sz="3700"/>
          </a:p>
        </p:txBody>
      </p:sp>
      <p:sp>
        <p:nvSpPr>
          <p:cNvPr id="3" name="Content Placeholder 2">
            <a:extLst>
              <a:ext uri="{FF2B5EF4-FFF2-40B4-BE49-F238E27FC236}">
                <a16:creationId xmlns:a16="http://schemas.microsoft.com/office/drawing/2014/main" id="{1CAC9D91-CA5A-5E12-450C-6613CC0E082E}"/>
              </a:ext>
            </a:extLst>
          </p:cNvPr>
          <p:cNvSpPr>
            <a:spLocks noGrp="1"/>
          </p:cNvSpPr>
          <p:nvPr>
            <p:ph idx="1"/>
          </p:nvPr>
        </p:nvSpPr>
        <p:spPr>
          <a:xfrm>
            <a:off x="1371600" y="2286000"/>
            <a:ext cx="3282694" cy="3581400"/>
          </a:xfrm>
        </p:spPr>
        <p:txBody>
          <a:bodyPr>
            <a:normAutofit lnSpcReduction="10000"/>
          </a:bodyPr>
          <a:lstStyle/>
          <a:p>
            <a:r>
              <a:rPr lang="en-US" b="0" i="0">
                <a:effectLst/>
                <a:latin typeface="Google Sans"/>
              </a:rPr>
              <a:t>Data dashboards are a summary of different, but related data sets, presented in a way that makes the related information easier to understand. Dashboards are a type of data visualization, and often use common visualization tools such as graphs, charts, and tables.</a:t>
            </a:r>
          </a:p>
          <a:p>
            <a:endParaRPr lang="en-IN" dirty="0"/>
          </a:p>
        </p:txBody>
      </p:sp>
      <p:pic>
        <p:nvPicPr>
          <p:cNvPr id="4" name="Picture 3">
            <a:extLst>
              <a:ext uri="{FF2B5EF4-FFF2-40B4-BE49-F238E27FC236}">
                <a16:creationId xmlns:a16="http://schemas.microsoft.com/office/drawing/2014/main" id="{E52BE0B7-D609-4C60-DDE8-FC0902F2E14F}"/>
              </a:ext>
            </a:extLst>
          </p:cNvPr>
          <p:cNvPicPr>
            <a:picLocks noChangeAspect="1"/>
          </p:cNvPicPr>
          <p:nvPr/>
        </p:nvPicPr>
        <p:blipFill>
          <a:blip r:embed="rId2"/>
          <a:stretch>
            <a:fillRect/>
          </a:stretch>
        </p:blipFill>
        <p:spPr>
          <a:xfrm>
            <a:off x="5031467" y="1452348"/>
            <a:ext cx="6517065" cy="3633262"/>
          </a:xfrm>
          <a:prstGeom prst="rect">
            <a:avLst/>
          </a:prstGeom>
        </p:spPr>
      </p:pic>
    </p:spTree>
    <p:extLst>
      <p:ext uri="{BB962C8B-B14F-4D97-AF65-F5344CB8AC3E}">
        <p14:creationId xmlns:p14="http://schemas.microsoft.com/office/powerpoint/2010/main" val="68660453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E22D7-7B6E-B5EF-9B71-D9CB94A8A72C}"/>
              </a:ext>
            </a:extLst>
          </p:cNvPr>
          <p:cNvSpPr>
            <a:spLocks noGrp="1"/>
          </p:cNvSpPr>
          <p:nvPr>
            <p:ph type="title"/>
          </p:nvPr>
        </p:nvSpPr>
        <p:spPr/>
        <p:txBody>
          <a:bodyPr/>
          <a:lstStyle/>
          <a:p>
            <a:r>
              <a:rPr lang="en-IN" dirty="0"/>
              <a:t>DATA CLEANING</a:t>
            </a:r>
          </a:p>
        </p:txBody>
      </p:sp>
      <p:sp>
        <p:nvSpPr>
          <p:cNvPr id="3" name="Content Placeholder 2">
            <a:extLst>
              <a:ext uri="{FF2B5EF4-FFF2-40B4-BE49-F238E27FC236}">
                <a16:creationId xmlns:a16="http://schemas.microsoft.com/office/drawing/2014/main" id="{B3B34BDC-3ECB-CF3C-E738-938152B2203A}"/>
              </a:ext>
            </a:extLst>
          </p:cNvPr>
          <p:cNvSpPr>
            <a:spLocks noGrp="1"/>
          </p:cNvSpPr>
          <p:nvPr>
            <p:ph idx="1"/>
          </p:nvPr>
        </p:nvSpPr>
        <p:spPr/>
        <p:txBody>
          <a:bodyPr/>
          <a:lstStyle/>
          <a:p>
            <a:r>
              <a:rPr lang="en-US" b="0" i="0" dirty="0">
                <a:solidFill>
                  <a:srgbClr val="1F1F1F"/>
                </a:solidFill>
                <a:effectLst/>
                <a:latin typeface="Google Sans"/>
              </a:rPr>
              <a:t>Data cleansing or data scrubbing is the process of identifying and correcting errors, inconsistencies, and inaccuracies in datasets.</a:t>
            </a:r>
          </a:p>
          <a:p>
            <a:r>
              <a:rPr lang="en-US" b="0" i="0" dirty="0">
                <a:solidFill>
                  <a:srgbClr val="1F1F1F"/>
                </a:solidFill>
                <a:effectLst/>
                <a:latin typeface="Google Sans"/>
              </a:rPr>
              <a:t>The goal of this technique is </a:t>
            </a:r>
            <a:r>
              <a:rPr lang="en-US" b="0" i="0" dirty="0">
                <a:solidFill>
                  <a:srgbClr val="040C28"/>
                </a:solidFill>
                <a:effectLst/>
                <a:latin typeface="Google Sans"/>
              </a:rPr>
              <a:t>to improve the quality and reliability of your data, making it more accurate and useful for analysis</a:t>
            </a:r>
            <a:r>
              <a:rPr lang="en-US" b="0" i="0" dirty="0">
                <a:solidFill>
                  <a:srgbClr val="1F1F1F"/>
                </a:solidFill>
                <a:effectLst/>
                <a:latin typeface="Google Sans"/>
              </a:rPr>
              <a:t>.</a:t>
            </a:r>
          </a:p>
          <a:p>
            <a:r>
              <a:rPr lang="en-US" dirty="0">
                <a:solidFill>
                  <a:srgbClr val="1F1F1F"/>
                </a:solidFill>
                <a:latin typeface="Google Sans"/>
              </a:rPr>
              <a:t>Steps for doing Data Cleaning in Power BI are:</a:t>
            </a:r>
          </a:p>
          <a:p>
            <a:r>
              <a:rPr lang="en-US" b="1" dirty="0"/>
              <a:t>1. Load Data into Power BI</a:t>
            </a:r>
          </a:p>
          <a:p>
            <a:pPr>
              <a:buFont typeface="Arial" panose="020B0604020202020204" pitchFamily="34" charset="0"/>
              <a:buChar char="•"/>
            </a:pPr>
            <a:r>
              <a:rPr lang="en-US" dirty="0"/>
              <a:t>Import your dataset into Power BI Desktop.</a:t>
            </a:r>
          </a:p>
          <a:p>
            <a:pPr>
              <a:buFont typeface="Arial" panose="020B0604020202020204" pitchFamily="34" charset="0"/>
              <a:buChar char="•"/>
            </a:pPr>
            <a:r>
              <a:rPr lang="en-US" dirty="0"/>
              <a:t>Open the </a:t>
            </a:r>
            <a:r>
              <a:rPr lang="en-US" b="1" dirty="0"/>
              <a:t>Power Query Editor</a:t>
            </a:r>
            <a:r>
              <a:rPr lang="en-US" dirty="0"/>
              <a:t> by selecting </a:t>
            </a:r>
            <a:r>
              <a:rPr lang="en-US" b="1" dirty="0"/>
              <a:t>Transform Data</a:t>
            </a:r>
            <a:r>
              <a:rPr lang="en-US" dirty="0"/>
              <a:t>.</a:t>
            </a:r>
          </a:p>
          <a:p>
            <a:endParaRPr lang="en-IN" dirty="0"/>
          </a:p>
        </p:txBody>
      </p:sp>
    </p:spTree>
    <p:extLst>
      <p:ext uri="{BB962C8B-B14F-4D97-AF65-F5344CB8AC3E}">
        <p14:creationId xmlns:p14="http://schemas.microsoft.com/office/powerpoint/2010/main" val="1037652403"/>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1685-0ED6-2B3F-6B9F-A7EE8CB930B1}"/>
              </a:ext>
            </a:extLst>
          </p:cNvPr>
          <p:cNvSpPr>
            <a:spLocks noGrp="1"/>
          </p:cNvSpPr>
          <p:nvPr>
            <p:ph type="title"/>
          </p:nvPr>
        </p:nvSpPr>
        <p:spPr>
          <a:xfrm>
            <a:off x="1295400" y="0"/>
            <a:ext cx="9601200" cy="1485900"/>
          </a:xfrm>
        </p:spPr>
        <p:txBody>
          <a:bodyPr/>
          <a:lstStyle/>
          <a:p>
            <a:r>
              <a:rPr lang="en-US" dirty="0"/>
              <a:t>Inspection of Data and Remove Duplicates</a:t>
            </a:r>
            <a:endParaRPr lang="en-IN" dirty="0"/>
          </a:p>
        </p:txBody>
      </p:sp>
      <p:sp>
        <p:nvSpPr>
          <p:cNvPr id="3" name="Content Placeholder 2">
            <a:extLst>
              <a:ext uri="{FF2B5EF4-FFF2-40B4-BE49-F238E27FC236}">
                <a16:creationId xmlns:a16="http://schemas.microsoft.com/office/drawing/2014/main" id="{9CB4C75D-2001-221F-DD88-BCF94CC8C327}"/>
              </a:ext>
            </a:extLst>
          </p:cNvPr>
          <p:cNvSpPr>
            <a:spLocks noGrp="1"/>
          </p:cNvSpPr>
          <p:nvPr>
            <p:ph idx="1"/>
          </p:nvPr>
        </p:nvSpPr>
        <p:spPr>
          <a:xfrm>
            <a:off x="1371600" y="1587731"/>
            <a:ext cx="9601200" cy="4671753"/>
          </a:xfrm>
        </p:spPr>
        <p:txBody>
          <a:bodyPr>
            <a:normAutofit/>
          </a:bodyPr>
          <a:lstStyle/>
          <a:p>
            <a:r>
              <a:rPr lang="en-IN" b="1" dirty="0"/>
              <a:t>2. Inspect Your Data</a:t>
            </a:r>
          </a:p>
          <a:p>
            <a:r>
              <a:rPr lang="en-IN" dirty="0"/>
              <a:t>Look for issues like:</a:t>
            </a:r>
          </a:p>
          <a:p>
            <a:r>
              <a:rPr lang="en-IN" dirty="0"/>
              <a:t>Blank cells,</a:t>
            </a:r>
          </a:p>
          <a:p>
            <a:r>
              <a:rPr lang="en-IN" dirty="0"/>
              <a:t>Duplicate records,</a:t>
            </a:r>
          </a:p>
          <a:p>
            <a:r>
              <a:rPr lang="en-IN" dirty="0"/>
              <a:t>Inconsistent data formats and</a:t>
            </a:r>
          </a:p>
          <a:p>
            <a:r>
              <a:rPr lang="en-IN" dirty="0"/>
              <a:t>Erroneous values.</a:t>
            </a:r>
          </a:p>
          <a:p>
            <a:r>
              <a:rPr lang="en-IN" dirty="0"/>
              <a:t>Use the Data Preview Pane in Power Query to quickly identify issues.</a:t>
            </a:r>
          </a:p>
          <a:p>
            <a:r>
              <a:rPr lang="en-IN" b="1" dirty="0"/>
              <a:t>3. Remove Duplicates</a:t>
            </a:r>
          </a:p>
          <a:p>
            <a:r>
              <a:rPr lang="en-IN" dirty="0"/>
              <a:t>Select a column (or multiple columns) to check for duplicate rows.</a:t>
            </a:r>
          </a:p>
          <a:p>
            <a:r>
              <a:rPr lang="en-IN" dirty="0"/>
              <a:t>Go to the Home tab and click Remove Duplicates.</a:t>
            </a:r>
          </a:p>
        </p:txBody>
      </p:sp>
    </p:spTree>
    <p:extLst>
      <p:ext uri="{BB962C8B-B14F-4D97-AF65-F5344CB8AC3E}">
        <p14:creationId xmlns:p14="http://schemas.microsoft.com/office/powerpoint/2010/main" val="297691060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9211E-ED75-12E4-1F42-78D17BC4DECA}"/>
              </a:ext>
            </a:extLst>
          </p:cNvPr>
          <p:cNvSpPr>
            <a:spLocks noGrp="1"/>
          </p:cNvSpPr>
          <p:nvPr>
            <p:ph type="title"/>
          </p:nvPr>
        </p:nvSpPr>
        <p:spPr/>
        <p:txBody>
          <a:bodyPr/>
          <a:lstStyle/>
          <a:p>
            <a:r>
              <a:rPr lang="en-US" dirty="0"/>
              <a:t>Correct Data Types and Standardize and Format Text</a:t>
            </a:r>
            <a:endParaRPr lang="en-IN" dirty="0"/>
          </a:p>
        </p:txBody>
      </p:sp>
      <p:sp>
        <p:nvSpPr>
          <p:cNvPr id="3" name="Content Placeholder 2">
            <a:extLst>
              <a:ext uri="{FF2B5EF4-FFF2-40B4-BE49-F238E27FC236}">
                <a16:creationId xmlns:a16="http://schemas.microsoft.com/office/drawing/2014/main" id="{36619F97-539A-AD28-3790-D0BDB9CE4851}"/>
              </a:ext>
            </a:extLst>
          </p:cNvPr>
          <p:cNvSpPr>
            <a:spLocks noGrp="1"/>
          </p:cNvSpPr>
          <p:nvPr>
            <p:ph idx="1"/>
          </p:nvPr>
        </p:nvSpPr>
        <p:spPr>
          <a:xfrm>
            <a:off x="1371600" y="2285999"/>
            <a:ext cx="9601200" cy="3965171"/>
          </a:xfrm>
        </p:spPr>
        <p:txBody>
          <a:bodyPr>
            <a:normAutofit lnSpcReduction="10000"/>
          </a:bodyPr>
          <a:lstStyle/>
          <a:p>
            <a:r>
              <a:rPr lang="en-US" dirty="0"/>
              <a:t>5. Correct Data Types:</a:t>
            </a:r>
          </a:p>
          <a:p>
            <a:r>
              <a:rPr lang="en-US" dirty="0"/>
              <a:t>Ensure each column has the appropriate data type (e.g., Date, Text, Number).</a:t>
            </a:r>
          </a:p>
          <a:p>
            <a:r>
              <a:rPr lang="en-US" dirty="0"/>
              <a:t>Change data types using the Transform &gt; Data Type option.</a:t>
            </a:r>
          </a:p>
          <a:p>
            <a:endParaRPr lang="en-US" dirty="0"/>
          </a:p>
          <a:p>
            <a:r>
              <a:rPr lang="en-US" dirty="0"/>
              <a:t>6. Standardize and Format Data:</a:t>
            </a:r>
          </a:p>
          <a:p>
            <a:r>
              <a:rPr lang="en-US" dirty="0"/>
              <a:t>Trim and Clean Text: Use the Transform &gt; Format menu to trim spaces or clean up non-printable characters.</a:t>
            </a:r>
          </a:p>
          <a:p>
            <a:r>
              <a:rPr lang="en-US" dirty="0"/>
              <a:t>Split Columns: Break down columns into more meaningful units using the Split Column option.</a:t>
            </a:r>
          </a:p>
          <a:p>
            <a:r>
              <a:rPr lang="en-US" dirty="0"/>
              <a:t>Merge Columns: Combine columns for consistency if needed.</a:t>
            </a:r>
            <a:endParaRPr lang="en-IN" dirty="0"/>
          </a:p>
        </p:txBody>
      </p:sp>
    </p:spTree>
    <p:extLst>
      <p:ext uri="{BB962C8B-B14F-4D97-AF65-F5344CB8AC3E}">
        <p14:creationId xmlns:p14="http://schemas.microsoft.com/office/powerpoint/2010/main" val="409314347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E1A76-FF92-1D7A-6FBB-FE57CBD59BDF}"/>
              </a:ext>
            </a:extLst>
          </p:cNvPr>
          <p:cNvSpPr>
            <a:spLocks noGrp="1"/>
          </p:cNvSpPr>
          <p:nvPr>
            <p:ph type="title"/>
          </p:nvPr>
        </p:nvSpPr>
        <p:spPr>
          <a:xfrm>
            <a:off x="1371600" y="0"/>
            <a:ext cx="9601200" cy="864524"/>
          </a:xfrm>
        </p:spPr>
        <p:txBody>
          <a:bodyPr/>
          <a:lstStyle/>
          <a:p>
            <a:r>
              <a:rPr lang="en-US" dirty="0"/>
              <a:t>FINAL STEPS IN DATA CLEANING</a:t>
            </a:r>
            <a:endParaRPr lang="en-IN" dirty="0"/>
          </a:p>
        </p:txBody>
      </p:sp>
      <p:sp>
        <p:nvSpPr>
          <p:cNvPr id="3" name="Content Placeholder 2">
            <a:extLst>
              <a:ext uri="{FF2B5EF4-FFF2-40B4-BE49-F238E27FC236}">
                <a16:creationId xmlns:a16="http://schemas.microsoft.com/office/drawing/2014/main" id="{ADD0A527-D480-4C3B-D8D8-6A2D3BD59CDF}"/>
              </a:ext>
            </a:extLst>
          </p:cNvPr>
          <p:cNvSpPr>
            <a:spLocks noGrp="1"/>
          </p:cNvSpPr>
          <p:nvPr>
            <p:ph idx="1"/>
          </p:nvPr>
        </p:nvSpPr>
        <p:spPr>
          <a:xfrm>
            <a:off x="1371600" y="980902"/>
            <a:ext cx="9601200" cy="5785658"/>
          </a:xfrm>
        </p:spPr>
        <p:txBody>
          <a:bodyPr>
            <a:normAutofit fontScale="92500" lnSpcReduction="20000"/>
          </a:bodyPr>
          <a:lstStyle/>
          <a:p>
            <a:r>
              <a:rPr lang="en-US" dirty="0"/>
              <a:t>7. Handle Outliers and Erroneous Values:</a:t>
            </a:r>
          </a:p>
          <a:p>
            <a:r>
              <a:rPr lang="en-US" dirty="0"/>
              <a:t>Filter out unrealistic data points or set thresholds for valid values using Conditional Columns or Filters.</a:t>
            </a:r>
          </a:p>
          <a:p>
            <a:r>
              <a:rPr lang="en-US" dirty="0"/>
              <a:t>Use the Replace Values option to correct known erroneous entries.</a:t>
            </a:r>
          </a:p>
          <a:p>
            <a:endParaRPr lang="en-US" dirty="0"/>
          </a:p>
          <a:p>
            <a:r>
              <a:rPr lang="en-US" dirty="0"/>
              <a:t>8. Transform Data for Consistency</a:t>
            </a:r>
          </a:p>
          <a:p>
            <a:r>
              <a:rPr lang="en-US" dirty="0"/>
              <a:t>Pivot/Unpivot Data: Restructure your table for better usability.</a:t>
            </a:r>
          </a:p>
          <a:p>
            <a:r>
              <a:rPr lang="en-US" dirty="0"/>
              <a:t>Use Group By to summarize data and eliminate redundancy.</a:t>
            </a:r>
          </a:p>
          <a:p>
            <a:endParaRPr lang="en-US" dirty="0"/>
          </a:p>
          <a:p>
            <a:r>
              <a:rPr lang="en-US" dirty="0"/>
              <a:t>9. Add Calculated Columns or Measures: </a:t>
            </a:r>
          </a:p>
          <a:p>
            <a:r>
              <a:rPr lang="en-US" dirty="0"/>
              <a:t>Create new columns or metrics to improve analysis accuracy, e.g., adding an “Error Margin” column.</a:t>
            </a:r>
          </a:p>
          <a:p>
            <a:endParaRPr lang="en-US" dirty="0"/>
          </a:p>
          <a:p>
            <a:r>
              <a:rPr lang="en-US" dirty="0"/>
              <a:t>10. Apply Steps and Save: </a:t>
            </a:r>
          </a:p>
          <a:p>
            <a:r>
              <a:rPr lang="en-US" dirty="0"/>
              <a:t>Review the Applied Steps Pane to ensure all transformations is correct.</a:t>
            </a:r>
          </a:p>
          <a:p>
            <a:r>
              <a:rPr lang="en-US" dirty="0"/>
              <a:t>Click Close &amp; Apply to load the cleaned data back into Power BI.</a:t>
            </a:r>
            <a:endParaRPr lang="en-IN" dirty="0"/>
          </a:p>
        </p:txBody>
      </p:sp>
    </p:spTree>
    <p:extLst>
      <p:ext uri="{BB962C8B-B14F-4D97-AF65-F5344CB8AC3E}">
        <p14:creationId xmlns:p14="http://schemas.microsoft.com/office/powerpoint/2010/main" val="35450270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39D64-7D94-0AC1-7C2D-A6F8996BE82C}"/>
              </a:ext>
            </a:extLst>
          </p:cNvPr>
          <p:cNvSpPr>
            <a:spLocks noGrp="1"/>
          </p:cNvSpPr>
          <p:nvPr>
            <p:ph type="title"/>
          </p:nvPr>
        </p:nvSpPr>
        <p:spPr/>
        <p:txBody>
          <a:bodyPr/>
          <a:lstStyle/>
          <a:p>
            <a:r>
              <a:rPr lang="en-IN" dirty="0"/>
              <a:t>HANDLING MISSING DATA</a:t>
            </a:r>
          </a:p>
        </p:txBody>
      </p:sp>
      <p:sp>
        <p:nvSpPr>
          <p:cNvPr id="3" name="Content Placeholder 2">
            <a:extLst>
              <a:ext uri="{FF2B5EF4-FFF2-40B4-BE49-F238E27FC236}">
                <a16:creationId xmlns:a16="http://schemas.microsoft.com/office/drawing/2014/main" id="{BA7E4C7B-FA49-7247-387A-8F043A18B80C}"/>
              </a:ext>
            </a:extLst>
          </p:cNvPr>
          <p:cNvSpPr>
            <a:spLocks noGrp="1"/>
          </p:cNvSpPr>
          <p:nvPr>
            <p:ph idx="1"/>
          </p:nvPr>
        </p:nvSpPr>
        <p:spPr>
          <a:xfrm>
            <a:off x="1371600" y="1600200"/>
            <a:ext cx="9601200" cy="4572000"/>
          </a:xfrm>
        </p:spPr>
        <p:txBody>
          <a:bodyPr>
            <a:normAutofit lnSpcReduction="10000"/>
          </a:bodyPr>
          <a:lstStyle/>
          <a:p>
            <a:r>
              <a:rPr lang="en-US" b="0" i="0" dirty="0">
                <a:solidFill>
                  <a:srgbClr val="474747"/>
                </a:solidFill>
                <a:effectLst/>
                <a:latin typeface="Google Sans"/>
              </a:rPr>
              <a:t>Missing data </a:t>
            </a:r>
            <a:r>
              <a:rPr lang="en-US" b="0" i="0" dirty="0">
                <a:solidFill>
                  <a:srgbClr val="040C28"/>
                </a:solidFill>
                <a:effectLst/>
                <a:latin typeface="Google Sans"/>
              </a:rPr>
              <a:t>can reduce the statistical power of a study and can produce biased estimates, leading to invalid conclusions</a:t>
            </a:r>
            <a:r>
              <a:rPr lang="en-US" b="0" i="0" dirty="0">
                <a:solidFill>
                  <a:srgbClr val="474747"/>
                </a:solidFill>
                <a:effectLst/>
                <a:latin typeface="Google Sans"/>
              </a:rPr>
              <a:t>.</a:t>
            </a:r>
          </a:p>
          <a:p>
            <a:r>
              <a:rPr lang="en-US" b="0" i="0" dirty="0">
                <a:solidFill>
                  <a:srgbClr val="1F1F1F"/>
                </a:solidFill>
                <a:effectLst/>
                <a:latin typeface="Google Sans"/>
              </a:rPr>
              <a:t>Handling missing data correctly during the cleaning process is important </a:t>
            </a:r>
            <a:r>
              <a:rPr lang="en-US" b="0" i="0" dirty="0">
                <a:solidFill>
                  <a:srgbClr val="040C28"/>
                </a:solidFill>
                <a:effectLst/>
                <a:latin typeface="Google Sans"/>
              </a:rPr>
              <a:t>to ensure the accuracy of final result</a:t>
            </a:r>
            <a:r>
              <a:rPr lang="en-US" b="0" i="0" dirty="0">
                <a:solidFill>
                  <a:srgbClr val="1F1F1F"/>
                </a:solidFill>
                <a:effectLst/>
                <a:latin typeface="Google Sans"/>
              </a:rPr>
              <a:t>.</a:t>
            </a:r>
          </a:p>
          <a:p>
            <a:r>
              <a:rPr lang="en-US" b="0" i="0" dirty="0">
                <a:solidFill>
                  <a:srgbClr val="1F1F1F"/>
                </a:solidFill>
                <a:effectLst/>
                <a:latin typeface="Google Sans"/>
              </a:rPr>
              <a:t>There are several methods for handling missing data, including deletion, imputation, interpolation, and regression.</a:t>
            </a:r>
          </a:p>
          <a:p>
            <a:r>
              <a:rPr lang="en-US" dirty="0">
                <a:solidFill>
                  <a:srgbClr val="1F1F1F"/>
                </a:solidFill>
                <a:latin typeface="Google Sans"/>
              </a:rPr>
              <a:t>There are steps in handling data in Power BI. They are:</a:t>
            </a:r>
          </a:p>
          <a:p>
            <a:r>
              <a:rPr lang="en-US" b="1" i="0" dirty="0">
                <a:solidFill>
                  <a:srgbClr val="1F1F1F"/>
                </a:solidFill>
                <a:effectLst/>
                <a:latin typeface="Google Sans"/>
              </a:rPr>
              <a:t>1. Identify Missing Values:</a:t>
            </a:r>
          </a:p>
          <a:p>
            <a:r>
              <a:rPr lang="en-US" b="0" i="0" dirty="0">
                <a:solidFill>
                  <a:srgbClr val="1F1F1F"/>
                </a:solidFill>
                <a:effectLst/>
                <a:latin typeface="Google Sans"/>
              </a:rPr>
              <a:t>Open Power Query Editor by selecting Transform Data in Power BI.</a:t>
            </a:r>
          </a:p>
          <a:p>
            <a:r>
              <a:rPr lang="en-US" b="0" i="0" dirty="0">
                <a:solidFill>
                  <a:srgbClr val="1F1F1F"/>
                </a:solidFill>
                <a:effectLst/>
                <a:latin typeface="Google Sans"/>
              </a:rPr>
              <a:t>Filter for missing values in a column using Filters (e.g., selecting (null) or blank cells).</a:t>
            </a:r>
          </a:p>
          <a:p>
            <a:r>
              <a:rPr lang="en-US" b="0" i="0" dirty="0">
                <a:solidFill>
                  <a:srgbClr val="1F1F1F"/>
                </a:solidFill>
                <a:effectLst/>
                <a:latin typeface="Google Sans"/>
              </a:rPr>
              <a:t>Look for null values, blanks, or placeholders (e.g., "N/A", "Unknown").</a:t>
            </a:r>
          </a:p>
          <a:p>
            <a:endParaRPr lang="en-US" b="0" i="0" dirty="0">
              <a:solidFill>
                <a:srgbClr val="1F1F1F"/>
              </a:solidFill>
              <a:effectLst/>
              <a:latin typeface="Google Sans"/>
            </a:endParaRPr>
          </a:p>
          <a:p>
            <a:endParaRPr lang="en-US" dirty="0">
              <a:solidFill>
                <a:srgbClr val="474747"/>
              </a:solidFill>
              <a:latin typeface="Google Sans"/>
            </a:endParaRPr>
          </a:p>
        </p:txBody>
      </p:sp>
    </p:spTree>
    <p:extLst>
      <p:ext uri="{BB962C8B-B14F-4D97-AF65-F5344CB8AC3E}">
        <p14:creationId xmlns:p14="http://schemas.microsoft.com/office/powerpoint/2010/main" val="36759771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A51F2-BCBE-78EE-7B13-EC045F40D716}"/>
              </a:ext>
            </a:extLst>
          </p:cNvPr>
          <p:cNvSpPr>
            <a:spLocks noGrp="1"/>
          </p:cNvSpPr>
          <p:nvPr>
            <p:ph type="title"/>
          </p:nvPr>
        </p:nvSpPr>
        <p:spPr>
          <a:xfrm>
            <a:off x="1295400" y="0"/>
            <a:ext cx="10896600" cy="1014153"/>
          </a:xfrm>
        </p:spPr>
        <p:txBody>
          <a:bodyPr/>
          <a:lstStyle/>
          <a:p>
            <a:r>
              <a:rPr lang="en-US" dirty="0"/>
              <a:t>HANDLING OPTIONS FOR MISSING VALUES</a:t>
            </a:r>
            <a:endParaRPr lang="en-IN" dirty="0"/>
          </a:p>
        </p:txBody>
      </p:sp>
      <p:sp>
        <p:nvSpPr>
          <p:cNvPr id="3" name="Content Placeholder 2">
            <a:extLst>
              <a:ext uri="{FF2B5EF4-FFF2-40B4-BE49-F238E27FC236}">
                <a16:creationId xmlns:a16="http://schemas.microsoft.com/office/drawing/2014/main" id="{A5DF214C-9A2B-E998-B61B-FD0FC8D5C7BD}"/>
              </a:ext>
            </a:extLst>
          </p:cNvPr>
          <p:cNvSpPr>
            <a:spLocks noGrp="1"/>
          </p:cNvSpPr>
          <p:nvPr>
            <p:ph idx="1"/>
          </p:nvPr>
        </p:nvSpPr>
        <p:spPr>
          <a:xfrm>
            <a:off x="1295400" y="1014153"/>
            <a:ext cx="9601200" cy="5843846"/>
          </a:xfrm>
        </p:spPr>
        <p:txBody>
          <a:bodyPr>
            <a:normAutofit fontScale="92500"/>
          </a:bodyPr>
          <a:lstStyle/>
          <a:p>
            <a:r>
              <a:rPr lang="en-US" b="1" dirty="0"/>
              <a:t>2. Handling Options for Missing Values</a:t>
            </a:r>
          </a:p>
          <a:p>
            <a:r>
              <a:rPr lang="en-US" b="1" dirty="0"/>
              <a:t>a. Remove Rows with Missing Values:</a:t>
            </a:r>
          </a:p>
          <a:p>
            <a:r>
              <a:rPr lang="en-US" dirty="0"/>
              <a:t>Use this method if missing values are minimal and their removal won't significantly impact analysis.</a:t>
            </a:r>
          </a:p>
          <a:p>
            <a:r>
              <a:rPr lang="en-US" dirty="0"/>
              <a:t>Select the column and choose Remove Rows &gt; Remove Blank Rows from the Home tab.</a:t>
            </a:r>
          </a:p>
          <a:p>
            <a:r>
              <a:rPr lang="en-US" dirty="0"/>
              <a:t>Be cautious when using this option as it might reduce the size of your dataset.</a:t>
            </a:r>
          </a:p>
          <a:p>
            <a:pPr marL="0" indent="0">
              <a:buNone/>
            </a:pPr>
            <a:endParaRPr lang="en-US" dirty="0"/>
          </a:p>
          <a:p>
            <a:r>
              <a:rPr lang="en-US" b="1" dirty="0"/>
              <a:t>b. Replace Missing Values: </a:t>
            </a:r>
          </a:p>
          <a:p>
            <a:r>
              <a:rPr lang="en-US" dirty="0"/>
              <a:t>Replace nulls or blanks with default or calculated values:</a:t>
            </a:r>
          </a:p>
          <a:p>
            <a:r>
              <a:rPr lang="en-US" dirty="0"/>
              <a:t>Select the column. Go to Transform &gt; Replace Values and specify the value to replace.</a:t>
            </a:r>
          </a:p>
          <a:p>
            <a:r>
              <a:rPr lang="en-US" dirty="0"/>
              <a:t>Alternatively, use Transform &gt; Replace Errors for columns with data type errors.</a:t>
            </a:r>
          </a:p>
          <a:p>
            <a:r>
              <a:rPr lang="en-US" dirty="0"/>
              <a:t>Examples of replacements: Replace missing numeric values with 0, column averages, or median.</a:t>
            </a:r>
          </a:p>
          <a:p>
            <a:r>
              <a:rPr lang="en-US" dirty="0"/>
              <a:t>Replace missing text with "Unknown" or a relevant default string.</a:t>
            </a:r>
            <a:endParaRPr lang="en-IN" dirty="0"/>
          </a:p>
        </p:txBody>
      </p:sp>
    </p:spTree>
    <p:extLst>
      <p:ext uri="{BB962C8B-B14F-4D97-AF65-F5344CB8AC3E}">
        <p14:creationId xmlns:p14="http://schemas.microsoft.com/office/powerpoint/2010/main" val="188146347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D392-3DCF-A68A-7FB6-00BBECF21C1B}"/>
              </a:ext>
            </a:extLst>
          </p:cNvPr>
          <p:cNvSpPr>
            <a:spLocks noGrp="1"/>
          </p:cNvSpPr>
          <p:nvPr>
            <p:ph type="title"/>
          </p:nvPr>
        </p:nvSpPr>
        <p:spPr>
          <a:xfrm>
            <a:off x="1295400" y="0"/>
            <a:ext cx="9601200" cy="1122218"/>
          </a:xfrm>
        </p:spPr>
        <p:txBody>
          <a:bodyPr/>
          <a:lstStyle/>
          <a:p>
            <a:r>
              <a:rPr lang="en-US" dirty="0"/>
              <a:t>Options for Handling Missing Values</a:t>
            </a:r>
            <a:endParaRPr lang="en-IN" dirty="0"/>
          </a:p>
        </p:txBody>
      </p:sp>
      <p:sp>
        <p:nvSpPr>
          <p:cNvPr id="3" name="Content Placeholder 2">
            <a:extLst>
              <a:ext uri="{FF2B5EF4-FFF2-40B4-BE49-F238E27FC236}">
                <a16:creationId xmlns:a16="http://schemas.microsoft.com/office/drawing/2014/main" id="{04D4E91A-1B19-B298-3327-2235F5274FC5}"/>
              </a:ext>
            </a:extLst>
          </p:cNvPr>
          <p:cNvSpPr>
            <a:spLocks noGrp="1"/>
          </p:cNvSpPr>
          <p:nvPr>
            <p:ph idx="1"/>
          </p:nvPr>
        </p:nvSpPr>
        <p:spPr>
          <a:xfrm>
            <a:off x="1371599" y="1485900"/>
            <a:ext cx="10665229" cy="5372100"/>
          </a:xfrm>
        </p:spPr>
        <p:txBody>
          <a:bodyPr>
            <a:normAutofit fontScale="92500" lnSpcReduction="10000"/>
          </a:bodyPr>
          <a:lstStyle/>
          <a:p>
            <a:r>
              <a:rPr lang="en-US" b="1" dirty="0"/>
              <a:t>c. Use Conditional Logic for Replacements</a:t>
            </a:r>
          </a:p>
          <a:p>
            <a:r>
              <a:rPr lang="en-US" dirty="0"/>
              <a:t>Add a Conditional Column to replace missing values based on logical rules:</a:t>
            </a:r>
          </a:p>
          <a:p>
            <a:r>
              <a:rPr lang="en-US" dirty="0"/>
              <a:t>Go to Add Column &gt; Conditional Column.</a:t>
            </a:r>
          </a:p>
          <a:p>
            <a:r>
              <a:rPr lang="en-US" dirty="0"/>
              <a:t>Define conditions, such as replacing null with a specific value based on other column data.</a:t>
            </a:r>
          </a:p>
          <a:p>
            <a:endParaRPr lang="en-US" dirty="0"/>
          </a:p>
          <a:p>
            <a:r>
              <a:rPr lang="en-US" b="1" dirty="0"/>
              <a:t>d. Fill Down or Up for Missing Data in Sequential Data:</a:t>
            </a:r>
          </a:p>
          <a:p>
            <a:r>
              <a:rPr lang="en-US" dirty="0"/>
              <a:t>Use the Fill Down or Fill Up feature for columns where values should propagate:</a:t>
            </a:r>
          </a:p>
          <a:p>
            <a:r>
              <a:rPr lang="en-US" dirty="0"/>
              <a:t>Select the column, then go to Transform &gt; Fill &gt; Down (or Up).</a:t>
            </a:r>
          </a:p>
          <a:p>
            <a:r>
              <a:rPr lang="en-US" dirty="0"/>
              <a:t>Useful for filling gaps in hierarchical or sequential datasets.</a:t>
            </a:r>
          </a:p>
          <a:p>
            <a:endParaRPr lang="en-US" dirty="0"/>
          </a:p>
          <a:p>
            <a:r>
              <a:rPr lang="en-US" b="1" dirty="0"/>
              <a:t>e. Interpolate or Impute Missing Values:</a:t>
            </a:r>
          </a:p>
          <a:p>
            <a:r>
              <a:rPr lang="en-US" dirty="0"/>
              <a:t>Advanced methods for numerical data:</a:t>
            </a:r>
          </a:p>
          <a:p>
            <a:r>
              <a:rPr lang="en-US" dirty="0"/>
              <a:t>Create a custom column to calculate values based on interpolation or averages of neighboring rows.</a:t>
            </a:r>
          </a:p>
        </p:txBody>
      </p:sp>
    </p:spTree>
    <p:extLst>
      <p:ext uri="{BB962C8B-B14F-4D97-AF65-F5344CB8AC3E}">
        <p14:creationId xmlns:p14="http://schemas.microsoft.com/office/powerpoint/2010/main" val="200931512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B4F08-A484-D41A-1F32-F9A7FA3728D3}"/>
              </a:ext>
            </a:extLst>
          </p:cNvPr>
          <p:cNvSpPr>
            <a:spLocks noGrp="1"/>
          </p:cNvSpPr>
          <p:nvPr>
            <p:ph type="title"/>
          </p:nvPr>
        </p:nvSpPr>
        <p:spPr>
          <a:xfrm>
            <a:off x="1371600" y="0"/>
            <a:ext cx="9601200" cy="990600"/>
          </a:xfrm>
        </p:spPr>
        <p:txBody>
          <a:bodyPr/>
          <a:lstStyle/>
          <a:p>
            <a:r>
              <a:rPr lang="en-US" dirty="0"/>
              <a:t>Advanced Handling Techniques</a:t>
            </a:r>
            <a:endParaRPr lang="en-IN" dirty="0"/>
          </a:p>
        </p:txBody>
      </p:sp>
      <p:sp>
        <p:nvSpPr>
          <p:cNvPr id="3" name="Content Placeholder 2">
            <a:extLst>
              <a:ext uri="{FF2B5EF4-FFF2-40B4-BE49-F238E27FC236}">
                <a16:creationId xmlns:a16="http://schemas.microsoft.com/office/drawing/2014/main" id="{DACDD3EC-B958-E939-CC75-CCFCC057E8C4}"/>
              </a:ext>
            </a:extLst>
          </p:cNvPr>
          <p:cNvSpPr>
            <a:spLocks noGrp="1"/>
          </p:cNvSpPr>
          <p:nvPr>
            <p:ph idx="1"/>
          </p:nvPr>
        </p:nvSpPr>
        <p:spPr>
          <a:xfrm>
            <a:off x="1371600" y="1163782"/>
            <a:ext cx="9601200" cy="5120640"/>
          </a:xfrm>
        </p:spPr>
        <p:txBody>
          <a:bodyPr/>
          <a:lstStyle/>
          <a:p>
            <a:r>
              <a:rPr lang="en-US" b="1" dirty="0"/>
              <a:t>3. Advanced Handling Techniques</a:t>
            </a:r>
          </a:p>
          <a:p>
            <a:r>
              <a:rPr lang="en-US" b="1" dirty="0"/>
              <a:t>a. Group By and Aggregate Data</a:t>
            </a:r>
          </a:p>
          <a:p>
            <a:pPr>
              <a:buFont typeface="Arial" panose="020B0604020202020204" pitchFamily="34" charset="0"/>
              <a:buChar char="•"/>
            </a:pPr>
            <a:r>
              <a:rPr lang="en-US" dirty="0"/>
              <a:t>If data has many missing values, aggregate by a higher-level grouping to compensate.</a:t>
            </a:r>
          </a:p>
          <a:p>
            <a:pPr marL="742950" lvl="1" indent="-285750">
              <a:buFont typeface="Arial" panose="020B0604020202020204" pitchFamily="34" charset="0"/>
              <a:buChar char="•"/>
            </a:pPr>
            <a:r>
              <a:rPr lang="en-US" dirty="0"/>
              <a:t>Example: Summarize data by months if daily data has gaps.</a:t>
            </a:r>
          </a:p>
          <a:p>
            <a:r>
              <a:rPr lang="en-US" b="1" dirty="0"/>
              <a:t>b. Split and Recombine Data</a:t>
            </a:r>
          </a:p>
          <a:p>
            <a:pPr>
              <a:buFont typeface="Arial" panose="020B0604020202020204" pitchFamily="34" charset="0"/>
              <a:buChar char="•"/>
            </a:pPr>
            <a:r>
              <a:rPr lang="en-US" dirty="0"/>
              <a:t>Separate problematic rows into a different table for focused cleaning.</a:t>
            </a:r>
          </a:p>
          <a:p>
            <a:pPr>
              <a:buFont typeface="Arial" panose="020B0604020202020204" pitchFamily="34" charset="0"/>
              <a:buChar char="•"/>
            </a:pPr>
            <a:r>
              <a:rPr lang="en-US" dirty="0"/>
              <a:t>Merge cleaned rows back after handling issues.</a:t>
            </a:r>
          </a:p>
          <a:p>
            <a:r>
              <a:rPr lang="en-US" b="1" dirty="0"/>
              <a:t>4. Save and Apply Changes</a:t>
            </a:r>
          </a:p>
          <a:p>
            <a:pPr>
              <a:buFont typeface="Arial" panose="020B0604020202020204" pitchFamily="34" charset="0"/>
              <a:buChar char="•"/>
            </a:pPr>
            <a:r>
              <a:rPr lang="en-US" dirty="0"/>
              <a:t>After cleaning, click </a:t>
            </a:r>
            <a:r>
              <a:rPr lang="en-US" b="1" dirty="0"/>
              <a:t>Close &amp; Apply</a:t>
            </a:r>
            <a:r>
              <a:rPr lang="en-US" dirty="0"/>
              <a:t> to save the changes and load the updated data back into Power BI.</a:t>
            </a:r>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IN" dirty="0"/>
          </a:p>
        </p:txBody>
      </p:sp>
    </p:spTree>
    <p:extLst>
      <p:ext uri="{BB962C8B-B14F-4D97-AF65-F5344CB8AC3E}">
        <p14:creationId xmlns:p14="http://schemas.microsoft.com/office/powerpoint/2010/main" val="6794327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F0BB7-464A-67B8-A461-0B11204DE878}"/>
              </a:ext>
            </a:extLst>
          </p:cNvPr>
          <p:cNvSpPr>
            <a:spLocks noGrp="1"/>
          </p:cNvSpPr>
          <p:nvPr>
            <p:ph type="title"/>
          </p:nvPr>
        </p:nvSpPr>
        <p:spPr>
          <a:xfrm>
            <a:off x="1371989" y="0"/>
            <a:ext cx="9601200" cy="1485900"/>
          </a:xfrm>
        </p:spPr>
        <p:txBody>
          <a:bodyPr/>
          <a:lstStyle/>
          <a:p>
            <a:r>
              <a:rPr lang="en-IN" dirty="0"/>
              <a:t>Table Structure Dataset: </a:t>
            </a:r>
            <a:r>
              <a:rPr lang="en-IN" b="1" dirty="0"/>
              <a:t>Retail Sales Analysis</a:t>
            </a:r>
            <a:endParaRPr lang="en-IN" dirty="0"/>
          </a:p>
        </p:txBody>
      </p:sp>
      <p:sp>
        <p:nvSpPr>
          <p:cNvPr id="6" name="Rectangle 1">
            <a:extLst>
              <a:ext uri="{FF2B5EF4-FFF2-40B4-BE49-F238E27FC236}">
                <a16:creationId xmlns:a16="http://schemas.microsoft.com/office/drawing/2014/main" id="{222B4D3E-2148-F6C2-0B82-78991E715BA8}"/>
              </a:ext>
            </a:extLst>
          </p:cNvPr>
          <p:cNvSpPr>
            <a:spLocks noGrp="1" noChangeArrowheads="1"/>
          </p:cNvSpPr>
          <p:nvPr>
            <p:ph sz="half" idx="1"/>
          </p:nvPr>
        </p:nvSpPr>
        <p:spPr bwMode="auto">
          <a:xfrm>
            <a:off x="871538" y="1429145"/>
            <a:ext cx="5112875"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Tables and Fields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1" i="0" u="none" strike="noStrike" cap="none" normalizeH="0" baseline="0" dirty="0">
                <a:ln>
                  <a:noFill/>
                </a:ln>
                <a:solidFill>
                  <a:schemeClr val="tx1"/>
                </a:solidFill>
                <a:effectLst/>
                <a:latin typeface="Arial" panose="020B0604020202020204" pitchFamily="34" charset="0"/>
              </a:rPr>
              <a:t>Sales</a:t>
            </a:r>
            <a:r>
              <a:rPr kumimoji="0" lang="en-US" altLang="en-US" sz="1500" b="0" i="0" u="none" strike="noStrike" cap="none" normalizeH="0" baseline="0" dirty="0">
                <a:ln>
                  <a:noFill/>
                </a:ln>
                <a:solidFill>
                  <a:schemeClr val="tx1"/>
                </a:solidFill>
                <a:effectLst/>
                <a:latin typeface="Arial" panose="020B0604020202020204" pitchFamily="34" charset="0"/>
              </a:rPr>
              <a:t>:</a:t>
            </a:r>
            <a:endParaRPr lang="en-US" altLang="en-US" sz="1500"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SaleID</a:t>
            </a:r>
            <a:r>
              <a:rPr kumimoji="0" lang="en-US" altLang="en-US" sz="1500" b="0" i="0" u="none" strike="noStrike" cap="none" normalizeH="0" baseline="0" dirty="0">
                <a:ln>
                  <a:noFill/>
                </a:ln>
                <a:solidFill>
                  <a:schemeClr val="tx1"/>
                </a:solidFill>
                <a:effectLst/>
              </a:rPr>
              <a:t> (Unique Identifier)</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CustomerID</a:t>
            </a:r>
            <a:r>
              <a:rPr kumimoji="0" lang="en-US" altLang="en-US" sz="1500" b="0" i="0" u="none" strike="noStrike" cap="none" normalizeH="0" baseline="0" dirty="0">
                <a:ln>
                  <a:noFill/>
                </a:ln>
                <a:solidFill>
                  <a:schemeClr val="tx1"/>
                </a:solidFill>
                <a:effectLst/>
              </a:rPr>
              <a:t> (Foreign Key)</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ProductID</a:t>
            </a:r>
            <a:r>
              <a:rPr kumimoji="0" lang="en-US" altLang="en-US" sz="1500" b="0" i="0" u="none" strike="noStrike" cap="none" normalizeH="0" baseline="0" dirty="0">
                <a:ln>
                  <a:noFill/>
                </a:ln>
                <a:solidFill>
                  <a:schemeClr val="tx1"/>
                </a:solidFill>
                <a:effectLst/>
              </a:rPr>
              <a:t> (Foreign Key)</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StoreID</a:t>
            </a:r>
            <a:r>
              <a:rPr kumimoji="0" lang="en-US" altLang="en-US" sz="1500" b="0" i="0" u="none" strike="noStrike" cap="none" normalizeH="0" baseline="0" dirty="0">
                <a:ln>
                  <a:noFill/>
                </a:ln>
                <a:solidFill>
                  <a:schemeClr val="tx1"/>
                </a:solidFill>
                <a:effectLst/>
              </a:rPr>
              <a:t> (Foreign Key)</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SaleDate</a:t>
            </a:r>
            <a:r>
              <a:rPr kumimoji="0" lang="en-US" altLang="en-US" sz="1500" b="0" i="0" u="none" strike="noStrike" cap="none" normalizeH="0" baseline="0" dirty="0">
                <a:ln>
                  <a:noFill/>
                </a:ln>
                <a:solidFill>
                  <a:schemeClr val="tx1"/>
                </a:solidFill>
                <a:effectLst/>
              </a:rPr>
              <a:t> (</a:t>
            </a:r>
            <a:r>
              <a:rPr kumimoji="0" lang="en-US" altLang="en-US" sz="1500" b="0" i="0" u="none" strike="noStrike" cap="none" normalizeH="0" baseline="0" dirty="0" err="1">
                <a:ln>
                  <a:noFill/>
                </a:ln>
                <a:solidFill>
                  <a:schemeClr val="tx1"/>
                </a:solidFill>
                <a:effectLst/>
              </a:rPr>
              <a:t>DateTime</a:t>
            </a:r>
            <a:r>
              <a:rPr kumimoji="0" lang="en-US" altLang="en-US" sz="1500" b="0" i="0" u="none" strike="noStrike" cap="none" normalizeH="0" baseline="0" dirty="0">
                <a:ln>
                  <a:noFill/>
                </a:ln>
                <a:solidFill>
                  <a:schemeClr val="tx1"/>
                </a:solidFill>
                <a:effectLst/>
              </a:rPr>
              <a:t>)</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Arial Unicode MS"/>
              </a:rPr>
              <a:t>Quantity</a:t>
            </a:r>
            <a:r>
              <a:rPr kumimoji="0" lang="en-US" altLang="en-US" sz="1500" b="0" i="0" u="none" strike="noStrike" cap="none" normalizeH="0" baseline="0" dirty="0">
                <a:ln>
                  <a:noFill/>
                </a:ln>
                <a:solidFill>
                  <a:schemeClr val="tx1"/>
                </a:solidFill>
                <a:effectLst/>
              </a:rPr>
              <a:t> (Integer)</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UnitPrice</a:t>
            </a:r>
            <a:r>
              <a:rPr kumimoji="0" lang="en-US" altLang="en-US" sz="1500" b="0" i="0" u="none" strike="noStrike" cap="none" normalizeH="0" baseline="0" dirty="0">
                <a:ln>
                  <a:noFill/>
                </a:ln>
                <a:solidFill>
                  <a:schemeClr val="tx1"/>
                </a:solidFill>
                <a:effectLst/>
              </a:rPr>
              <a:t> (Decimal)</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Arial Unicode MS"/>
              </a:rPr>
              <a:t>Discount</a:t>
            </a:r>
            <a:r>
              <a:rPr kumimoji="0" lang="en-US" altLang="en-US" sz="1500" b="0" i="0" u="none" strike="noStrike" cap="none" normalizeH="0" baseline="0" dirty="0">
                <a:ln>
                  <a:noFill/>
                </a:ln>
                <a:solidFill>
                  <a:schemeClr val="tx1"/>
                </a:solidFill>
                <a:effectLst/>
              </a:rPr>
              <a:t> (Percentage)</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TotalSaleAmount</a:t>
            </a:r>
            <a:endParaRPr lang="en-US" altLang="en-US" sz="1500" i="0" dirty="0">
              <a:solidFill>
                <a:schemeClr val="tx1"/>
              </a:solidFill>
              <a:latin typeface="Arial Unicode MS"/>
            </a:endParaRP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rPr>
              <a:t>(Decimal, calculated as Quantity * </a:t>
            </a:r>
            <a:r>
              <a:rPr kumimoji="0" lang="en-US" altLang="en-US" sz="1500" b="0" i="0" u="none" strike="noStrike" cap="none" normalizeH="0" baseline="0" dirty="0" err="1">
                <a:ln>
                  <a:noFill/>
                </a:ln>
                <a:solidFill>
                  <a:schemeClr val="tx1"/>
                </a:solidFill>
                <a:effectLst/>
              </a:rPr>
              <a:t>UnitPrice</a:t>
            </a:r>
            <a:r>
              <a:rPr kumimoji="0" lang="en-US" altLang="en-US" sz="1500" b="0" i="0" u="none" strike="noStrike" cap="none" normalizeH="0" baseline="0" dirty="0">
                <a:ln>
                  <a:noFill/>
                </a:ln>
                <a:solidFill>
                  <a:schemeClr val="tx1"/>
                </a:solidFill>
                <a:effectLst/>
              </a:rPr>
              <a:t> - Discount)</a:t>
            </a:r>
            <a:endParaRPr lang="en-US" altLang="en-US" sz="1500" i="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lang="en-US" altLang="en-US" sz="15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1500" b="1" i="0" dirty="0">
                <a:solidFill>
                  <a:schemeClr val="tx1"/>
                </a:solidFill>
              </a:rPr>
              <a:t>5. External Data (e.g., Currency Exchange Rates):</a:t>
            </a:r>
          </a:p>
          <a:p>
            <a:pPr marL="457200" marR="0" lvl="1" indent="0" algn="l" defTabSz="914400" rtl="0" eaLnBrk="0" fontAlgn="base" latinLnBrk="0" hangingPunct="0">
              <a:lnSpc>
                <a:spcPct val="100000"/>
              </a:lnSpc>
              <a:spcBef>
                <a:spcPct val="0"/>
              </a:spcBef>
              <a:spcAft>
                <a:spcPct val="0"/>
              </a:spcAft>
              <a:buClrTx/>
              <a:buSzTx/>
              <a:buNone/>
              <a:tabLst/>
            </a:pPr>
            <a:r>
              <a:rPr lang="en-US" altLang="en-US" sz="1500" i="0" dirty="0">
                <a:solidFill>
                  <a:schemeClr val="tx1"/>
                </a:solidFill>
              </a:rPr>
              <a:t>Currency (String)</a:t>
            </a:r>
          </a:p>
          <a:p>
            <a:pPr marL="457200" marR="0" lvl="1" indent="0" algn="l" defTabSz="914400" rtl="0" eaLnBrk="0" fontAlgn="base" latinLnBrk="0" hangingPunct="0">
              <a:lnSpc>
                <a:spcPct val="100000"/>
              </a:lnSpc>
              <a:spcBef>
                <a:spcPct val="0"/>
              </a:spcBef>
              <a:spcAft>
                <a:spcPct val="0"/>
              </a:spcAft>
              <a:buClrTx/>
              <a:buSzTx/>
              <a:buNone/>
              <a:tabLst/>
            </a:pPr>
            <a:r>
              <a:rPr lang="en-US" altLang="en-US" sz="1500" i="0" dirty="0">
                <a:solidFill>
                  <a:schemeClr val="tx1"/>
                </a:solidFill>
              </a:rPr>
              <a:t>Rate (Decimal)</a:t>
            </a:r>
          </a:p>
          <a:p>
            <a:pPr marL="457200" marR="0" lvl="1" indent="0" algn="l" defTabSz="914400" rtl="0" eaLnBrk="0" fontAlgn="base" latinLnBrk="0" hangingPunct="0">
              <a:lnSpc>
                <a:spcPct val="100000"/>
              </a:lnSpc>
              <a:spcBef>
                <a:spcPct val="0"/>
              </a:spcBef>
              <a:spcAft>
                <a:spcPct val="0"/>
              </a:spcAft>
              <a:buClrTx/>
              <a:buSzTx/>
              <a:buNone/>
              <a:tabLst/>
            </a:pPr>
            <a:r>
              <a:rPr lang="en-US" altLang="en-US" sz="1500" i="0" dirty="0" err="1">
                <a:solidFill>
                  <a:schemeClr val="tx1"/>
                </a:solidFill>
              </a:rPr>
              <a:t>EffectiveDate</a:t>
            </a:r>
            <a:r>
              <a:rPr lang="en-US" altLang="en-US" sz="1500" i="0" dirty="0">
                <a:solidFill>
                  <a:schemeClr val="tx1"/>
                </a:solidFill>
              </a:rPr>
              <a:t> (Date)</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None/>
              <a:tabLst/>
            </a:pPr>
            <a:endParaRPr lang="en-US" altLang="en-US" sz="1500" i="0"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None/>
              <a:tabLst/>
            </a:pPr>
            <a:endParaRPr lang="en-US" altLang="en-US" sz="1500" i="0"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DC50BFEF-FCA6-6285-38D2-F2FDD71ED5E3}"/>
              </a:ext>
            </a:extLst>
          </p:cNvPr>
          <p:cNvSpPr>
            <a:spLocks noGrp="1" noChangeArrowheads="1"/>
          </p:cNvSpPr>
          <p:nvPr>
            <p:ph sz="half" idx="2"/>
          </p:nvPr>
        </p:nvSpPr>
        <p:spPr bwMode="auto">
          <a:xfrm>
            <a:off x="6525403" y="1491379"/>
            <a:ext cx="45519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2. Customers</a:t>
            </a:r>
            <a:r>
              <a:rPr kumimoji="0" lang="en-US" altLang="en-US" sz="1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CustomerID</a:t>
            </a:r>
            <a:r>
              <a:rPr kumimoji="0" lang="en-US" altLang="en-US" sz="1500" b="0" i="0" u="none" strike="noStrike" cap="none" normalizeH="0" baseline="0" dirty="0">
                <a:ln>
                  <a:noFill/>
                </a:ln>
                <a:solidFill>
                  <a:schemeClr val="tx1"/>
                </a:solidFill>
                <a:effectLst/>
              </a:rPr>
              <a:t> (Unique Identifier)</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Arial Unicode MS"/>
              </a:rPr>
              <a:t>FirstName</a:t>
            </a:r>
            <a:r>
              <a:rPr kumimoji="0" lang="en-US" altLang="en-US" sz="1500" b="0" i="0" u="none" strike="noStrike" cap="none" normalizeH="0" baseline="0" dirty="0">
                <a:ln>
                  <a:noFill/>
                </a:ln>
                <a:solidFill>
                  <a:schemeClr val="tx1"/>
                </a:solidFill>
                <a:effectLst/>
              </a:rPr>
              <a:t> (String)</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LastName</a:t>
            </a:r>
            <a:r>
              <a:rPr kumimoji="0" lang="en-US" altLang="en-US" sz="1500" b="0" i="0" u="none" strike="noStrike" cap="none" normalizeH="0" baseline="0" dirty="0">
                <a:ln>
                  <a:noFill/>
                </a:ln>
                <a:solidFill>
                  <a:schemeClr val="tx1"/>
                </a:solidFill>
                <a:effectLst/>
              </a:rPr>
              <a:t> (String)</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Arial Unicode MS"/>
              </a:rPr>
              <a:t>Email</a:t>
            </a:r>
            <a:r>
              <a:rPr kumimoji="0" lang="en-US" altLang="en-US" sz="1500" b="0" i="0" u="none" strike="noStrike" cap="none" normalizeH="0" baseline="0" dirty="0">
                <a:ln>
                  <a:noFill/>
                </a:ln>
                <a:solidFill>
                  <a:schemeClr val="tx1"/>
                </a:solidFill>
                <a:effectLst/>
              </a:rPr>
              <a:t> (String)</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Arial Unicode MS"/>
              </a:rPr>
              <a:t>Phone</a:t>
            </a:r>
            <a:r>
              <a:rPr kumimoji="0" lang="en-US" altLang="en-US" sz="1500" b="0" i="0" u="none" strike="noStrike" cap="none" normalizeH="0" baseline="0" dirty="0">
                <a:ln>
                  <a:noFill/>
                </a:ln>
                <a:solidFill>
                  <a:schemeClr val="tx1"/>
                </a:solidFill>
                <a:effectLst/>
              </a:rPr>
              <a:t> (String)</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a:ln>
                  <a:noFill/>
                </a:ln>
                <a:solidFill>
                  <a:schemeClr val="tx1"/>
                </a:solidFill>
                <a:effectLst/>
                <a:latin typeface="Arial Unicode MS"/>
              </a:rPr>
              <a:t>Region</a:t>
            </a:r>
            <a:r>
              <a:rPr kumimoji="0" lang="en-US" altLang="en-US" sz="1500" b="0" i="0" u="none" strike="noStrike" cap="none" normalizeH="0" baseline="0" dirty="0">
                <a:ln>
                  <a:noFill/>
                </a:ln>
                <a:solidFill>
                  <a:schemeClr val="tx1"/>
                </a:solidFill>
                <a:effectLst/>
              </a:rPr>
              <a:t> (String)</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err="1">
                <a:ln>
                  <a:noFill/>
                </a:ln>
                <a:solidFill>
                  <a:schemeClr val="tx1"/>
                </a:solidFill>
                <a:effectLst/>
                <a:latin typeface="Arial Unicode MS"/>
              </a:rPr>
              <a:t>JoinDate</a:t>
            </a:r>
            <a:r>
              <a:rPr kumimoji="0" lang="en-US" altLang="en-US" sz="1500" b="0" i="0" u="none" strike="noStrike" cap="none" normalizeH="0" baseline="0" dirty="0">
                <a:ln>
                  <a:noFill/>
                </a:ln>
                <a:solidFill>
                  <a:schemeClr val="tx1"/>
                </a:solidFill>
                <a:effectLst/>
              </a:rPr>
              <a:t> (Date)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5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Arial" panose="020B0604020202020204" pitchFamily="34" charset="0"/>
              </a:rPr>
              <a:t>3. Products: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err="1">
                <a:ln>
                  <a:noFill/>
                </a:ln>
                <a:solidFill>
                  <a:schemeClr val="tx1"/>
                </a:solidFill>
                <a:effectLst/>
                <a:latin typeface="Arial" panose="020B0604020202020204" pitchFamily="34" charset="0"/>
              </a:rPr>
              <a:t>ProductID</a:t>
            </a:r>
            <a:r>
              <a:rPr kumimoji="0" lang="en-US" altLang="en-US" sz="1500" b="0" i="0" u="none" strike="noStrike" cap="none" normalizeH="0" baseline="0" dirty="0">
                <a:ln>
                  <a:noFill/>
                </a:ln>
                <a:solidFill>
                  <a:schemeClr val="tx1"/>
                </a:solidFill>
                <a:effectLst/>
                <a:latin typeface="Arial" panose="020B0604020202020204" pitchFamily="34" charset="0"/>
              </a:rPr>
              <a:t> (Unique Identifier)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Arial" panose="020B0604020202020204" pitchFamily="34" charset="0"/>
              </a:rPr>
              <a:t>ProductName (String)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Arial" panose="020B0604020202020204" pitchFamily="34" charset="0"/>
              </a:rPr>
              <a:t>Category (String)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err="1">
                <a:ln>
                  <a:noFill/>
                </a:ln>
                <a:solidFill>
                  <a:schemeClr val="tx1"/>
                </a:solidFill>
                <a:effectLst/>
                <a:latin typeface="Arial" panose="020B0604020202020204" pitchFamily="34" charset="0"/>
              </a:rPr>
              <a:t>UnitCost</a:t>
            </a:r>
            <a:r>
              <a:rPr kumimoji="0" lang="en-US" altLang="en-US" sz="1500" b="0" i="0" u="none" strike="noStrike" cap="none" normalizeH="0" baseline="0" dirty="0">
                <a:ln>
                  <a:noFill/>
                </a:ln>
                <a:solidFill>
                  <a:schemeClr val="tx1"/>
                </a:solidFill>
                <a:effectLst/>
                <a:latin typeface="Arial" panose="020B0604020202020204" pitchFamily="34" charset="0"/>
              </a:rPr>
              <a:t> (Decimal)</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Arial" panose="020B0604020202020204" pitchFamily="34" charset="0"/>
              </a:rPr>
              <a:t>Supplier (String)</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5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1" i="0" u="none" strike="noStrike" cap="none" normalizeH="0" baseline="0" dirty="0">
                <a:ln>
                  <a:noFill/>
                </a:ln>
                <a:solidFill>
                  <a:schemeClr val="tx1"/>
                </a:solidFill>
                <a:effectLst/>
                <a:latin typeface="Arial" panose="020B0604020202020204" pitchFamily="34" charset="0"/>
              </a:rPr>
              <a:t>4. Stores: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err="1">
                <a:ln>
                  <a:noFill/>
                </a:ln>
                <a:solidFill>
                  <a:schemeClr val="tx1"/>
                </a:solidFill>
                <a:effectLst/>
                <a:latin typeface="Arial" panose="020B0604020202020204" pitchFamily="34" charset="0"/>
              </a:rPr>
              <a:t>StoreID</a:t>
            </a:r>
            <a:r>
              <a:rPr kumimoji="0" lang="en-US" altLang="en-US" sz="1500" b="0" i="0" u="none" strike="noStrike" cap="none" normalizeH="0" baseline="0" dirty="0">
                <a:ln>
                  <a:noFill/>
                </a:ln>
                <a:solidFill>
                  <a:schemeClr val="tx1"/>
                </a:solidFill>
                <a:effectLst/>
                <a:latin typeface="Arial" panose="020B0604020202020204" pitchFamily="34" charset="0"/>
              </a:rPr>
              <a:t> (Unique Identifier)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err="1">
                <a:ln>
                  <a:noFill/>
                </a:ln>
                <a:solidFill>
                  <a:schemeClr val="tx1"/>
                </a:solidFill>
                <a:effectLst/>
                <a:latin typeface="Arial" panose="020B0604020202020204" pitchFamily="34" charset="0"/>
              </a:rPr>
              <a:t>StoreName</a:t>
            </a:r>
            <a:r>
              <a:rPr kumimoji="0" lang="en-US" altLang="en-US" sz="1500" b="0" i="0" u="none" strike="noStrike" cap="none" normalizeH="0" baseline="0" dirty="0">
                <a:ln>
                  <a:noFill/>
                </a:ln>
                <a:solidFill>
                  <a:schemeClr val="tx1"/>
                </a:solidFill>
                <a:effectLst/>
                <a:latin typeface="Arial" panose="020B0604020202020204" pitchFamily="34" charset="0"/>
              </a:rPr>
              <a:t> (String)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a:ln>
                  <a:noFill/>
                </a:ln>
                <a:solidFill>
                  <a:schemeClr val="tx1"/>
                </a:solidFill>
                <a:effectLst/>
                <a:latin typeface="Arial" panose="020B0604020202020204" pitchFamily="34" charset="0"/>
              </a:rPr>
              <a:t>Location (String)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500" b="0" i="0" u="none" strike="noStrike" cap="none" normalizeH="0" baseline="0" dirty="0" err="1">
                <a:ln>
                  <a:noFill/>
                </a:ln>
                <a:solidFill>
                  <a:schemeClr val="tx1"/>
                </a:solidFill>
                <a:effectLst/>
                <a:latin typeface="Arial" panose="020B0604020202020204" pitchFamily="34" charset="0"/>
              </a:rPr>
              <a:t>ManagerName</a:t>
            </a:r>
            <a:r>
              <a:rPr kumimoji="0" lang="en-US" altLang="en-US" sz="1500" b="0" i="0" u="none" strike="noStrike" cap="none" normalizeH="0" baseline="0" dirty="0">
                <a:ln>
                  <a:noFill/>
                </a:ln>
                <a:solidFill>
                  <a:schemeClr val="tx1"/>
                </a:solidFill>
                <a:effectLst/>
                <a:latin typeface="Arial" panose="020B0604020202020204" pitchFamily="34" charset="0"/>
              </a:rPr>
              <a:t> (String)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1753169"/>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8070B-4051-8960-0241-CC7817301B39}"/>
              </a:ext>
            </a:extLst>
          </p:cNvPr>
          <p:cNvSpPr>
            <a:spLocks noGrp="1"/>
          </p:cNvSpPr>
          <p:nvPr>
            <p:ph type="title"/>
          </p:nvPr>
        </p:nvSpPr>
        <p:spPr>
          <a:xfrm>
            <a:off x="1415143" y="351724"/>
            <a:ext cx="9601200" cy="1485900"/>
          </a:xfrm>
        </p:spPr>
        <p:txBody>
          <a:bodyPr/>
          <a:lstStyle/>
          <a:p>
            <a:r>
              <a:rPr lang="en-IN" dirty="0"/>
              <a:t>Example Activity</a:t>
            </a:r>
          </a:p>
        </p:txBody>
      </p:sp>
      <p:sp>
        <p:nvSpPr>
          <p:cNvPr id="4" name="Rectangle 1">
            <a:extLst>
              <a:ext uri="{FF2B5EF4-FFF2-40B4-BE49-F238E27FC236}">
                <a16:creationId xmlns:a16="http://schemas.microsoft.com/office/drawing/2014/main" id="{639A9CE6-4B1F-5F83-69F1-D6E4565094A6}"/>
              </a:ext>
            </a:extLst>
          </p:cNvPr>
          <p:cNvSpPr>
            <a:spLocks noGrp="1" noChangeArrowheads="1"/>
          </p:cNvSpPr>
          <p:nvPr>
            <p:ph sz="half" idx="1"/>
          </p:nvPr>
        </p:nvSpPr>
        <p:spPr bwMode="auto">
          <a:xfrm>
            <a:off x="683624" y="1622313"/>
            <a:ext cx="6126480" cy="623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Arial" panose="020B0604020202020204" pitchFamily="34" charset="0"/>
              </a:rPr>
              <a:t>Steps to Perform Operations in Power BI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Arial" panose="020B0604020202020204" pitchFamily="34" charset="0"/>
              </a:rPr>
              <a:t>PC1.1: Import Datasets into Power BI</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900" b="0" i="0" u="none" strike="noStrike" cap="none" normalizeH="0" baseline="0" dirty="0">
                <a:ln>
                  <a:noFill/>
                </a:ln>
                <a:solidFill>
                  <a:schemeClr val="tx1"/>
                </a:solidFill>
                <a:effectLst/>
                <a:latin typeface="Arial" panose="020B0604020202020204" pitchFamily="34" charset="0"/>
              </a:rPr>
              <a:t>Open Power BI Desktop.</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900" b="0" i="0" u="none" strike="noStrike" cap="none" normalizeH="0" baseline="0" dirty="0">
                <a:ln>
                  <a:noFill/>
                </a:ln>
                <a:solidFill>
                  <a:schemeClr val="tx1"/>
                </a:solidFill>
                <a:effectLst/>
                <a:latin typeface="Arial" panose="020B0604020202020204" pitchFamily="34" charset="0"/>
              </a:rPr>
              <a:t>Click </a:t>
            </a:r>
            <a:r>
              <a:rPr kumimoji="0" lang="en-US" altLang="en-US" sz="1900" b="1" i="0" u="none" strike="noStrike" cap="none" normalizeH="0" baseline="0" dirty="0">
                <a:ln>
                  <a:noFill/>
                </a:ln>
                <a:solidFill>
                  <a:schemeClr val="tx1"/>
                </a:solidFill>
                <a:effectLst/>
                <a:latin typeface="Arial" panose="020B0604020202020204" pitchFamily="34" charset="0"/>
              </a:rPr>
              <a:t>Home</a:t>
            </a:r>
            <a:r>
              <a:rPr kumimoji="0" lang="en-US" altLang="en-US" sz="1900" b="0" i="0" u="none" strike="noStrike" cap="none" normalizeH="0" baseline="0" dirty="0">
                <a:ln>
                  <a:noFill/>
                </a:ln>
                <a:solidFill>
                  <a:schemeClr val="tx1"/>
                </a:solidFill>
                <a:effectLst/>
                <a:latin typeface="Arial" panose="020B0604020202020204" pitchFamily="34" charset="0"/>
              </a:rPr>
              <a:t> &gt; </a:t>
            </a:r>
            <a:r>
              <a:rPr kumimoji="0" lang="en-US" altLang="en-US" sz="1900" b="1" i="0" u="none" strike="noStrike" cap="none" normalizeH="0" baseline="0" dirty="0">
                <a:ln>
                  <a:noFill/>
                </a:ln>
                <a:solidFill>
                  <a:schemeClr val="tx1"/>
                </a:solidFill>
                <a:effectLst/>
                <a:latin typeface="Arial" panose="020B0604020202020204" pitchFamily="34" charset="0"/>
              </a:rPr>
              <a:t>Get Data</a:t>
            </a:r>
            <a:r>
              <a:rPr kumimoji="0" lang="en-US" altLang="en-US" sz="1900" b="0" i="0" u="none" strike="noStrike" cap="none" normalizeH="0" baseline="0" dirty="0">
                <a:ln>
                  <a:noFill/>
                </a:ln>
                <a:solidFill>
                  <a:schemeClr val="tx1"/>
                </a:solidFill>
                <a:effectLst/>
                <a:latin typeface="Arial" panose="020B0604020202020204" pitchFamily="34" charset="0"/>
              </a:rPr>
              <a:t> &gt; </a:t>
            </a:r>
            <a:r>
              <a:rPr kumimoji="0" lang="en-US" altLang="en-US" sz="1900" b="1" i="0" u="none" strike="noStrike" cap="none" normalizeH="0" baseline="0" dirty="0">
                <a:ln>
                  <a:noFill/>
                </a:ln>
                <a:solidFill>
                  <a:schemeClr val="tx1"/>
                </a:solidFill>
                <a:effectLst/>
                <a:latin typeface="Arial" panose="020B0604020202020204" pitchFamily="34" charset="0"/>
              </a:rPr>
              <a:t>Excel Workbook</a:t>
            </a:r>
            <a:r>
              <a:rPr kumimoji="0" lang="en-US" altLang="en-US" sz="19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900" b="0" i="0" u="none" strike="noStrike" cap="none" normalizeH="0" baseline="0" dirty="0">
                <a:ln>
                  <a:noFill/>
                </a:ln>
                <a:solidFill>
                  <a:schemeClr val="tx1"/>
                </a:solidFill>
                <a:effectLst/>
                <a:latin typeface="Arial" panose="020B0604020202020204" pitchFamily="34" charset="0"/>
              </a:rPr>
              <a:t>Browse to the file location (</a:t>
            </a:r>
            <a:r>
              <a:rPr kumimoji="0" lang="en-US" altLang="en-US" sz="1900" b="0" i="0" u="none" strike="noStrike" cap="none" normalizeH="0" baseline="0" dirty="0">
                <a:ln>
                  <a:noFill/>
                </a:ln>
                <a:solidFill>
                  <a:schemeClr val="tx1"/>
                </a:solidFill>
                <a:effectLst/>
                <a:latin typeface="Arial Unicode MS"/>
              </a:rPr>
              <a:t>Retail_Sales_Analysis_New.xlsx</a:t>
            </a:r>
            <a:r>
              <a:rPr kumimoji="0" lang="en-US" altLang="en-US" sz="1900" b="0" i="0" u="none" strike="noStrike" cap="none" normalizeH="0" baseline="0" dirty="0">
                <a:ln>
                  <a:noFill/>
                </a:ln>
                <a:solidFill>
                  <a:schemeClr val="tx1"/>
                </a:solidFill>
                <a:effectLst/>
              </a:rPr>
              <a:t>) and select it.</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900" b="0" i="0" u="none" strike="noStrike" cap="none" normalizeH="0" baseline="0" dirty="0">
                <a:ln>
                  <a:noFill/>
                </a:ln>
                <a:solidFill>
                  <a:schemeClr val="tx1"/>
                </a:solidFill>
                <a:effectLst/>
                <a:latin typeface="Arial" panose="020B0604020202020204" pitchFamily="34" charset="0"/>
              </a:rPr>
              <a:t>In the Navigator window:</a:t>
            </a:r>
          </a:p>
          <a:p>
            <a:pPr marL="0" indent="-73152" eaLnBrk="0" fontAlgn="base" hangingPunct="0">
              <a:lnSpc>
                <a:spcPct val="100000"/>
              </a:lnSpc>
              <a:spcBef>
                <a:spcPct val="0"/>
              </a:spcBef>
              <a:spcAft>
                <a:spcPct val="0"/>
              </a:spcAft>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Select the desired sheets (e.g., Sales, Customers, Products).</a:t>
            </a:r>
          </a:p>
          <a:p>
            <a:pPr marL="0" indent="-73152" eaLnBrk="0" fontAlgn="base" hangingPunct="0">
              <a:lnSpc>
                <a:spcPct val="100000"/>
              </a:lnSpc>
              <a:spcBef>
                <a:spcPct val="0"/>
              </a:spcBef>
              <a:spcAft>
                <a:spcPct val="0"/>
              </a:spcAft>
              <a:buFontTx/>
              <a:buChar char="•"/>
            </a:pPr>
            <a:r>
              <a:rPr kumimoji="0" lang="en-US" altLang="en-US" sz="1900" b="0" i="0" u="none" strike="noStrike" cap="none" normalizeH="0" baseline="0" dirty="0">
                <a:ln>
                  <a:noFill/>
                </a:ln>
                <a:solidFill>
                  <a:schemeClr val="tx1"/>
                </a:solidFill>
                <a:effectLst/>
                <a:latin typeface="Arial" panose="020B0604020202020204" pitchFamily="34" charset="0"/>
              </a:rPr>
              <a:t>Click </a:t>
            </a:r>
            <a:r>
              <a:rPr kumimoji="0" lang="en-US" altLang="en-US" sz="1900" b="1" i="0" u="none" strike="noStrike" cap="none" normalizeH="0" baseline="0" dirty="0">
                <a:ln>
                  <a:noFill/>
                </a:ln>
                <a:solidFill>
                  <a:schemeClr val="tx1"/>
                </a:solidFill>
                <a:effectLst/>
                <a:latin typeface="Arial" panose="020B0604020202020204" pitchFamily="34" charset="0"/>
              </a:rPr>
              <a:t>Load</a:t>
            </a:r>
            <a:r>
              <a:rPr kumimoji="0" lang="en-US" altLang="en-US" sz="1900" b="0" i="0" u="none" strike="noStrike" cap="none" normalizeH="0" baseline="0" dirty="0">
                <a:ln>
                  <a:noFill/>
                </a:ln>
                <a:solidFill>
                  <a:schemeClr val="tx1"/>
                </a:solidFill>
                <a:effectLst/>
                <a:latin typeface="Arial" panose="020B0604020202020204" pitchFamily="34" charset="0"/>
              </a:rPr>
              <a:t> or </a:t>
            </a:r>
            <a:r>
              <a:rPr kumimoji="0" lang="en-US" altLang="en-US" sz="1900" b="1" i="0" u="none" strike="noStrike" cap="none" normalizeH="0" baseline="0" dirty="0">
                <a:ln>
                  <a:noFill/>
                </a:ln>
                <a:solidFill>
                  <a:schemeClr val="tx1"/>
                </a:solidFill>
                <a:effectLst/>
                <a:latin typeface="Arial" panose="020B0604020202020204" pitchFamily="34" charset="0"/>
              </a:rPr>
              <a:t>Transform Data</a:t>
            </a:r>
            <a:r>
              <a:rPr kumimoji="0" lang="en-US" altLang="en-US" sz="1900" b="0" i="0" u="none" strike="noStrike" cap="none" normalizeH="0" baseline="0" dirty="0">
                <a:ln>
                  <a:noFill/>
                </a:ln>
                <a:solidFill>
                  <a:schemeClr val="tx1"/>
                </a:solidFill>
                <a:effectLst/>
                <a:latin typeface="Arial" panose="020B0604020202020204" pitchFamily="34" charset="0"/>
              </a:rPr>
              <a:t> for further cleaning.</a:t>
            </a:r>
          </a:p>
          <a:p>
            <a:pPr marL="0" indent="0" eaLnBrk="0" fontAlgn="base" hangingPunct="0">
              <a:lnSpc>
                <a:spcPct val="100000"/>
              </a:lnSpc>
              <a:spcBef>
                <a:spcPct val="0"/>
              </a:spcBef>
              <a:spcAft>
                <a:spcPct val="0"/>
              </a:spcAft>
              <a:buNone/>
            </a:pPr>
            <a:endParaRPr lang="en-US" altLang="en-US" sz="1900"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None/>
            </a:pPr>
            <a:r>
              <a:rPr lang="en-US" altLang="en-US" sz="1900" b="1" i="0" dirty="0">
                <a:solidFill>
                  <a:schemeClr val="tx1"/>
                </a:solidFill>
                <a:latin typeface="Arial" panose="020B0604020202020204" pitchFamily="34" charset="0"/>
              </a:rPr>
              <a:t>PC1.2: Clean Data for Accuracy</a:t>
            </a:r>
          </a:p>
          <a:p>
            <a:pPr marL="0" indent="0" eaLnBrk="0" fontAlgn="base" hangingPunct="0">
              <a:lnSpc>
                <a:spcPct val="100000"/>
              </a:lnSpc>
              <a:spcBef>
                <a:spcPct val="0"/>
              </a:spcBef>
              <a:spcAft>
                <a:spcPct val="0"/>
              </a:spcAft>
              <a:buNone/>
            </a:pPr>
            <a:r>
              <a:rPr lang="en-US" altLang="en-US" sz="1900" b="1" i="0" dirty="0">
                <a:solidFill>
                  <a:schemeClr val="tx1"/>
                </a:solidFill>
                <a:latin typeface="Arial" panose="020B0604020202020204" pitchFamily="34" charset="0"/>
              </a:rPr>
              <a:t>Open Power Query Editor:</a:t>
            </a:r>
          </a:p>
          <a:p>
            <a:pPr marL="0" indent="0" eaLnBrk="0" fontAlgn="base" hangingPunct="0">
              <a:lnSpc>
                <a:spcPct val="100000"/>
              </a:lnSpc>
              <a:spcBef>
                <a:spcPct val="0"/>
              </a:spcBef>
              <a:spcAft>
                <a:spcPct val="0"/>
              </a:spcAft>
              <a:buNone/>
            </a:pPr>
            <a:r>
              <a:rPr lang="en-US" altLang="en-US" sz="1900" i="0" dirty="0">
                <a:solidFill>
                  <a:schemeClr val="tx1"/>
                </a:solidFill>
                <a:latin typeface="Arial" panose="020B0604020202020204" pitchFamily="34" charset="0"/>
              </a:rPr>
              <a:t>Click Transform Data in the ribbon.</a:t>
            </a:r>
          </a:p>
          <a:p>
            <a:pPr marL="0" indent="0" eaLnBrk="0" fontAlgn="base" hangingPunct="0">
              <a:lnSpc>
                <a:spcPct val="100000"/>
              </a:lnSpc>
              <a:spcBef>
                <a:spcPct val="0"/>
              </a:spcBef>
              <a:spcAft>
                <a:spcPct val="0"/>
              </a:spcAft>
              <a:buNone/>
            </a:pPr>
            <a:r>
              <a:rPr lang="en-US" altLang="en-US" sz="1900" i="0" dirty="0">
                <a:solidFill>
                  <a:schemeClr val="tx1"/>
                </a:solidFill>
                <a:latin typeface="Arial" panose="020B0604020202020204" pitchFamily="34" charset="0"/>
              </a:rPr>
              <a:t>Remove Duplicates: Go to the Sales table.</a:t>
            </a:r>
          </a:p>
          <a:p>
            <a:pPr marL="0" indent="0" eaLnBrk="0" fontAlgn="base" hangingPunct="0">
              <a:lnSpc>
                <a:spcPct val="100000"/>
              </a:lnSpc>
              <a:spcBef>
                <a:spcPct val="0"/>
              </a:spcBef>
              <a:spcAft>
                <a:spcPct val="0"/>
              </a:spcAft>
              <a:buNone/>
            </a:pPr>
            <a:r>
              <a:rPr lang="en-US" altLang="en-US" sz="1900" i="0" dirty="0">
                <a:solidFill>
                  <a:schemeClr val="tx1"/>
                </a:solidFill>
                <a:latin typeface="Arial" panose="020B0604020202020204" pitchFamily="34" charset="0"/>
              </a:rPr>
              <a:t>Select the </a:t>
            </a:r>
            <a:r>
              <a:rPr lang="en-US" altLang="en-US" sz="1900" i="0" dirty="0" err="1">
                <a:solidFill>
                  <a:schemeClr val="tx1"/>
                </a:solidFill>
                <a:latin typeface="Arial" panose="020B0604020202020204" pitchFamily="34" charset="0"/>
              </a:rPr>
              <a:t>SaleID</a:t>
            </a:r>
            <a:r>
              <a:rPr lang="en-US" altLang="en-US" sz="1900" i="0" dirty="0">
                <a:solidFill>
                  <a:schemeClr val="tx1"/>
                </a:solidFill>
                <a:latin typeface="Arial" panose="020B0604020202020204" pitchFamily="34" charset="0"/>
              </a:rPr>
              <a:t> column or all key columns.</a:t>
            </a:r>
          </a:p>
          <a:p>
            <a:pPr marL="0" indent="0" eaLnBrk="0" fontAlgn="base" hangingPunct="0">
              <a:lnSpc>
                <a:spcPct val="100000"/>
              </a:lnSpc>
              <a:spcBef>
                <a:spcPct val="0"/>
              </a:spcBef>
              <a:spcAft>
                <a:spcPct val="0"/>
              </a:spcAft>
              <a:buNone/>
            </a:pPr>
            <a:r>
              <a:rPr lang="en-US" altLang="en-US" sz="1900" i="0" dirty="0">
                <a:solidFill>
                  <a:schemeClr val="tx1"/>
                </a:solidFill>
                <a:latin typeface="Arial" panose="020B0604020202020204" pitchFamily="34" charset="0"/>
              </a:rPr>
              <a:t>Click Remove Duplicates in the ribbon.</a:t>
            </a:r>
          </a:p>
          <a:p>
            <a:pPr marL="0" indent="0" eaLnBrk="0" fontAlgn="base" hangingPunct="0">
              <a:lnSpc>
                <a:spcPct val="100000"/>
              </a:lnSpc>
              <a:spcBef>
                <a:spcPct val="0"/>
              </a:spcBef>
              <a:spcAft>
                <a:spcPct val="0"/>
              </a:spcAft>
              <a:buNone/>
            </a:pPr>
            <a:endParaRPr lang="en-US" altLang="en-US" sz="1900" i="0"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0" i="0" u="none" strike="noStrike" cap="none" normalizeH="0" baseline="0" dirty="0">
              <a:ln>
                <a:noFill/>
              </a:ln>
              <a:solidFill>
                <a:schemeClr val="tx1"/>
              </a:solidFill>
              <a:effectLst/>
              <a:latin typeface="Arial" panose="020B0604020202020204" pitchFamily="34" charset="0"/>
            </a:endParaRPr>
          </a:p>
        </p:txBody>
      </p:sp>
      <p:sp>
        <p:nvSpPr>
          <p:cNvPr id="6" name="Content Placeholder 5">
            <a:extLst>
              <a:ext uri="{FF2B5EF4-FFF2-40B4-BE49-F238E27FC236}">
                <a16:creationId xmlns:a16="http://schemas.microsoft.com/office/drawing/2014/main" id="{607E45FA-5FB7-3265-B82F-A539D8D7F198}"/>
              </a:ext>
            </a:extLst>
          </p:cNvPr>
          <p:cNvSpPr>
            <a:spLocks noGrp="1"/>
          </p:cNvSpPr>
          <p:nvPr>
            <p:ph sz="half" idx="2"/>
          </p:nvPr>
        </p:nvSpPr>
        <p:spPr>
          <a:xfrm>
            <a:off x="6810104" y="1837624"/>
            <a:ext cx="5016525" cy="4708980"/>
          </a:xfrm>
        </p:spPr>
        <p:txBody>
          <a:bodyPr>
            <a:normAutofit fontScale="92500" lnSpcReduction="10000"/>
          </a:bodyPr>
          <a:lstStyle/>
          <a:p>
            <a:pPr marL="0" indent="0" eaLnBrk="0" fontAlgn="base" hangingPunct="0">
              <a:lnSpc>
                <a:spcPct val="100000"/>
              </a:lnSpc>
              <a:spcBef>
                <a:spcPct val="0"/>
              </a:spcBef>
              <a:spcAft>
                <a:spcPct val="0"/>
              </a:spcAft>
              <a:buNone/>
            </a:pPr>
            <a:r>
              <a:rPr lang="en-US" altLang="en-US" sz="2000" b="1" i="0" dirty="0">
                <a:solidFill>
                  <a:schemeClr val="tx1"/>
                </a:solidFill>
                <a:latin typeface="Arial" panose="020B0604020202020204" pitchFamily="34" charset="0"/>
              </a:rPr>
              <a:t>Correct Misspelled Entries in ProductName:</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Navigate to the Products table.</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Select the ProductName column.</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Use Replace Values to fix typos (e.g., "Prduct1" → "Product1").</a:t>
            </a:r>
          </a:p>
          <a:p>
            <a:pPr marL="0" indent="0" eaLnBrk="0" fontAlgn="base" hangingPunct="0">
              <a:lnSpc>
                <a:spcPct val="100000"/>
              </a:lnSpc>
              <a:spcBef>
                <a:spcPct val="0"/>
              </a:spcBef>
              <a:spcAft>
                <a:spcPct val="0"/>
              </a:spcAft>
              <a:buNone/>
            </a:pPr>
            <a:endParaRPr lang="en-US" altLang="en-US" sz="2000" i="0"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None/>
            </a:pPr>
            <a:r>
              <a:rPr lang="en-US" altLang="en-US" sz="2000" b="1" i="0" dirty="0">
                <a:solidFill>
                  <a:schemeClr val="tx1"/>
                </a:solidFill>
                <a:latin typeface="Arial" panose="020B0604020202020204" pitchFamily="34" charset="0"/>
              </a:rPr>
              <a:t>Standardize Region Names in Customers:</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Go to the Customers table.</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Select the Region column.</a:t>
            </a:r>
          </a:p>
          <a:p>
            <a:pPr marL="0" indent="0" eaLnBrk="0" fontAlgn="base" hangingPunct="0">
              <a:lnSpc>
                <a:spcPct val="100000"/>
              </a:lnSpc>
              <a:spcBef>
                <a:spcPct val="0"/>
              </a:spcBef>
              <a:spcAft>
                <a:spcPct val="0"/>
              </a:spcAft>
              <a:buNone/>
            </a:pPr>
            <a:endParaRPr lang="en-US" altLang="en-US" sz="2000" i="0"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None/>
            </a:pPr>
            <a:r>
              <a:rPr lang="en-US" altLang="en-US" sz="2000" b="1" i="0" dirty="0">
                <a:solidFill>
                  <a:schemeClr val="tx1"/>
                </a:solidFill>
                <a:latin typeface="Arial" panose="020B0604020202020204" pitchFamily="34" charset="0"/>
              </a:rPr>
              <a:t>Use Replace Values or a Conditional Column to fix inconsistencies:</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Replace "north" with "North.“</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Trim extra spaces from entries like "South ".</a:t>
            </a:r>
          </a:p>
          <a:p>
            <a:pPr marL="0" indent="0" eaLnBrk="0" fontAlgn="base" hangingPunct="0">
              <a:lnSpc>
                <a:spcPct val="100000"/>
              </a:lnSpc>
              <a:spcBef>
                <a:spcPct val="0"/>
              </a:spcBef>
              <a:spcAft>
                <a:spcPct val="0"/>
              </a:spcAft>
              <a:buNone/>
            </a:pPr>
            <a:r>
              <a:rPr lang="en-US" altLang="en-US" sz="2000" i="0" dirty="0">
                <a:solidFill>
                  <a:schemeClr val="tx1"/>
                </a:solidFill>
                <a:latin typeface="Arial" panose="020B0604020202020204" pitchFamily="34" charset="0"/>
              </a:rPr>
              <a:t>Capitalize all values for consistency.</a:t>
            </a:r>
          </a:p>
          <a:p>
            <a:endParaRPr lang="en-IN" dirty="0"/>
          </a:p>
        </p:txBody>
      </p:sp>
    </p:spTree>
    <p:extLst>
      <p:ext uri="{BB962C8B-B14F-4D97-AF65-F5344CB8AC3E}">
        <p14:creationId xmlns:p14="http://schemas.microsoft.com/office/powerpoint/2010/main" val="600581338"/>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1F124-B10A-88F2-8710-61D0EA1677DC}"/>
              </a:ext>
            </a:extLst>
          </p:cNvPr>
          <p:cNvSpPr>
            <a:spLocks noGrp="1"/>
          </p:cNvSpPr>
          <p:nvPr>
            <p:ph type="title"/>
          </p:nvPr>
        </p:nvSpPr>
        <p:spPr/>
        <p:txBody>
          <a:bodyPr/>
          <a:lstStyle/>
          <a:p>
            <a:r>
              <a:rPr lang="en-IN" dirty="0"/>
              <a:t>Example Activity</a:t>
            </a:r>
          </a:p>
        </p:txBody>
      </p:sp>
      <p:sp>
        <p:nvSpPr>
          <p:cNvPr id="5" name="Rectangle 1">
            <a:extLst>
              <a:ext uri="{FF2B5EF4-FFF2-40B4-BE49-F238E27FC236}">
                <a16:creationId xmlns:a16="http://schemas.microsoft.com/office/drawing/2014/main" id="{F365FA0C-EBD8-A107-099C-834633D88FEF}"/>
              </a:ext>
            </a:extLst>
          </p:cNvPr>
          <p:cNvSpPr>
            <a:spLocks noGrp="1" noChangeArrowheads="1"/>
          </p:cNvSpPr>
          <p:nvPr>
            <p:ph sz="half" idx="1"/>
          </p:nvPr>
        </p:nvSpPr>
        <p:spPr bwMode="auto">
          <a:xfrm>
            <a:off x="1371600" y="1499073"/>
            <a:ext cx="8297400" cy="515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Arial" panose="020B0604020202020204" pitchFamily="34" charset="0"/>
              </a:rPr>
              <a:t>PC1.3: Handle Missing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900" b="1" i="0" u="none" strike="noStrike" cap="none" normalizeH="0" baseline="0" dirty="0">
                <a:ln>
                  <a:noFill/>
                </a:ln>
                <a:solidFill>
                  <a:schemeClr val="tx1"/>
                </a:solidFill>
                <a:effectLst/>
                <a:latin typeface="Arial" panose="020B0604020202020204" pitchFamily="34" charset="0"/>
              </a:rPr>
              <a:t>Fill Missing </a:t>
            </a:r>
            <a:r>
              <a:rPr kumimoji="0" lang="en-US" altLang="en-US" sz="1900" b="1" i="0" u="none" strike="noStrike" cap="none" normalizeH="0" baseline="0" dirty="0">
                <a:ln>
                  <a:noFill/>
                </a:ln>
                <a:solidFill>
                  <a:schemeClr val="tx1"/>
                </a:solidFill>
                <a:effectLst/>
                <a:latin typeface="Arial Unicode MS"/>
              </a:rPr>
              <a:t>Region</a:t>
            </a:r>
            <a:r>
              <a:rPr kumimoji="0" lang="en-US" altLang="en-US" sz="1900" b="1" i="0" u="none" strike="noStrike" cap="none" normalizeH="0" baseline="0" dirty="0">
                <a:ln>
                  <a:noFill/>
                </a:ln>
                <a:solidFill>
                  <a:schemeClr val="tx1"/>
                </a:solidFill>
                <a:effectLst/>
              </a:rPr>
              <a:t> with "Unknown"</a:t>
            </a:r>
            <a:r>
              <a:rPr kumimoji="0" lang="en-US" altLang="en-US" sz="19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Navigate to the </a:t>
            </a:r>
            <a:r>
              <a:rPr kumimoji="0" lang="en-US" altLang="en-US" sz="1900" b="0" i="0" u="none" strike="noStrike" cap="none" normalizeH="0" baseline="0" dirty="0">
                <a:ln>
                  <a:noFill/>
                </a:ln>
                <a:solidFill>
                  <a:schemeClr val="tx1"/>
                </a:solidFill>
                <a:effectLst/>
                <a:latin typeface="Arial Unicode MS"/>
              </a:rPr>
              <a:t>Customers</a:t>
            </a:r>
            <a:r>
              <a:rPr kumimoji="0" lang="en-US" altLang="en-US" sz="1900" b="0" i="0" u="none" strike="noStrike" cap="none" normalizeH="0" baseline="0" dirty="0">
                <a:ln>
                  <a:noFill/>
                </a:ln>
                <a:solidFill>
                  <a:schemeClr val="tx1"/>
                </a:solidFill>
                <a:effectLst/>
              </a:rPr>
              <a:t> table.</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Select the </a:t>
            </a:r>
            <a:r>
              <a:rPr kumimoji="0" lang="en-US" altLang="en-US" sz="1900" b="0" i="0" u="none" strike="noStrike" cap="none" normalizeH="0" baseline="0" dirty="0">
                <a:ln>
                  <a:noFill/>
                </a:ln>
                <a:solidFill>
                  <a:schemeClr val="tx1"/>
                </a:solidFill>
                <a:effectLst/>
                <a:latin typeface="Arial Unicode MS"/>
              </a:rPr>
              <a:t>Region</a:t>
            </a:r>
            <a:r>
              <a:rPr kumimoji="0" lang="en-US" altLang="en-US" sz="1900" b="0" i="0" u="none" strike="noStrike" cap="none" normalizeH="0" baseline="0" dirty="0">
                <a:ln>
                  <a:noFill/>
                </a:ln>
                <a:solidFill>
                  <a:schemeClr val="tx1"/>
                </a:solidFill>
                <a:effectLst/>
              </a:rPr>
              <a:t> column.</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Use </a:t>
            </a:r>
            <a:r>
              <a:rPr kumimoji="0" lang="en-US" altLang="en-US" sz="1900" b="1" i="0" u="none" strike="noStrike" cap="none" normalizeH="0" baseline="0" dirty="0">
                <a:ln>
                  <a:noFill/>
                </a:ln>
                <a:solidFill>
                  <a:schemeClr val="tx1"/>
                </a:solidFill>
                <a:effectLst/>
                <a:latin typeface="Arial" panose="020B0604020202020204" pitchFamily="34" charset="0"/>
              </a:rPr>
              <a:t>Replace Values</a:t>
            </a:r>
            <a:r>
              <a:rPr kumimoji="0" lang="en-US" altLang="en-US" sz="1900" b="0" i="0" u="none" strike="noStrike" cap="none" normalizeH="0" baseline="0" dirty="0">
                <a:ln>
                  <a:noFill/>
                </a:ln>
                <a:solidFill>
                  <a:schemeClr val="tx1"/>
                </a:solidFill>
                <a:effectLst/>
                <a:latin typeface="Arial" panose="020B0604020202020204" pitchFamily="34" charset="0"/>
              </a:rPr>
              <a:t> to replace </a:t>
            </a:r>
            <a:r>
              <a:rPr kumimoji="0" lang="en-US" altLang="en-US" sz="1900" b="0" i="0" u="none" strike="noStrike" cap="none" normalizeH="0" baseline="0" dirty="0">
                <a:ln>
                  <a:noFill/>
                </a:ln>
                <a:solidFill>
                  <a:schemeClr val="tx1"/>
                </a:solidFill>
                <a:effectLst/>
                <a:latin typeface="Arial Unicode MS"/>
              </a:rPr>
              <a:t>null</a:t>
            </a:r>
            <a:r>
              <a:rPr kumimoji="0" lang="en-US" altLang="en-US" sz="1900" b="0" i="0" u="none" strike="noStrike" cap="none" normalizeH="0" baseline="0" dirty="0">
                <a:ln>
                  <a:noFill/>
                </a:ln>
                <a:solidFill>
                  <a:schemeClr val="tx1"/>
                </a:solidFill>
                <a:effectLst/>
              </a:rPr>
              <a:t> with "Unknown.“</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900" b="1" i="0" u="none" strike="noStrike" cap="none" normalizeH="0" baseline="0" dirty="0">
                <a:ln>
                  <a:noFill/>
                </a:ln>
                <a:solidFill>
                  <a:schemeClr val="tx1"/>
                </a:solidFill>
                <a:effectLst/>
                <a:latin typeface="Arial" panose="020B0604020202020204" pitchFamily="34" charset="0"/>
              </a:rPr>
              <a:t>Replace Missing </a:t>
            </a:r>
            <a:r>
              <a:rPr kumimoji="0" lang="en-US" altLang="en-US" sz="1900" b="1" i="0" u="none" strike="noStrike" cap="none" normalizeH="0" baseline="0" dirty="0" err="1">
                <a:ln>
                  <a:noFill/>
                </a:ln>
                <a:solidFill>
                  <a:schemeClr val="tx1"/>
                </a:solidFill>
                <a:effectLst/>
                <a:latin typeface="Arial Unicode MS"/>
              </a:rPr>
              <a:t>UnitCost</a:t>
            </a:r>
            <a:r>
              <a:rPr kumimoji="0" lang="en-US" altLang="en-US" sz="1900" b="1" i="0" u="none" strike="noStrike" cap="none" normalizeH="0" baseline="0" dirty="0">
                <a:ln>
                  <a:noFill/>
                </a:ln>
                <a:solidFill>
                  <a:schemeClr val="tx1"/>
                </a:solidFill>
                <a:effectLst/>
              </a:rPr>
              <a:t> with Average</a:t>
            </a:r>
            <a:r>
              <a:rPr kumimoji="0" lang="en-US" altLang="en-US" sz="19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Go to the </a:t>
            </a:r>
            <a:r>
              <a:rPr kumimoji="0" lang="en-US" altLang="en-US" sz="1900" b="0" i="0" u="none" strike="noStrike" cap="none" normalizeH="0" baseline="0" dirty="0">
                <a:ln>
                  <a:noFill/>
                </a:ln>
                <a:solidFill>
                  <a:schemeClr val="tx1"/>
                </a:solidFill>
                <a:effectLst/>
                <a:latin typeface="Arial Unicode MS"/>
              </a:rPr>
              <a:t>Products</a:t>
            </a:r>
            <a:r>
              <a:rPr kumimoji="0" lang="en-US" altLang="en-US" sz="1900" b="0" i="0" u="none" strike="noStrike" cap="none" normalizeH="0" baseline="0" dirty="0">
                <a:ln>
                  <a:noFill/>
                </a:ln>
                <a:solidFill>
                  <a:schemeClr val="tx1"/>
                </a:solidFill>
                <a:effectLst/>
              </a:rPr>
              <a:t> table.</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Select the </a:t>
            </a:r>
            <a:r>
              <a:rPr kumimoji="0" lang="en-US" altLang="en-US" sz="1900" b="0" i="0" u="none" strike="noStrike" cap="none" normalizeH="0" baseline="0" dirty="0" err="1">
                <a:ln>
                  <a:noFill/>
                </a:ln>
                <a:solidFill>
                  <a:schemeClr val="tx1"/>
                </a:solidFill>
                <a:effectLst/>
                <a:latin typeface="Arial Unicode MS"/>
              </a:rPr>
              <a:t>UnitCost</a:t>
            </a:r>
            <a:r>
              <a:rPr kumimoji="0" lang="en-US" altLang="en-US" sz="1900" b="0" i="0" u="none" strike="noStrike" cap="none" normalizeH="0" baseline="0" dirty="0">
                <a:ln>
                  <a:noFill/>
                </a:ln>
                <a:solidFill>
                  <a:schemeClr val="tx1"/>
                </a:solidFill>
                <a:effectLst/>
              </a:rPr>
              <a:t> column.</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Add a calculated column or measure to compute the average: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Use </a:t>
            </a:r>
            <a:r>
              <a:rPr kumimoji="0" lang="en-US" altLang="en-US" sz="1900" b="1" i="0" u="none" strike="noStrike" cap="none" normalizeH="0" baseline="0" dirty="0">
                <a:ln>
                  <a:noFill/>
                </a:ln>
                <a:solidFill>
                  <a:schemeClr val="tx1"/>
                </a:solidFill>
                <a:effectLst/>
                <a:latin typeface="Arial" panose="020B0604020202020204" pitchFamily="34" charset="0"/>
              </a:rPr>
              <a:t>Transform</a:t>
            </a:r>
            <a:r>
              <a:rPr kumimoji="0" lang="en-US" altLang="en-US" sz="1900" b="0" i="0" u="none" strike="noStrike" cap="none" normalizeH="0" baseline="0" dirty="0">
                <a:ln>
                  <a:noFill/>
                </a:ln>
                <a:solidFill>
                  <a:schemeClr val="tx1"/>
                </a:solidFill>
                <a:effectLst/>
                <a:latin typeface="Arial" panose="020B0604020202020204" pitchFamily="34" charset="0"/>
              </a:rPr>
              <a:t> &gt; </a:t>
            </a:r>
            <a:r>
              <a:rPr kumimoji="0" lang="en-US" altLang="en-US" sz="1900" b="1" i="0" u="none" strike="noStrike" cap="none" normalizeH="0" baseline="0" dirty="0">
                <a:ln>
                  <a:noFill/>
                </a:ln>
                <a:solidFill>
                  <a:schemeClr val="tx1"/>
                </a:solidFill>
                <a:effectLst/>
                <a:latin typeface="Arial" panose="020B0604020202020204" pitchFamily="34" charset="0"/>
              </a:rPr>
              <a:t>Statistics</a:t>
            </a:r>
            <a:r>
              <a:rPr kumimoji="0" lang="en-US" altLang="en-US" sz="1900" b="0" i="0" u="none" strike="noStrike" cap="none" normalizeH="0" baseline="0" dirty="0">
                <a:ln>
                  <a:noFill/>
                </a:ln>
                <a:solidFill>
                  <a:schemeClr val="tx1"/>
                </a:solidFill>
                <a:effectLst/>
                <a:latin typeface="Arial" panose="020B0604020202020204" pitchFamily="34" charset="0"/>
              </a:rPr>
              <a:t> &gt; </a:t>
            </a:r>
            <a:r>
              <a:rPr kumimoji="0" lang="en-US" altLang="en-US" sz="1900" b="1" i="0" u="none" strike="noStrike" cap="none" normalizeH="0" baseline="0" dirty="0">
                <a:ln>
                  <a:noFill/>
                </a:ln>
                <a:solidFill>
                  <a:schemeClr val="tx1"/>
                </a:solidFill>
                <a:effectLst/>
                <a:latin typeface="Arial" panose="020B0604020202020204" pitchFamily="34" charset="0"/>
              </a:rPr>
              <a:t>Average</a:t>
            </a:r>
            <a:r>
              <a:rPr kumimoji="0" lang="en-US" altLang="en-US" sz="1900" b="0" i="0" u="none" strike="noStrike" cap="none" normalizeH="0" baseline="0" dirty="0">
                <a:ln>
                  <a:noFill/>
                </a:ln>
                <a:solidFill>
                  <a:schemeClr val="tx1"/>
                </a:solidFill>
                <a:effectLst/>
                <a:latin typeface="Arial" panose="020B0604020202020204" pitchFamily="34" charset="0"/>
              </a:rPr>
              <a:t> to find the average value.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900" b="0" i="0" u="none" strike="noStrike" cap="none" normalizeH="0" baseline="0" dirty="0">
                <a:ln>
                  <a:noFill/>
                </a:ln>
                <a:solidFill>
                  <a:schemeClr val="tx1"/>
                </a:solidFill>
                <a:effectLst/>
                <a:latin typeface="Arial" panose="020B0604020202020204" pitchFamily="34" charset="0"/>
              </a:rPr>
              <a:t>Replace </a:t>
            </a:r>
            <a:r>
              <a:rPr kumimoji="0" lang="en-US" altLang="en-US" sz="1900" b="0" i="0" u="none" strike="noStrike" cap="none" normalizeH="0" baseline="0" dirty="0">
                <a:ln>
                  <a:noFill/>
                </a:ln>
                <a:solidFill>
                  <a:schemeClr val="tx1"/>
                </a:solidFill>
                <a:effectLst/>
                <a:latin typeface="Arial Unicode MS"/>
              </a:rPr>
              <a:t>null</a:t>
            </a:r>
            <a:r>
              <a:rPr kumimoji="0" lang="en-US" altLang="en-US" sz="1900" b="0" i="0" u="none" strike="noStrike" cap="none" normalizeH="0" baseline="0" dirty="0">
                <a:ln>
                  <a:noFill/>
                </a:ln>
                <a:solidFill>
                  <a:schemeClr val="tx1"/>
                </a:solidFill>
                <a:effectLst/>
              </a:rPr>
              <a:t> with the calculated average using </a:t>
            </a:r>
            <a:r>
              <a:rPr kumimoji="0" lang="en-US" altLang="en-US" sz="1900" b="1" i="0" u="none" strike="noStrike" cap="none" normalizeH="0" baseline="0" dirty="0">
                <a:ln>
                  <a:noFill/>
                </a:ln>
                <a:solidFill>
                  <a:schemeClr val="tx1"/>
                </a:solidFill>
                <a:effectLst/>
                <a:latin typeface="Arial" panose="020B0604020202020204" pitchFamily="34" charset="0"/>
              </a:rPr>
              <a:t>Replace Values</a:t>
            </a:r>
            <a:r>
              <a:rPr kumimoji="0" lang="en-US" altLang="en-US" sz="19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endParaRPr lang="en-US" altLang="en-US" sz="1900" dirty="0">
              <a:solidFill>
                <a:schemeClr val="tx1"/>
              </a:solidFill>
              <a:latin typeface="Arial" panose="020B0604020202020204" pitchFamily="34" charset="0"/>
            </a:endParaRPr>
          </a:p>
          <a:p>
            <a:pPr marL="0" indent="-73152" eaLnBrk="0" fontAlgn="base" hangingPunct="0">
              <a:lnSpc>
                <a:spcPct val="100000"/>
              </a:lnSpc>
              <a:spcBef>
                <a:spcPct val="0"/>
              </a:spcBef>
              <a:spcAft>
                <a:spcPct val="0"/>
              </a:spcAft>
              <a:buFontTx/>
              <a:buChar char="•"/>
            </a:pPr>
            <a:r>
              <a:rPr lang="en-US" sz="2200" dirty="0"/>
              <a:t>Once the cleaning is complete, click </a:t>
            </a:r>
            <a:r>
              <a:rPr lang="en-US" sz="2200" b="1" dirty="0"/>
              <a:t>Close &amp; Apply</a:t>
            </a:r>
            <a:r>
              <a:rPr lang="en-US" sz="2200" dirty="0"/>
              <a:t> to save changes</a:t>
            </a:r>
          </a:p>
          <a:p>
            <a:pPr marL="0" indent="0" eaLnBrk="0" fontAlgn="base" hangingPunct="0">
              <a:lnSpc>
                <a:spcPct val="100000"/>
              </a:lnSpc>
              <a:spcBef>
                <a:spcPct val="0"/>
              </a:spcBef>
              <a:spcAft>
                <a:spcPct val="0"/>
              </a:spcAft>
              <a:buNone/>
            </a:pPr>
            <a:r>
              <a:rPr lang="en-US" sz="2200" dirty="0"/>
              <a:t> and load the cleaned data into Power BI.</a:t>
            </a: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9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931577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C93C1-5219-EE9F-BEEA-47E9127A8B6D}"/>
              </a:ext>
            </a:extLst>
          </p:cNvPr>
          <p:cNvSpPr>
            <a:spLocks noGrp="1"/>
          </p:cNvSpPr>
          <p:nvPr>
            <p:ph type="title"/>
          </p:nvPr>
        </p:nvSpPr>
        <p:spPr/>
        <p:txBody>
          <a:bodyPr/>
          <a:lstStyle/>
          <a:p>
            <a:r>
              <a:rPr lang="en-US" dirty="0"/>
              <a:t>Exercise </a:t>
            </a:r>
          </a:p>
        </p:txBody>
      </p:sp>
      <p:sp>
        <p:nvSpPr>
          <p:cNvPr id="3" name="Content Placeholder 2">
            <a:extLst>
              <a:ext uri="{FF2B5EF4-FFF2-40B4-BE49-F238E27FC236}">
                <a16:creationId xmlns:a16="http://schemas.microsoft.com/office/drawing/2014/main" id="{B3FACC73-805A-78B7-DD1C-45D374763D2D}"/>
              </a:ext>
            </a:extLst>
          </p:cNvPr>
          <p:cNvSpPr>
            <a:spLocks noGrp="1"/>
          </p:cNvSpPr>
          <p:nvPr>
            <p:ph idx="1"/>
          </p:nvPr>
        </p:nvSpPr>
        <p:spPr/>
        <p:txBody>
          <a:bodyPr>
            <a:normAutofit/>
          </a:bodyPr>
          <a:lstStyle/>
          <a:p>
            <a:r>
              <a:rPr lang="en-US" dirty="0"/>
              <a:t>Open the Power BI Desktop.</a:t>
            </a:r>
          </a:p>
          <a:p>
            <a:r>
              <a:rPr lang="en-US" dirty="0"/>
              <a:t>Import the Excel Data named Retail_Sales_Analysis.xlsx</a:t>
            </a:r>
          </a:p>
          <a:p>
            <a:r>
              <a:rPr lang="en-US" i="1" dirty="0">
                <a:solidFill>
                  <a:schemeClr val="tx1"/>
                </a:solidFill>
              </a:rPr>
              <a:t>Removing duplicates.</a:t>
            </a:r>
          </a:p>
          <a:p>
            <a:r>
              <a:rPr lang="en-US" i="1" dirty="0">
                <a:solidFill>
                  <a:schemeClr val="tx1"/>
                </a:solidFill>
              </a:rPr>
              <a:t>Correcting misspelled entries in ProductName.</a:t>
            </a:r>
          </a:p>
          <a:p>
            <a:r>
              <a:rPr lang="en-US" i="1" dirty="0">
                <a:solidFill>
                  <a:schemeClr val="tx1"/>
                </a:solidFill>
              </a:rPr>
              <a:t>Standardizing Region names in the Customers table.</a:t>
            </a:r>
          </a:p>
          <a:p>
            <a:r>
              <a:rPr lang="en-US" i="1" dirty="0">
                <a:solidFill>
                  <a:schemeClr val="tx1"/>
                </a:solidFill>
              </a:rPr>
              <a:t>Fill missing Region with "Unknown.“</a:t>
            </a:r>
          </a:p>
          <a:p>
            <a:r>
              <a:rPr lang="en-US" i="1" dirty="0">
                <a:solidFill>
                  <a:schemeClr val="tx1"/>
                </a:solidFill>
              </a:rPr>
              <a:t>Replace missing </a:t>
            </a:r>
            <a:r>
              <a:rPr lang="en-US" i="1" dirty="0" err="1">
                <a:solidFill>
                  <a:schemeClr val="tx1"/>
                </a:solidFill>
              </a:rPr>
              <a:t>UnitCost</a:t>
            </a:r>
            <a:r>
              <a:rPr lang="en-US" i="1" dirty="0">
                <a:solidFill>
                  <a:schemeClr val="tx1"/>
                </a:solidFill>
              </a:rPr>
              <a:t> with the average value in Products.</a:t>
            </a:r>
          </a:p>
        </p:txBody>
      </p:sp>
    </p:spTree>
    <p:extLst>
      <p:ext uri="{BB962C8B-B14F-4D97-AF65-F5344CB8AC3E}">
        <p14:creationId xmlns:p14="http://schemas.microsoft.com/office/powerpoint/2010/main" val="415994455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56B95-70C4-E866-E3BB-CF423367E3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3C7D2-E458-DC17-22B6-C83859AEAC9A}"/>
              </a:ext>
            </a:extLst>
          </p:cNvPr>
          <p:cNvSpPr>
            <a:spLocks noGrp="1"/>
          </p:cNvSpPr>
          <p:nvPr>
            <p:ph type="title"/>
          </p:nvPr>
        </p:nvSpPr>
        <p:spPr>
          <a:xfrm>
            <a:off x="1295399" y="2686050"/>
            <a:ext cx="9901335" cy="1485900"/>
          </a:xfrm>
        </p:spPr>
        <p:txBody>
          <a:bodyPr>
            <a:normAutofit/>
          </a:bodyPr>
          <a:lstStyle/>
          <a:p>
            <a:r>
              <a:rPr lang="en-US" b="1" dirty="0"/>
              <a:t>Day 12</a:t>
            </a:r>
            <a:r>
              <a:rPr lang="en-US" dirty="0"/>
              <a:t>: </a:t>
            </a:r>
            <a:r>
              <a:rPr lang="en-IN" dirty="0"/>
              <a:t>Power BI – Relationship between Tables and Create data Model</a:t>
            </a:r>
            <a:endParaRPr lang="en-US" dirty="0"/>
          </a:p>
        </p:txBody>
      </p:sp>
    </p:spTree>
    <p:extLst>
      <p:ext uri="{BB962C8B-B14F-4D97-AF65-F5344CB8AC3E}">
        <p14:creationId xmlns:p14="http://schemas.microsoft.com/office/powerpoint/2010/main" val="127076347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4B66-052A-D715-D6D0-176C4A351F16}"/>
              </a:ext>
            </a:extLst>
          </p:cNvPr>
          <p:cNvSpPr>
            <a:spLocks noGrp="1"/>
          </p:cNvSpPr>
          <p:nvPr>
            <p:ph type="title"/>
          </p:nvPr>
        </p:nvSpPr>
        <p:spPr>
          <a:xfrm>
            <a:off x="1371600" y="232954"/>
            <a:ext cx="9601200" cy="1485900"/>
          </a:xfrm>
        </p:spPr>
        <p:txBody>
          <a:bodyPr/>
          <a:lstStyle/>
          <a:p>
            <a:r>
              <a:rPr lang="en-US" dirty="0"/>
              <a:t>CREATING RELATIONSHIP BETWEEN TABLES</a:t>
            </a:r>
          </a:p>
        </p:txBody>
      </p:sp>
      <p:sp>
        <p:nvSpPr>
          <p:cNvPr id="4" name="Content Placeholder 3">
            <a:extLst>
              <a:ext uri="{FF2B5EF4-FFF2-40B4-BE49-F238E27FC236}">
                <a16:creationId xmlns:a16="http://schemas.microsoft.com/office/drawing/2014/main" id="{4413E005-90E4-E009-250E-5651475C1E0B}"/>
              </a:ext>
            </a:extLst>
          </p:cNvPr>
          <p:cNvSpPr>
            <a:spLocks noGrp="1"/>
          </p:cNvSpPr>
          <p:nvPr>
            <p:ph sz="half" idx="1"/>
          </p:nvPr>
        </p:nvSpPr>
        <p:spPr>
          <a:xfrm>
            <a:off x="1371600" y="1593669"/>
            <a:ext cx="10297886" cy="5264331"/>
          </a:xfrm>
        </p:spPr>
        <p:txBody>
          <a:bodyPr>
            <a:normAutofit/>
          </a:bodyPr>
          <a:lstStyle/>
          <a:p>
            <a:r>
              <a:rPr lang="en-US" dirty="0"/>
              <a:t>Steps to Create Relationships in Power BI</a:t>
            </a:r>
          </a:p>
          <a:p>
            <a:endParaRPr lang="en-US" dirty="0"/>
          </a:p>
          <a:p>
            <a:r>
              <a:rPr lang="en-US" dirty="0"/>
              <a:t>1. Import Your Tables:</a:t>
            </a:r>
          </a:p>
          <a:p>
            <a:r>
              <a:rPr lang="en-US" dirty="0"/>
              <a:t>Load the datasets into Power BI by selecting Get Data &gt; Excel/CSV/SQL Database, and ensure all relevant tables are imported.</a:t>
            </a:r>
          </a:p>
          <a:p>
            <a:r>
              <a:rPr lang="en-US" dirty="0"/>
              <a:t>2. Access the Model View:</a:t>
            </a:r>
          </a:p>
          <a:p>
            <a:r>
              <a:rPr lang="en-US" dirty="0"/>
              <a:t>Navigate to the Model View by selecting the Model icon (a table icon on the left pane).</a:t>
            </a:r>
          </a:p>
          <a:p>
            <a:r>
              <a:rPr lang="en-US" dirty="0"/>
              <a:t>3. Understand Table Structure:</a:t>
            </a:r>
          </a:p>
          <a:p>
            <a:r>
              <a:rPr lang="en-US" dirty="0"/>
              <a:t>Identify primary keys and foreign keys in your tables:</a:t>
            </a:r>
          </a:p>
          <a:p>
            <a:r>
              <a:rPr lang="en-US" dirty="0"/>
              <a:t>Primary Key: Unique identifier for rows in a table (e.g., Order ID in a Sales table).</a:t>
            </a:r>
          </a:p>
          <a:p>
            <a:r>
              <a:rPr lang="en-US" dirty="0"/>
              <a:t>Foreign Key: A field in one table that references the primary key in another table (e.g., Customer ID in Orders referencing Customer ID in Customers).</a:t>
            </a:r>
            <a:endParaRPr lang="en-IN" dirty="0"/>
          </a:p>
        </p:txBody>
      </p:sp>
    </p:spTree>
    <p:extLst>
      <p:ext uri="{BB962C8B-B14F-4D97-AF65-F5344CB8AC3E}">
        <p14:creationId xmlns:p14="http://schemas.microsoft.com/office/powerpoint/2010/main" val="503852881"/>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9D344-2C21-3460-D91F-D628A398DDFB}"/>
              </a:ext>
            </a:extLst>
          </p:cNvPr>
          <p:cNvSpPr>
            <a:spLocks noGrp="1"/>
          </p:cNvSpPr>
          <p:nvPr>
            <p:ph type="title"/>
          </p:nvPr>
        </p:nvSpPr>
        <p:spPr>
          <a:xfrm>
            <a:off x="1371600" y="0"/>
            <a:ext cx="9601200" cy="949234"/>
          </a:xfrm>
        </p:spPr>
        <p:txBody>
          <a:bodyPr/>
          <a:lstStyle/>
          <a:p>
            <a:r>
              <a:rPr lang="en-IN" dirty="0"/>
              <a:t>CREATING AND SETTING RELATIONSHIP</a:t>
            </a:r>
          </a:p>
        </p:txBody>
      </p:sp>
      <p:sp>
        <p:nvSpPr>
          <p:cNvPr id="3" name="Content Placeholder 2">
            <a:extLst>
              <a:ext uri="{FF2B5EF4-FFF2-40B4-BE49-F238E27FC236}">
                <a16:creationId xmlns:a16="http://schemas.microsoft.com/office/drawing/2014/main" id="{4B3B9163-F38B-5FF1-1ED3-BE8822468331}"/>
              </a:ext>
            </a:extLst>
          </p:cNvPr>
          <p:cNvSpPr>
            <a:spLocks noGrp="1"/>
          </p:cNvSpPr>
          <p:nvPr>
            <p:ph sz="half" idx="1"/>
          </p:nvPr>
        </p:nvSpPr>
        <p:spPr>
          <a:xfrm>
            <a:off x="1371600" y="775063"/>
            <a:ext cx="10115006" cy="6082938"/>
          </a:xfrm>
        </p:spPr>
        <p:txBody>
          <a:bodyPr>
            <a:normAutofit fontScale="85000" lnSpcReduction="20000"/>
          </a:bodyPr>
          <a:lstStyle/>
          <a:p>
            <a:r>
              <a:rPr lang="en-US" b="1" dirty="0"/>
              <a:t>4. Create a Relationship:</a:t>
            </a:r>
          </a:p>
          <a:p>
            <a:r>
              <a:rPr lang="en-US" dirty="0"/>
              <a:t>Drag a column from one table to another:</a:t>
            </a:r>
          </a:p>
          <a:p>
            <a:r>
              <a:rPr lang="en-US" dirty="0"/>
              <a:t>For example, drag Customer ID from the Orders table to Customer ID in the Customers table.</a:t>
            </a:r>
          </a:p>
          <a:p>
            <a:r>
              <a:rPr lang="en-US" dirty="0"/>
              <a:t>This will automatically create a relationship.</a:t>
            </a:r>
          </a:p>
          <a:p>
            <a:r>
              <a:rPr lang="en-US" b="1" dirty="0"/>
              <a:t>5. Set Relationship Properties: </a:t>
            </a:r>
          </a:p>
          <a:p>
            <a:r>
              <a:rPr lang="en-US" dirty="0"/>
              <a:t>Double-click on the relationship line or select the relationship in the Model View to open the Edit Relationship dialog.</a:t>
            </a:r>
          </a:p>
          <a:p>
            <a:r>
              <a:rPr lang="en-US" dirty="0"/>
              <a:t>Configure the following options: </a:t>
            </a:r>
          </a:p>
          <a:p>
            <a:r>
              <a:rPr lang="en-US" b="1" dirty="0"/>
              <a:t>Cardinality:</a:t>
            </a:r>
          </a:p>
          <a:p>
            <a:r>
              <a:rPr lang="en-US" dirty="0"/>
              <a:t>Many-to-One ( *:1 ): The most common type, used when multiple rows in one table relate to a single row in another.</a:t>
            </a:r>
          </a:p>
          <a:p>
            <a:r>
              <a:rPr lang="en-US" dirty="0"/>
              <a:t>One-to-One ( 1:1 ): Used when each row in one table corresponds to a single row in another.</a:t>
            </a:r>
          </a:p>
          <a:p>
            <a:r>
              <a:rPr lang="en-US" dirty="0"/>
              <a:t>Many-to-Many ( : ): Used when multiple rows in both tables relate to each other.</a:t>
            </a:r>
          </a:p>
          <a:p>
            <a:r>
              <a:rPr lang="en-US" b="1" dirty="0"/>
              <a:t>Cross Filter Direction: </a:t>
            </a:r>
          </a:p>
          <a:p>
            <a:r>
              <a:rPr lang="en-US" dirty="0"/>
              <a:t>Single: Default, filtering flows from the "one" side to the "many" side.</a:t>
            </a:r>
          </a:p>
          <a:p>
            <a:r>
              <a:rPr lang="en-US" dirty="0"/>
              <a:t>Both: Enables bi-directional filtering but may impact performance.</a:t>
            </a:r>
          </a:p>
          <a:p>
            <a:r>
              <a:rPr lang="en-US" b="1" dirty="0"/>
              <a:t>Active Relationship: </a:t>
            </a:r>
          </a:p>
          <a:p>
            <a:r>
              <a:rPr lang="en-US" dirty="0"/>
              <a:t>Ensure the correct relationship is active if there are multiple relationships between two tables.</a:t>
            </a:r>
            <a:endParaRPr lang="en-IN" dirty="0"/>
          </a:p>
        </p:txBody>
      </p:sp>
    </p:spTree>
    <p:extLst>
      <p:ext uri="{BB962C8B-B14F-4D97-AF65-F5344CB8AC3E}">
        <p14:creationId xmlns:p14="http://schemas.microsoft.com/office/powerpoint/2010/main" val="428002936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2CC34-9B9C-8CFE-097D-354833A315D3}"/>
              </a:ext>
            </a:extLst>
          </p:cNvPr>
          <p:cNvSpPr>
            <a:spLocks noGrp="1"/>
          </p:cNvSpPr>
          <p:nvPr>
            <p:ph type="title"/>
          </p:nvPr>
        </p:nvSpPr>
        <p:spPr>
          <a:xfrm>
            <a:off x="1371599" y="0"/>
            <a:ext cx="10759441" cy="1485900"/>
          </a:xfrm>
        </p:spPr>
        <p:txBody>
          <a:bodyPr/>
          <a:lstStyle/>
          <a:p>
            <a:r>
              <a:rPr lang="en-IN" dirty="0"/>
              <a:t>VALIDATE AND USE RELATIONSHIP IN REPORTS</a:t>
            </a:r>
          </a:p>
        </p:txBody>
      </p:sp>
      <p:sp>
        <p:nvSpPr>
          <p:cNvPr id="3" name="Content Placeholder 2">
            <a:extLst>
              <a:ext uri="{FF2B5EF4-FFF2-40B4-BE49-F238E27FC236}">
                <a16:creationId xmlns:a16="http://schemas.microsoft.com/office/drawing/2014/main" id="{22F2DFED-A970-FB2D-721F-F71BA3BA358D}"/>
              </a:ext>
            </a:extLst>
          </p:cNvPr>
          <p:cNvSpPr>
            <a:spLocks noGrp="1"/>
          </p:cNvSpPr>
          <p:nvPr>
            <p:ph sz="half" idx="1"/>
          </p:nvPr>
        </p:nvSpPr>
        <p:spPr>
          <a:xfrm>
            <a:off x="1371600" y="1271451"/>
            <a:ext cx="10367554" cy="5586549"/>
          </a:xfrm>
        </p:spPr>
        <p:txBody>
          <a:bodyPr/>
          <a:lstStyle/>
          <a:p>
            <a:r>
              <a:rPr lang="en-US" b="1" dirty="0"/>
              <a:t>6. Validate the Relationship:</a:t>
            </a:r>
          </a:p>
          <a:p>
            <a:r>
              <a:rPr lang="en-US" dirty="0"/>
              <a:t>Check for a solid line between tables, indicating an active relationship.</a:t>
            </a:r>
          </a:p>
          <a:p>
            <a:r>
              <a:rPr lang="en-US" dirty="0"/>
              <a:t>Ensure there are no data inconsistencies (e.g., unmatched keys).</a:t>
            </a:r>
          </a:p>
          <a:p>
            <a:r>
              <a:rPr lang="en-US" b="1" dirty="0"/>
              <a:t>7. Use Relationships in Reports:</a:t>
            </a:r>
          </a:p>
          <a:p>
            <a:r>
              <a:rPr lang="en-US" dirty="0"/>
              <a:t>Drag fields from related tables into your visuals (e.g., combine customer information with sales data).</a:t>
            </a:r>
          </a:p>
          <a:p>
            <a:r>
              <a:rPr lang="en-US" dirty="0"/>
              <a:t>Power BI will automatically handle joins based on relationships.</a:t>
            </a:r>
          </a:p>
          <a:p>
            <a:endParaRPr lang="en-IN" dirty="0"/>
          </a:p>
        </p:txBody>
      </p:sp>
      <p:graphicFrame>
        <p:nvGraphicFramePr>
          <p:cNvPr id="8" name="Table 7">
            <a:extLst>
              <a:ext uri="{FF2B5EF4-FFF2-40B4-BE49-F238E27FC236}">
                <a16:creationId xmlns:a16="http://schemas.microsoft.com/office/drawing/2014/main" id="{6D08E8ED-5AA8-922E-73CD-05D0D2A053C8}"/>
              </a:ext>
            </a:extLst>
          </p:cNvPr>
          <p:cNvGraphicFramePr>
            <a:graphicFrameLocks noGrp="1"/>
          </p:cNvGraphicFramePr>
          <p:nvPr/>
        </p:nvGraphicFramePr>
        <p:xfrm>
          <a:off x="1513643" y="5227584"/>
          <a:ext cx="9601200" cy="1097280"/>
        </p:xfrm>
        <a:graphic>
          <a:graphicData uri="http://schemas.openxmlformats.org/drawingml/2006/table">
            <a:tbl>
              <a:tblPr/>
              <a:tblGrid>
                <a:gridCol w="2400300">
                  <a:extLst>
                    <a:ext uri="{9D8B030D-6E8A-4147-A177-3AD203B41FA5}">
                      <a16:colId xmlns:a16="http://schemas.microsoft.com/office/drawing/2014/main" val="2688573126"/>
                    </a:ext>
                  </a:extLst>
                </a:gridCol>
                <a:gridCol w="2400300">
                  <a:extLst>
                    <a:ext uri="{9D8B030D-6E8A-4147-A177-3AD203B41FA5}">
                      <a16:colId xmlns:a16="http://schemas.microsoft.com/office/drawing/2014/main" val="3185829124"/>
                    </a:ext>
                  </a:extLst>
                </a:gridCol>
                <a:gridCol w="2400300">
                  <a:extLst>
                    <a:ext uri="{9D8B030D-6E8A-4147-A177-3AD203B41FA5}">
                      <a16:colId xmlns:a16="http://schemas.microsoft.com/office/drawing/2014/main" val="530951029"/>
                    </a:ext>
                  </a:extLst>
                </a:gridCol>
                <a:gridCol w="2400300">
                  <a:extLst>
                    <a:ext uri="{9D8B030D-6E8A-4147-A177-3AD203B41FA5}">
                      <a16:colId xmlns:a16="http://schemas.microsoft.com/office/drawing/2014/main" val="2162392198"/>
                    </a:ext>
                  </a:extLst>
                </a:gridCol>
              </a:tblGrid>
              <a:tr h="0">
                <a:tc>
                  <a:txBody>
                    <a:bodyPr/>
                    <a:lstStyle/>
                    <a:p>
                      <a:r>
                        <a:rPr lang="en-IN" b="1"/>
                        <a:t>Order ID</a:t>
                      </a:r>
                      <a:endParaRPr lang="en-IN"/>
                    </a:p>
                  </a:txBody>
                  <a:tcPr anchor="ctr">
                    <a:lnL>
                      <a:noFill/>
                    </a:lnL>
                    <a:lnR>
                      <a:noFill/>
                    </a:lnR>
                    <a:lnT>
                      <a:noFill/>
                    </a:lnT>
                    <a:lnB>
                      <a:noFill/>
                    </a:lnB>
                    <a:noFill/>
                  </a:tcPr>
                </a:tc>
                <a:tc>
                  <a:txBody>
                    <a:bodyPr/>
                    <a:lstStyle/>
                    <a:p>
                      <a:r>
                        <a:rPr lang="en-IN" b="1"/>
                        <a:t>Customer ID</a:t>
                      </a:r>
                      <a:endParaRPr lang="en-IN"/>
                    </a:p>
                  </a:txBody>
                  <a:tcPr anchor="ctr">
                    <a:lnL>
                      <a:noFill/>
                    </a:lnL>
                    <a:lnR>
                      <a:noFill/>
                    </a:lnR>
                    <a:lnT>
                      <a:noFill/>
                    </a:lnT>
                    <a:lnB>
                      <a:noFill/>
                    </a:lnB>
                    <a:noFill/>
                  </a:tcPr>
                </a:tc>
                <a:tc>
                  <a:txBody>
                    <a:bodyPr/>
                    <a:lstStyle/>
                    <a:p>
                      <a:r>
                        <a:rPr lang="en-IN" b="1"/>
                        <a:t>Product</a:t>
                      </a:r>
                      <a:endParaRPr lang="en-IN"/>
                    </a:p>
                  </a:txBody>
                  <a:tcPr anchor="ctr">
                    <a:lnL>
                      <a:noFill/>
                    </a:lnL>
                    <a:lnR>
                      <a:noFill/>
                    </a:lnR>
                    <a:lnT>
                      <a:noFill/>
                    </a:lnT>
                    <a:lnB>
                      <a:noFill/>
                    </a:lnB>
                    <a:noFill/>
                  </a:tcPr>
                </a:tc>
                <a:tc>
                  <a:txBody>
                    <a:bodyPr/>
                    <a:lstStyle/>
                    <a:p>
                      <a:r>
                        <a:rPr lang="en-IN" b="1"/>
                        <a:t>Amount</a:t>
                      </a:r>
                      <a:endParaRPr lang="en-IN"/>
                    </a:p>
                  </a:txBody>
                  <a:tcPr anchor="ctr">
                    <a:lnL>
                      <a:noFill/>
                    </a:lnL>
                    <a:lnR>
                      <a:noFill/>
                    </a:lnR>
                    <a:lnT>
                      <a:noFill/>
                    </a:lnT>
                    <a:lnB>
                      <a:noFill/>
                    </a:lnB>
                    <a:noFill/>
                  </a:tcPr>
                </a:tc>
                <a:extLst>
                  <a:ext uri="{0D108BD9-81ED-4DB2-BD59-A6C34878D82A}">
                    <a16:rowId xmlns:a16="http://schemas.microsoft.com/office/drawing/2014/main" val="2914285803"/>
                  </a:ext>
                </a:extLst>
              </a:tr>
              <a:tr h="0">
                <a:tc>
                  <a:txBody>
                    <a:bodyPr/>
                    <a:lstStyle/>
                    <a:p>
                      <a:r>
                        <a:rPr lang="en-IN"/>
                        <a:t>101</a:t>
                      </a:r>
                    </a:p>
                  </a:txBody>
                  <a:tcPr anchor="ctr">
                    <a:lnL>
                      <a:noFill/>
                    </a:lnL>
                    <a:lnR>
                      <a:noFill/>
                    </a:lnR>
                    <a:lnT>
                      <a:noFill/>
                    </a:lnT>
                    <a:lnB>
                      <a:noFill/>
                    </a:lnB>
                    <a:noFill/>
                  </a:tcPr>
                </a:tc>
                <a:tc>
                  <a:txBody>
                    <a:bodyPr/>
                    <a:lstStyle/>
                    <a:p>
                      <a:r>
                        <a:rPr lang="en-IN"/>
                        <a:t>C001</a:t>
                      </a:r>
                    </a:p>
                  </a:txBody>
                  <a:tcPr anchor="ctr">
                    <a:lnL>
                      <a:noFill/>
                    </a:lnL>
                    <a:lnR>
                      <a:noFill/>
                    </a:lnR>
                    <a:lnT>
                      <a:noFill/>
                    </a:lnT>
                    <a:lnB>
                      <a:noFill/>
                    </a:lnB>
                    <a:noFill/>
                  </a:tcPr>
                </a:tc>
                <a:tc>
                  <a:txBody>
                    <a:bodyPr/>
                    <a:lstStyle/>
                    <a:p>
                      <a:r>
                        <a:rPr lang="en-IN"/>
                        <a:t>Laptop</a:t>
                      </a:r>
                    </a:p>
                  </a:txBody>
                  <a:tcPr anchor="ctr">
                    <a:lnL>
                      <a:noFill/>
                    </a:lnL>
                    <a:lnR>
                      <a:noFill/>
                    </a:lnR>
                    <a:lnT>
                      <a:noFill/>
                    </a:lnT>
                    <a:lnB>
                      <a:noFill/>
                    </a:lnB>
                    <a:noFill/>
                  </a:tcPr>
                </a:tc>
                <a:tc>
                  <a:txBody>
                    <a:bodyPr/>
                    <a:lstStyle/>
                    <a:p>
                      <a:r>
                        <a:rPr lang="en-IN"/>
                        <a:t>1500</a:t>
                      </a:r>
                    </a:p>
                  </a:txBody>
                  <a:tcPr anchor="ctr">
                    <a:lnL>
                      <a:noFill/>
                    </a:lnL>
                    <a:lnR>
                      <a:noFill/>
                    </a:lnR>
                    <a:lnT>
                      <a:noFill/>
                    </a:lnT>
                    <a:lnB>
                      <a:noFill/>
                    </a:lnB>
                    <a:noFill/>
                  </a:tcPr>
                </a:tc>
                <a:extLst>
                  <a:ext uri="{0D108BD9-81ED-4DB2-BD59-A6C34878D82A}">
                    <a16:rowId xmlns:a16="http://schemas.microsoft.com/office/drawing/2014/main" val="3487174443"/>
                  </a:ext>
                </a:extLst>
              </a:tr>
              <a:tr h="0">
                <a:tc>
                  <a:txBody>
                    <a:bodyPr/>
                    <a:lstStyle/>
                    <a:p>
                      <a:r>
                        <a:rPr lang="en-IN"/>
                        <a:t>102</a:t>
                      </a:r>
                    </a:p>
                  </a:txBody>
                  <a:tcPr anchor="ctr">
                    <a:lnL>
                      <a:noFill/>
                    </a:lnL>
                    <a:lnR>
                      <a:noFill/>
                    </a:lnR>
                    <a:lnT>
                      <a:noFill/>
                    </a:lnT>
                    <a:lnB>
                      <a:noFill/>
                    </a:lnB>
                    <a:noFill/>
                  </a:tcPr>
                </a:tc>
                <a:tc>
                  <a:txBody>
                    <a:bodyPr/>
                    <a:lstStyle/>
                    <a:p>
                      <a:r>
                        <a:rPr lang="en-IN"/>
                        <a:t>C002</a:t>
                      </a:r>
                    </a:p>
                  </a:txBody>
                  <a:tcPr anchor="ctr">
                    <a:lnL>
                      <a:noFill/>
                    </a:lnL>
                    <a:lnR>
                      <a:noFill/>
                    </a:lnR>
                    <a:lnT>
                      <a:noFill/>
                    </a:lnT>
                    <a:lnB>
                      <a:noFill/>
                    </a:lnB>
                    <a:noFill/>
                  </a:tcPr>
                </a:tc>
                <a:tc>
                  <a:txBody>
                    <a:bodyPr/>
                    <a:lstStyle/>
                    <a:p>
                      <a:r>
                        <a:rPr lang="en-IN"/>
                        <a:t>Printer</a:t>
                      </a:r>
                    </a:p>
                  </a:txBody>
                  <a:tcPr anchor="ctr">
                    <a:lnL>
                      <a:noFill/>
                    </a:lnL>
                    <a:lnR>
                      <a:noFill/>
                    </a:lnR>
                    <a:lnT>
                      <a:noFill/>
                    </a:lnT>
                    <a:lnB>
                      <a:noFill/>
                    </a:lnB>
                    <a:noFill/>
                  </a:tcPr>
                </a:tc>
                <a:tc>
                  <a:txBody>
                    <a:bodyPr/>
                    <a:lstStyle/>
                    <a:p>
                      <a:r>
                        <a:rPr lang="en-IN" dirty="0"/>
                        <a:t>200</a:t>
                      </a:r>
                    </a:p>
                  </a:txBody>
                  <a:tcPr anchor="ctr">
                    <a:lnL>
                      <a:noFill/>
                    </a:lnL>
                    <a:lnR>
                      <a:noFill/>
                    </a:lnR>
                    <a:lnT>
                      <a:noFill/>
                    </a:lnT>
                    <a:lnB>
                      <a:noFill/>
                    </a:lnB>
                    <a:noFill/>
                  </a:tcPr>
                </a:tc>
                <a:extLst>
                  <a:ext uri="{0D108BD9-81ED-4DB2-BD59-A6C34878D82A}">
                    <a16:rowId xmlns:a16="http://schemas.microsoft.com/office/drawing/2014/main" val="294598006"/>
                  </a:ext>
                </a:extLst>
              </a:tr>
            </a:tbl>
          </a:graphicData>
        </a:graphic>
      </p:graphicFrame>
      <p:sp>
        <p:nvSpPr>
          <p:cNvPr id="9" name="Rectangle 4">
            <a:extLst>
              <a:ext uri="{FF2B5EF4-FFF2-40B4-BE49-F238E27FC236}">
                <a16:creationId xmlns:a16="http://schemas.microsoft.com/office/drawing/2014/main" id="{D7694D3C-B00A-0D2F-0802-464AB3DF6F36}"/>
              </a:ext>
            </a:extLst>
          </p:cNvPr>
          <p:cNvSpPr>
            <a:spLocks noChangeArrowheads="1"/>
          </p:cNvSpPr>
          <p:nvPr/>
        </p:nvSpPr>
        <p:spPr bwMode="auto">
          <a:xfrm>
            <a:off x="1513643" y="4462610"/>
            <a:ext cx="439947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Example: Sales and Customers 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Sales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9981404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33E15-BDDC-CBD1-5164-4730B2C79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BD2CE-6E07-5D03-AC43-C54A5A575AC3}"/>
              </a:ext>
            </a:extLst>
          </p:cNvPr>
          <p:cNvSpPr>
            <a:spLocks noGrp="1"/>
          </p:cNvSpPr>
          <p:nvPr>
            <p:ph type="title"/>
          </p:nvPr>
        </p:nvSpPr>
        <p:spPr>
          <a:xfrm>
            <a:off x="1371599" y="0"/>
            <a:ext cx="10759441" cy="1485900"/>
          </a:xfrm>
        </p:spPr>
        <p:txBody>
          <a:bodyPr>
            <a:normAutofit fontScale="90000"/>
          </a:bodyPr>
          <a:lstStyle/>
          <a:p>
            <a:pPr algn="l"/>
            <a:r>
              <a:rPr lang="en-IN" b="1" i="0" dirty="0">
                <a:solidFill>
                  <a:srgbClr val="000E2A"/>
                </a:solidFill>
                <a:effectLst/>
                <a:latin typeface="Mulish"/>
              </a:rPr>
              <a:t>How to establish relationships when importing data in Power BI</a:t>
            </a:r>
            <a:br>
              <a:rPr lang="en-IN" b="1" i="0" dirty="0">
                <a:solidFill>
                  <a:srgbClr val="000E2A"/>
                </a:solidFill>
                <a:effectLst/>
                <a:latin typeface="Mulish"/>
              </a:rPr>
            </a:br>
            <a:r>
              <a:rPr lang="en-IN" dirty="0"/>
              <a:t/>
            </a:r>
            <a:br>
              <a:rPr lang="en-IN" dirty="0"/>
            </a:br>
            <a:endParaRPr lang="en-IN" dirty="0"/>
          </a:p>
        </p:txBody>
      </p:sp>
      <p:sp>
        <p:nvSpPr>
          <p:cNvPr id="3" name="Content Placeholder 2">
            <a:extLst>
              <a:ext uri="{FF2B5EF4-FFF2-40B4-BE49-F238E27FC236}">
                <a16:creationId xmlns:a16="http://schemas.microsoft.com/office/drawing/2014/main" id="{EDEB309B-C326-B916-065C-E628556024C4}"/>
              </a:ext>
            </a:extLst>
          </p:cNvPr>
          <p:cNvSpPr>
            <a:spLocks noGrp="1"/>
          </p:cNvSpPr>
          <p:nvPr>
            <p:ph sz="half" idx="1"/>
          </p:nvPr>
        </p:nvSpPr>
        <p:spPr>
          <a:xfrm>
            <a:off x="1371600" y="1271451"/>
            <a:ext cx="10367554" cy="5586549"/>
          </a:xfrm>
        </p:spPr>
        <p:txBody>
          <a:bodyPr>
            <a:normAutofit/>
          </a:bodyPr>
          <a:lstStyle/>
          <a:p>
            <a:pPr algn="l"/>
            <a:r>
              <a:rPr lang="en-IN" sz="2400" b="0" i="0" dirty="0">
                <a:solidFill>
                  <a:srgbClr val="000E2A"/>
                </a:solidFill>
                <a:effectLst/>
                <a:latin typeface="Mulish"/>
              </a:rPr>
              <a:t>To import the demonstration tables, do the following:</a:t>
            </a:r>
          </a:p>
          <a:p>
            <a:pPr algn="l">
              <a:spcAft>
                <a:spcPts val="750"/>
              </a:spcAft>
              <a:buFont typeface="+mj-lt"/>
              <a:buAutoNum type="arabicPeriod"/>
            </a:pPr>
            <a:r>
              <a:rPr lang="en-IN" sz="2400" b="0" i="0" dirty="0">
                <a:solidFill>
                  <a:srgbClr val="000E2A"/>
                </a:solidFill>
                <a:effectLst/>
                <a:latin typeface="Mulish"/>
              </a:rPr>
              <a:t>Open Power BI.</a:t>
            </a:r>
          </a:p>
          <a:p>
            <a:pPr algn="l">
              <a:spcAft>
                <a:spcPts val="750"/>
              </a:spcAft>
              <a:buFont typeface="+mj-lt"/>
              <a:buAutoNum type="arabicPeriod"/>
            </a:pPr>
            <a:r>
              <a:rPr lang="en-IN" sz="2400" b="0" i="0" dirty="0">
                <a:solidFill>
                  <a:srgbClr val="000E2A"/>
                </a:solidFill>
                <a:effectLst/>
                <a:latin typeface="Mulish"/>
              </a:rPr>
              <a:t>In the Report window, click Import Data From Excel or use the Get Data dropdown and choose Excel workbook.</a:t>
            </a:r>
          </a:p>
          <a:p>
            <a:pPr algn="l">
              <a:spcAft>
                <a:spcPts val="750"/>
              </a:spcAft>
              <a:buFont typeface="+mj-lt"/>
              <a:buAutoNum type="arabicPeriod"/>
            </a:pPr>
            <a:r>
              <a:rPr lang="en-IN" sz="2400" b="0" i="0" dirty="0">
                <a:solidFill>
                  <a:srgbClr val="000E2A"/>
                </a:solidFill>
                <a:effectLst/>
                <a:latin typeface="Mulish"/>
              </a:rPr>
              <a:t>In the resulting dialog, select the Excel file and click Open.</a:t>
            </a:r>
          </a:p>
          <a:p>
            <a:pPr algn="l">
              <a:spcAft>
                <a:spcPts val="750"/>
              </a:spcAft>
              <a:buFont typeface="+mj-lt"/>
              <a:buAutoNum type="arabicPeriod"/>
            </a:pPr>
            <a:r>
              <a:rPr lang="en-IN" sz="2400" b="0" i="0" dirty="0">
                <a:solidFill>
                  <a:srgbClr val="000E2A"/>
                </a:solidFill>
                <a:effectLst/>
                <a:latin typeface="Mulish"/>
              </a:rPr>
              <a:t>The next window displays Excel Tables and sheets. This workbook contains three sheets, and each sheet contains an Excel Table. You can check either set, but not both, because they represent the same data. I recommend importing the Table objects (</a:t>
            </a:r>
            <a:r>
              <a:rPr lang="en-IN" sz="2400" b="1" i="0" dirty="0">
                <a:solidFill>
                  <a:srgbClr val="000E2A"/>
                </a:solidFill>
                <a:effectLst/>
                <a:latin typeface="Mulish"/>
              </a:rPr>
              <a:t>below</a:t>
            </a:r>
            <a:r>
              <a:rPr lang="en-IN" sz="2400" b="0" i="0" dirty="0">
                <a:solidFill>
                  <a:srgbClr val="000E2A"/>
                </a:solidFill>
                <a:effectLst/>
                <a:latin typeface="Mulish"/>
              </a:rPr>
              <a:t>) because sheets might contain data you don’t want.</a:t>
            </a:r>
          </a:p>
          <a:p>
            <a:pPr marL="0" indent="0">
              <a:buNone/>
            </a:pPr>
            <a:r>
              <a:rPr lang="en-IN" sz="2400" dirty="0"/>
              <a:t/>
            </a:r>
            <a:br>
              <a:rPr lang="en-IN" sz="2400" dirty="0"/>
            </a:br>
            <a:endParaRPr lang="en-IN" sz="2400" dirty="0"/>
          </a:p>
        </p:txBody>
      </p:sp>
    </p:spTree>
    <p:extLst>
      <p:ext uri="{BB962C8B-B14F-4D97-AF65-F5344CB8AC3E}">
        <p14:creationId xmlns:p14="http://schemas.microsoft.com/office/powerpoint/2010/main" val="47078008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0436-0946-B6C4-1CFB-8DFE0C94ED3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A32995-F418-CC1C-F834-AB47014B0E24}"/>
              </a:ext>
            </a:extLst>
          </p:cNvPr>
          <p:cNvPicPr>
            <a:picLocks noGrp="1" noChangeAspect="1"/>
          </p:cNvPicPr>
          <p:nvPr>
            <p:ph sz="half" idx="1"/>
          </p:nvPr>
        </p:nvPicPr>
        <p:blipFill>
          <a:blip r:embed="rId2"/>
          <a:stretch>
            <a:fillRect/>
          </a:stretch>
        </p:blipFill>
        <p:spPr>
          <a:xfrm>
            <a:off x="1296060" y="446567"/>
            <a:ext cx="10178800" cy="5326912"/>
          </a:xfrm>
        </p:spPr>
      </p:pic>
      <p:sp>
        <p:nvSpPr>
          <p:cNvPr id="7" name="TextBox 6">
            <a:extLst>
              <a:ext uri="{FF2B5EF4-FFF2-40B4-BE49-F238E27FC236}">
                <a16:creationId xmlns:a16="http://schemas.microsoft.com/office/drawing/2014/main" id="{0991D407-8FC8-E0EA-CADD-AA8415E270E0}"/>
              </a:ext>
            </a:extLst>
          </p:cNvPr>
          <p:cNvSpPr txBox="1"/>
          <p:nvPr/>
        </p:nvSpPr>
        <p:spPr>
          <a:xfrm>
            <a:off x="1466181" y="6019145"/>
            <a:ext cx="6097772" cy="1025922"/>
          </a:xfrm>
          <a:prstGeom prst="rect">
            <a:avLst/>
          </a:prstGeom>
          <a:noFill/>
        </p:spPr>
        <p:txBody>
          <a:bodyPr wrap="square">
            <a:spAutoFit/>
          </a:bodyPr>
          <a:lstStyle/>
          <a:p>
            <a:pPr algn="l">
              <a:spcAft>
                <a:spcPts val="750"/>
              </a:spcAft>
              <a:buFont typeface="+mj-lt"/>
              <a:buAutoNum type="arabicPeriod" startAt="5"/>
            </a:pPr>
            <a:r>
              <a:rPr lang="en-IN" b="0" i="0" dirty="0">
                <a:solidFill>
                  <a:srgbClr val="000E2A"/>
                </a:solidFill>
                <a:effectLst/>
                <a:latin typeface="Mulish"/>
              </a:rPr>
              <a:t>Click Load and wait. It might take a minute or two.</a:t>
            </a:r>
          </a:p>
          <a:p>
            <a:r>
              <a:rPr lang="en-IN" dirty="0"/>
              <a:t/>
            </a:r>
            <a:br>
              <a:rPr lang="en-IN" dirty="0"/>
            </a:br>
            <a:endParaRPr lang="en-IN" dirty="0"/>
          </a:p>
        </p:txBody>
      </p:sp>
    </p:spTree>
    <p:extLst>
      <p:ext uri="{BB962C8B-B14F-4D97-AF65-F5344CB8AC3E}">
        <p14:creationId xmlns:p14="http://schemas.microsoft.com/office/powerpoint/2010/main" val="321809809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30E66-3AD5-2AF9-7496-0F184915B81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A879807-0800-8027-A4B9-0017037F4DC1}"/>
              </a:ext>
            </a:extLst>
          </p:cNvPr>
          <p:cNvSpPr>
            <a:spLocks noGrp="1"/>
          </p:cNvSpPr>
          <p:nvPr>
            <p:ph sz="half" idx="1"/>
          </p:nvPr>
        </p:nvSpPr>
        <p:spPr>
          <a:xfrm>
            <a:off x="1573619" y="401358"/>
            <a:ext cx="9346017" cy="5978177"/>
          </a:xfrm>
        </p:spPr>
        <p:txBody>
          <a:bodyPr/>
          <a:lstStyle/>
          <a:p>
            <a:pPr algn="l"/>
            <a:r>
              <a:rPr lang="en-IN" b="1" i="0" dirty="0">
                <a:solidFill>
                  <a:srgbClr val="000E2A"/>
                </a:solidFill>
                <a:effectLst/>
                <a:latin typeface="Mulish"/>
              </a:rPr>
              <a:t>Below</a:t>
            </a:r>
            <a:r>
              <a:rPr lang="en-IN" b="0" i="0" dirty="0">
                <a:solidFill>
                  <a:srgbClr val="000E2A"/>
                </a:solidFill>
                <a:effectLst/>
                <a:latin typeface="Mulish"/>
              </a:rPr>
              <a:t> shows the tables in the Fields pane. Feel free to expand and review the fields or change the names if you want to. You won’t see any evidence of relationships here.</a:t>
            </a:r>
          </a:p>
          <a:p>
            <a:endParaRPr lang="en-IN" dirty="0"/>
          </a:p>
        </p:txBody>
      </p:sp>
      <p:pic>
        <p:nvPicPr>
          <p:cNvPr id="8" name="Picture 7">
            <a:extLst>
              <a:ext uri="{FF2B5EF4-FFF2-40B4-BE49-F238E27FC236}">
                <a16:creationId xmlns:a16="http://schemas.microsoft.com/office/drawing/2014/main" id="{22B6BA6F-76FB-66E0-F046-9EFD7AC2F98B}"/>
              </a:ext>
            </a:extLst>
          </p:cNvPr>
          <p:cNvPicPr>
            <a:picLocks noChangeAspect="1"/>
          </p:cNvPicPr>
          <p:nvPr/>
        </p:nvPicPr>
        <p:blipFill>
          <a:blip r:embed="rId2"/>
          <a:stretch>
            <a:fillRect/>
          </a:stretch>
        </p:blipFill>
        <p:spPr>
          <a:xfrm>
            <a:off x="1551904" y="1539042"/>
            <a:ext cx="9367732" cy="4840493"/>
          </a:xfrm>
          <a:prstGeom prst="rect">
            <a:avLst/>
          </a:prstGeom>
        </p:spPr>
      </p:pic>
    </p:spTree>
    <p:extLst>
      <p:ext uri="{BB962C8B-B14F-4D97-AF65-F5344CB8AC3E}">
        <p14:creationId xmlns:p14="http://schemas.microsoft.com/office/powerpoint/2010/main" val="414047575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3821-BB3A-1F70-194C-533D14285B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5329F1-13A8-D05C-AD2B-AB846C3B3A4A}"/>
              </a:ext>
            </a:extLst>
          </p:cNvPr>
          <p:cNvSpPr>
            <a:spLocks noGrp="1"/>
          </p:cNvSpPr>
          <p:nvPr>
            <p:ph sz="half" idx="1"/>
          </p:nvPr>
        </p:nvSpPr>
        <p:spPr>
          <a:xfrm>
            <a:off x="1371600" y="446567"/>
            <a:ext cx="10367554" cy="6411433"/>
          </a:xfrm>
        </p:spPr>
        <p:txBody>
          <a:bodyPr>
            <a:normAutofit/>
          </a:bodyPr>
          <a:lstStyle/>
          <a:p>
            <a:pPr algn="l"/>
            <a:r>
              <a:rPr lang="en-IN" b="0" i="0" dirty="0">
                <a:solidFill>
                  <a:srgbClr val="000E2A"/>
                </a:solidFill>
                <a:effectLst/>
                <a:latin typeface="Mulish"/>
              </a:rPr>
              <a:t>If you’re not familiar with the data, I recommend reviewing each table in the Data window. </a:t>
            </a:r>
            <a:r>
              <a:rPr lang="en-IN" b="1" i="0" dirty="0">
                <a:solidFill>
                  <a:srgbClr val="000E2A"/>
                </a:solidFill>
                <a:effectLst/>
                <a:latin typeface="Mulish"/>
              </a:rPr>
              <a:t>Below</a:t>
            </a:r>
            <a:r>
              <a:rPr lang="en-IN" b="0" i="0" dirty="0">
                <a:solidFill>
                  <a:srgbClr val="000E2A"/>
                </a:solidFill>
                <a:effectLst/>
                <a:latin typeface="Mulish"/>
              </a:rPr>
              <a:t> shows the customer table. This gives you the opportunity to review the column names and data types so you can match them to other tables when considering relationships.</a:t>
            </a:r>
          </a:p>
          <a:p>
            <a:pPr marL="0" indent="0">
              <a:buNone/>
            </a:pPr>
            <a:r>
              <a:rPr lang="en-IN" dirty="0"/>
              <a:t/>
            </a:r>
            <a:br>
              <a:rPr lang="en-IN" dirty="0"/>
            </a:br>
            <a:r>
              <a:rPr lang="en-IN" sz="2000" dirty="0"/>
              <a:t/>
            </a:r>
            <a:br>
              <a:rPr lang="en-IN" sz="2000" dirty="0"/>
            </a:br>
            <a:endParaRPr lang="en-IN" sz="2400" dirty="0"/>
          </a:p>
        </p:txBody>
      </p:sp>
      <p:pic>
        <p:nvPicPr>
          <p:cNvPr id="5" name="Picture 4">
            <a:extLst>
              <a:ext uri="{FF2B5EF4-FFF2-40B4-BE49-F238E27FC236}">
                <a16:creationId xmlns:a16="http://schemas.microsoft.com/office/drawing/2014/main" id="{FF1A492E-249E-CBA9-7566-DA7F2F14F29C}"/>
              </a:ext>
            </a:extLst>
          </p:cNvPr>
          <p:cNvPicPr>
            <a:picLocks noChangeAspect="1"/>
          </p:cNvPicPr>
          <p:nvPr/>
        </p:nvPicPr>
        <p:blipFill>
          <a:blip r:embed="rId2"/>
          <a:stretch>
            <a:fillRect/>
          </a:stretch>
        </p:blipFill>
        <p:spPr>
          <a:xfrm>
            <a:off x="1796870" y="1467294"/>
            <a:ext cx="8598259" cy="5390706"/>
          </a:xfrm>
          <a:prstGeom prst="rect">
            <a:avLst/>
          </a:prstGeom>
        </p:spPr>
      </p:pic>
    </p:spTree>
    <p:extLst>
      <p:ext uri="{BB962C8B-B14F-4D97-AF65-F5344CB8AC3E}">
        <p14:creationId xmlns:p14="http://schemas.microsoft.com/office/powerpoint/2010/main" val="2622694476"/>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CF2A-25A7-0815-ACEC-2E093126E2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87AFE9-59D8-BE56-0CDC-AAA655691996}"/>
              </a:ext>
            </a:extLst>
          </p:cNvPr>
          <p:cNvSpPr>
            <a:spLocks noGrp="1"/>
          </p:cNvSpPr>
          <p:nvPr>
            <p:ph sz="half" idx="1"/>
          </p:nvPr>
        </p:nvSpPr>
        <p:spPr>
          <a:xfrm>
            <a:off x="1371600" y="1616149"/>
            <a:ext cx="10367554" cy="5241851"/>
          </a:xfrm>
        </p:spPr>
        <p:txBody>
          <a:bodyPr>
            <a:normAutofit/>
          </a:bodyPr>
          <a:lstStyle/>
          <a:p>
            <a:pPr algn="l"/>
            <a:r>
              <a:rPr lang="en-IN" b="0" i="0" dirty="0">
                <a:solidFill>
                  <a:srgbClr val="000E2A"/>
                </a:solidFill>
                <a:effectLst/>
                <a:latin typeface="Mulish"/>
              </a:rPr>
              <a:t>To view or create a relationship, click the Model tab. As you can see in </a:t>
            </a:r>
            <a:r>
              <a:rPr lang="en-IN" b="1" i="0" dirty="0">
                <a:solidFill>
                  <a:srgbClr val="000E2A"/>
                </a:solidFill>
                <a:effectLst/>
                <a:latin typeface="Mulish"/>
              </a:rPr>
              <a:t>Below</a:t>
            </a:r>
            <a:r>
              <a:rPr lang="en-IN" b="0" i="0" dirty="0">
                <a:solidFill>
                  <a:srgbClr val="000E2A"/>
                </a:solidFill>
                <a:effectLst/>
                <a:latin typeface="Mulish"/>
              </a:rPr>
              <a:t>, Power BI created a relationship between two tables: </a:t>
            </a:r>
            <a:r>
              <a:rPr lang="en-IN" b="0" i="0" dirty="0" err="1">
                <a:solidFill>
                  <a:srgbClr val="000E2A"/>
                </a:solidFill>
                <a:effectLst/>
                <a:latin typeface="Mulish"/>
              </a:rPr>
              <a:t>TableSales</a:t>
            </a:r>
            <a:r>
              <a:rPr lang="en-IN" b="0" i="0" dirty="0">
                <a:solidFill>
                  <a:srgbClr val="000E2A"/>
                </a:solidFill>
                <a:effectLst/>
                <a:latin typeface="Mulish"/>
              </a:rPr>
              <a:t> and </a:t>
            </a:r>
            <a:r>
              <a:rPr lang="en-IN" b="0" i="0" dirty="0" err="1">
                <a:solidFill>
                  <a:srgbClr val="000E2A"/>
                </a:solidFill>
                <a:effectLst/>
                <a:latin typeface="Mulish"/>
              </a:rPr>
              <a:t>TableSalesOrder</a:t>
            </a:r>
            <a:r>
              <a:rPr lang="en-IN" b="0" i="0" dirty="0">
                <a:solidFill>
                  <a:srgbClr val="000E2A"/>
                </a:solidFill>
                <a:effectLst/>
                <a:latin typeface="Mulish"/>
              </a:rPr>
              <a:t>.</a:t>
            </a:r>
          </a:p>
          <a:p>
            <a:pPr marL="0" indent="0">
              <a:buNone/>
            </a:pPr>
            <a:r>
              <a:rPr lang="en-IN" dirty="0"/>
              <a:t/>
            </a:r>
            <a:br>
              <a:rPr lang="en-IN" dirty="0"/>
            </a:br>
            <a:r>
              <a:rPr lang="en-IN" sz="2000" dirty="0"/>
              <a:t/>
            </a:r>
            <a:br>
              <a:rPr lang="en-IN" sz="2000" dirty="0"/>
            </a:br>
            <a:endParaRPr lang="en-IN" sz="2400" dirty="0"/>
          </a:p>
        </p:txBody>
      </p:sp>
      <p:sp>
        <p:nvSpPr>
          <p:cNvPr id="2" name="TextBox 1">
            <a:extLst>
              <a:ext uri="{FF2B5EF4-FFF2-40B4-BE49-F238E27FC236}">
                <a16:creationId xmlns:a16="http://schemas.microsoft.com/office/drawing/2014/main" id="{5271AAB2-69A1-606F-EFDA-1B49C8595FC8}"/>
              </a:ext>
            </a:extLst>
          </p:cNvPr>
          <p:cNvSpPr txBox="1"/>
          <p:nvPr/>
        </p:nvSpPr>
        <p:spPr>
          <a:xfrm>
            <a:off x="1648047" y="393405"/>
            <a:ext cx="9165265" cy="1261884"/>
          </a:xfrm>
          <a:prstGeom prst="rect">
            <a:avLst/>
          </a:prstGeom>
          <a:noFill/>
        </p:spPr>
        <p:txBody>
          <a:bodyPr wrap="square" rtlCol="0">
            <a:spAutoFit/>
          </a:bodyPr>
          <a:lstStyle/>
          <a:p>
            <a:pPr algn="l"/>
            <a:r>
              <a:rPr lang="en-IN" sz="4000" b="1" i="0" dirty="0">
                <a:solidFill>
                  <a:srgbClr val="000E2A"/>
                </a:solidFill>
                <a:effectLst/>
                <a:latin typeface="Mulish"/>
              </a:rPr>
              <a:t>How to view relationships in Power BI</a:t>
            </a:r>
          </a:p>
          <a:p>
            <a:r>
              <a:rPr lang="en-IN" dirty="0"/>
              <a:t/>
            </a:r>
            <a:br>
              <a:rPr lang="en-IN" dirty="0"/>
            </a:br>
            <a:endParaRPr lang="en-IN" dirty="0"/>
          </a:p>
        </p:txBody>
      </p:sp>
      <p:pic>
        <p:nvPicPr>
          <p:cNvPr id="6" name="Picture 5">
            <a:extLst>
              <a:ext uri="{FF2B5EF4-FFF2-40B4-BE49-F238E27FC236}">
                <a16:creationId xmlns:a16="http://schemas.microsoft.com/office/drawing/2014/main" id="{1BD4281D-8D65-A45D-33AB-DCBC276E781D}"/>
              </a:ext>
            </a:extLst>
          </p:cNvPr>
          <p:cNvPicPr>
            <a:picLocks noChangeAspect="1"/>
          </p:cNvPicPr>
          <p:nvPr/>
        </p:nvPicPr>
        <p:blipFill>
          <a:blip r:embed="rId2"/>
          <a:stretch>
            <a:fillRect/>
          </a:stretch>
        </p:blipFill>
        <p:spPr>
          <a:xfrm>
            <a:off x="1403498" y="2675077"/>
            <a:ext cx="10568763" cy="3540123"/>
          </a:xfrm>
          <a:prstGeom prst="rect">
            <a:avLst/>
          </a:prstGeom>
        </p:spPr>
      </p:pic>
    </p:spTree>
    <p:extLst>
      <p:ext uri="{BB962C8B-B14F-4D97-AF65-F5344CB8AC3E}">
        <p14:creationId xmlns:p14="http://schemas.microsoft.com/office/powerpoint/2010/main" val="159576098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4CA4-8523-EB90-C72A-1AB92CFB95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0E58DB-C124-C7E3-2F87-B162DD81D263}"/>
              </a:ext>
            </a:extLst>
          </p:cNvPr>
          <p:cNvSpPr>
            <a:spLocks noGrp="1"/>
          </p:cNvSpPr>
          <p:nvPr>
            <p:ph sz="half" idx="1"/>
          </p:nvPr>
        </p:nvSpPr>
        <p:spPr>
          <a:xfrm>
            <a:off x="1371600" y="1105787"/>
            <a:ext cx="10367554" cy="5752214"/>
          </a:xfrm>
        </p:spPr>
        <p:txBody>
          <a:bodyPr>
            <a:normAutofit/>
          </a:bodyPr>
          <a:lstStyle/>
          <a:p>
            <a:pPr algn="l"/>
            <a:r>
              <a:rPr lang="en-IN" b="0" i="0" dirty="0">
                <a:solidFill>
                  <a:srgbClr val="000E2A"/>
                </a:solidFill>
                <a:effectLst/>
                <a:latin typeface="Mulish"/>
              </a:rPr>
              <a:t>Power BI was able to create this relationship for two reasons:</a:t>
            </a:r>
          </a:p>
          <a:p>
            <a:pPr algn="l">
              <a:spcAft>
                <a:spcPts val="750"/>
              </a:spcAft>
              <a:buFont typeface="Arial" panose="020B0604020202020204" pitchFamily="34" charset="0"/>
              <a:buChar char="•"/>
            </a:pPr>
            <a:r>
              <a:rPr lang="en-IN" b="0" i="0" dirty="0">
                <a:solidFill>
                  <a:srgbClr val="000E2A"/>
                </a:solidFill>
                <a:effectLst/>
                <a:latin typeface="Mulish"/>
              </a:rPr>
              <a:t>Both tables have a similarly named column.</a:t>
            </a:r>
          </a:p>
          <a:p>
            <a:pPr algn="l">
              <a:spcAft>
                <a:spcPts val="750"/>
              </a:spcAft>
              <a:buFont typeface="Arial" panose="020B0604020202020204" pitchFamily="34" charset="0"/>
              <a:buChar char="•"/>
            </a:pPr>
            <a:r>
              <a:rPr lang="en-IN" b="0" i="0" dirty="0">
                <a:solidFill>
                  <a:srgbClr val="000E2A"/>
                </a:solidFill>
                <a:effectLst/>
                <a:latin typeface="Mulish"/>
              </a:rPr>
              <a:t>At least one of those columns contains only unique values.</a:t>
            </a:r>
          </a:p>
          <a:p>
            <a:pPr algn="l"/>
            <a:r>
              <a:rPr lang="en-IN" b="0" i="0" dirty="0">
                <a:solidFill>
                  <a:srgbClr val="000E2A"/>
                </a:solidFill>
                <a:effectLst/>
                <a:latin typeface="Mulish"/>
              </a:rPr>
              <a:t>You can also edit the relationship. Notice that both tables have a column named </a:t>
            </a:r>
            <a:r>
              <a:rPr lang="en-IN" b="0" i="0" dirty="0" err="1">
                <a:solidFill>
                  <a:srgbClr val="000E2A"/>
                </a:solidFill>
                <a:effectLst/>
                <a:latin typeface="Mulish"/>
              </a:rPr>
              <a:t>SalesOrderLineKey</a:t>
            </a:r>
            <a:r>
              <a:rPr lang="en-IN" b="0" i="0" dirty="0">
                <a:solidFill>
                  <a:srgbClr val="000E2A"/>
                </a:solidFill>
                <a:effectLst/>
                <a:latin typeface="Mulish"/>
              </a:rPr>
              <a:t>.</a:t>
            </a:r>
          </a:p>
          <a:p>
            <a:pPr algn="l"/>
            <a:endParaRPr lang="en-IN" b="0" i="0" dirty="0">
              <a:solidFill>
                <a:srgbClr val="000E2A"/>
              </a:solidFill>
              <a:effectLst/>
              <a:latin typeface="Mulish"/>
            </a:endParaRPr>
          </a:p>
        </p:txBody>
      </p:sp>
      <p:sp>
        <p:nvSpPr>
          <p:cNvPr id="2" name="TextBox 1">
            <a:extLst>
              <a:ext uri="{FF2B5EF4-FFF2-40B4-BE49-F238E27FC236}">
                <a16:creationId xmlns:a16="http://schemas.microsoft.com/office/drawing/2014/main" id="{46536E90-B63B-2BA5-C92D-51A1FF2BFD22}"/>
              </a:ext>
            </a:extLst>
          </p:cNvPr>
          <p:cNvSpPr txBox="1"/>
          <p:nvPr/>
        </p:nvSpPr>
        <p:spPr>
          <a:xfrm>
            <a:off x="1648047" y="393405"/>
            <a:ext cx="9165265" cy="1261884"/>
          </a:xfrm>
          <a:prstGeom prst="rect">
            <a:avLst/>
          </a:prstGeom>
          <a:noFill/>
        </p:spPr>
        <p:txBody>
          <a:bodyPr wrap="square" rtlCol="0">
            <a:spAutoFit/>
          </a:bodyPr>
          <a:lstStyle/>
          <a:p>
            <a:pPr algn="l"/>
            <a:r>
              <a:rPr lang="en-IN" sz="4000" b="1" i="0" dirty="0">
                <a:solidFill>
                  <a:srgbClr val="000E2A"/>
                </a:solidFill>
                <a:effectLst/>
                <a:latin typeface="Mulish"/>
              </a:rPr>
              <a:t>How to Edit relationships in Power BI</a:t>
            </a:r>
          </a:p>
          <a:p>
            <a:r>
              <a:rPr lang="en-IN" dirty="0"/>
              <a:t/>
            </a:r>
            <a:br>
              <a:rPr lang="en-IN" dirty="0"/>
            </a:br>
            <a:endParaRPr lang="en-IN" dirty="0"/>
          </a:p>
        </p:txBody>
      </p:sp>
      <p:pic>
        <p:nvPicPr>
          <p:cNvPr id="5" name="Picture 4">
            <a:extLst>
              <a:ext uri="{FF2B5EF4-FFF2-40B4-BE49-F238E27FC236}">
                <a16:creationId xmlns:a16="http://schemas.microsoft.com/office/drawing/2014/main" id="{C1440583-A1F9-3D3B-349D-D8F964598BC1}"/>
              </a:ext>
            </a:extLst>
          </p:cNvPr>
          <p:cNvPicPr>
            <a:picLocks noChangeAspect="1"/>
          </p:cNvPicPr>
          <p:nvPr/>
        </p:nvPicPr>
        <p:blipFill>
          <a:blip r:embed="rId2"/>
          <a:stretch>
            <a:fillRect/>
          </a:stretch>
        </p:blipFill>
        <p:spPr>
          <a:xfrm>
            <a:off x="4197489" y="3009670"/>
            <a:ext cx="3489851" cy="3848330"/>
          </a:xfrm>
          <a:prstGeom prst="rect">
            <a:avLst/>
          </a:prstGeom>
        </p:spPr>
      </p:pic>
    </p:spTree>
    <p:extLst>
      <p:ext uri="{BB962C8B-B14F-4D97-AF65-F5344CB8AC3E}">
        <p14:creationId xmlns:p14="http://schemas.microsoft.com/office/powerpoint/2010/main" val="319986357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37C28-F348-7444-C8AF-D6C7840266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EF82B-492F-948B-8AE7-28C36FE7995D}"/>
              </a:ext>
            </a:extLst>
          </p:cNvPr>
          <p:cNvSpPr>
            <a:spLocks noGrp="1"/>
          </p:cNvSpPr>
          <p:nvPr>
            <p:ph sz="half" idx="1"/>
          </p:nvPr>
        </p:nvSpPr>
        <p:spPr>
          <a:xfrm>
            <a:off x="1371600" y="1105787"/>
            <a:ext cx="10367554" cy="5752214"/>
          </a:xfrm>
        </p:spPr>
        <p:txBody>
          <a:bodyPr>
            <a:normAutofit/>
          </a:bodyPr>
          <a:lstStyle/>
          <a:p>
            <a:pPr algn="l"/>
            <a:r>
              <a:rPr lang="en-IN" b="0" i="0" dirty="0">
                <a:solidFill>
                  <a:srgbClr val="000E2A"/>
                </a:solidFill>
                <a:effectLst/>
                <a:latin typeface="Mulish"/>
              </a:rPr>
              <a:t>First, let’s delete the existing relationship and then recreate it. To delete, simply right-click the line connecting the two tables and choose Delete, as shown in </a:t>
            </a:r>
            <a:r>
              <a:rPr lang="en-IN" b="1" i="0" dirty="0">
                <a:solidFill>
                  <a:srgbClr val="000E2A"/>
                </a:solidFill>
                <a:effectLst/>
                <a:latin typeface="Mulish"/>
              </a:rPr>
              <a:t>below</a:t>
            </a:r>
            <a:r>
              <a:rPr lang="en-IN" b="0" i="0" dirty="0">
                <a:solidFill>
                  <a:srgbClr val="000E2A"/>
                </a:solidFill>
                <a:effectLst/>
                <a:latin typeface="Mulish"/>
              </a:rPr>
              <a:t>. Then, click Yes to confirm the request.</a:t>
            </a:r>
          </a:p>
          <a:p>
            <a:pPr marL="0" indent="0">
              <a:buNone/>
            </a:pPr>
            <a:r>
              <a:rPr lang="en-IN" dirty="0"/>
              <a:t/>
            </a:r>
            <a:br>
              <a:rPr lang="en-IN" dirty="0"/>
            </a:br>
            <a:endParaRPr lang="en-IN" b="0" i="0" dirty="0">
              <a:solidFill>
                <a:srgbClr val="000E2A"/>
              </a:solidFill>
              <a:effectLst/>
              <a:latin typeface="Mulish"/>
            </a:endParaRPr>
          </a:p>
        </p:txBody>
      </p:sp>
      <p:sp>
        <p:nvSpPr>
          <p:cNvPr id="2" name="TextBox 1">
            <a:extLst>
              <a:ext uri="{FF2B5EF4-FFF2-40B4-BE49-F238E27FC236}">
                <a16:creationId xmlns:a16="http://schemas.microsoft.com/office/drawing/2014/main" id="{433B7C9A-2DEF-A26C-F36C-2997A4444199}"/>
              </a:ext>
            </a:extLst>
          </p:cNvPr>
          <p:cNvSpPr txBox="1"/>
          <p:nvPr/>
        </p:nvSpPr>
        <p:spPr>
          <a:xfrm>
            <a:off x="1648047" y="393405"/>
            <a:ext cx="10091107" cy="984885"/>
          </a:xfrm>
          <a:prstGeom prst="rect">
            <a:avLst/>
          </a:prstGeom>
          <a:noFill/>
        </p:spPr>
        <p:txBody>
          <a:bodyPr wrap="square" rtlCol="0">
            <a:spAutoFit/>
          </a:bodyPr>
          <a:lstStyle/>
          <a:p>
            <a:pPr algn="l"/>
            <a:r>
              <a:rPr lang="en-IN" sz="4000" b="1" i="0" dirty="0">
                <a:solidFill>
                  <a:srgbClr val="000E2A"/>
                </a:solidFill>
                <a:effectLst/>
                <a:latin typeface="Mulish"/>
              </a:rPr>
              <a:t>How to create Power BI relationships manually</a:t>
            </a:r>
          </a:p>
          <a:p>
            <a:endParaRPr lang="en-IN" dirty="0"/>
          </a:p>
        </p:txBody>
      </p:sp>
      <p:pic>
        <p:nvPicPr>
          <p:cNvPr id="6" name="Picture 5">
            <a:extLst>
              <a:ext uri="{FF2B5EF4-FFF2-40B4-BE49-F238E27FC236}">
                <a16:creationId xmlns:a16="http://schemas.microsoft.com/office/drawing/2014/main" id="{DA5132DD-F487-0131-580C-E882CC2788A9}"/>
              </a:ext>
            </a:extLst>
          </p:cNvPr>
          <p:cNvPicPr>
            <a:picLocks noChangeAspect="1"/>
          </p:cNvPicPr>
          <p:nvPr/>
        </p:nvPicPr>
        <p:blipFill>
          <a:blip r:embed="rId2"/>
          <a:stretch>
            <a:fillRect/>
          </a:stretch>
        </p:blipFill>
        <p:spPr>
          <a:xfrm>
            <a:off x="2966483" y="2246805"/>
            <a:ext cx="6491031" cy="4544462"/>
          </a:xfrm>
          <a:prstGeom prst="rect">
            <a:avLst/>
          </a:prstGeom>
        </p:spPr>
      </p:pic>
    </p:spTree>
    <p:extLst>
      <p:ext uri="{BB962C8B-B14F-4D97-AF65-F5344CB8AC3E}">
        <p14:creationId xmlns:p14="http://schemas.microsoft.com/office/powerpoint/2010/main" val="2511515792"/>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31F5-720A-25B5-E29D-AD53C493E9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0509DD-D33F-EF9D-86FB-0159A8CF4000}"/>
              </a:ext>
            </a:extLst>
          </p:cNvPr>
          <p:cNvSpPr>
            <a:spLocks noGrp="1"/>
          </p:cNvSpPr>
          <p:nvPr>
            <p:ph sz="half" idx="1"/>
          </p:nvPr>
        </p:nvSpPr>
        <p:spPr>
          <a:xfrm>
            <a:off x="1371600" y="1105787"/>
            <a:ext cx="10367554" cy="5752214"/>
          </a:xfrm>
        </p:spPr>
        <p:txBody>
          <a:bodyPr>
            <a:normAutofit/>
          </a:bodyPr>
          <a:lstStyle/>
          <a:p>
            <a:pPr algn="l"/>
            <a:r>
              <a:rPr lang="en-IN" b="0" i="0" dirty="0">
                <a:solidFill>
                  <a:srgbClr val="000E2A"/>
                </a:solidFill>
                <a:effectLst/>
                <a:latin typeface="Mulish"/>
              </a:rPr>
              <a:t>To recreate the relationship, click Manage Relationships and then click AutoDetect. This time, it finds and creates a relationship, as shown in </a:t>
            </a:r>
            <a:r>
              <a:rPr lang="en-IN" b="1" i="0" dirty="0">
                <a:solidFill>
                  <a:srgbClr val="000E2A"/>
                </a:solidFill>
                <a:effectLst/>
                <a:latin typeface="Mulish"/>
              </a:rPr>
              <a:t>Below</a:t>
            </a:r>
            <a:r>
              <a:rPr lang="en-IN" b="0" i="0" dirty="0">
                <a:solidFill>
                  <a:srgbClr val="000E2A"/>
                </a:solidFill>
                <a:effectLst/>
                <a:latin typeface="Mulish"/>
              </a:rPr>
              <a:t>.</a:t>
            </a:r>
          </a:p>
          <a:p>
            <a:pPr marL="0" indent="0">
              <a:buNone/>
            </a:pPr>
            <a:r>
              <a:rPr lang="en-IN" dirty="0"/>
              <a:t/>
            </a:r>
            <a:br>
              <a:rPr lang="en-IN" dirty="0"/>
            </a:br>
            <a:r>
              <a:rPr lang="en-IN" dirty="0"/>
              <a:t/>
            </a:r>
            <a:br>
              <a:rPr lang="en-IN" dirty="0"/>
            </a:br>
            <a:endParaRPr lang="en-IN" b="0" i="0" dirty="0">
              <a:solidFill>
                <a:srgbClr val="000E2A"/>
              </a:solidFill>
              <a:effectLst/>
              <a:latin typeface="Mulish"/>
            </a:endParaRPr>
          </a:p>
        </p:txBody>
      </p:sp>
      <p:pic>
        <p:nvPicPr>
          <p:cNvPr id="5" name="Picture 4">
            <a:extLst>
              <a:ext uri="{FF2B5EF4-FFF2-40B4-BE49-F238E27FC236}">
                <a16:creationId xmlns:a16="http://schemas.microsoft.com/office/drawing/2014/main" id="{CC0A1534-D0CB-0241-C752-4331D29E9106}"/>
              </a:ext>
            </a:extLst>
          </p:cNvPr>
          <p:cNvPicPr>
            <a:picLocks noChangeAspect="1"/>
          </p:cNvPicPr>
          <p:nvPr/>
        </p:nvPicPr>
        <p:blipFill>
          <a:blip r:embed="rId2"/>
          <a:stretch>
            <a:fillRect/>
          </a:stretch>
        </p:blipFill>
        <p:spPr>
          <a:xfrm>
            <a:off x="1898316" y="2090672"/>
            <a:ext cx="9590567" cy="4682894"/>
          </a:xfrm>
          <a:prstGeom prst="rect">
            <a:avLst/>
          </a:prstGeom>
        </p:spPr>
      </p:pic>
    </p:spTree>
    <p:extLst>
      <p:ext uri="{BB962C8B-B14F-4D97-AF65-F5344CB8AC3E}">
        <p14:creationId xmlns:p14="http://schemas.microsoft.com/office/powerpoint/2010/main" val="3902285271"/>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3E879-7B38-AEE1-2A21-7C7F6EEA1F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688837-43FD-35EB-5FF4-3D8B12921C4A}"/>
              </a:ext>
            </a:extLst>
          </p:cNvPr>
          <p:cNvSpPr>
            <a:spLocks noGrp="1"/>
          </p:cNvSpPr>
          <p:nvPr>
            <p:ph sz="half" idx="1"/>
          </p:nvPr>
        </p:nvSpPr>
        <p:spPr>
          <a:xfrm>
            <a:off x="1371600" y="1105787"/>
            <a:ext cx="10367554" cy="5752214"/>
          </a:xfrm>
        </p:spPr>
        <p:txBody>
          <a:bodyPr>
            <a:normAutofit/>
          </a:bodyPr>
          <a:lstStyle/>
          <a:p>
            <a:pPr algn="l"/>
            <a:r>
              <a:rPr lang="en-IN" b="0" i="0" dirty="0">
                <a:solidFill>
                  <a:srgbClr val="000E2A"/>
                </a:solidFill>
                <a:effectLst/>
                <a:latin typeface="Mulish"/>
              </a:rPr>
              <a:t>Click Close to confirm the relationship, as shown in </a:t>
            </a:r>
            <a:r>
              <a:rPr lang="en-IN" b="1" i="0" dirty="0">
                <a:solidFill>
                  <a:srgbClr val="000E2A"/>
                </a:solidFill>
                <a:effectLst/>
                <a:latin typeface="Mulish"/>
              </a:rPr>
              <a:t>Above</a:t>
            </a:r>
            <a:r>
              <a:rPr lang="en-IN" b="0" i="0" dirty="0">
                <a:solidFill>
                  <a:srgbClr val="000E2A"/>
                </a:solidFill>
                <a:effectLst/>
                <a:latin typeface="Mulish"/>
              </a:rPr>
              <a:t>. Then, click Close to return to the </a:t>
            </a:r>
            <a:r>
              <a:rPr lang="en-IN" b="0" i="0" dirty="0" err="1">
                <a:solidFill>
                  <a:srgbClr val="000E2A"/>
                </a:solidFill>
                <a:effectLst/>
                <a:latin typeface="Mulish"/>
              </a:rPr>
              <a:t>Modeling</a:t>
            </a:r>
            <a:r>
              <a:rPr lang="en-IN" b="0" i="0" dirty="0">
                <a:solidFill>
                  <a:srgbClr val="000E2A"/>
                </a:solidFill>
                <a:effectLst/>
                <a:latin typeface="Mulish"/>
              </a:rPr>
              <a:t> window.</a:t>
            </a:r>
          </a:p>
          <a:p>
            <a:pPr marL="0" indent="0">
              <a:buNone/>
            </a:pPr>
            <a:r>
              <a:rPr lang="en-IN" dirty="0"/>
              <a:t/>
            </a:r>
            <a:br>
              <a:rPr lang="en-IN" dirty="0"/>
            </a:br>
            <a:r>
              <a:rPr lang="en-IN" dirty="0"/>
              <a:t/>
            </a:r>
            <a:br>
              <a:rPr lang="en-IN" dirty="0"/>
            </a:br>
            <a:r>
              <a:rPr lang="en-IN" dirty="0"/>
              <a:t/>
            </a:r>
            <a:br>
              <a:rPr lang="en-IN" dirty="0"/>
            </a:br>
            <a:endParaRPr lang="en-IN" b="0" i="0" dirty="0">
              <a:solidFill>
                <a:srgbClr val="000E2A"/>
              </a:solidFill>
              <a:effectLst/>
              <a:latin typeface="Mulish"/>
            </a:endParaRPr>
          </a:p>
        </p:txBody>
      </p:sp>
      <p:pic>
        <p:nvPicPr>
          <p:cNvPr id="4" name="Picture 3">
            <a:extLst>
              <a:ext uri="{FF2B5EF4-FFF2-40B4-BE49-F238E27FC236}">
                <a16:creationId xmlns:a16="http://schemas.microsoft.com/office/drawing/2014/main" id="{55A4AF4C-9148-A9ED-4429-16A3A2A12A1B}"/>
              </a:ext>
            </a:extLst>
          </p:cNvPr>
          <p:cNvPicPr>
            <a:picLocks noChangeAspect="1"/>
          </p:cNvPicPr>
          <p:nvPr/>
        </p:nvPicPr>
        <p:blipFill>
          <a:blip r:embed="rId2"/>
          <a:stretch>
            <a:fillRect/>
          </a:stretch>
        </p:blipFill>
        <p:spPr>
          <a:xfrm>
            <a:off x="1509824" y="2034765"/>
            <a:ext cx="10367554" cy="3930100"/>
          </a:xfrm>
          <a:prstGeom prst="rect">
            <a:avLst/>
          </a:prstGeom>
        </p:spPr>
      </p:pic>
    </p:spTree>
    <p:extLst>
      <p:ext uri="{BB962C8B-B14F-4D97-AF65-F5344CB8AC3E}">
        <p14:creationId xmlns:p14="http://schemas.microsoft.com/office/powerpoint/2010/main" val="158992308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D0FD5-40E6-5AAF-50FD-0C090D188D21}"/>
              </a:ext>
            </a:extLst>
          </p:cNvPr>
          <p:cNvSpPr>
            <a:spLocks noGrp="1"/>
          </p:cNvSpPr>
          <p:nvPr>
            <p:ph type="title"/>
          </p:nvPr>
        </p:nvSpPr>
        <p:spPr>
          <a:xfrm>
            <a:off x="1371600" y="0"/>
            <a:ext cx="9601200" cy="1485900"/>
          </a:xfrm>
        </p:spPr>
        <p:txBody>
          <a:bodyPr/>
          <a:lstStyle/>
          <a:p>
            <a:r>
              <a:rPr lang="en-IN" dirty="0"/>
              <a:t>Examples and Best Practices</a:t>
            </a:r>
          </a:p>
        </p:txBody>
      </p:sp>
      <p:graphicFrame>
        <p:nvGraphicFramePr>
          <p:cNvPr id="7" name="Content Placeholder 6">
            <a:extLst>
              <a:ext uri="{FF2B5EF4-FFF2-40B4-BE49-F238E27FC236}">
                <a16:creationId xmlns:a16="http://schemas.microsoft.com/office/drawing/2014/main" id="{23AE685D-6C07-23A4-D62A-0E4DA2ADF428}"/>
              </a:ext>
            </a:extLst>
          </p:cNvPr>
          <p:cNvGraphicFramePr>
            <a:graphicFrameLocks noGrp="1"/>
          </p:cNvGraphicFramePr>
          <p:nvPr>
            <p:ph sz="half" idx="1"/>
          </p:nvPr>
        </p:nvGraphicFramePr>
        <p:xfrm>
          <a:off x="1047566" y="2878395"/>
          <a:ext cx="5580063" cy="637722"/>
        </p:xfrm>
        <a:graphic>
          <a:graphicData uri="http://schemas.openxmlformats.org/drawingml/2006/table">
            <a:tbl>
              <a:tblPr/>
              <a:tblGrid>
                <a:gridCol w="1860021">
                  <a:extLst>
                    <a:ext uri="{9D8B030D-6E8A-4147-A177-3AD203B41FA5}">
                      <a16:colId xmlns:a16="http://schemas.microsoft.com/office/drawing/2014/main" val="1501070408"/>
                    </a:ext>
                  </a:extLst>
                </a:gridCol>
                <a:gridCol w="1860021">
                  <a:extLst>
                    <a:ext uri="{9D8B030D-6E8A-4147-A177-3AD203B41FA5}">
                      <a16:colId xmlns:a16="http://schemas.microsoft.com/office/drawing/2014/main" val="3425213985"/>
                    </a:ext>
                  </a:extLst>
                </a:gridCol>
                <a:gridCol w="1860021">
                  <a:extLst>
                    <a:ext uri="{9D8B030D-6E8A-4147-A177-3AD203B41FA5}">
                      <a16:colId xmlns:a16="http://schemas.microsoft.com/office/drawing/2014/main" val="2222462211"/>
                    </a:ext>
                  </a:extLst>
                </a:gridCol>
              </a:tblGrid>
              <a:tr h="212574">
                <a:tc>
                  <a:txBody>
                    <a:bodyPr/>
                    <a:lstStyle/>
                    <a:p>
                      <a:r>
                        <a:rPr lang="en-IN" sz="1000" b="1"/>
                        <a:t>Customer ID</a:t>
                      </a:r>
                      <a:endParaRPr lang="en-IN" sz="1000"/>
                    </a:p>
                  </a:txBody>
                  <a:tcPr marL="53143" marR="53143" marT="26572" marB="26572" anchor="ctr">
                    <a:lnL>
                      <a:noFill/>
                    </a:lnL>
                    <a:lnR>
                      <a:noFill/>
                    </a:lnR>
                    <a:lnT>
                      <a:noFill/>
                    </a:lnT>
                    <a:lnB>
                      <a:noFill/>
                    </a:lnB>
                    <a:noFill/>
                  </a:tcPr>
                </a:tc>
                <a:tc>
                  <a:txBody>
                    <a:bodyPr/>
                    <a:lstStyle/>
                    <a:p>
                      <a:r>
                        <a:rPr lang="en-IN" sz="1000" b="1"/>
                        <a:t>Customer Name</a:t>
                      </a:r>
                      <a:endParaRPr lang="en-IN" sz="1000"/>
                    </a:p>
                  </a:txBody>
                  <a:tcPr marL="53143" marR="53143" marT="26572" marB="26572" anchor="ctr">
                    <a:lnL>
                      <a:noFill/>
                    </a:lnL>
                    <a:lnR>
                      <a:noFill/>
                    </a:lnR>
                    <a:lnT>
                      <a:noFill/>
                    </a:lnT>
                    <a:lnB>
                      <a:noFill/>
                    </a:lnB>
                    <a:noFill/>
                  </a:tcPr>
                </a:tc>
                <a:tc>
                  <a:txBody>
                    <a:bodyPr/>
                    <a:lstStyle/>
                    <a:p>
                      <a:r>
                        <a:rPr lang="en-IN" sz="1000" b="1"/>
                        <a:t>Region</a:t>
                      </a:r>
                      <a:endParaRPr lang="en-IN" sz="1000"/>
                    </a:p>
                  </a:txBody>
                  <a:tcPr marL="53143" marR="53143" marT="26572" marB="26572" anchor="ctr">
                    <a:lnL>
                      <a:noFill/>
                    </a:lnL>
                    <a:lnR>
                      <a:noFill/>
                    </a:lnR>
                    <a:lnT>
                      <a:noFill/>
                    </a:lnT>
                    <a:lnB>
                      <a:noFill/>
                    </a:lnB>
                    <a:noFill/>
                  </a:tcPr>
                </a:tc>
                <a:extLst>
                  <a:ext uri="{0D108BD9-81ED-4DB2-BD59-A6C34878D82A}">
                    <a16:rowId xmlns:a16="http://schemas.microsoft.com/office/drawing/2014/main" val="482569317"/>
                  </a:ext>
                </a:extLst>
              </a:tr>
              <a:tr h="212574">
                <a:tc>
                  <a:txBody>
                    <a:bodyPr/>
                    <a:lstStyle/>
                    <a:p>
                      <a:r>
                        <a:rPr lang="en-IN" sz="1000" dirty="0"/>
                        <a:t>C001</a:t>
                      </a:r>
                    </a:p>
                  </a:txBody>
                  <a:tcPr marL="53143" marR="53143" marT="26572" marB="26572" anchor="ctr">
                    <a:lnL>
                      <a:noFill/>
                    </a:lnL>
                    <a:lnR>
                      <a:noFill/>
                    </a:lnR>
                    <a:lnT>
                      <a:noFill/>
                    </a:lnT>
                    <a:lnB>
                      <a:noFill/>
                    </a:lnB>
                    <a:noFill/>
                  </a:tcPr>
                </a:tc>
                <a:tc>
                  <a:txBody>
                    <a:bodyPr/>
                    <a:lstStyle/>
                    <a:p>
                      <a:r>
                        <a:rPr lang="en-IN" sz="1000"/>
                        <a:t>John Doe</a:t>
                      </a:r>
                    </a:p>
                  </a:txBody>
                  <a:tcPr marL="53143" marR="53143" marT="26572" marB="26572" anchor="ctr">
                    <a:lnL>
                      <a:noFill/>
                    </a:lnL>
                    <a:lnR>
                      <a:noFill/>
                    </a:lnR>
                    <a:lnT>
                      <a:noFill/>
                    </a:lnT>
                    <a:lnB>
                      <a:noFill/>
                    </a:lnB>
                    <a:noFill/>
                  </a:tcPr>
                </a:tc>
                <a:tc>
                  <a:txBody>
                    <a:bodyPr/>
                    <a:lstStyle/>
                    <a:p>
                      <a:r>
                        <a:rPr lang="en-IN" sz="1000"/>
                        <a:t>North</a:t>
                      </a:r>
                    </a:p>
                  </a:txBody>
                  <a:tcPr marL="53143" marR="53143" marT="26572" marB="26572" anchor="ctr">
                    <a:lnL>
                      <a:noFill/>
                    </a:lnL>
                    <a:lnR>
                      <a:noFill/>
                    </a:lnR>
                    <a:lnT>
                      <a:noFill/>
                    </a:lnT>
                    <a:lnB>
                      <a:noFill/>
                    </a:lnB>
                    <a:noFill/>
                  </a:tcPr>
                </a:tc>
                <a:extLst>
                  <a:ext uri="{0D108BD9-81ED-4DB2-BD59-A6C34878D82A}">
                    <a16:rowId xmlns:a16="http://schemas.microsoft.com/office/drawing/2014/main" val="1003365596"/>
                  </a:ext>
                </a:extLst>
              </a:tr>
              <a:tr h="212574">
                <a:tc>
                  <a:txBody>
                    <a:bodyPr/>
                    <a:lstStyle/>
                    <a:p>
                      <a:r>
                        <a:rPr lang="en-IN" sz="1000"/>
                        <a:t>C002</a:t>
                      </a:r>
                    </a:p>
                  </a:txBody>
                  <a:tcPr marL="53143" marR="53143" marT="26572" marB="26572" anchor="ctr">
                    <a:lnL>
                      <a:noFill/>
                    </a:lnL>
                    <a:lnR>
                      <a:noFill/>
                    </a:lnR>
                    <a:lnT>
                      <a:noFill/>
                    </a:lnT>
                    <a:lnB>
                      <a:noFill/>
                    </a:lnB>
                    <a:noFill/>
                  </a:tcPr>
                </a:tc>
                <a:tc>
                  <a:txBody>
                    <a:bodyPr/>
                    <a:lstStyle/>
                    <a:p>
                      <a:r>
                        <a:rPr lang="en-IN" sz="1000"/>
                        <a:t>Jane Smith</a:t>
                      </a:r>
                    </a:p>
                  </a:txBody>
                  <a:tcPr marL="53143" marR="53143" marT="26572" marB="26572" anchor="ctr">
                    <a:lnL>
                      <a:noFill/>
                    </a:lnL>
                    <a:lnR>
                      <a:noFill/>
                    </a:lnR>
                    <a:lnT>
                      <a:noFill/>
                    </a:lnT>
                    <a:lnB>
                      <a:noFill/>
                    </a:lnB>
                    <a:noFill/>
                  </a:tcPr>
                </a:tc>
                <a:tc>
                  <a:txBody>
                    <a:bodyPr/>
                    <a:lstStyle/>
                    <a:p>
                      <a:r>
                        <a:rPr lang="en-IN" sz="1000" dirty="0"/>
                        <a:t>South</a:t>
                      </a:r>
                    </a:p>
                  </a:txBody>
                  <a:tcPr marL="53143" marR="53143" marT="26572" marB="26572" anchor="ctr">
                    <a:lnL>
                      <a:noFill/>
                    </a:lnL>
                    <a:lnR>
                      <a:noFill/>
                    </a:lnR>
                    <a:lnT>
                      <a:noFill/>
                    </a:lnT>
                    <a:lnB>
                      <a:noFill/>
                    </a:lnB>
                    <a:noFill/>
                  </a:tcPr>
                </a:tc>
                <a:extLst>
                  <a:ext uri="{0D108BD9-81ED-4DB2-BD59-A6C34878D82A}">
                    <a16:rowId xmlns:a16="http://schemas.microsoft.com/office/drawing/2014/main" val="3830702258"/>
                  </a:ext>
                </a:extLst>
              </a:tr>
            </a:tbl>
          </a:graphicData>
        </a:graphic>
      </p:graphicFrame>
      <p:sp>
        <p:nvSpPr>
          <p:cNvPr id="4" name="Content Placeholder 3">
            <a:extLst>
              <a:ext uri="{FF2B5EF4-FFF2-40B4-BE49-F238E27FC236}">
                <a16:creationId xmlns:a16="http://schemas.microsoft.com/office/drawing/2014/main" id="{94825ABB-C9AB-4025-32FF-52FFB13A18C8}"/>
              </a:ext>
            </a:extLst>
          </p:cNvPr>
          <p:cNvSpPr>
            <a:spLocks noGrp="1"/>
          </p:cNvSpPr>
          <p:nvPr>
            <p:ph sz="half" idx="2"/>
          </p:nvPr>
        </p:nvSpPr>
        <p:spPr>
          <a:xfrm>
            <a:off x="7066625" y="2285999"/>
            <a:ext cx="5125375" cy="3581401"/>
          </a:xfrm>
        </p:spPr>
        <p:txBody>
          <a:bodyPr/>
          <a:lstStyle/>
          <a:p>
            <a:r>
              <a:rPr lang="en-US" b="1" dirty="0"/>
              <a:t>Best Practices</a:t>
            </a:r>
          </a:p>
          <a:p>
            <a:pPr>
              <a:buFont typeface="+mj-lt"/>
              <a:buAutoNum type="arabicPeriod"/>
            </a:pPr>
            <a:r>
              <a:rPr lang="en-US" b="1" dirty="0"/>
              <a:t>Ensure Data Integrity</a:t>
            </a:r>
            <a:r>
              <a:rPr lang="en-US" dirty="0"/>
              <a:t>: Avoid duplicates in primary key columns.</a:t>
            </a:r>
          </a:p>
          <a:p>
            <a:pPr>
              <a:buFont typeface="+mj-lt"/>
              <a:buAutoNum type="arabicPeriod"/>
            </a:pPr>
            <a:r>
              <a:rPr lang="en-US" b="1" dirty="0"/>
              <a:t>Minimize Many-to-Many Relationships</a:t>
            </a:r>
            <a:r>
              <a:rPr lang="en-US" dirty="0"/>
              <a:t>: Use bridging tables when possible.</a:t>
            </a:r>
          </a:p>
          <a:p>
            <a:pPr>
              <a:buFont typeface="+mj-lt"/>
              <a:buAutoNum type="arabicPeriod"/>
            </a:pPr>
            <a:r>
              <a:rPr lang="en-US" b="1" dirty="0"/>
              <a:t>Label Relationships</a:t>
            </a:r>
            <a:r>
              <a:rPr lang="en-US" dirty="0"/>
              <a:t>: Use descriptive table and column names for clarity.</a:t>
            </a:r>
          </a:p>
          <a:p>
            <a:pPr>
              <a:buFont typeface="+mj-lt"/>
              <a:buAutoNum type="arabicPeriod"/>
            </a:pPr>
            <a:r>
              <a:rPr lang="en-US" b="1" dirty="0"/>
              <a:t>Test Relationships</a:t>
            </a:r>
            <a:r>
              <a:rPr lang="en-US" dirty="0"/>
              <a:t>: Validate relationships by building test visuals.</a:t>
            </a:r>
          </a:p>
          <a:p>
            <a:endParaRPr lang="en-IN" dirty="0"/>
          </a:p>
        </p:txBody>
      </p:sp>
      <p:sp>
        <p:nvSpPr>
          <p:cNvPr id="8" name="Rectangle 2">
            <a:extLst>
              <a:ext uri="{FF2B5EF4-FFF2-40B4-BE49-F238E27FC236}">
                <a16:creationId xmlns:a16="http://schemas.microsoft.com/office/drawing/2014/main" id="{EB8098D0-96DC-B3BC-0A39-73E5C757A2E2}"/>
              </a:ext>
            </a:extLst>
          </p:cNvPr>
          <p:cNvSpPr>
            <a:spLocks noChangeArrowheads="1"/>
          </p:cNvSpPr>
          <p:nvPr/>
        </p:nvSpPr>
        <p:spPr bwMode="auto">
          <a:xfrm>
            <a:off x="791222" y="2358865"/>
            <a:ext cx="63946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Customers Table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Relationship: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Connect </a:t>
            </a:r>
            <a:r>
              <a:rPr kumimoji="0" lang="en-US" altLang="en-US" b="1" i="0" u="none" strike="noStrike" cap="none" normalizeH="0" baseline="0" dirty="0">
                <a:ln>
                  <a:noFill/>
                </a:ln>
                <a:solidFill>
                  <a:schemeClr val="tx1"/>
                </a:solidFill>
                <a:effectLst/>
                <a:latin typeface="Arial" panose="020B0604020202020204" pitchFamily="34" charset="0"/>
              </a:rPr>
              <a:t>Customer ID</a:t>
            </a:r>
            <a:r>
              <a:rPr kumimoji="0" lang="en-US" altLang="en-US" b="0" i="0" u="none" strike="noStrike" cap="none" normalizeH="0" baseline="0" dirty="0">
                <a:ln>
                  <a:noFill/>
                </a:ln>
                <a:solidFill>
                  <a:schemeClr val="tx1"/>
                </a:solidFill>
                <a:effectLst/>
                <a:latin typeface="Arial" panose="020B0604020202020204" pitchFamily="34" charset="0"/>
              </a:rPr>
              <a:t> in the </a:t>
            </a:r>
            <a:r>
              <a:rPr kumimoji="0" lang="en-US" altLang="en-US" b="1" i="0" u="none" strike="noStrike" cap="none" normalizeH="0" baseline="0" dirty="0">
                <a:ln>
                  <a:noFill/>
                </a:ln>
                <a:solidFill>
                  <a:schemeClr val="tx1"/>
                </a:solidFill>
                <a:effectLst/>
                <a:latin typeface="Arial" panose="020B0604020202020204" pitchFamily="34" charset="0"/>
              </a:rPr>
              <a:t>Sales</a:t>
            </a:r>
            <a:r>
              <a:rPr kumimoji="0" lang="en-US" altLang="en-US" b="0" i="0" u="none" strike="noStrike" cap="none" normalizeH="0" baseline="0" dirty="0">
                <a:ln>
                  <a:noFill/>
                </a:ln>
                <a:solidFill>
                  <a:schemeClr val="tx1"/>
                </a:solidFill>
                <a:effectLst/>
                <a:latin typeface="Arial" panose="020B0604020202020204" pitchFamily="34" charset="0"/>
              </a:rPr>
              <a:t> table with </a:t>
            </a:r>
            <a:r>
              <a:rPr kumimoji="0" lang="en-US" altLang="en-US" b="1" i="0" u="none" strike="noStrike" cap="none" normalizeH="0" baseline="0" dirty="0">
                <a:ln>
                  <a:noFill/>
                </a:ln>
                <a:solidFill>
                  <a:schemeClr val="tx1"/>
                </a:solidFill>
                <a:effectLst/>
                <a:latin typeface="Arial" panose="020B0604020202020204" pitchFamily="34" charset="0"/>
              </a:rPr>
              <a:t>Customer ID</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in the </a:t>
            </a:r>
            <a:r>
              <a:rPr kumimoji="0" lang="en-US" altLang="en-US" b="1" i="0" u="none" strike="noStrike" cap="none" normalizeH="0" baseline="0" dirty="0">
                <a:ln>
                  <a:noFill/>
                </a:ln>
                <a:solidFill>
                  <a:schemeClr val="tx1"/>
                </a:solidFill>
                <a:effectLst/>
                <a:latin typeface="Arial" panose="020B0604020202020204" pitchFamily="34" charset="0"/>
              </a:rPr>
              <a:t>Customers</a:t>
            </a:r>
            <a:r>
              <a:rPr kumimoji="0" lang="en-US" altLang="en-US" b="0" i="0" u="none" strike="noStrike" cap="none" normalizeH="0" baseline="0" dirty="0">
                <a:ln>
                  <a:noFill/>
                </a:ln>
                <a:solidFill>
                  <a:schemeClr val="tx1"/>
                </a:solidFill>
                <a:effectLst/>
                <a:latin typeface="Arial" panose="020B0604020202020204" pitchFamily="34" charset="0"/>
              </a:rPr>
              <a:t>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Result: You can use Customer Name and Region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alongside Sales Amount in visuals.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2549636"/>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55CC-06F9-481B-0FA4-63126B2688DF}"/>
              </a:ext>
            </a:extLst>
          </p:cNvPr>
          <p:cNvSpPr>
            <a:spLocks noGrp="1"/>
          </p:cNvSpPr>
          <p:nvPr>
            <p:ph type="title"/>
          </p:nvPr>
        </p:nvSpPr>
        <p:spPr>
          <a:xfrm>
            <a:off x="1371989" y="0"/>
            <a:ext cx="9601200" cy="1485900"/>
          </a:xfrm>
        </p:spPr>
        <p:txBody>
          <a:bodyPr/>
          <a:lstStyle/>
          <a:p>
            <a:r>
              <a:rPr lang="en-IN" dirty="0"/>
              <a:t>Example Activity</a:t>
            </a:r>
          </a:p>
        </p:txBody>
      </p:sp>
      <p:sp>
        <p:nvSpPr>
          <p:cNvPr id="5" name="Rectangle 1">
            <a:extLst>
              <a:ext uri="{FF2B5EF4-FFF2-40B4-BE49-F238E27FC236}">
                <a16:creationId xmlns:a16="http://schemas.microsoft.com/office/drawing/2014/main" id="{D031948A-FE3A-6CA5-A204-44195DA64682}"/>
              </a:ext>
            </a:extLst>
          </p:cNvPr>
          <p:cNvSpPr>
            <a:spLocks noGrp="1" noChangeArrowheads="1"/>
          </p:cNvSpPr>
          <p:nvPr>
            <p:ph sz="half" idx="1"/>
          </p:nvPr>
        </p:nvSpPr>
        <p:spPr bwMode="auto">
          <a:xfrm>
            <a:off x="1371600" y="1322101"/>
            <a:ext cx="9093772"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PC2.1: Create Relationships Between Tables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Load Data into Power BI</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Open Power BI Desktop and import the Excel file as described earlier.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Load all sheets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Customers</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Products</a:t>
            </a:r>
            <a:r>
              <a:rPr kumimoji="0" lang="en-US" altLang="en-US" sz="16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Navigate to the Model View</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Click on the </a:t>
            </a:r>
            <a:r>
              <a:rPr kumimoji="0" lang="en-US" altLang="en-US" sz="1600" b="1" i="0" u="none" strike="noStrike" cap="none" normalizeH="0" baseline="0" dirty="0">
                <a:ln>
                  <a:noFill/>
                </a:ln>
                <a:solidFill>
                  <a:schemeClr val="tx1"/>
                </a:solidFill>
                <a:effectLst/>
                <a:latin typeface="Arial" panose="020B0604020202020204" pitchFamily="34" charset="0"/>
              </a:rPr>
              <a:t>Model View</a:t>
            </a:r>
            <a:r>
              <a:rPr kumimoji="0" lang="en-US" altLang="en-US" sz="1600" b="0" i="0" u="none" strike="noStrike" cap="none" normalizeH="0" baseline="0" dirty="0">
                <a:ln>
                  <a:noFill/>
                </a:ln>
                <a:solidFill>
                  <a:schemeClr val="tx1"/>
                </a:solidFill>
                <a:effectLst/>
                <a:latin typeface="Arial" panose="020B0604020202020204" pitchFamily="34" charset="0"/>
              </a:rPr>
              <a:t> icon (on the left side of the Power BI interface).</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Create Relationships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Sales and Customers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a:t>
            </a:r>
            <a:r>
              <a:rPr kumimoji="0" lang="en-US" altLang="en-US" sz="1600" b="0" i="0" u="none" strike="noStrike" cap="none" normalizeH="0" baseline="0" dirty="0" err="1">
                <a:ln>
                  <a:noFill/>
                </a:ln>
                <a:solidFill>
                  <a:schemeClr val="tx1"/>
                </a:solidFill>
                <a:effectLst/>
                <a:latin typeface="Arial Unicode MS"/>
              </a:rPr>
              <a:t>CustomerID</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 to </a:t>
            </a:r>
            <a:r>
              <a:rPr kumimoji="0" lang="en-US" altLang="en-US" sz="1600" b="0" i="0" u="none" strike="noStrike" cap="none" normalizeH="0" baseline="0" dirty="0" err="1">
                <a:ln>
                  <a:noFill/>
                </a:ln>
                <a:solidFill>
                  <a:schemeClr val="tx1"/>
                </a:solidFill>
                <a:effectLst/>
                <a:latin typeface="Arial Unicode MS"/>
              </a:rPr>
              <a:t>CustomerID</a:t>
            </a:r>
            <a:r>
              <a:rPr kumimoji="0" lang="en-US" altLang="en-US" sz="1600" b="0" i="0" u="none" strike="noStrike" cap="none" normalizeH="0" baseline="0" dirty="0">
                <a:ln>
                  <a:noFill/>
                </a:ln>
                <a:solidFill>
                  <a:schemeClr val="tx1"/>
                </a:solidFill>
                <a:effectLst/>
              </a:rPr>
              <a:t> in the </a:t>
            </a:r>
            <a:r>
              <a:rPr kumimoji="0" lang="en-US" altLang="en-US" sz="1600" b="0" i="0" u="none" strike="noStrike" cap="none" normalizeH="0" baseline="0" dirty="0">
                <a:ln>
                  <a:noFill/>
                </a:ln>
                <a:solidFill>
                  <a:schemeClr val="tx1"/>
                </a:solidFill>
                <a:effectLst/>
                <a:latin typeface="Arial Unicode MS"/>
              </a:rPr>
              <a:t>Customers</a:t>
            </a:r>
            <a:r>
              <a:rPr kumimoji="0" lang="en-US" altLang="en-US" sz="1600" b="0" i="0" u="none" strike="noStrike" cap="none" normalizeH="0" baseline="0" dirty="0">
                <a:ln>
                  <a:noFill/>
                </a:ln>
                <a:solidFill>
                  <a:schemeClr val="tx1"/>
                </a:solidFill>
                <a:effectLst/>
              </a:rPr>
              <a:t> table.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Sales and Products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a:t>
            </a:r>
            <a:r>
              <a:rPr kumimoji="0" lang="en-US" altLang="en-US" sz="1600" b="0" i="0" u="none" strike="noStrike" cap="none" normalizeH="0" baseline="0" dirty="0" err="1">
                <a:ln>
                  <a:noFill/>
                </a:ln>
                <a:solidFill>
                  <a:schemeClr val="tx1"/>
                </a:solidFill>
                <a:effectLst/>
                <a:latin typeface="Arial Unicode MS"/>
              </a:rPr>
              <a:t>ProductID</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 to </a:t>
            </a:r>
            <a:r>
              <a:rPr kumimoji="0" lang="en-US" altLang="en-US" sz="1600" b="0" i="0" u="none" strike="noStrike" cap="none" normalizeH="0" baseline="0" dirty="0" err="1">
                <a:ln>
                  <a:noFill/>
                </a:ln>
                <a:solidFill>
                  <a:schemeClr val="tx1"/>
                </a:solidFill>
                <a:effectLst/>
                <a:latin typeface="Arial Unicode MS"/>
              </a:rPr>
              <a:t>ProductID</a:t>
            </a:r>
            <a:r>
              <a:rPr kumimoji="0" lang="en-US" altLang="en-US" sz="1600" b="0" i="0" u="none" strike="noStrike" cap="none" normalizeH="0" baseline="0" dirty="0">
                <a:ln>
                  <a:noFill/>
                </a:ln>
                <a:solidFill>
                  <a:schemeClr val="tx1"/>
                </a:solidFill>
                <a:effectLst/>
              </a:rPr>
              <a:t> in the </a:t>
            </a:r>
            <a:r>
              <a:rPr kumimoji="0" lang="en-US" altLang="en-US" sz="1600" b="0" i="0" u="none" strike="noStrike" cap="none" normalizeH="0" baseline="0" dirty="0">
                <a:ln>
                  <a:noFill/>
                </a:ln>
                <a:solidFill>
                  <a:schemeClr val="tx1"/>
                </a:solidFill>
                <a:effectLst/>
                <a:latin typeface="Arial Unicode MS"/>
              </a:rPr>
              <a:t>Products</a:t>
            </a:r>
            <a:r>
              <a:rPr kumimoji="0" lang="en-US" altLang="en-US" sz="1600" b="0" i="0" u="none" strike="noStrike" cap="none" normalizeH="0" baseline="0" dirty="0">
                <a:ln>
                  <a:noFill/>
                </a:ln>
                <a:solidFill>
                  <a:schemeClr val="tx1"/>
                </a:solidFill>
                <a:effectLst/>
              </a:rPr>
              <a:t> table.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Sales and Stores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If there is a </a:t>
            </a:r>
            <a:r>
              <a:rPr kumimoji="0" lang="en-US" altLang="en-US" sz="1600" b="0" i="0" u="none" strike="noStrike" cap="none" normalizeH="0" baseline="0" dirty="0">
                <a:ln>
                  <a:noFill/>
                </a:ln>
                <a:solidFill>
                  <a:schemeClr val="tx1"/>
                </a:solidFill>
                <a:effectLst/>
                <a:latin typeface="Arial Unicode MS"/>
              </a:rPr>
              <a:t>Stores</a:t>
            </a:r>
            <a:r>
              <a:rPr kumimoji="0" lang="en-US" altLang="en-US" sz="1600" b="0" i="0" u="none" strike="noStrike" cap="none" normalizeH="0" baseline="0" dirty="0">
                <a:ln>
                  <a:noFill/>
                </a:ln>
                <a:solidFill>
                  <a:schemeClr val="tx1"/>
                </a:solidFill>
                <a:effectLst/>
              </a:rPr>
              <a:t> table, drag </a:t>
            </a:r>
            <a:r>
              <a:rPr kumimoji="0" lang="en-US" altLang="en-US" sz="1600" b="0" i="0" u="none" strike="noStrike" cap="none" normalizeH="0" baseline="0" dirty="0" err="1">
                <a:ln>
                  <a:noFill/>
                </a:ln>
                <a:solidFill>
                  <a:schemeClr val="tx1"/>
                </a:solidFill>
                <a:effectLst/>
                <a:latin typeface="Arial Unicode MS"/>
              </a:rPr>
              <a:t>StoreID</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 to </a:t>
            </a:r>
            <a:r>
              <a:rPr kumimoji="0" lang="en-US" altLang="en-US" sz="1600" b="0" i="0" u="none" strike="noStrike" cap="none" normalizeH="0" baseline="0" dirty="0" err="1">
                <a:ln>
                  <a:noFill/>
                </a:ln>
                <a:solidFill>
                  <a:schemeClr val="tx1"/>
                </a:solidFill>
                <a:effectLst/>
                <a:latin typeface="Arial Unicode MS"/>
              </a:rPr>
              <a:t>StoreID</a:t>
            </a:r>
            <a:r>
              <a:rPr kumimoji="0" lang="en-US" altLang="en-US" sz="1600" b="0" i="0" u="none" strike="noStrike" cap="none" normalizeH="0" baseline="0" dirty="0">
                <a:ln>
                  <a:noFill/>
                </a:ln>
                <a:solidFill>
                  <a:schemeClr val="tx1"/>
                </a:solidFill>
                <a:effectLst/>
              </a:rPr>
              <a:t> in the </a:t>
            </a:r>
            <a:r>
              <a:rPr kumimoji="0" lang="en-US" altLang="en-US" sz="1600" b="0" i="0" u="none" strike="noStrike" cap="none" normalizeH="0" baseline="0" dirty="0">
                <a:ln>
                  <a:noFill/>
                </a:ln>
                <a:solidFill>
                  <a:schemeClr val="tx1"/>
                </a:solidFill>
                <a:effectLst/>
                <a:latin typeface="Arial Unicode MS"/>
              </a:rPr>
              <a:t>Stores</a:t>
            </a:r>
            <a:r>
              <a:rPr kumimoji="0" lang="en-US" altLang="en-US" sz="1600" b="0" i="0" u="none" strike="noStrike" cap="none" normalizeH="0" baseline="0" dirty="0">
                <a:ln>
                  <a:noFill/>
                </a:ln>
                <a:solidFill>
                  <a:schemeClr val="tx1"/>
                </a:solidFill>
                <a:effectLst/>
              </a:rPr>
              <a:t> table.</a:t>
            </a:r>
          </a:p>
          <a:p>
            <a:pPr marL="914400" marR="0" lvl="2"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Arial" panose="020B0604020202020204" pitchFamily="34" charset="0"/>
              </a:rPr>
              <a:t>Verify Relationships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Ensure relationships are correctly defined as one-to-many:</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Customers[</a:t>
            </a:r>
            <a:r>
              <a:rPr kumimoji="0" lang="en-US" altLang="en-US" sz="1600" b="0" i="0" u="none" strike="noStrike" cap="none" normalizeH="0" baseline="0" dirty="0" err="1">
                <a:ln>
                  <a:noFill/>
                </a:ln>
                <a:solidFill>
                  <a:schemeClr val="tx1"/>
                </a:solidFill>
                <a:effectLst/>
                <a:latin typeface="Arial Unicode MS"/>
              </a:rPr>
              <a:t>CustomerID</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(one) →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err="1">
                <a:ln>
                  <a:noFill/>
                </a:ln>
                <a:solidFill>
                  <a:schemeClr val="tx1"/>
                </a:solidFill>
                <a:effectLst/>
                <a:latin typeface="Arial Unicode MS"/>
              </a:rPr>
              <a:t>CustomerID</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(many).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Products[</a:t>
            </a:r>
            <a:r>
              <a:rPr kumimoji="0" lang="en-US" altLang="en-US" sz="1600" b="0" i="0" u="none" strike="noStrike" cap="none" normalizeH="0" baseline="0" dirty="0" err="1">
                <a:ln>
                  <a:noFill/>
                </a:ln>
                <a:solidFill>
                  <a:schemeClr val="tx1"/>
                </a:solidFill>
                <a:effectLst/>
                <a:latin typeface="Arial Unicode MS"/>
              </a:rPr>
              <a:t>ProductID</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(one) →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err="1">
                <a:ln>
                  <a:noFill/>
                </a:ln>
                <a:solidFill>
                  <a:schemeClr val="tx1"/>
                </a:solidFill>
                <a:effectLst/>
                <a:latin typeface="Arial Unicode MS"/>
              </a:rPr>
              <a:t>ProductID</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(many).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Set cross-filter direction to </a:t>
            </a:r>
            <a:r>
              <a:rPr kumimoji="0" lang="en-US" altLang="en-US" sz="1600" b="1" i="0" u="none" strike="noStrike" cap="none" normalizeH="0" baseline="0" dirty="0">
                <a:ln>
                  <a:noFill/>
                </a:ln>
                <a:solidFill>
                  <a:schemeClr val="tx1"/>
                </a:solidFill>
                <a:effectLst/>
                <a:latin typeface="Arial" panose="020B0604020202020204" pitchFamily="34" charset="0"/>
              </a:rPr>
              <a:t>Both</a:t>
            </a:r>
            <a:r>
              <a:rPr kumimoji="0" lang="en-US" altLang="en-US" sz="1600" b="0" i="0" u="none" strike="noStrike" cap="none" normalizeH="0" baseline="0" dirty="0">
                <a:ln>
                  <a:noFill/>
                </a:ln>
                <a:solidFill>
                  <a:schemeClr val="tx1"/>
                </a:solidFill>
                <a:effectLst/>
                <a:latin typeface="Arial" panose="020B0604020202020204" pitchFamily="34" charset="0"/>
              </a:rPr>
              <a:t> for flexibility.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4977215"/>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D3214-9E97-A507-FBFA-8E5ECB447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C015C-B00B-2E4F-22FF-E391238AF4BB}"/>
              </a:ext>
            </a:extLst>
          </p:cNvPr>
          <p:cNvSpPr>
            <a:spLocks noGrp="1"/>
          </p:cNvSpPr>
          <p:nvPr>
            <p:ph type="title"/>
          </p:nvPr>
        </p:nvSpPr>
        <p:spPr>
          <a:xfrm>
            <a:off x="1295399" y="2686050"/>
            <a:ext cx="9901335" cy="1485900"/>
          </a:xfrm>
        </p:spPr>
        <p:txBody>
          <a:bodyPr>
            <a:normAutofit/>
          </a:bodyPr>
          <a:lstStyle/>
          <a:p>
            <a:r>
              <a:rPr lang="en-US" b="1" dirty="0"/>
              <a:t>Day 13</a:t>
            </a:r>
            <a:r>
              <a:rPr lang="en-US" dirty="0"/>
              <a:t>: </a:t>
            </a:r>
            <a:r>
              <a:rPr lang="en-IN" dirty="0"/>
              <a:t>Power BI – DAX functions</a:t>
            </a:r>
            <a:endParaRPr lang="en-US" dirty="0"/>
          </a:p>
        </p:txBody>
      </p:sp>
    </p:spTree>
    <p:extLst>
      <p:ext uri="{BB962C8B-B14F-4D97-AF65-F5344CB8AC3E}">
        <p14:creationId xmlns:p14="http://schemas.microsoft.com/office/powerpoint/2010/main" val="88258621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90B1A-3FCC-7862-1D35-43480737D65B}"/>
              </a:ext>
            </a:extLst>
          </p:cNvPr>
          <p:cNvSpPr>
            <a:spLocks noGrp="1"/>
          </p:cNvSpPr>
          <p:nvPr>
            <p:ph type="title"/>
          </p:nvPr>
        </p:nvSpPr>
        <p:spPr>
          <a:xfrm>
            <a:off x="1371599" y="0"/>
            <a:ext cx="9601200" cy="1485900"/>
          </a:xfrm>
        </p:spPr>
        <p:txBody>
          <a:bodyPr/>
          <a:lstStyle/>
          <a:p>
            <a:r>
              <a:rPr lang="en-US" dirty="0"/>
              <a:t>DAX</a:t>
            </a:r>
          </a:p>
        </p:txBody>
      </p:sp>
      <p:sp>
        <p:nvSpPr>
          <p:cNvPr id="4" name="Content Placeholder 3">
            <a:extLst>
              <a:ext uri="{FF2B5EF4-FFF2-40B4-BE49-F238E27FC236}">
                <a16:creationId xmlns:a16="http://schemas.microsoft.com/office/drawing/2014/main" id="{F67F120E-022F-1103-D877-1C65CB2274C6}"/>
              </a:ext>
            </a:extLst>
          </p:cNvPr>
          <p:cNvSpPr>
            <a:spLocks noGrp="1"/>
          </p:cNvSpPr>
          <p:nvPr>
            <p:ph sz="half" idx="1"/>
          </p:nvPr>
        </p:nvSpPr>
        <p:spPr>
          <a:xfrm>
            <a:off x="1371599" y="1558834"/>
            <a:ext cx="10315303" cy="5299165"/>
          </a:xfrm>
        </p:spPr>
        <p:txBody>
          <a:bodyPr>
            <a:normAutofit fontScale="92500" lnSpcReduction="20000"/>
          </a:bodyPr>
          <a:lstStyle/>
          <a:p>
            <a:r>
              <a:rPr lang="en-US" b="0" i="0" dirty="0">
                <a:solidFill>
                  <a:srgbClr val="000000"/>
                </a:solidFill>
                <a:effectLst/>
                <a:latin typeface="Verdana" panose="020B0604030504040204" pitchFamily="34" charset="0"/>
              </a:rPr>
              <a:t>DAX (Data Analysis Expressions) is a formula expression language and can be used in different BI and visualization tools. </a:t>
            </a:r>
          </a:p>
          <a:p>
            <a:r>
              <a:rPr lang="en-US" b="0" i="0" dirty="0">
                <a:solidFill>
                  <a:srgbClr val="000000"/>
                </a:solidFill>
                <a:effectLst/>
                <a:latin typeface="Verdana" panose="020B0604030504040204" pitchFamily="34" charset="0"/>
              </a:rPr>
              <a:t>DAX is also known as function language, where the full code is kept inside a function. </a:t>
            </a:r>
          </a:p>
          <a:p>
            <a:r>
              <a:rPr lang="en-US" b="0" i="0" dirty="0">
                <a:solidFill>
                  <a:srgbClr val="000000"/>
                </a:solidFill>
                <a:effectLst/>
                <a:latin typeface="Verdana" panose="020B0604030504040204" pitchFamily="34" charset="0"/>
              </a:rPr>
              <a:t>DAX programming formula contains two data types: Numeric and Other. Numeric includes - integers, currency, and decimals, while Other includes: string and binary objects.</a:t>
            </a:r>
          </a:p>
          <a:p>
            <a:r>
              <a:rPr lang="en-US" dirty="0">
                <a:solidFill>
                  <a:srgbClr val="000000"/>
                </a:solidFill>
                <a:latin typeface="Verdana" panose="020B0604030504040204" pitchFamily="34" charset="0"/>
              </a:rPr>
              <a:t>It is similar to Excel Formula.</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In Power BI, you can use different function types to analyze data and create new columns and measures. It includes functions from different categories such as −</a:t>
            </a:r>
          </a:p>
          <a:p>
            <a:pPr algn="just">
              <a:buFont typeface="Arial" panose="020B0604020202020204" pitchFamily="34" charset="0"/>
              <a:buChar char="•"/>
            </a:pPr>
            <a:r>
              <a:rPr lang="en-US" b="0" i="0" u="none" strike="noStrike" dirty="0">
                <a:solidFill>
                  <a:schemeClr val="tx1"/>
                </a:solidFill>
                <a:effectLst/>
                <a:latin typeface="Verdana" panose="020B0604030504040204" pitchFamily="34" charset="0"/>
                <a:hlinkClick r:id="rId2">
                  <a:extLst>
                    <a:ext uri="{A12FA001-AC4F-418D-AE19-62706E023703}">
                      <ahyp:hlinkClr xmlns:ahyp="http://schemas.microsoft.com/office/drawing/2018/hyperlinkcolor" xmlns="" val="tx"/>
                    </a:ext>
                  </a:extLst>
                </a:hlinkClick>
              </a:rPr>
              <a:t>Aggregate</a:t>
            </a:r>
            <a:endParaRPr lang="en-US" b="0" i="0" dirty="0">
              <a:solidFill>
                <a:schemeClr val="tx1"/>
              </a:solidFill>
              <a:effectLst/>
              <a:latin typeface="Verdana" panose="020B0604030504040204" pitchFamily="34" charset="0"/>
            </a:endParaRPr>
          </a:p>
          <a:p>
            <a:pPr algn="just">
              <a:buFont typeface="Arial" panose="020B0604020202020204" pitchFamily="34" charset="0"/>
              <a:buChar char="•"/>
            </a:pPr>
            <a:r>
              <a:rPr lang="en-US" b="0" i="0" u="none" strike="noStrike" dirty="0">
                <a:solidFill>
                  <a:schemeClr val="tx1"/>
                </a:solidFill>
                <a:effectLst/>
                <a:latin typeface="Verdana" panose="020B0604030504040204" pitchFamily="34" charset="0"/>
                <a:hlinkClick r:id="rId3">
                  <a:extLst>
                    <a:ext uri="{A12FA001-AC4F-418D-AE19-62706E023703}">
                      <ahyp:hlinkClr xmlns:ahyp="http://schemas.microsoft.com/office/drawing/2018/hyperlinkcolor" xmlns="" val="tx"/>
                    </a:ext>
                  </a:extLst>
                </a:hlinkClick>
              </a:rPr>
              <a:t>Text</a:t>
            </a:r>
            <a:endParaRPr lang="en-US" b="0" i="0" dirty="0">
              <a:solidFill>
                <a:schemeClr val="tx1"/>
              </a:solidFill>
              <a:effectLst/>
              <a:latin typeface="Verdana" panose="020B0604030504040204" pitchFamily="34" charset="0"/>
            </a:endParaRPr>
          </a:p>
          <a:p>
            <a:pPr algn="just">
              <a:buFont typeface="Arial" panose="020B0604020202020204" pitchFamily="34" charset="0"/>
              <a:buChar char="•"/>
            </a:pPr>
            <a:r>
              <a:rPr lang="en-US" b="0" i="0" u="none" strike="noStrike" dirty="0">
                <a:solidFill>
                  <a:schemeClr val="tx1"/>
                </a:solidFill>
                <a:effectLst/>
                <a:latin typeface="Verdana" panose="020B0604030504040204" pitchFamily="34" charset="0"/>
                <a:hlinkClick r:id="rId4">
                  <a:extLst>
                    <a:ext uri="{A12FA001-AC4F-418D-AE19-62706E023703}">
                      <ahyp:hlinkClr xmlns:ahyp="http://schemas.microsoft.com/office/drawing/2018/hyperlinkcolor" xmlns="" val="tx"/>
                    </a:ext>
                  </a:extLst>
                </a:hlinkClick>
              </a:rPr>
              <a:t>Date</a:t>
            </a:r>
            <a:endParaRPr lang="en-US" b="0" i="0" dirty="0">
              <a:solidFill>
                <a:schemeClr val="tx1"/>
              </a:solidFill>
              <a:effectLst/>
              <a:latin typeface="Verdana" panose="020B0604030504040204" pitchFamily="34" charset="0"/>
            </a:endParaRPr>
          </a:p>
          <a:p>
            <a:pPr algn="just">
              <a:buFont typeface="Arial" panose="020B0604020202020204" pitchFamily="34" charset="0"/>
              <a:buChar char="•"/>
            </a:pPr>
            <a:r>
              <a:rPr lang="en-US" b="0" i="0" u="none" strike="noStrike" dirty="0">
                <a:solidFill>
                  <a:schemeClr val="tx1"/>
                </a:solidFill>
                <a:effectLst/>
                <a:latin typeface="Verdana" panose="020B0604030504040204" pitchFamily="34" charset="0"/>
                <a:hlinkClick r:id="rId5">
                  <a:extLst>
                    <a:ext uri="{A12FA001-AC4F-418D-AE19-62706E023703}">
                      <ahyp:hlinkClr xmlns:ahyp="http://schemas.microsoft.com/office/drawing/2018/hyperlinkcolor" xmlns="" val="tx"/>
                    </a:ext>
                  </a:extLst>
                </a:hlinkClick>
              </a:rPr>
              <a:t>Logical</a:t>
            </a:r>
            <a:endParaRPr lang="en-US" b="0" i="0" dirty="0">
              <a:solidFill>
                <a:schemeClr val="tx1"/>
              </a:solidFill>
              <a:effectLst/>
              <a:latin typeface="Verdana" panose="020B0604030504040204" pitchFamily="34" charset="0"/>
            </a:endParaRPr>
          </a:p>
          <a:p>
            <a:pPr algn="just">
              <a:buFont typeface="Arial" panose="020B0604020202020204" pitchFamily="34" charset="0"/>
              <a:buChar char="•"/>
            </a:pPr>
            <a:r>
              <a:rPr lang="en-US" b="0" i="0" u="none" strike="noStrike" dirty="0">
                <a:solidFill>
                  <a:schemeClr val="tx1"/>
                </a:solidFill>
                <a:effectLst/>
                <a:latin typeface="Verdana" panose="020B0604030504040204" pitchFamily="34" charset="0"/>
                <a:hlinkClick r:id="rId6">
                  <a:extLst>
                    <a:ext uri="{A12FA001-AC4F-418D-AE19-62706E023703}">
                      <ahyp:hlinkClr xmlns:ahyp="http://schemas.microsoft.com/office/drawing/2018/hyperlinkcolor" xmlns="" val="tx"/>
                    </a:ext>
                  </a:extLst>
                </a:hlinkClick>
              </a:rPr>
              <a:t>Counting</a:t>
            </a:r>
            <a:endParaRPr lang="en-US" b="0" i="0" dirty="0">
              <a:solidFill>
                <a:schemeClr val="tx1"/>
              </a:solidFill>
              <a:effectLst/>
              <a:latin typeface="Verdana" panose="020B0604030504040204" pitchFamily="34" charset="0"/>
            </a:endParaRPr>
          </a:p>
          <a:p>
            <a:pPr algn="just">
              <a:buFont typeface="Arial" panose="020B0604020202020204" pitchFamily="34" charset="0"/>
              <a:buChar char="•"/>
            </a:pPr>
            <a:r>
              <a:rPr lang="en-US" b="0" i="0" u="none" strike="noStrike" dirty="0">
                <a:solidFill>
                  <a:schemeClr val="tx1"/>
                </a:solidFill>
                <a:effectLst/>
                <a:latin typeface="Verdana" panose="020B0604030504040204" pitchFamily="34" charset="0"/>
                <a:hlinkClick r:id="rId7">
                  <a:extLst>
                    <a:ext uri="{A12FA001-AC4F-418D-AE19-62706E023703}">
                      <ahyp:hlinkClr xmlns:ahyp="http://schemas.microsoft.com/office/drawing/2018/hyperlinkcolor" xmlns="" val="tx"/>
                    </a:ext>
                  </a:extLst>
                </a:hlinkClick>
              </a:rPr>
              <a:t>Information</a:t>
            </a:r>
            <a:endParaRPr lang="en-US" b="0" i="0" dirty="0">
              <a:solidFill>
                <a:schemeClr val="tx1"/>
              </a:solidFill>
              <a:effectLst/>
              <a:latin typeface="Verdana" panose="020B0604030504040204" pitchFamily="34" charset="0"/>
            </a:endParaRPr>
          </a:p>
          <a:p>
            <a:endParaRPr lang="en-IN" dirty="0"/>
          </a:p>
        </p:txBody>
      </p:sp>
    </p:spTree>
    <p:extLst>
      <p:ext uri="{BB962C8B-B14F-4D97-AF65-F5344CB8AC3E}">
        <p14:creationId xmlns:p14="http://schemas.microsoft.com/office/powerpoint/2010/main" val="281009579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AEB9F-B12B-5BED-A049-C71DF5E13E2E}"/>
              </a:ext>
            </a:extLst>
          </p:cNvPr>
          <p:cNvSpPr>
            <a:spLocks noGrp="1"/>
          </p:cNvSpPr>
          <p:nvPr>
            <p:ph type="title"/>
          </p:nvPr>
        </p:nvSpPr>
        <p:spPr>
          <a:xfrm>
            <a:off x="1295400" y="0"/>
            <a:ext cx="9601200" cy="1485900"/>
          </a:xfrm>
        </p:spPr>
        <p:txBody>
          <a:bodyPr/>
          <a:lstStyle/>
          <a:p>
            <a:r>
              <a:rPr lang="en-IN" dirty="0"/>
              <a:t>DAX Aggregate and Text Functions</a:t>
            </a:r>
          </a:p>
        </p:txBody>
      </p:sp>
      <p:sp>
        <p:nvSpPr>
          <p:cNvPr id="3" name="Content Placeholder 2">
            <a:extLst>
              <a:ext uri="{FF2B5EF4-FFF2-40B4-BE49-F238E27FC236}">
                <a16:creationId xmlns:a16="http://schemas.microsoft.com/office/drawing/2014/main" id="{83C654D7-CD42-A2F5-E3B4-ACC4A7F6F57D}"/>
              </a:ext>
            </a:extLst>
          </p:cNvPr>
          <p:cNvSpPr>
            <a:spLocks noGrp="1"/>
          </p:cNvSpPr>
          <p:nvPr>
            <p:ph sz="half" idx="1"/>
          </p:nvPr>
        </p:nvSpPr>
        <p:spPr>
          <a:xfrm>
            <a:off x="1371600" y="1010194"/>
            <a:ext cx="4447786" cy="5847805"/>
          </a:xfrm>
        </p:spPr>
        <p:txBody>
          <a:bodyPr>
            <a:normAutofit fontScale="92500" lnSpcReduction="20000"/>
          </a:bodyPr>
          <a:lstStyle/>
          <a:p>
            <a:pPr algn="just">
              <a:buFont typeface="Arial" panose="020B0604020202020204" pitchFamily="34" charset="0"/>
              <a:buChar char="•"/>
            </a:pPr>
            <a:r>
              <a:rPr lang="en-IN" b="1" i="0" dirty="0">
                <a:solidFill>
                  <a:srgbClr val="000000"/>
                </a:solidFill>
                <a:effectLst/>
                <a:latin typeface="Verdana" panose="020B0604030504040204" pitchFamily="34" charset="0"/>
              </a:rPr>
              <a:t>Aggregate Functions</a:t>
            </a:r>
          </a:p>
          <a:p>
            <a:pPr algn="just">
              <a:buFont typeface="Arial" panose="020B0604020202020204" pitchFamily="34" charset="0"/>
              <a:buChar char="•"/>
            </a:pPr>
            <a:endParaRPr lang="en-IN" b="0" i="0" dirty="0">
              <a:solidFill>
                <a:srgbClr val="000000"/>
              </a:solidFill>
              <a:effectLst/>
              <a:latin typeface="Verdana" panose="020B0604030504040204" pitchFamily="34" charset="0"/>
            </a:endParaRPr>
          </a:p>
          <a:p>
            <a:pPr algn="just">
              <a:buFont typeface="Arial" panose="020B0604020202020204" pitchFamily="34" charset="0"/>
              <a:buChar char="•"/>
            </a:pPr>
            <a:r>
              <a:rPr lang="en-IN" b="0" i="0" dirty="0">
                <a:solidFill>
                  <a:srgbClr val="000000"/>
                </a:solidFill>
                <a:effectLst/>
                <a:latin typeface="Verdana" panose="020B0604030504040204" pitchFamily="34" charset="0"/>
              </a:rPr>
              <a:t>MIN</a:t>
            </a:r>
          </a:p>
          <a:p>
            <a:pPr algn="just">
              <a:buFont typeface="Arial" panose="020B0604020202020204" pitchFamily="34" charset="0"/>
              <a:buChar char="•"/>
            </a:pPr>
            <a:r>
              <a:rPr lang="en-IN" b="0" i="0" dirty="0">
                <a:solidFill>
                  <a:srgbClr val="000000"/>
                </a:solidFill>
                <a:effectLst/>
                <a:latin typeface="Verdana" panose="020B0604030504040204" pitchFamily="34" charset="0"/>
              </a:rPr>
              <a:t>MINA</a:t>
            </a:r>
          </a:p>
          <a:p>
            <a:pPr algn="just">
              <a:buFont typeface="Arial" panose="020B0604020202020204" pitchFamily="34" charset="0"/>
              <a:buChar char="•"/>
            </a:pPr>
            <a:r>
              <a:rPr lang="en-IN" b="0" i="0" dirty="0">
                <a:solidFill>
                  <a:srgbClr val="000000"/>
                </a:solidFill>
                <a:effectLst/>
                <a:latin typeface="Verdana" panose="020B0604030504040204" pitchFamily="34" charset="0"/>
              </a:rPr>
              <a:t>MINX</a:t>
            </a:r>
          </a:p>
          <a:p>
            <a:pPr algn="just">
              <a:buFont typeface="Arial" panose="020B0604020202020204" pitchFamily="34" charset="0"/>
              <a:buChar char="•"/>
            </a:pPr>
            <a:r>
              <a:rPr lang="en-IN" b="0" i="0" dirty="0">
                <a:solidFill>
                  <a:srgbClr val="000000"/>
                </a:solidFill>
                <a:effectLst/>
                <a:latin typeface="Verdana" panose="020B0604030504040204" pitchFamily="34" charset="0"/>
              </a:rPr>
              <a:t>MAX</a:t>
            </a:r>
          </a:p>
          <a:p>
            <a:pPr algn="just">
              <a:buFont typeface="Arial" panose="020B0604020202020204" pitchFamily="34" charset="0"/>
              <a:buChar char="•"/>
            </a:pPr>
            <a:r>
              <a:rPr lang="en-IN" b="0" i="0" dirty="0">
                <a:solidFill>
                  <a:srgbClr val="000000"/>
                </a:solidFill>
                <a:effectLst/>
                <a:latin typeface="Verdana" panose="020B0604030504040204" pitchFamily="34" charset="0"/>
              </a:rPr>
              <a:t>MAXA</a:t>
            </a:r>
          </a:p>
          <a:p>
            <a:pPr algn="just">
              <a:buFont typeface="Arial" panose="020B0604020202020204" pitchFamily="34" charset="0"/>
              <a:buChar char="•"/>
            </a:pPr>
            <a:r>
              <a:rPr lang="en-IN" b="0" i="0" dirty="0">
                <a:solidFill>
                  <a:srgbClr val="000000"/>
                </a:solidFill>
                <a:effectLst/>
                <a:latin typeface="Verdana" panose="020B0604030504040204" pitchFamily="34" charset="0"/>
              </a:rPr>
              <a:t>MAXX</a:t>
            </a:r>
          </a:p>
          <a:p>
            <a:pPr algn="just">
              <a:buFont typeface="Arial" panose="020B0604020202020204" pitchFamily="34" charset="0"/>
              <a:buChar char="•"/>
            </a:pPr>
            <a:r>
              <a:rPr lang="en-IN" b="0" i="0" dirty="0">
                <a:solidFill>
                  <a:srgbClr val="000000"/>
                </a:solidFill>
                <a:effectLst/>
                <a:latin typeface="Verdana" panose="020B0604030504040204" pitchFamily="34" charset="0"/>
              </a:rPr>
              <a:t>Average</a:t>
            </a:r>
          </a:p>
          <a:p>
            <a:pPr algn="just">
              <a:buFont typeface="Arial" panose="020B0604020202020204" pitchFamily="34" charset="0"/>
              <a:buChar char="•"/>
            </a:pPr>
            <a:r>
              <a:rPr lang="en-IN" b="0" i="0" dirty="0" err="1">
                <a:solidFill>
                  <a:srgbClr val="000000"/>
                </a:solidFill>
                <a:effectLst/>
                <a:latin typeface="Verdana" panose="020B0604030504040204" pitchFamily="34" charset="0"/>
              </a:rPr>
              <a:t>AverageA</a:t>
            </a:r>
            <a:endParaRPr lang="en-IN" b="0" i="0" dirty="0">
              <a:solidFill>
                <a:srgbClr val="000000"/>
              </a:solidFill>
              <a:effectLst/>
              <a:latin typeface="Verdana" panose="020B0604030504040204" pitchFamily="34" charset="0"/>
            </a:endParaRPr>
          </a:p>
          <a:p>
            <a:pPr algn="just">
              <a:buFont typeface="Arial" panose="020B0604020202020204" pitchFamily="34" charset="0"/>
              <a:buChar char="•"/>
            </a:pPr>
            <a:r>
              <a:rPr lang="en-IN" b="0" i="0" dirty="0" err="1">
                <a:solidFill>
                  <a:srgbClr val="000000"/>
                </a:solidFill>
                <a:effectLst/>
                <a:latin typeface="Verdana" panose="020B0604030504040204" pitchFamily="34" charset="0"/>
              </a:rPr>
              <a:t>AverageX</a:t>
            </a:r>
            <a:endParaRPr lang="en-IN" b="0" i="0" dirty="0">
              <a:solidFill>
                <a:srgbClr val="000000"/>
              </a:solidFill>
              <a:effectLst/>
              <a:latin typeface="Verdana" panose="020B0604030504040204" pitchFamily="34" charset="0"/>
            </a:endParaRPr>
          </a:p>
          <a:p>
            <a:pPr algn="just">
              <a:buFont typeface="Arial" panose="020B0604020202020204" pitchFamily="34" charset="0"/>
              <a:buChar char="•"/>
            </a:pPr>
            <a:r>
              <a:rPr lang="en-IN" b="0" i="0" dirty="0">
                <a:solidFill>
                  <a:srgbClr val="000000"/>
                </a:solidFill>
                <a:effectLst/>
                <a:latin typeface="Verdana" panose="020B0604030504040204" pitchFamily="34" charset="0"/>
              </a:rPr>
              <a:t>SUM</a:t>
            </a:r>
          </a:p>
          <a:p>
            <a:pPr algn="just">
              <a:buFont typeface="Arial" panose="020B0604020202020204" pitchFamily="34" charset="0"/>
              <a:buChar char="•"/>
            </a:pPr>
            <a:r>
              <a:rPr lang="en-IN" b="0" i="0" dirty="0">
                <a:solidFill>
                  <a:srgbClr val="000000"/>
                </a:solidFill>
                <a:effectLst/>
                <a:latin typeface="Verdana" panose="020B0604030504040204" pitchFamily="34" charset="0"/>
              </a:rPr>
              <a:t>SUMX</a:t>
            </a:r>
          </a:p>
          <a:p>
            <a:pPr algn="just">
              <a:buFont typeface="Arial" panose="020B0604020202020204" pitchFamily="34" charset="0"/>
              <a:buChar char="•"/>
            </a:pPr>
            <a:r>
              <a:rPr lang="en-IN" b="0" i="0" dirty="0">
                <a:solidFill>
                  <a:srgbClr val="000000"/>
                </a:solidFill>
                <a:effectLst/>
                <a:latin typeface="Verdana" panose="020B0604030504040204" pitchFamily="34" charset="0"/>
              </a:rPr>
              <a:t>PRODUCT</a:t>
            </a:r>
          </a:p>
          <a:p>
            <a:pPr algn="just">
              <a:buFont typeface="Arial" panose="020B0604020202020204" pitchFamily="34" charset="0"/>
              <a:buChar char="•"/>
            </a:pPr>
            <a:r>
              <a:rPr lang="en-IN" b="0" i="0" dirty="0">
                <a:solidFill>
                  <a:srgbClr val="000000"/>
                </a:solidFill>
                <a:effectLst/>
                <a:latin typeface="Verdana" panose="020B0604030504040204" pitchFamily="34" charset="0"/>
              </a:rPr>
              <a:t>PRODUCTX</a:t>
            </a:r>
          </a:p>
          <a:p>
            <a:endParaRPr lang="en-IN" dirty="0"/>
          </a:p>
        </p:txBody>
      </p:sp>
      <p:sp>
        <p:nvSpPr>
          <p:cNvPr id="4" name="Content Placeholder 3">
            <a:extLst>
              <a:ext uri="{FF2B5EF4-FFF2-40B4-BE49-F238E27FC236}">
                <a16:creationId xmlns:a16="http://schemas.microsoft.com/office/drawing/2014/main" id="{2DBB3645-977F-A0F9-190A-0378C1B16E77}"/>
              </a:ext>
            </a:extLst>
          </p:cNvPr>
          <p:cNvSpPr>
            <a:spLocks noGrp="1"/>
          </p:cNvSpPr>
          <p:nvPr>
            <p:ph sz="half" idx="2"/>
          </p:nvPr>
        </p:nvSpPr>
        <p:spPr>
          <a:xfrm>
            <a:off x="6525403" y="1010194"/>
            <a:ext cx="4447786" cy="5847805"/>
          </a:xfrm>
        </p:spPr>
        <p:txBody>
          <a:bodyPr>
            <a:normAutofit fontScale="92500" lnSpcReduction="20000"/>
          </a:bodyPr>
          <a:lstStyle/>
          <a:p>
            <a:r>
              <a:rPr lang="en-IN" b="1" dirty="0"/>
              <a:t>Text Functions</a:t>
            </a:r>
          </a:p>
          <a:p>
            <a:pPr algn="just">
              <a:buFont typeface="Arial" panose="020B0604020202020204" pitchFamily="34" charset="0"/>
              <a:buChar char="•"/>
            </a:pPr>
            <a:r>
              <a:rPr lang="en-US" b="0" i="0" dirty="0">
                <a:solidFill>
                  <a:srgbClr val="000000"/>
                </a:solidFill>
                <a:effectLst/>
                <a:latin typeface="Verdana" panose="020B0604030504040204" pitchFamily="34" charset="0"/>
              </a:rPr>
              <a:t>LEFT</a:t>
            </a:r>
          </a:p>
          <a:p>
            <a:pPr algn="just">
              <a:buFont typeface="Arial" panose="020B0604020202020204" pitchFamily="34" charset="0"/>
              <a:buChar char="•"/>
            </a:pPr>
            <a:r>
              <a:rPr lang="en-US" b="0" i="0" dirty="0">
                <a:solidFill>
                  <a:srgbClr val="000000"/>
                </a:solidFill>
                <a:effectLst/>
                <a:latin typeface="Verdana" panose="020B0604030504040204" pitchFamily="34" charset="0"/>
              </a:rPr>
              <a:t>RIGHT</a:t>
            </a:r>
          </a:p>
          <a:p>
            <a:pPr algn="just">
              <a:buFont typeface="Arial" panose="020B0604020202020204" pitchFamily="34" charset="0"/>
              <a:buChar char="•"/>
            </a:pPr>
            <a:r>
              <a:rPr lang="en-US" b="0" i="0" dirty="0">
                <a:solidFill>
                  <a:srgbClr val="000000"/>
                </a:solidFill>
                <a:effectLst/>
                <a:latin typeface="Verdana" panose="020B0604030504040204" pitchFamily="34" charset="0"/>
              </a:rPr>
              <a:t>UPPER</a:t>
            </a:r>
          </a:p>
          <a:p>
            <a:pPr algn="just">
              <a:buFont typeface="Arial" panose="020B0604020202020204" pitchFamily="34" charset="0"/>
              <a:buChar char="•"/>
            </a:pPr>
            <a:r>
              <a:rPr lang="en-US" b="0" i="0" dirty="0">
                <a:solidFill>
                  <a:srgbClr val="000000"/>
                </a:solidFill>
                <a:effectLst/>
                <a:latin typeface="Verdana" panose="020B0604030504040204" pitchFamily="34" charset="0"/>
              </a:rPr>
              <a:t>LOWER</a:t>
            </a:r>
          </a:p>
          <a:p>
            <a:pPr algn="just">
              <a:buFont typeface="Arial" panose="020B0604020202020204" pitchFamily="34" charset="0"/>
              <a:buChar char="•"/>
            </a:pPr>
            <a:r>
              <a:rPr lang="en-US" b="0" i="0" dirty="0">
                <a:solidFill>
                  <a:srgbClr val="000000"/>
                </a:solidFill>
                <a:effectLst/>
                <a:latin typeface="Verdana" panose="020B0604030504040204" pitchFamily="34" charset="0"/>
              </a:rPr>
              <a:t>FORMAT</a:t>
            </a:r>
          </a:p>
          <a:p>
            <a:pPr algn="just">
              <a:buFont typeface="Arial" panose="020B0604020202020204" pitchFamily="34" charset="0"/>
              <a:buChar char="•"/>
            </a:pPr>
            <a:r>
              <a:rPr lang="en-US" b="0" i="0" dirty="0">
                <a:solidFill>
                  <a:srgbClr val="000000"/>
                </a:solidFill>
                <a:effectLst/>
                <a:latin typeface="Verdana" panose="020B0604030504040204" pitchFamily="34" charset="0"/>
              </a:rPr>
              <a:t>FIND</a:t>
            </a:r>
          </a:p>
          <a:p>
            <a:pPr algn="just">
              <a:buFont typeface="Arial" panose="020B0604020202020204" pitchFamily="34" charset="0"/>
              <a:buChar char="•"/>
            </a:pPr>
            <a:r>
              <a:rPr lang="en-US" b="0" i="0" dirty="0">
                <a:solidFill>
                  <a:srgbClr val="000000"/>
                </a:solidFill>
                <a:effectLst/>
                <a:latin typeface="Verdana" panose="020B0604030504040204" pitchFamily="34" charset="0"/>
              </a:rPr>
              <a:t>BLANK</a:t>
            </a:r>
          </a:p>
          <a:p>
            <a:pPr algn="just">
              <a:buFont typeface="Arial" panose="020B0604020202020204" pitchFamily="34" charset="0"/>
              <a:buChar char="•"/>
            </a:pPr>
            <a:r>
              <a:rPr lang="en-US" b="0" i="0" dirty="0">
                <a:solidFill>
                  <a:srgbClr val="000000"/>
                </a:solidFill>
                <a:effectLst/>
                <a:latin typeface="Verdana" panose="020B0604030504040204" pitchFamily="34" charset="0"/>
              </a:rPr>
              <a:t>LEN</a:t>
            </a:r>
          </a:p>
          <a:p>
            <a:pPr algn="just">
              <a:buFont typeface="Arial" panose="020B0604020202020204" pitchFamily="34" charset="0"/>
              <a:buChar char="•"/>
            </a:pPr>
            <a:r>
              <a:rPr lang="en-US" b="0" i="0" dirty="0">
                <a:solidFill>
                  <a:srgbClr val="000000"/>
                </a:solidFill>
                <a:effectLst/>
                <a:latin typeface="Verdana" panose="020B0604030504040204" pitchFamily="34" charset="0"/>
              </a:rPr>
              <a:t>CONCATENATE</a:t>
            </a:r>
          </a:p>
          <a:p>
            <a:pPr algn="just">
              <a:buFont typeface="Arial" panose="020B0604020202020204" pitchFamily="34" charset="0"/>
              <a:buChar char="•"/>
            </a:pPr>
            <a:r>
              <a:rPr lang="en-US" b="0" i="0" dirty="0">
                <a:solidFill>
                  <a:srgbClr val="000000"/>
                </a:solidFill>
                <a:effectLst/>
                <a:latin typeface="Verdana" panose="020B0604030504040204" pitchFamily="34" charset="0"/>
              </a:rPr>
              <a:t>CONCATENATEX</a:t>
            </a:r>
          </a:p>
          <a:p>
            <a:pPr algn="just">
              <a:buFont typeface="Arial" panose="020B0604020202020204" pitchFamily="34" charset="0"/>
              <a:buChar char="•"/>
            </a:pPr>
            <a:r>
              <a:rPr lang="en-US" b="0" i="0" dirty="0">
                <a:solidFill>
                  <a:srgbClr val="000000"/>
                </a:solidFill>
                <a:effectLst/>
                <a:latin typeface="Verdana" panose="020B0604030504040204" pitchFamily="34" charset="0"/>
              </a:rPr>
              <a:t>MID</a:t>
            </a:r>
          </a:p>
          <a:p>
            <a:pPr algn="just">
              <a:buFont typeface="Arial" panose="020B0604020202020204" pitchFamily="34" charset="0"/>
              <a:buChar char="•"/>
            </a:pPr>
            <a:r>
              <a:rPr lang="en-US" b="0" i="0" dirty="0">
                <a:solidFill>
                  <a:srgbClr val="000000"/>
                </a:solidFill>
                <a:effectLst/>
                <a:latin typeface="Verdana" panose="020B0604030504040204" pitchFamily="34" charset="0"/>
              </a:rPr>
              <a:t>TRIM</a:t>
            </a:r>
          </a:p>
          <a:p>
            <a:pPr algn="just">
              <a:buFont typeface="Arial" panose="020B0604020202020204" pitchFamily="34" charset="0"/>
              <a:buChar char="•"/>
            </a:pPr>
            <a:r>
              <a:rPr lang="en-US" b="0" i="0" dirty="0">
                <a:solidFill>
                  <a:srgbClr val="000000"/>
                </a:solidFill>
                <a:effectLst/>
                <a:latin typeface="Verdana" panose="020B0604030504040204" pitchFamily="34" charset="0"/>
              </a:rPr>
              <a:t>REPLACE</a:t>
            </a:r>
          </a:p>
          <a:p>
            <a:pPr algn="just">
              <a:buFont typeface="Arial" panose="020B0604020202020204" pitchFamily="34" charset="0"/>
              <a:buChar char="•"/>
            </a:pPr>
            <a:r>
              <a:rPr lang="en-US" b="0" i="0" dirty="0">
                <a:solidFill>
                  <a:srgbClr val="000000"/>
                </a:solidFill>
                <a:effectLst/>
                <a:latin typeface="Verdana" panose="020B0604030504040204" pitchFamily="34" charset="0"/>
              </a:rPr>
              <a:t>EXACT</a:t>
            </a:r>
          </a:p>
          <a:p>
            <a:pPr algn="just">
              <a:buFont typeface="Arial" panose="020B0604020202020204" pitchFamily="34" charset="0"/>
              <a:buChar char="•"/>
            </a:pPr>
            <a:r>
              <a:rPr lang="en-US" b="0" i="0" dirty="0">
                <a:solidFill>
                  <a:srgbClr val="000000"/>
                </a:solidFill>
                <a:effectLst/>
                <a:latin typeface="Verdana" panose="020B0604030504040204" pitchFamily="34" charset="0"/>
              </a:rPr>
              <a:t>SUBSTITUTE</a:t>
            </a:r>
          </a:p>
          <a:p>
            <a:endParaRPr lang="en-IN" b="1" dirty="0"/>
          </a:p>
          <a:p>
            <a:endParaRPr lang="en-IN" dirty="0"/>
          </a:p>
        </p:txBody>
      </p:sp>
    </p:spTree>
    <p:extLst>
      <p:ext uri="{BB962C8B-B14F-4D97-AF65-F5344CB8AC3E}">
        <p14:creationId xmlns:p14="http://schemas.microsoft.com/office/powerpoint/2010/main" val="86392364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90B1A-3FCC-7862-1D35-43480737D65B}"/>
              </a:ext>
            </a:extLst>
          </p:cNvPr>
          <p:cNvSpPr>
            <a:spLocks noGrp="1"/>
          </p:cNvSpPr>
          <p:nvPr>
            <p:ph type="title"/>
          </p:nvPr>
        </p:nvSpPr>
        <p:spPr>
          <a:xfrm>
            <a:off x="1223554" y="0"/>
            <a:ext cx="9601200" cy="881743"/>
          </a:xfrm>
        </p:spPr>
        <p:txBody>
          <a:bodyPr/>
          <a:lstStyle/>
          <a:p>
            <a:r>
              <a:rPr lang="en-US" dirty="0"/>
              <a:t>DAX- FORMULA FOR CALCULATION</a:t>
            </a:r>
          </a:p>
        </p:txBody>
      </p:sp>
      <p:sp>
        <p:nvSpPr>
          <p:cNvPr id="4" name="Content Placeholder 3">
            <a:extLst>
              <a:ext uri="{FF2B5EF4-FFF2-40B4-BE49-F238E27FC236}">
                <a16:creationId xmlns:a16="http://schemas.microsoft.com/office/drawing/2014/main" id="{ECC52BE6-BDEF-B5B5-08E0-EE15B2175EE0}"/>
              </a:ext>
            </a:extLst>
          </p:cNvPr>
          <p:cNvSpPr>
            <a:spLocks noGrp="1"/>
          </p:cNvSpPr>
          <p:nvPr>
            <p:ph sz="half" idx="1"/>
          </p:nvPr>
        </p:nvSpPr>
        <p:spPr>
          <a:xfrm>
            <a:off x="1371600" y="1001486"/>
            <a:ext cx="10820400" cy="5856513"/>
          </a:xfrm>
        </p:spPr>
        <p:txBody>
          <a:bodyPr/>
          <a:lstStyle/>
          <a:p>
            <a:pPr algn="l"/>
            <a:r>
              <a:rPr lang="en-US" b="0" i="0" dirty="0">
                <a:solidFill>
                  <a:srgbClr val="000000"/>
                </a:solidFill>
                <a:effectLst/>
                <a:latin typeface="Verdana" panose="020B0604030504040204" pitchFamily="34" charset="0"/>
              </a:rPr>
              <a:t>In Power BI, you can create two primary calculations using DAX −</a:t>
            </a:r>
          </a:p>
          <a:p>
            <a:pPr algn="just">
              <a:buFont typeface="Arial" panose="020B0604020202020204" pitchFamily="34" charset="0"/>
              <a:buChar char="•"/>
            </a:pPr>
            <a:r>
              <a:rPr lang="en-US" b="0" i="0" dirty="0">
                <a:solidFill>
                  <a:srgbClr val="000000"/>
                </a:solidFill>
                <a:effectLst/>
                <a:latin typeface="Verdana" panose="020B0604030504040204" pitchFamily="34" charset="0"/>
              </a:rPr>
              <a:t>Calculated columns</a:t>
            </a:r>
          </a:p>
          <a:p>
            <a:pPr algn="just">
              <a:buFont typeface="Arial" panose="020B0604020202020204" pitchFamily="34" charset="0"/>
              <a:buChar char="•"/>
            </a:pPr>
            <a:r>
              <a:rPr lang="en-US" b="0" i="0" dirty="0">
                <a:solidFill>
                  <a:srgbClr val="000000"/>
                </a:solidFill>
                <a:effectLst/>
                <a:latin typeface="Verdana" panose="020B0604030504040204" pitchFamily="34" charset="0"/>
              </a:rPr>
              <a:t>Calculated measures</a:t>
            </a:r>
          </a:p>
          <a:p>
            <a:pPr marL="0" indent="0" algn="just">
              <a:buNone/>
            </a:pPr>
            <a:endParaRPr lang="en-US" b="0" i="0" dirty="0">
              <a:solidFill>
                <a:srgbClr val="000000"/>
              </a:solidFill>
              <a:effectLst/>
              <a:latin typeface="Verdana" panose="020B0604030504040204" pitchFamily="34" charset="0"/>
            </a:endParaRPr>
          </a:p>
          <a:p>
            <a:pPr marL="0" indent="0" algn="just">
              <a:buNone/>
            </a:pPr>
            <a:r>
              <a:rPr lang="en-US" dirty="0">
                <a:solidFill>
                  <a:srgbClr val="000000"/>
                </a:solidFill>
                <a:latin typeface="Verdana" panose="020B0604030504040204" pitchFamily="34" charset="0"/>
              </a:rPr>
              <a:t>Syntax: </a:t>
            </a:r>
            <a:r>
              <a:rPr lang="en-US" dirty="0" err="1">
                <a:solidFill>
                  <a:srgbClr val="000000"/>
                </a:solidFill>
                <a:latin typeface="Verdana" panose="020B0604030504040204" pitchFamily="34" charset="0"/>
              </a:rPr>
              <a:t>column_name</a:t>
            </a:r>
            <a:r>
              <a:rPr lang="en-US" dirty="0">
                <a:solidFill>
                  <a:srgbClr val="000000"/>
                </a:solidFill>
                <a:latin typeface="Verdana" panose="020B0604030504040204" pitchFamily="34" charset="0"/>
              </a:rPr>
              <a:t> = </a:t>
            </a:r>
            <a:r>
              <a:rPr lang="en-US" dirty="0" err="1">
                <a:solidFill>
                  <a:srgbClr val="000000"/>
                </a:solidFill>
                <a:latin typeface="Verdana" panose="020B0604030504040204" pitchFamily="34" charset="0"/>
              </a:rPr>
              <a:t>function_name</a:t>
            </a:r>
            <a:r>
              <a:rPr lang="en-US" dirty="0">
                <a:solidFill>
                  <a:srgbClr val="000000"/>
                </a:solidFill>
                <a:latin typeface="Verdana" panose="020B0604030504040204" pitchFamily="34" charset="0"/>
              </a:rPr>
              <a:t>(arguments)</a:t>
            </a:r>
          </a:p>
          <a:p>
            <a:pPr marL="0" indent="0" algn="just">
              <a:buNone/>
            </a:pPr>
            <a:r>
              <a:rPr lang="en-US" dirty="0">
                <a:solidFill>
                  <a:srgbClr val="000000"/>
                </a:solidFill>
                <a:latin typeface="Verdana" panose="020B0604030504040204" pitchFamily="34" charset="0"/>
              </a:rPr>
              <a:t>Example:</a:t>
            </a:r>
          </a:p>
          <a:p>
            <a:pPr marL="0" indent="0" algn="just">
              <a:buNone/>
            </a:pPr>
            <a:r>
              <a:rPr lang="en-US" b="0" i="0" dirty="0">
                <a:solidFill>
                  <a:srgbClr val="000000"/>
                </a:solidFill>
                <a:effectLst/>
                <a:latin typeface="Verdana" panose="020B0604030504040204" pitchFamily="34" charset="0"/>
              </a:rPr>
              <a:t>When you navigate to the Modeling tab, you can see a New Column option at the top of the screen. </a:t>
            </a:r>
          </a:p>
          <a:p>
            <a:pPr marL="0" indent="0" algn="just">
              <a:buNone/>
            </a:pPr>
            <a:r>
              <a:rPr lang="en-US" b="0" i="0" dirty="0">
                <a:solidFill>
                  <a:srgbClr val="000000"/>
                </a:solidFill>
                <a:effectLst/>
                <a:latin typeface="Verdana" panose="020B0604030504040204" pitchFamily="34" charset="0"/>
              </a:rPr>
              <a:t>This also opens the formula bar where you can enter DAX formula to perform the calculation. </a:t>
            </a:r>
          </a:p>
          <a:p>
            <a:pPr marL="0" indent="0" algn="just">
              <a:buNone/>
            </a:pPr>
            <a:r>
              <a:rPr lang="en-US" b="0" i="0" dirty="0">
                <a:solidFill>
                  <a:srgbClr val="000000"/>
                </a:solidFill>
                <a:effectLst/>
                <a:latin typeface="Verdana" panose="020B0604030504040204" pitchFamily="34" charset="0"/>
              </a:rPr>
              <a:t>DAX - Data Analysis Expression is a powerful language used in Excel to perform calculations. </a:t>
            </a:r>
          </a:p>
          <a:p>
            <a:pPr marL="0" indent="0" algn="just">
              <a:buNone/>
            </a:pPr>
            <a:r>
              <a:rPr lang="en-US" b="0" i="0" dirty="0">
                <a:solidFill>
                  <a:srgbClr val="000000"/>
                </a:solidFill>
                <a:effectLst/>
                <a:latin typeface="Verdana" panose="020B0604030504040204" pitchFamily="34" charset="0"/>
              </a:rPr>
              <a:t>You can also rename the column by changing the Column text in the formula bar.</a:t>
            </a:r>
            <a:endParaRPr lang="en-US" dirty="0">
              <a:solidFill>
                <a:srgbClr val="000000"/>
              </a:solidFill>
              <a:latin typeface="Verdana" panose="020B0604030504040204" pitchFamily="34" charset="0"/>
            </a:endParaRPr>
          </a:p>
          <a:p>
            <a:pPr marL="0" indent="0" algn="just">
              <a:buNone/>
            </a:pPr>
            <a:endParaRPr lang="en-US" b="0" i="0" dirty="0">
              <a:solidFill>
                <a:srgbClr val="000000"/>
              </a:solidFill>
              <a:effectLst/>
              <a:latin typeface="Verdana" panose="020B0604030504040204" pitchFamily="34" charset="0"/>
            </a:endParaRPr>
          </a:p>
          <a:p>
            <a:endParaRPr lang="en-IN" dirty="0"/>
          </a:p>
        </p:txBody>
      </p:sp>
    </p:spTree>
    <p:extLst>
      <p:ext uri="{BB962C8B-B14F-4D97-AF65-F5344CB8AC3E}">
        <p14:creationId xmlns:p14="http://schemas.microsoft.com/office/powerpoint/2010/main" val="233689684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265E3-7B5D-9026-0919-399B85E958A7}"/>
              </a:ext>
            </a:extLst>
          </p:cNvPr>
          <p:cNvSpPr>
            <a:spLocks noGrp="1"/>
          </p:cNvSpPr>
          <p:nvPr>
            <p:ph type="title"/>
          </p:nvPr>
        </p:nvSpPr>
        <p:spPr/>
        <p:txBody>
          <a:bodyPr/>
          <a:lstStyle/>
          <a:p>
            <a:r>
              <a:rPr lang="en-US" dirty="0"/>
              <a:t>Calculating Column and Measure</a:t>
            </a:r>
            <a:endParaRPr lang="en-IN" dirty="0"/>
          </a:p>
        </p:txBody>
      </p:sp>
      <p:sp>
        <p:nvSpPr>
          <p:cNvPr id="4" name="Content Placeholder 3">
            <a:extLst>
              <a:ext uri="{FF2B5EF4-FFF2-40B4-BE49-F238E27FC236}">
                <a16:creationId xmlns:a16="http://schemas.microsoft.com/office/drawing/2014/main" id="{6FD5E4D0-64A0-A114-812C-E4C826DB80D7}"/>
              </a:ext>
            </a:extLst>
          </p:cNvPr>
          <p:cNvSpPr>
            <a:spLocks noGrp="1"/>
          </p:cNvSpPr>
          <p:nvPr>
            <p:ph sz="half" idx="2"/>
          </p:nvPr>
        </p:nvSpPr>
        <p:spPr>
          <a:xfrm>
            <a:off x="5921830" y="2285999"/>
            <a:ext cx="6087290" cy="3581401"/>
          </a:xfrm>
        </p:spPr>
        <p:txBody>
          <a:bodyPr/>
          <a:lstStyle/>
          <a:p>
            <a:r>
              <a:rPr lang="en-US" b="0" i="0" dirty="0">
                <a:solidFill>
                  <a:srgbClr val="000000"/>
                </a:solidFill>
                <a:effectLst/>
                <a:latin typeface="Verdana" panose="020B0604030504040204" pitchFamily="34" charset="0"/>
              </a:rPr>
              <a:t>In the following example, we have created a new column: Product Code (</a:t>
            </a:r>
            <a:r>
              <a:rPr lang="en-US" b="0" i="0" dirty="0" err="1">
                <a:solidFill>
                  <a:srgbClr val="000000"/>
                </a:solidFill>
                <a:effectLst/>
                <a:latin typeface="Verdana" panose="020B0604030504040204" pitchFamily="34" charset="0"/>
              </a:rPr>
              <a:t>Product_C</a:t>
            </a:r>
            <a:r>
              <a:rPr lang="en-US" b="0" i="0" dirty="0">
                <a:solidFill>
                  <a:srgbClr val="000000"/>
                </a:solidFill>
                <a:effectLst/>
                <a:latin typeface="Verdana" panose="020B0604030504040204" pitchFamily="34" charset="0"/>
              </a:rPr>
              <a:t>), which is derived from the last 3 characters of </a:t>
            </a:r>
            <a:r>
              <a:rPr lang="en-US" b="0" i="0" dirty="0" err="1">
                <a:solidFill>
                  <a:srgbClr val="000000"/>
                </a:solidFill>
                <a:effectLst/>
                <a:latin typeface="Verdana" panose="020B0604030504040204" pitchFamily="34" charset="0"/>
              </a:rPr>
              <a:t>Prod_Id</a:t>
            </a:r>
            <a:r>
              <a:rPr lang="en-US" b="0" i="0" dirty="0">
                <a:solidFill>
                  <a:srgbClr val="000000"/>
                </a:solidFill>
                <a:effectLst/>
                <a:latin typeface="Verdana" panose="020B0604030504040204" pitchFamily="34" charset="0"/>
              </a:rPr>
              <a:t> column. Following is the formula −</a:t>
            </a:r>
          </a:p>
          <a:p>
            <a:r>
              <a:rPr lang="en-US" dirty="0" err="1">
                <a:solidFill>
                  <a:srgbClr val="000000"/>
                </a:solidFill>
                <a:latin typeface="Verdana" panose="020B0604030504040204" pitchFamily="34" charset="0"/>
              </a:rPr>
              <a:t>Product_C</a:t>
            </a:r>
            <a:r>
              <a:rPr lang="en-US" dirty="0">
                <a:solidFill>
                  <a:srgbClr val="000000"/>
                </a:solidFill>
                <a:latin typeface="Verdana" panose="020B0604030504040204" pitchFamily="34" charset="0"/>
              </a:rPr>
              <a:t> = </a:t>
            </a:r>
            <a:r>
              <a:rPr lang="en-US" b="1" i="0" dirty="0">
                <a:solidFill>
                  <a:schemeClr val="tx1"/>
                </a:solidFill>
                <a:effectLst/>
                <a:latin typeface="Courier New" panose="02070309020205020404" pitchFamily="49" charset="0"/>
              </a:rPr>
              <a:t>RIGHT( Sheet1[</a:t>
            </a:r>
            <a:r>
              <a:rPr lang="en-US" b="1" i="0" dirty="0" err="1">
                <a:solidFill>
                  <a:schemeClr val="tx1"/>
                </a:solidFill>
                <a:effectLst/>
                <a:latin typeface="Courier New" panose="02070309020205020404" pitchFamily="49" charset="0"/>
              </a:rPr>
              <a:t>Prod_Id</a:t>
            </a:r>
            <a:r>
              <a:rPr lang="en-US" b="1" i="0" dirty="0">
                <a:solidFill>
                  <a:schemeClr val="tx1"/>
                </a:solidFill>
                <a:effectLst/>
                <a:latin typeface="Courier New" panose="02070309020205020404" pitchFamily="49" charset="0"/>
              </a:rPr>
              <a:t>],3)</a:t>
            </a:r>
          </a:p>
          <a:p>
            <a:r>
              <a:rPr lang="en-US" b="0" i="0" dirty="0">
                <a:solidFill>
                  <a:srgbClr val="000000"/>
                </a:solidFill>
                <a:effectLst/>
                <a:latin typeface="Verdana" panose="020B0604030504040204" pitchFamily="34" charset="0"/>
              </a:rPr>
              <a:t>To create a calculated measure, navigate to New Measure tab under Modeling. This will add a new object under the Fields tab with the name Measure.</a:t>
            </a:r>
            <a:endParaRPr lang="en-IN" b="1" dirty="0">
              <a:solidFill>
                <a:schemeClr val="tx1"/>
              </a:solidFill>
            </a:endParaRPr>
          </a:p>
        </p:txBody>
      </p:sp>
      <p:pic>
        <p:nvPicPr>
          <p:cNvPr id="1026" name="Picture 2" descr="DAX Calculation Types1">
            <a:extLst>
              <a:ext uri="{FF2B5EF4-FFF2-40B4-BE49-F238E27FC236}">
                <a16:creationId xmlns:a16="http://schemas.microsoft.com/office/drawing/2014/main" id="{68343FFB-42E6-3182-F69A-CF7D1D9CE409}"/>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371600" y="2857159"/>
            <a:ext cx="4448175" cy="243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23482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2FA08-5EE7-B3A6-6622-745E9CEA2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9EDD7-11E2-2C69-D286-E36C8CDA9BAE}"/>
              </a:ext>
            </a:extLst>
          </p:cNvPr>
          <p:cNvSpPr>
            <a:spLocks noGrp="1"/>
          </p:cNvSpPr>
          <p:nvPr>
            <p:ph type="title"/>
          </p:nvPr>
        </p:nvSpPr>
        <p:spPr>
          <a:xfrm>
            <a:off x="1371600" y="685800"/>
            <a:ext cx="10483702" cy="1485900"/>
          </a:xfrm>
        </p:spPr>
        <p:txBody>
          <a:bodyPr>
            <a:normAutofit fontScale="90000"/>
          </a:bodyPr>
          <a:lstStyle/>
          <a:p>
            <a:pPr>
              <a:spcAft>
                <a:spcPts val="1500"/>
              </a:spcAft>
            </a:pPr>
            <a:r>
              <a:rPr lang="en-IN" b="1" i="0" dirty="0">
                <a:solidFill>
                  <a:srgbClr val="0C4E54"/>
                </a:solidFill>
                <a:effectLst/>
                <a:latin typeface="Montserrat" panose="00000500000000000000" pitchFamily="2" charset="0"/>
              </a:rPr>
              <a:t>How to Create Measures in Power BI?</a:t>
            </a:r>
            <a:br>
              <a:rPr lang="en-IN" b="1" i="0" dirty="0">
                <a:solidFill>
                  <a:srgbClr val="0C4E54"/>
                </a:solidFill>
                <a:effectLst/>
                <a:latin typeface="Montserrat" panose="00000500000000000000" pitchFamily="2" charset="0"/>
              </a:rPr>
            </a:br>
            <a:r>
              <a:rPr lang="en-IN" dirty="0"/>
              <a:t/>
            </a:r>
            <a:br>
              <a:rPr lang="en-IN" dirty="0"/>
            </a:br>
            <a:endParaRPr lang="en-IN" dirty="0"/>
          </a:p>
        </p:txBody>
      </p:sp>
      <p:sp>
        <p:nvSpPr>
          <p:cNvPr id="5" name="Content Placeholder 4">
            <a:extLst>
              <a:ext uri="{FF2B5EF4-FFF2-40B4-BE49-F238E27FC236}">
                <a16:creationId xmlns:a16="http://schemas.microsoft.com/office/drawing/2014/main" id="{E87B4955-2E7D-8CF0-E872-3823B92A9D43}"/>
              </a:ext>
            </a:extLst>
          </p:cNvPr>
          <p:cNvSpPr>
            <a:spLocks noGrp="1"/>
          </p:cNvSpPr>
          <p:nvPr>
            <p:ph sz="half" idx="1"/>
          </p:nvPr>
        </p:nvSpPr>
        <p:spPr>
          <a:xfrm>
            <a:off x="1371599" y="1339703"/>
            <a:ext cx="9856381" cy="5231218"/>
          </a:xfrm>
        </p:spPr>
        <p:txBody>
          <a:bodyPr>
            <a:normAutofit fontScale="92500" lnSpcReduction="10000"/>
          </a:bodyPr>
          <a:lstStyle/>
          <a:p>
            <a:pPr algn="l">
              <a:spcAft>
                <a:spcPts val="1500"/>
              </a:spcAft>
            </a:pPr>
            <a:r>
              <a:rPr lang="en-IN" b="1" i="0" dirty="0">
                <a:solidFill>
                  <a:srgbClr val="212121"/>
                </a:solidFill>
                <a:effectLst/>
                <a:latin typeface="-apple-system"/>
              </a:rPr>
              <a:t>Step 1:</a:t>
            </a:r>
            <a:r>
              <a:rPr lang="en-IN" b="0" i="0" dirty="0">
                <a:solidFill>
                  <a:srgbClr val="212121"/>
                </a:solidFill>
                <a:effectLst/>
                <a:latin typeface="-apple-system"/>
              </a:rPr>
              <a:t> Open your Power BI Desktop application. Load or import your data source into Power BI.</a:t>
            </a:r>
            <a:r>
              <a:rPr lang="en-IN" dirty="0"/>
              <a:t/>
            </a:r>
            <a:br>
              <a:rPr lang="en-IN" dirty="0"/>
            </a:br>
            <a:endParaRPr lang="en-IN" dirty="0"/>
          </a:p>
          <a:p>
            <a:pPr algn="l">
              <a:spcAft>
                <a:spcPts val="1500"/>
              </a:spcAft>
            </a:pPr>
            <a:endParaRPr lang="en-IN" dirty="0"/>
          </a:p>
          <a:p>
            <a:pPr algn="l">
              <a:spcAft>
                <a:spcPts val="1500"/>
              </a:spcAft>
            </a:pPr>
            <a:endParaRPr lang="en-IN" dirty="0"/>
          </a:p>
          <a:p>
            <a:pPr algn="l">
              <a:spcAft>
                <a:spcPts val="1500"/>
              </a:spcAft>
            </a:pPr>
            <a:endParaRPr lang="en-IN" dirty="0"/>
          </a:p>
          <a:p>
            <a:pPr algn="l">
              <a:spcAft>
                <a:spcPts val="1500"/>
              </a:spcAft>
            </a:pPr>
            <a:endParaRPr lang="en-IN" dirty="0"/>
          </a:p>
          <a:p>
            <a:pPr algn="l">
              <a:spcAft>
                <a:spcPts val="1500"/>
              </a:spcAft>
            </a:pPr>
            <a:endParaRPr lang="en-IN" dirty="0"/>
          </a:p>
          <a:p>
            <a:pPr algn="l">
              <a:spcAft>
                <a:spcPts val="1500"/>
              </a:spcAft>
            </a:pPr>
            <a:endParaRPr lang="en-IN" dirty="0"/>
          </a:p>
          <a:p>
            <a:pPr algn="l">
              <a:spcAft>
                <a:spcPts val="1500"/>
              </a:spcAft>
            </a:pPr>
            <a:r>
              <a:rPr lang="en-IN" b="1" i="0" dirty="0">
                <a:solidFill>
                  <a:srgbClr val="212121"/>
                </a:solidFill>
                <a:effectLst/>
                <a:latin typeface="-apple-system"/>
              </a:rPr>
              <a:t>Step 2:</a:t>
            </a:r>
            <a:r>
              <a:rPr lang="en-IN" b="0" i="0" dirty="0">
                <a:solidFill>
                  <a:srgbClr val="212121"/>
                </a:solidFill>
                <a:effectLst/>
                <a:latin typeface="-apple-system"/>
              </a:rPr>
              <a:t> Once imported into Power BI, navigate to the </a:t>
            </a:r>
            <a:r>
              <a:rPr lang="en-IN" b="1" i="0" dirty="0">
                <a:solidFill>
                  <a:srgbClr val="212121"/>
                </a:solidFill>
                <a:effectLst/>
                <a:latin typeface="-apple-system"/>
              </a:rPr>
              <a:t>Fields</a:t>
            </a:r>
            <a:r>
              <a:rPr lang="en-IN" b="0" i="0" dirty="0">
                <a:solidFill>
                  <a:srgbClr val="212121"/>
                </a:solidFill>
                <a:effectLst/>
                <a:latin typeface="-apple-system"/>
              </a:rPr>
              <a:t> pane to view the data attributes of the dataset.</a:t>
            </a:r>
          </a:p>
        </p:txBody>
      </p:sp>
      <p:pic>
        <p:nvPicPr>
          <p:cNvPr id="7" name="Picture 6">
            <a:extLst>
              <a:ext uri="{FF2B5EF4-FFF2-40B4-BE49-F238E27FC236}">
                <a16:creationId xmlns:a16="http://schemas.microsoft.com/office/drawing/2014/main" id="{88B5A0D1-413B-EA67-47AC-918063807FF5}"/>
              </a:ext>
            </a:extLst>
          </p:cNvPr>
          <p:cNvPicPr>
            <a:picLocks noChangeAspect="1"/>
          </p:cNvPicPr>
          <p:nvPr/>
        </p:nvPicPr>
        <p:blipFill>
          <a:blip r:embed="rId2"/>
          <a:stretch>
            <a:fillRect/>
          </a:stretch>
        </p:blipFill>
        <p:spPr>
          <a:xfrm>
            <a:off x="2973352" y="1904579"/>
            <a:ext cx="3122648" cy="3390436"/>
          </a:xfrm>
          <a:prstGeom prst="rect">
            <a:avLst/>
          </a:prstGeom>
        </p:spPr>
      </p:pic>
    </p:spTree>
    <p:extLst>
      <p:ext uri="{BB962C8B-B14F-4D97-AF65-F5344CB8AC3E}">
        <p14:creationId xmlns:p14="http://schemas.microsoft.com/office/powerpoint/2010/main" val="141198340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C0DFB-193D-59E5-AEDF-C852A79C6A7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D74BF11-142C-0AC2-6F7B-3795631B6C34}"/>
              </a:ext>
            </a:extLst>
          </p:cNvPr>
          <p:cNvSpPr>
            <a:spLocks noGrp="1"/>
          </p:cNvSpPr>
          <p:nvPr>
            <p:ph sz="half" idx="1"/>
          </p:nvPr>
        </p:nvSpPr>
        <p:spPr>
          <a:xfrm>
            <a:off x="1371599" y="1339703"/>
            <a:ext cx="9856381" cy="5231218"/>
          </a:xfrm>
        </p:spPr>
        <p:txBody>
          <a:bodyPr/>
          <a:lstStyle/>
          <a:p>
            <a:pPr algn="l">
              <a:spcAft>
                <a:spcPts val="1500"/>
              </a:spcAft>
            </a:pPr>
            <a:r>
              <a:rPr lang="en-IN" b="1" i="0" dirty="0">
                <a:solidFill>
                  <a:srgbClr val="212121"/>
                </a:solidFill>
                <a:effectLst/>
                <a:latin typeface="-apple-system"/>
              </a:rPr>
              <a:t>Step 3:</a:t>
            </a:r>
            <a:r>
              <a:rPr lang="en-IN" b="0" i="0" dirty="0">
                <a:solidFill>
                  <a:srgbClr val="212121"/>
                </a:solidFill>
                <a:effectLst/>
                <a:latin typeface="-apple-system"/>
              </a:rPr>
              <a:t> Select the table you want to create a measure for. Right-click on the table and choose the </a:t>
            </a:r>
            <a:r>
              <a:rPr lang="en-IN" b="1" i="0" dirty="0">
                <a:solidFill>
                  <a:srgbClr val="212121"/>
                </a:solidFill>
                <a:effectLst/>
                <a:latin typeface="-apple-system"/>
              </a:rPr>
              <a:t>New measure</a:t>
            </a:r>
            <a:r>
              <a:rPr lang="en-IN" b="0" i="0" dirty="0">
                <a:solidFill>
                  <a:srgbClr val="212121"/>
                </a:solidFill>
                <a:effectLst/>
                <a:latin typeface="-apple-system"/>
              </a:rPr>
              <a:t> option.</a:t>
            </a:r>
          </a:p>
          <a:p>
            <a:pPr marL="0" indent="0">
              <a:buNone/>
            </a:pPr>
            <a:endParaRPr lang="en-IN" dirty="0"/>
          </a:p>
        </p:txBody>
      </p:sp>
      <p:pic>
        <p:nvPicPr>
          <p:cNvPr id="9" name="Picture 8">
            <a:extLst>
              <a:ext uri="{FF2B5EF4-FFF2-40B4-BE49-F238E27FC236}">
                <a16:creationId xmlns:a16="http://schemas.microsoft.com/office/drawing/2014/main" id="{A64E7563-491D-BF26-1398-E1C566EEB366}"/>
              </a:ext>
            </a:extLst>
          </p:cNvPr>
          <p:cNvPicPr>
            <a:picLocks noChangeAspect="1"/>
          </p:cNvPicPr>
          <p:nvPr/>
        </p:nvPicPr>
        <p:blipFill>
          <a:blip r:embed="rId2"/>
          <a:stretch>
            <a:fillRect/>
          </a:stretch>
        </p:blipFill>
        <p:spPr>
          <a:xfrm>
            <a:off x="3936372" y="2037021"/>
            <a:ext cx="3362325" cy="4533900"/>
          </a:xfrm>
          <a:prstGeom prst="rect">
            <a:avLst/>
          </a:prstGeom>
        </p:spPr>
      </p:pic>
    </p:spTree>
    <p:extLst>
      <p:ext uri="{BB962C8B-B14F-4D97-AF65-F5344CB8AC3E}">
        <p14:creationId xmlns:p14="http://schemas.microsoft.com/office/powerpoint/2010/main" val="29211119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2ACC8-BD48-65A1-2526-60B4220A1AA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A36808F-2B7E-76EE-BB19-8CA799A29446}"/>
              </a:ext>
            </a:extLst>
          </p:cNvPr>
          <p:cNvSpPr>
            <a:spLocks noGrp="1"/>
          </p:cNvSpPr>
          <p:nvPr>
            <p:ph sz="half" idx="1"/>
          </p:nvPr>
        </p:nvSpPr>
        <p:spPr>
          <a:xfrm>
            <a:off x="1371599" y="287079"/>
            <a:ext cx="9856381" cy="6283842"/>
          </a:xfrm>
        </p:spPr>
        <p:txBody>
          <a:bodyPr/>
          <a:lstStyle/>
          <a:p>
            <a:pPr algn="l">
              <a:spcAft>
                <a:spcPts val="1500"/>
              </a:spcAft>
            </a:pPr>
            <a:r>
              <a:rPr lang="en-IN" b="1" i="0" dirty="0">
                <a:solidFill>
                  <a:srgbClr val="212121"/>
                </a:solidFill>
                <a:effectLst/>
                <a:latin typeface="-apple-system"/>
              </a:rPr>
              <a:t>Step 4:</a:t>
            </a:r>
            <a:r>
              <a:rPr lang="en-IN" b="0" i="0" dirty="0">
                <a:solidFill>
                  <a:srgbClr val="212121"/>
                </a:solidFill>
                <a:effectLst/>
                <a:latin typeface="-apple-system"/>
              </a:rPr>
              <a:t> Write your DAX measures in Power BI in the formula bar at the top. Give it a descriptive name and Press Enter to create the measure.</a:t>
            </a:r>
          </a:p>
          <a:p>
            <a:pPr algn="l">
              <a:spcAft>
                <a:spcPts val="1500"/>
              </a:spcAft>
            </a:pPr>
            <a:endParaRPr lang="en-IN" dirty="0">
              <a:solidFill>
                <a:srgbClr val="212121"/>
              </a:solidFill>
              <a:latin typeface="-apple-system"/>
            </a:endParaRPr>
          </a:p>
          <a:p>
            <a:pPr algn="l">
              <a:spcAft>
                <a:spcPts val="1500"/>
              </a:spcAft>
            </a:pPr>
            <a:endParaRPr lang="en-IN" b="0" i="0" dirty="0">
              <a:solidFill>
                <a:srgbClr val="212121"/>
              </a:solidFill>
              <a:effectLst/>
              <a:latin typeface="-apple-system"/>
            </a:endParaRPr>
          </a:p>
          <a:p>
            <a:pPr algn="l">
              <a:spcAft>
                <a:spcPts val="1500"/>
              </a:spcAft>
            </a:pPr>
            <a:endParaRPr lang="en-IN" dirty="0">
              <a:solidFill>
                <a:srgbClr val="212121"/>
              </a:solidFill>
              <a:latin typeface="-apple-system"/>
            </a:endParaRPr>
          </a:p>
          <a:p>
            <a:pPr algn="l">
              <a:spcAft>
                <a:spcPts val="1500"/>
              </a:spcAft>
            </a:pPr>
            <a:r>
              <a:rPr lang="en-IN" b="1" i="0" dirty="0">
                <a:solidFill>
                  <a:srgbClr val="212121"/>
                </a:solidFill>
                <a:effectLst/>
                <a:latin typeface="-apple-system"/>
              </a:rPr>
              <a:t>Step 5:</a:t>
            </a:r>
            <a:r>
              <a:rPr lang="en-IN" b="0" i="0" dirty="0">
                <a:solidFill>
                  <a:srgbClr val="212121"/>
                </a:solidFill>
                <a:effectLst/>
                <a:latin typeface="-apple-system"/>
              </a:rPr>
              <a:t> You can also use the </a:t>
            </a:r>
            <a:r>
              <a:rPr lang="en-IN" b="1" i="0" dirty="0">
                <a:solidFill>
                  <a:srgbClr val="212121"/>
                </a:solidFill>
                <a:effectLst/>
                <a:latin typeface="-apple-system"/>
              </a:rPr>
              <a:t>New quick measure</a:t>
            </a:r>
            <a:r>
              <a:rPr lang="en-IN" b="0" i="0" dirty="0">
                <a:solidFill>
                  <a:srgbClr val="212121"/>
                </a:solidFill>
                <a:effectLst/>
                <a:latin typeface="-apple-system"/>
              </a:rPr>
              <a:t> option to create new measures. Select the </a:t>
            </a:r>
            <a:r>
              <a:rPr lang="en-IN" b="1" i="0" dirty="0">
                <a:solidFill>
                  <a:srgbClr val="212121"/>
                </a:solidFill>
                <a:effectLst/>
                <a:latin typeface="-apple-system"/>
              </a:rPr>
              <a:t>New quick measure</a:t>
            </a:r>
            <a:r>
              <a:rPr lang="en-IN" b="0" i="0" dirty="0">
                <a:solidFill>
                  <a:srgbClr val="212121"/>
                </a:solidFill>
                <a:effectLst/>
                <a:latin typeface="-apple-system"/>
              </a:rPr>
              <a:t> option when you right-click on the table you want to create a measure for.</a:t>
            </a:r>
          </a:p>
          <a:p>
            <a:pPr marL="0" indent="0">
              <a:buNone/>
            </a:pPr>
            <a:r>
              <a:rPr lang="en-IN" dirty="0"/>
              <a:t/>
            </a:r>
            <a:br>
              <a:rPr lang="en-IN" dirty="0"/>
            </a:br>
            <a:endParaRPr lang="en-IN" b="0" i="0" dirty="0">
              <a:solidFill>
                <a:srgbClr val="212121"/>
              </a:solidFill>
              <a:effectLst/>
              <a:latin typeface="-apple-system"/>
            </a:endParaRPr>
          </a:p>
          <a:p>
            <a:pPr marL="0" indent="0">
              <a:buNone/>
            </a:pPr>
            <a:endParaRPr lang="en-IN" dirty="0"/>
          </a:p>
        </p:txBody>
      </p:sp>
      <p:pic>
        <p:nvPicPr>
          <p:cNvPr id="4" name="Picture 3">
            <a:extLst>
              <a:ext uri="{FF2B5EF4-FFF2-40B4-BE49-F238E27FC236}">
                <a16:creationId xmlns:a16="http://schemas.microsoft.com/office/drawing/2014/main" id="{99E277A8-1635-2335-55C4-B45F5D1F14FE}"/>
              </a:ext>
            </a:extLst>
          </p:cNvPr>
          <p:cNvPicPr>
            <a:picLocks noChangeAspect="1"/>
          </p:cNvPicPr>
          <p:nvPr/>
        </p:nvPicPr>
        <p:blipFill>
          <a:blip r:embed="rId2"/>
          <a:stretch>
            <a:fillRect/>
          </a:stretch>
        </p:blipFill>
        <p:spPr>
          <a:xfrm>
            <a:off x="1953476" y="1148316"/>
            <a:ext cx="8285047" cy="1338484"/>
          </a:xfrm>
          <a:prstGeom prst="rect">
            <a:avLst/>
          </a:prstGeom>
        </p:spPr>
      </p:pic>
      <p:pic>
        <p:nvPicPr>
          <p:cNvPr id="7" name="Picture 6">
            <a:extLst>
              <a:ext uri="{FF2B5EF4-FFF2-40B4-BE49-F238E27FC236}">
                <a16:creationId xmlns:a16="http://schemas.microsoft.com/office/drawing/2014/main" id="{39285FEB-B060-2023-291C-D69361D83A2C}"/>
              </a:ext>
            </a:extLst>
          </p:cNvPr>
          <p:cNvPicPr>
            <a:picLocks noChangeAspect="1"/>
          </p:cNvPicPr>
          <p:nvPr/>
        </p:nvPicPr>
        <p:blipFill>
          <a:blip r:embed="rId3"/>
          <a:stretch>
            <a:fillRect/>
          </a:stretch>
        </p:blipFill>
        <p:spPr>
          <a:xfrm>
            <a:off x="3602001" y="3740689"/>
            <a:ext cx="2235274" cy="3087709"/>
          </a:xfrm>
          <a:prstGeom prst="rect">
            <a:avLst/>
          </a:prstGeom>
        </p:spPr>
      </p:pic>
    </p:spTree>
    <p:extLst>
      <p:ext uri="{BB962C8B-B14F-4D97-AF65-F5344CB8AC3E}">
        <p14:creationId xmlns:p14="http://schemas.microsoft.com/office/powerpoint/2010/main" val="427921956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9D605-50E1-0EB4-D34C-2C16B0641CD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0090F44-2DD4-D213-3192-E6E7336116E9}"/>
              </a:ext>
            </a:extLst>
          </p:cNvPr>
          <p:cNvSpPr>
            <a:spLocks noGrp="1"/>
          </p:cNvSpPr>
          <p:nvPr>
            <p:ph sz="half" idx="1"/>
          </p:nvPr>
        </p:nvSpPr>
        <p:spPr>
          <a:xfrm>
            <a:off x="1371599" y="287079"/>
            <a:ext cx="9856381" cy="6283842"/>
          </a:xfrm>
        </p:spPr>
        <p:txBody>
          <a:bodyPr/>
          <a:lstStyle/>
          <a:p>
            <a:pPr algn="l">
              <a:spcAft>
                <a:spcPts val="1500"/>
              </a:spcAft>
            </a:pPr>
            <a:r>
              <a:rPr lang="en-IN" b="0" i="0" dirty="0">
                <a:solidFill>
                  <a:srgbClr val="212121"/>
                </a:solidFill>
                <a:effectLst/>
                <a:latin typeface="-apple-system"/>
              </a:rPr>
              <a:t>It will open a </a:t>
            </a:r>
            <a:r>
              <a:rPr lang="en-IN" b="1" i="0" dirty="0">
                <a:solidFill>
                  <a:srgbClr val="212121"/>
                </a:solidFill>
                <a:effectLst/>
                <a:latin typeface="-apple-system"/>
              </a:rPr>
              <a:t>Quick measure</a:t>
            </a:r>
            <a:r>
              <a:rPr lang="en-IN" b="0" i="0" dirty="0">
                <a:solidFill>
                  <a:srgbClr val="212121"/>
                </a:solidFill>
                <a:effectLst/>
                <a:latin typeface="-apple-system"/>
              </a:rPr>
              <a:t> window where you can choose the predefined measures for your visualization requirements.</a:t>
            </a:r>
          </a:p>
          <a:p>
            <a:pPr algn="l">
              <a:spcAft>
                <a:spcPts val="1500"/>
              </a:spcAft>
            </a:pPr>
            <a:r>
              <a:rPr lang="en-IN" b="1" i="0" dirty="0">
                <a:solidFill>
                  <a:srgbClr val="212121"/>
                </a:solidFill>
                <a:effectLst/>
                <a:latin typeface="-apple-system"/>
              </a:rPr>
              <a:t>Step 6:</a:t>
            </a:r>
            <a:r>
              <a:rPr lang="en-IN" b="0" i="0" dirty="0">
                <a:solidFill>
                  <a:srgbClr val="212121"/>
                </a:solidFill>
                <a:effectLst/>
                <a:latin typeface="-apple-system"/>
              </a:rPr>
              <a:t> Select a calculation to create a measure for your visual from the </a:t>
            </a:r>
            <a:r>
              <a:rPr lang="en-IN" b="1" i="0" dirty="0">
                <a:solidFill>
                  <a:srgbClr val="212121"/>
                </a:solidFill>
                <a:effectLst/>
                <a:latin typeface="-apple-system"/>
              </a:rPr>
              <a:t>Select a calculation</a:t>
            </a:r>
            <a:r>
              <a:rPr lang="en-IN" b="0" i="0" dirty="0">
                <a:solidFill>
                  <a:srgbClr val="212121"/>
                </a:solidFill>
                <a:effectLst/>
                <a:latin typeface="-apple-system"/>
              </a:rPr>
              <a:t> dropdown.</a:t>
            </a:r>
          </a:p>
          <a:p>
            <a:pPr algn="l">
              <a:spcAft>
                <a:spcPts val="1500"/>
              </a:spcAft>
            </a:pPr>
            <a:endParaRPr lang="en-IN" b="0" i="0" dirty="0">
              <a:solidFill>
                <a:srgbClr val="212121"/>
              </a:solidFill>
              <a:effectLst/>
              <a:latin typeface="-apple-system"/>
            </a:endParaRPr>
          </a:p>
          <a:p>
            <a:pPr marL="0" indent="0">
              <a:buNone/>
            </a:pPr>
            <a:endParaRPr lang="en-IN" b="0" i="0" dirty="0">
              <a:solidFill>
                <a:srgbClr val="212121"/>
              </a:solidFill>
              <a:effectLst/>
              <a:latin typeface="-apple-system"/>
            </a:endParaRPr>
          </a:p>
          <a:p>
            <a:pPr marL="0" indent="0">
              <a:buNone/>
            </a:pPr>
            <a:r>
              <a:rPr lang="en-IN" dirty="0"/>
              <a:t/>
            </a:r>
            <a:br>
              <a:rPr lang="en-IN" dirty="0"/>
            </a:br>
            <a:endParaRPr lang="en-IN" b="0" i="0" dirty="0">
              <a:solidFill>
                <a:srgbClr val="212121"/>
              </a:solidFill>
              <a:effectLst/>
              <a:latin typeface="-apple-system"/>
            </a:endParaRPr>
          </a:p>
          <a:p>
            <a:pPr marL="0" indent="0">
              <a:buNone/>
            </a:pPr>
            <a:endParaRPr lang="en-IN" dirty="0"/>
          </a:p>
        </p:txBody>
      </p:sp>
      <p:pic>
        <p:nvPicPr>
          <p:cNvPr id="3" name="Picture 2">
            <a:extLst>
              <a:ext uri="{FF2B5EF4-FFF2-40B4-BE49-F238E27FC236}">
                <a16:creationId xmlns:a16="http://schemas.microsoft.com/office/drawing/2014/main" id="{8DBF2DDB-A64F-28B4-AFEA-FCAE9710C04A}"/>
              </a:ext>
            </a:extLst>
          </p:cNvPr>
          <p:cNvPicPr>
            <a:picLocks noChangeAspect="1"/>
          </p:cNvPicPr>
          <p:nvPr/>
        </p:nvPicPr>
        <p:blipFill>
          <a:blip r:embed="rId2"/>
          <a:stretch>
            <a:fillRect/>
          </a:stretch>
        </p:blipFill>
        <p:spPr>
          <a:xfrm>
            <a:off x="2743200" y="1884289"/>
            <a:ext cx="3352800" cy="4429125"/>
          </a:xfrm>
          <a:prstGeom prst="rect">
            <a:avLst/>
          </a:prstGeom>
        </p:spPr>
      </p:pic>
    </p:spTree>
    <p:extLst>
      <p:ext uri="{BB962C8B-B14F-4D97-AF65-F5344CB8AC3E}">
        <p14:creationId xmlns:p14="http://schemas.microsoft.com/office/powerpoint/2010/main" val="2815320570"/>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84521-8B8F-C419-8EE0-A0ECFF2C7CA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BFF5619-A739-680E-64A2-3F2721C5817A}"/>
              </a:ext>
            </a:extLst>
          </p:cNvPr>
          <p:cNvSpPr>
            <a:spLocks noGrp="1"/>
          </p:cNvSpPr>
          <p:nvPr>
            <p:ph sz="half" idx="1"/>
          </p:nvPr>
        </p:nvSpPr>
        <p:spPr>
          <a:xfrm>
            <a:off x="1360967" y="287079"/>
            <a:ext cx="9856381" cy="6283842"/>
          </a:xfrm>
        </p:spPr>
        <p:txBody>
          <a:bodyPr/>
          <a:lstStyle/>
          <a:p>
            <a:pPr algn="l">
              <a:spcAft>
                <a:spcPts val="1500"/>
              </a:spcAft>
            </a:pPr>
            <a:r>
              <a:rPr lang="en-IN" b="0" i="0" dirty="0">
                <a:solidFill>
                  <a:srgbClr val="212121"/>
                </a:solidFill>
                <a:effectLst/>
                <a:latin typeface="-apple-system"/>
              </a:rPr>
              <a:t>Power BI quick measure supports multiple in-built measures ranging from </a:t>
            </a:r>
            <a:r>
              <a:rPr lang="en-IN" b="1" i="0" dirty="0">
                <a:solidFill>
                  <a:srgbClr val="212121"/>
                </a:solidFill>
                <a:effectLst/>
                <a:latin typeface="-apple-system"/>
              </a:rPr>
              <a:t>Aggregate per category, Filters, Time intelligence functions, Totals, and Mathematical operations</a:t>
            </a:r>
            <a:r>
              <a:rPr lang="en-IN" b="0" i="0" dirty="0">
                <a:solidFill>
                  <a:srgbClr val="212121"/>
                </a:solidFill>
                <a:effectLst/>
                <a:latin typeface="-apple-system"/>
              </a:rPr>
              <a:t> functions to be used across the visuals.</a:t>
            </a:r>
          </a:p>
          <a:p>
            <a:pPr algn="l">
              <a:spcAft>
                <a:spcPts val="1500"/>
              </a:spcAft>
            </a:pPr>
            <a:r>
              <a:rPr lang="en-IN" b="0" i="0" dirty="0">
                <a:solidFill>
                  <a:srgbClr val="212121"/>
                </a:solidFill>
                <a:effectLst/>
                <a:latin typeface="-apple-system"/>
              </a:rPr>
              <a:t>Once you choose a measure, Power BI generates its DAX expression and creates a measure for your table.</a:t>
            </a:r>
          </a:p>
          <a:p>
            <a:pPr algn="l">
              <a:spcAft>
                <a:spcPts val="1500"/>
              </a:spcAft>
            </a:pPr>
            <a:r>
              <a:rPr lang="en-IN" b="1" i="0" dirty="0">
                <a:solidFill>
                  <a:srgbClr val="212121"/>
                </a:solidFill>
                <a:effectLst/>
                <a:latin typeface="-apple-system"/>
              </a:rPr>
              <a:t>Step 7:</a:t>
            </a:r>
            <a:r>
              <a:rPr lang="en-IN" b="0" i="0" dirty="0">
                <a:solidFill>
                  <a:srgbClr val="212121"/>
                </a:solidFill>
                <a:effectLst/>
                <a:latin typeface="-apple-system"/>
              </a:rPr>
              <a:t> Choose a calculation and specify the sections for the measures, such as </a:t>
            </a:r>
            <a:r>
              <a:rPr lang="en-IN" b="1" i="0" dirty="0">
                <a:solidFill>
                  <a:srgbClr val="212121"/>
                </a:solidFill>
                <a:effectLst/>
                <a:latin typeface="-apple-system"/>
              </a:rPr>
              <a:t>Base value, Date, and Number of periods</a:t>
            </a:r>
            <a:r>
              <a:rPr lang="en-IN" b="0" i="0" dirty="0">
                <a:solidFill>
                  <a:srgbClr val="212121"/>
                </a:solidFill>
                <a:effectLst/>
                <a:latin typeface="-apple-system"/>
              </a:rPr>
              <a:t>. These sections may vary depending on your chosen calculation from the Calculations dropdown.</a:t>
            </a:r>
          </a:p>
          <a:p>
            <a:endParaRPr lang="en-IN" b="0" i="0" dirty="0">
              <a:solidFill>
                <a:srgbClr val="212121"/>
              </a:solidFill>
              <a:effectLst/>
              <a:latin typeface="-apple-system"/>
            </a:endParaRPr>
          </a:p>
        </p:txBody>
      </p:sp>
      <p:pic>
        <p:nvPicPr>
          <p:cNvPr id="4" name="Picture 3">
            <a:extLst>
              <a:ext uri="{FF2B5EF4-FFF2-40B4-BE49-F238E27FC236}">
                <a16:creationId xmlns:a16="http://schemas.microsoft.com/office/drawing/2014/main" id="{487E0429-91A2-8519-D9C7-E7A43C558D3E}"/>
              </a:ext>
            </a:extLst>
          </p:cNvPr>
          <p:cNvPicPr>
            <a:picLocks noChangeAspect="1"/>
          </p:cNvPicPr>
          <p:nvPr/>
        </p:nvPicPr>
        <p:blipFill>
          <a:blip r:embed="rId2"/>
          <a:stretch>
            <a:fillRect/>
          </a:stretch>
        </p:blipFill>
        <p:spPr>
          <a:xfrm>
            <a:off x="4097853" y="3429000"/>
            <a:ext cx="2191304" cy="3125924"/>
          </a:xfrm>
          <a:prstGeom prst="rect">
            <a:avLst/>
          </a:prstGeom>
        </p:spPr>
      </p:pic>
    </p:spTree>
    <p:extLst>
      <p:ext uri="{BB962C8B-B14F-4D97-AF65-F5344CB8AC3E}">
        <p14:creationId xmlns:p14="http://schemas.microsoft.com/office/powerpoint/2010/main" val="2659434433"/>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82720-AAD7-E27C-E341-1C81450F09BE}"/>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B12B2C7-67C6-23BC-6263-F49BE0CD924D}"/>
              </a:ext>
            </a:extLst>
          </p:cNvPr>
          <p:cNvSpPr>
            <a:spLocks noGrp="1"/>
          </p:cNvSpPr>
          <p:nvPr>
            <p:ph sz="half" idx="1"/>
          </p:nvPr>
        </p:nvSpPr>
        <p:spPr>
          <a:xfrm>
            <a:off x="1360967" y="850605"/>
            <a:ext cx="9856381" cy="5720316"/>
          </a:xfrm>
        </p:spPr>
        <p:txBody>
          <a:bodyPr/>
          <a:lstStyle/>
          <a:p>
            <a:pPr algn="l">
              <a:spcAft>
                <a:spcPts val="1500"/>
              </a:spcAft>
            </a:pPr>
            <a:r>
              <a:rPr lang="en-IN" b="0" i="0" dirty="0">
                <a:solidFill>
                  <a:srgbClr val="212121"/>
                </a:solidFill>
                <a:effectLst/>
                <a:latin typeface="-apple-system"/>
              </a:rPr>
              <a:t>It will generate a DAX expression for the chosen measure in Power BI.</a:t>
            </a:r>
          </a:p>
          <a:p>
            <a:pPr marL="0" indent="0">
              <a:buNone/>
            </a:pPr>
            <a:endParaRPr lang="en-IN" b="0" i="0" dirty="0">
              <a:solidFill>
                <a:srgbClr val="212121"/>
              </a:solidFill>
              <a:effectLst/>
              <a:latin typeface="-apple-system"/>
            </a:endParaRPr>
          </a:p>
        </p:txBody>
      </p:sp>
      <p:pic>
        <p:nvPicPr>
          <p:cNvPr id="7" name="Picture 6">
            <a:extLst>
              <a:ext uri="{FF2B5EF4-FFF2-40B4-BE49-F238E27FC236}">
                <a16:creationId xmlns:a16="http://schemas.microsoft.com/office/drawing/2014/main" id="{7D557882-265E-FAD6-D938-B0B411698DC7}"/>
              </a:ext>
            </a:extLst>
          </p:cNvPr>
          <p:cNvPicPr>
            <a:picLocks noChangeAspect="1"/>
          </p:cNvPicPr>
          <p:nvPr/>
        </p:nvPicPr>
        <p:blipFill>
          <a:blip r:embed="rId2"/>
          <a:stretch>
            <a:fillRect/>
          </a:stretch>
        </p:blipFill>
        <p:spPr>
          <a:xfrm>
            <a:off x="1410270" y="1392865"/>
            <a:ext cx="10201193" cy="4805917"/>
          </a:xfrm>
          <a:prstGeom prst="rect">
            <a:avLst/>
          </a:prstGeom>
        </p:spPr>
      </p:pic>
    </p:spTree>
    <p:extLst>
      <p:ext uri="{BB962C8B-B14F-4D97-AF65-F5344CB8AC3E}">
        <p14:creationId xmlns:p14="http://schemas.microsoft.com/office/powerpoint/2010/main" val="17170552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EBB13-10D3-D1C1-4A5E-45B114772283}"/>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9E5ED21-51A8-6F2E-D7C1-F4CDDAD61E63}"/>
              </a:ext>
            </a:extLst>
          </p:cNvPr>
          <p:cNvSpPr>
            <a:spLocks noGrp="1"/>
          </p:cNvSpPr>
          <p:nvPr>
            <p:ph sz="half" idx="1"/>
          </p:nvPr>
        </p:nvSpPr>
        <p:spPr>
          <a:xfrm>
            <a:off x="1360967" y="850605"/>
            <a:ext cx="9856381" cy="5720316"/>
          </a:xfrm>
        </p:spPr>
        <p:txBody>
          <a:bodyPr/>
          <a:lstStyle/>
          <a:p>
            <a:pPr algn="l">
              <a:spcAft>
                <a:spcPts val="1500"/>
              </a:spcAft>
            </a:pPr>
            <a:r>
              <a:rPr lang="en-IN" b="1" i="0" dirty="0">
                <a:solidFill>
                  <a:srgbClr val="212121"/>
                </a:solidFill>
                <a:effectLst/>
                <a:latin typeface="-apple-system"/>
              </a:rPr>
              <a:t>Step 8:</a:t>
            </a:r>
            <a:r>
              <a:rPr lang="en-IN" b="0" i="0" dirty="0">
                <a:solidFill>
                  <a:srgbClr val="212121"/>
                </a:solidFill>
                <a:effectLst/>
                <a:latin typeface="-apple-system"/>
              </a:rPr>
              <a:t> Navigate to the </a:t>
            </a:r>
            <a:r>
              <a:rPr lang="en-IN" b="1" i="0" dirty="0">
                <a:solidFill>
                  <a:srgbClr val="212121"/>
                </a:solidFill>
                <a:effectLst/>
                <a:latin typeface="-apple-system"/>
              </a:rPr>
              <a:t>Fields</a:t>
            </a:r>
            <a:r>
              <a:rPr lang="en-IN" b="0" i="0" dirty="0">
                <a:solidFill>
                  <a:srgbClr val="212121"/>
                </a:solidFill>
                <a:effectLst/>
                <a:latin typeface="-apple-system"/>
              </a:rPr>
              <a:t> pane to view the created measure for the table</a:t>
            </a:r>
          </a:p>
          <a:p>
            <a:pPr marL="0" indent="0">
              <a:buNone/>
            </a:pPr>
            <a:r>
              <a:rPr lang="en-IN" dirty="0"/>
              <a:t/>
            </a:r>
            <a:br>
              <a:rPr lang="en-IN" dirty="0"/>
            </a:br>
            <a:endParaRPr lang="en-IN" b="0" i="0" dirty="0">
              <a:solidFill>
                <a:srgbClr val="212121"/>
              </a:solidFill>
              <a:effectLst/>
              <a:latin typeface="-apple-system"/>
            </a:endParaRPr>
          </a:p>
        </p:txBody>
      </p:sp>
      <p:pic>
        <p:nvPicPr>
          <p:cNvPr id="3" name="Picture 2">
            <a:extLst>
              <a:ext uri="{FF2B5EF4-FFF2-40B4-BE49-F238E27FC236}">
                <a16:creationId xmlns:a16="http://schemas.microsoft.com/office/drawing/2014/main" id="{5A89DF93-1D4E-7949-0439-F255072E352C}"/>
              </a:ext>
            </a:extLst>
          </p:cNvPr>
          <p:cNvPicPr>
            <a:picLocks noChangeAspect="1"/>
          </p:cNvPicPr>
          <p:nvPr/>
        </p:nvPicPr>
        <p:blipFill>
          <a:blip r:embed="rId2"/>
          <a:stretch>
            <a:fillRect/>
          </a:stretch>
        </p:blipFill>
        <p:spPr>
          <a:xfrm>
            <a:off x="3072810" y="1275907"/>
            <a:ext cx="3970928" cy="5478661"/>
          </a:xfrm>
          <a:prstGeom prst="rect">
            <a:avLst/>
          </a:prstGeom>
        </p:spPr>
      </p:pic>
    </p:spTree>
    <p:extLst>
      <p:ext uri="{BB962C8B-B14F-4D97-AF65-F5344CB8AC3E}">
        <p14:creationId xmlns:p14="http://schemas.microsoft.com/office/powerpoint/2010/main" val="156895962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96310-09DA-8A30-19A4-3D58DC950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DD1D9-57CB-5AC8-4529-BC7251AF8CF2}"/>
              </a:ext>
            </a:extLst>
          </p:cNvPr>
          <p:cNvSpPr>
            <a:spLocks noGrp="1"/>
          </p:cNvSpPr>
          <p:nvPr>
            <p:ph type="title"/>
          </p:nvPr>
        </p:nvSpPr>
        <p:spPr/>
        <p:txBody>
          <a:bodyPr>
            <a:normAutofit fontScale="90000"/>
          </a:bodyPr>
          <a:lstStyle/>
          <a:p>
            <a:pPr fontAlgn="base"/>
            <a:r>
              <a:rPr lang="en-IN" b="1" i="0" dirty="0">
                <a:solidFill>
                  <a:srgbClr val="273239"/>
                </a:solidFill>
                <a:effectLst/>
                <a:latin typeface="Nunito" pitchFamily="2" charset="0"/>
              </a:rPr>
              <a:t>Date and Time Functions </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5818BE2D-2A10-CCD3-AD29-5F1DA89ABAE4}"/>
              </a:ext>
            </a:extLst>
          </p:cNvPr>
          <p:cNvSpPr>
            <a:spLocks noGrp="1"/>
          </p:cNvSpPr>
          <p:nvPr>
            <p:ph sz="half" idx="1"/>
          </p:nvPr>
        </p:nvSpPr>
        <p:spPr>
          <a:xfrm>
            <a:off x="1371600" y="1287624"/>
            <a:ext cx="8770776" cy="5411755"/>
          </a:xfrm>
        </p:spPr>
        <p:txBody>
          <a:bodyPr>
            <a:noAutofit/>
          </a:bodyPr>
          <a:lstStyle/>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DATE: It gives the current date in the </a:t>
            </a:r>
            <a:r>
              <a:rPr lang="en-IN" dirty="0" err="1">
                <a:solidFill>
                  <a:srgbClr val="000000"/>
                </a:solidFill>
                <a:latin typeface="Verdana" panose="020B0604030504040204" pitchFamily="34" charset="0"/>
              </a:rPr>
              <a:t>DateTime</a:t>
            </a:r>
            <a:r>
              <a:rPr lang="en-IN" dirty="0">
                <a:solidFill>
                  <a:srgbClr val="000000"/>
                </a:solidFill>
                <a:latin typeface="Verdana" panose="020B0604030504040204" pitchFamily="34" charset="0"/>
              </a:rPr>
              <a:t> format.</a:t>
            </a:r>
          </a:p>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DATEDIFF: This function is used to get the difference in the number of days between two dates.</a:t>
            </a:r>
          </a:p>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DAY: Returns the day of a month as a number from 1 to 31.</a:t>
            </a:r>
          </a:p>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MONTH: Returns the month as a number from 1 to 12. 1 represents January and 12 represents December.</a:t>
            </a:r>
          </a:p>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YEAR: Returns the year from a given date. The returned value is in the range of 1900-9999.</a:t>
            </a:r>
          </a:p>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NOW: Returns the current date and time of the system.</a:t>
            </a:r>
          </a:p>
          <a:p>
            <a:pPr algn="l" fontAlgn="base">
              <a:spcAft>
                <a:spcPts val="1800"/>
              </a:spcAft>
              <a:buFont typeface="Arial" panose="020B0604020202020204" pitchFamily="34" charset="0"/>
              <a:buChar char="•"/>
            </a:pPr>
            <a:r>
              <a:rPr lang="en-IN" dirty="0">
                <a:solidFill>
                  <a:srgbClr val="000000"/>
                </a:solidFill>
                <a:latin typeface="Verdana" panose="020B0604030504040204" pitchFamily="34" charset="0"/>
              </a:rPr>
              <a:t>QUARTER: Returns the quarter number of a year from a given date.</a:t>
            </a:r>
            <a:r>
              <a:rPr lang="en-IN" sz="1400" dirty="0"/>
              <a:t/>
            </a:r>
            <a:br>
              <a:rPr lang="en-IN" sz="1400" dirty="0"/>
            </a:br>
            <a:r>
              <a:rPr lang="en-IN" sz="1400" dirty="0"/>
              <a:t/>
            </a:r>
            <a:br>
              <a:rPr lang="en-IN" sz="1400" dirty="0"/>
            </a:br>
            <a:endParaRPr lang="en-IN" sz="1400" dirty="0"/>
          </a:p>
        </p:txBody>
      </p:sp>
    </p:spTree>
    <p:extLst>
      <p:ext uri="{BB962C8B-B14F-4D97-AF65-F5344CB8AC3E}">
        <p14:creationId xmlns:p14="http://schemas.microsoft.com/office/powerpoint/2010/main" val="287999254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D6E6-F6A6-BA77-2FC7-4D1AB335B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BCDA3-ECDF-46AC-0918-FA1A4AF7D079}"/>
              </a:ext>
            </a:extLst>
          </p:cNvPr>
          <p:cNvSpPr>
            <a:spLocks noGrp="1"/>
          </p:cNvSpPr>
          <p:nvPr>
            <p:ph type="title"/>
          </p:nvPr>
        </p:nvSpPr>
        <p:spPr/>
        <p:txBody>
          <a:bodyPr>
            <a:normAutofit fontScale="90000"/>
          </a:bodyPr>
          <a:lstStyle/>
          <a:p>
            <a:pPr algn="l" fontAlgn="base"/>
            <a:r>
              <a:rPr lang="en-IN" b="1" i="0" dirty="0">
                <a:solidFill>
                  <a:srgbClr val="273239"/>
                </a:solidFill>
                <a:effectLst/>
                <a:latin typeface="Nunito" pitchFamily="2" charset="0"/>
              </a:rPr>
              <a:t>Information Functions</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AD4D169D-CCB4-0A99-683F-91F1DA565999}"/>
              </a:ext>
            </a:extLst>
          </p:cNvPr>
          <p:cNvSpPr>
            <a:spLocks noGrp="1"/>
          </p:cNvSpPr>
          <p:nvPr>
            <p:ph sz="half" idx="1"/>
          </p:nvPr>
        </p:nvSpPr>
        <p:spPr>
          <a:xfrm>
            <a:off x="1371600" y="1287624"/>
            <a:ext cx="9448800" cy="5411755"/>
          </a:xfrm>
        </p:spPr>
        <p:txBody>
          <a:bodyPr>
            <a:noAutofit/>
          </a:bodyPr>
          <a:lstStyle/>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ISBLANK: Returns the value as True and False depending upon if the value is blank or not.</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ISEMPTY: Returns True if a table is empty and False if the table contains data.</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ISEVEN: Returns True if a number is even else False.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ISODD: Returns True if a number is Odd, else False.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ISLOGICAL: Returns True if a value is </a:t>
            </a:r>
            <a:r>
              <a:rPr lang="en-IN" b="0" i="0" dirty="0" err="1">
                <a:solidFill>
                  <a:srgbClr val="273239"/>
                </a:solidFill>
                <a:effectLst/>
                <a:latin typeface="Nunito" pitchFamily="2" charset="0"/>
              </a:rPr>
              <a:t>boolean</a:t>
            </a:r>
            <a:r>
              <a:rPr lang="en-IN" b="0" i="0" dirty="0">
                <a:solidFill>
                  <a:srgbClr val="273239"/>
                </a:solidFill>
                <a:effectLst/>
                <a:latin typeface="Nunito" pitchFamily="2" charset="0"/>
              </a:rPr>
              <a:t>, else False.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ISTEXT: Returns True if the value is text, else False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USERNAME: Returns the domain name and username from the login credentials used to log in to the system.</a:t>
            </a:r>
            <a:r>
              <a:rPr lang="en-IN" sz="1400" dirty="0"/>
              <a:t/>
            </a:r>
            <a:br>
              <a:rPr lang="en-IN" sz="1400" dirty="0"/>
            </a:br>
            <a:r>
              <a:rPr lang="en-IN" sz="1400" dirty="0"/>
              <a:t/>
            </a:r>
            <a:br>
              <a:rPr lang="en-IN" sz="1400" dirty="0"/>
            </a:br>
            <a:endParaRPr lang="en-IN" sz="1400" dirty="0"/>
          </a:p>
        </p:txBody>
      </p:sp>
    </p:spTree>
    <p:extLst>
      <p:ext uri="{BB962C8B-B14F-4D97-AF65-F5344CB8AC3E}">
        <p14:creationId xmlns:p14="http://schemas.microsoft.com/office/powerpoint/2010/main" val="251394837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AD29F-171E-1A8D-0647-988671895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B86F7-A958-4AB5-C656-EE065A4EAE93}"/>
              </a:ext>
            </a:extLst>
          </p:cNvPr>
          <p:cNvSpPr>
            <a:spLocks noGrp="1"/>
          </p:cNvSpPr>
          <p:nvPr>
            <p:ph type="title"/>
          </p:nvPr>
        </p:nvSpPr>
        <p:spPr/>
        <p:txBody>
          <a:bodyPr>
            <a:normAutofit fontScale="90000"/>
          </a:bodyPr>
          <a:lstStyle/>
          <a:p>
            <a:pPr algn="l" fontAlgn="base"/>
            <a:r>
              <a:rPr lang="en-IN" b="1" i="0" dirty="0">
                <a:solidFill>
                  <a:srgbClr val="273239"/>
                </a:solidFill>
                <a:effectLst/>
                <a:latin typeface="Nunito" pitchFamily="2" charset="0"/>
              </a:rPr>
              <a:t>Logical Functions</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CF48B649-605E-90F0-441D-936C58BECEED}"/>
              </a:ext>
            </a:extLst>
          </p:cNvPr>
          <p:cNvSpPr>
            <a:spLocks noGrp="1"/>
          </p:cNvSpPr>
          <p:nvPr>
            <p:ph sz="half" idx="1"/>
          </p:nvPr>
        </p:nvSpPr>
        <p:spPr>
          <a:xfrm>
            <a:off x="1447800" y="1632857"/>
            <a:ext cx="9448800" cy="3396343"/>
          </a:xfrm>
        </p:spPr>
        <p:txBody>
          <a:bodyPr>
            <a:noAutofit/>
          </a:bodyPr>
          <a:lstStyle/>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AND: Return True if both the expressions supplied evaluate to True.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IF: Checks whether the expression supplied to it evaluates to True or False and then executes the statements depending upon the result.</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NOT: Reverses the </a:t>
            </a:r>
            <a:r>
              <a:rPr lang="en-IN" b="0" i="0" dirty="0" err="1">
                <a:solidFill>
                  <a:srgbClr val="273239"/>
                </a:solidFill>
                <a:effectLst/>
                <a:latin typeface="Nunito" pitchFamily="2" charset="0"/>
              </a:rPr>
              <a:t>boolean</a:t>
            </a:r>
            <a:r>
              <a:rPr lang="en-IN" b="0" i="0" dirty="0">
                <a:solidFill>
                  <a:srgbClr val="273239"/>
                </a:solidFill>
                <a:effectLst/>
                <a:latin typeface="Nunito" pitchFamily="2" charset="0"/>
              </a:rPr>
              <a:t> value supplied to it i.e. True is converted to False and False is converted to True.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OR: Returns true if any one of the expressions supplied to it evaluates to True.</a:t>
            </a:r>
          </a:p>
          <a:p>
            <a:pPr marL="0" indent="0">
              <a:buNone/>
            </a:pPr>
            <a:r>
              <a:rPr lang="en-IN" sz="1400" dirty="0"/>
              <a:t/>
            </a:r>
            <a:br>
              <a:rPr lang="en-IN" sz="1400" dirty="0"/>
            </a:br>
            <a:r>
              <a:rPr lang="en-IN" sz="1400" dirty="0"/>
              <a:t/>
            </a:r>
            <a:br>
              <a:rPr lang="en-IN" sz="1400" dirty="0"/>
            </a:br>
            <a:endParaRPr lang="en-IN" sz="1400" dirty="0"/>
          </a:p>
        </p:txBody>
      </p:sp>
    </p:spTree>
    <p:extLst>
      <p:ext uri="{BB962C8B-B14F-4D97-AF65-F5344CB8AC3E}">
        <p14:creationId xmlns:p14="http://schemas.microsoft.com/office/powerpoint/2010/main" val="293243223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33530-9FFA-2FEE-50DC-FF0CF8B49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22F10-719D-1719-D5A7-FC2947E55A3C}"/>
              </a:ext>
            </a:extLst>
          </p:cNvPr>
          <p:cNvSpPr>
            <a:spLocks noGrp="1"/>
          </p:cNvSpPr>
          <p:nvPr>
            <p:ph type="title"/>
          </p:nvPr>
        </p:nvSpPr>
        <p:spPr/>
        <p:txBody>
          <a:bodyPr>
            <a:normAutofit fontScale="90000"/>
          </a:bodyPr>
          <a:lstStyle/>
          <a:p>
            <a:pPr algn="l" fontAlgn="base"/>
            <a:r>
              <a:rPr lang="en-IN" b="1" i="0" dirty="0">
                <a:solidFill>
                  <a:srgbClr val="273239"/>
                </a:solidFill>
                <a:effectLst/>
                <a:latin typeface="Nunito" pitchFamily="2" charset="0"/>
              </a:rPr>
              <a:t>Mathematical and Trigonometric Functions:</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81FF3B99-70C2-EF99-1039-2F191AF4C7A3}"/>
              </a:ext>
            </a:extLst>
          </p:cNvPr>
          <p:cNvSpPr>
            <a:spLocks noGrp="1"/>
          </p:cNvSpPr>
          <p:nvPr>
            <p:ph sz="half" idx="1"/>
          </p:nvPr>
        </p:nvSpPr>
        <p:spPr>
          <a:xfrm>
            <a:off x="1447800" y="2034073"/>
            <a:ext cx="9448800" cy="4665307"/>
          </a:xfrm>
        </p:spPr>
        <p:txBody>
          <a:bodyPr>
            <a:noAutofit/>
          </a:bodyPr>
          <a:lstStyle/>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SIN: It gives the sine of the value supplied to it.</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COS: It returns the cosine of a given value.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TAN: It returns the tangent of a given value.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COSEC: It gives the cosecant of a value </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SEC: It returns the secant of a value.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COT: It returns the cotangent of a value </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ROUND: It takes 2 arguments. First is the number to be rounded off and second is the number of digits to which the number should be rounded off.</a:t>
            </a:r>
          </a:p>
          <a:p>
            <a:pPr algn="l" fontAlgn="base">
              <a:spcAft>
                <a:spcPts val="1800"/>
              </a:spcAft>
              <a:buFont typeface="Arial" panose="020B0604020202020204" pitchFamily="34" charset="0"/>
              <a:buChar char="•"/>
            </a:pPr>
            <a:endParaRPr lang="en-IN" b="0" i="0" dirty="0">
              <a:solidFill>
                <a:srgbClr val="273239"/>
              </a:solidFill>
              <a:effectLst/>
              <a:latin typeface="Nunito" pitchFamily="2" charset="0"/>
            </a:endParaRPr>
          </a:p>
          <a:p>
            <a:pPr marL="0" indent="0">
              <a:buNone/>
            </a:pPr>
            <a:r>
              <a:rPr lang="en-IN" sz="1400" dirty="0"/>
              <a:t/>
            </a:r>
            <a:br>
              <a:rPr lang="en-IN" sz="1400" dirty="0"/>
            </a:br>
            <a:r>
              <a:rPr lang="en-IN" sz="1400" dirty="0"/>
              <a:t/>
            </a:r>
            <a:br>
              <a:rPr lang="en-IN" sz="1400" dirty="0"/>
            </a:br>
            <a:endParaRPr lang="en-IN" sz="1400" dirty="0"/>
          </a:p>
        </p:txBody>
      </p:sp>
    </p:spTree>
    <p:extLst>
      <p:ext uri="{BB962C8B-B14F-4D97-AF65-F5344CB8AC3E}">
        <p14:creationId xmlns:p14="http://schemas.microsoft.com/office/powerpoint/2010/main" val="293520629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B8111-0471-CB9A-C51F-0E5F84968CF2}"/>
              </a:ext>
            </a:extLst>
          </p:cNvPr>
          <p:cNvSpPr>
            <a:spLocks noGrp="1"/>
          </p:cNvSpPr>
          <p:nvPr>
            <p:ph type="title"/>
          </p:nvPr>
        </p:nvSpPr>
        <p:spPr/>
        <p:txBody>
          <a:bodyPr>
            <a:normAutofit fontScale="90000"/>
          </a:bodyPr>
          <a:lstStyle/>
          <a:p>
            <a:pPr algn="l" fontAlgn="base"/>
            <a:r>
              <a:rPr lang="en-IN" b="1" i="0" dirty="0">
                <a:solidFill>
                  <a:srgbClr val="273239"/>
                </a:solidFill>
                <a:effectLst/>
                <a:latin typeface="Nunito" pitchFamily="2" charset="0"/>
              </a:rPr>
              <a:t>Text Functions</a:t>
            </a:r>
            <a:br>
              <a:rPr lang="en-IN" b="1" i="0" dirty="0">
                <a:solidFill>
                  <a:srgbClr val="273239"/>
                </a:solidFill>
                <a:effectLst/>
                <a:latin typeface="Nunito" pitchFamily="2"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EF28DD80-EDC6-399B-3878-5C4EB09AA0A0}"/>
              </a:ext>
            </a:extLst>
          </p:cNvPr>
          <p:cNvSpPr>
            <a:spLocks noGrp="1"/>
          </p:cNvSpPr>
          <p:nvPr>
            <p:ph sz="half" idx="1"/>
          </p:nvPr>
        </p:nvSpPr>
        <p:spPr>
          <a:xfrm>
            <a:off x="1371600" y="1287624"/>
            <a:ext cx="9941442" cy="5411755"/>
          </a:xfrm>
        </p:spPr>
        <p:txBody>
          <a:bodyPr>
            <a:noAutofit/>
          </a:bodyPr>
          <a:lstStyle/>
          <a:p>
            <a:pPr algn="l" fontAlgn="base">
              <a:spcAft>
                <a:spcPts val="750"/>
              </a:spcAft>
            </a:pPr>
            <a:r>
              <a:rPr lang="en-IN" b="0" i="0" dirty="0">
                <a:solidFill>
                  <a:srgbClr val="273239"/>
                </a:solidFill>
                <a:effectLst/>
                <a:latin typeface="Nunito" pitchFamily="2" charset="0"/>
              </a:rPr>
              <a:t>These functions are used to perform operations on the text and strings. Some of these are: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CONCATENATE: This function is used to join two strings or words.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EXACT: It compares two strings and returns True if they are exactly the same.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LEN: It is used to find the length of the string.</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LOWER: Converts a string to lowercase.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UPPER: Converts a string to upper case.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TRIM: This function removes all the whitespaces from the beginning and starting of a given string.</a:t>
            </a:r>
          </a:p>
          <a:p>
            <a:pPr marL="0" indent="0">
              <a:buNone/>
            </a:pPr>
            <a:endParaRPr lang="en-IN" sz="1400" dirty="0"/>
          </a:p>
        </p:txBody>
      </p:sp>
    </p:spTree>
    <p:extLst>
      <p:ext uri="{BB962C8B-B14F-4D97-AF65-F5344CB8AC3E}">
        <p14:creationId xmlns:p14="http://schemas.microsoft.com/office/powerpoint/2010/main" val="105268008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B9750-D187-2D2E-6C6D-91F3A25C1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EEC1D-6A5F-B8D1-322E-2E5CEB1C7ADA}"/>
              </a:ext>
            </a:extLst>
          </p:cNvPr>
          <p:cNvSpPr>
            <a:spLocks noGrp="1"/>
          </p:cNvSpPr>
          <p:nvPr>
            <p:ph type="title"/>
          </p:nvPr>
        </p:nvSpPr>
        <p:spPr/>
        <p:txBody>
          <a:bodyPr>
            <a:normAutofit/>
          </a:bodyPr>
          <a:lstStyle/>
          <a:p>
            <a:pPr algn="l" fontAlgn="base"/>
            <a:r>
              <a:rPr lang="en-IN" b="1" i="0" dirty="0">
                <a:solidFill>
                  <a:srgbClr val="273239"/>
                </a:solidFill>
                <a:effectLst/>
                <a:latin typeface="Nunito" pitchFamily="2" charset="0"/>
              </a:rPr>
              <a:t>Statistical Functions</a:t>
            </a:r>
            <a:endParaRPr lang="en-IN" dirty="0"/>
          </a:p>
        </p:txBody>
      </p:sp>
      <p:sp>
        <p:nvSpPr>
          <p:cNvPr id="3" name="Content Placeholder 2">
            <a:extLst>
              <a:ext uri="{FF2B5EF4-FFF2-40B4-BE49-F238E27FC236}">
                <a16:creationId xmlns:a16="http://schemas.microsoft.com/office/drawing/2014/main" id="{9C83D0E9-BB3E-DEDA-4E16-3F6C4F2622C1}"/>
              </a:ext>
            </a:extLst>
          </p:cNvPr>
          <p:cNvSpPr>
            <a:spLocks noGrp="1"/>
          </p:cNvSpPr>
          <p:nvPr>
            <p:ph sz="half" idx="1"/>
          </p:nvPr>
        </p:nvSpPr>
        <p:spPr>
          <a:xfrm>
            <a:off x="1371600" y="1278293"/>
            <a:ext cx="9448800" cy="5579707"/>
          </a:xfrm>
        </p:spPr>
        <p:txBody>
          <a:bodyPr>
            <a:noAutofit/>
          </a:bodyPr>
          <a:lstStyle/>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COMBIN: It is used to calculate the number of combinations for a given number without repetition.</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COMBINA: It gives the number of combinations for a given value with repetition.</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GEOMEAN: Returns the geometric mean of column values.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MEDIAN: Returns the median value in a column </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PERMUT: This function gives the number of permutations for given values </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STDEV.P: It is used to calculate the standard deviation of the complete population. </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STDEV.S: It is used to calculate the standard deviation of the sample population.</a:t>
            </a:r>
          </a:p>
          <a:p>
            <a:pPr marL="0" indent="0">
              <a:buNone/>
            </a:pPr>
            <a:endParaRPr lang="en-IN" b="0" i="0" dirty="0">
              <a:solidFill>
                <a:srgbClr val="273239"/>
              </a:solidFill>
              <a:effectLst/>
              <a:latin typeface="Nunito" pitchFamily="2" charset="0"/>
            </a:endParaRPr>
          </a:p>
          <a:p>
            <a:pPr algn="l" fontAlgn="base">
              <a:spcAft>
                <a:spcPts val="1800"/>
              </a:spcAft>
              <a:buFont typeface="Arial" panose="020B0604020202020204" pitchFamily="34" charset="0"/>
              <a:buChar char="•"/>
            </a:pPr>
            <a:endParaRPr lang="en-IN" b="0" i="0" dirty="0">
              <a:solidFill>
                <a:srgbClr val="273239"/>
              </a:solidFill>
              <a:effectLst/>
              <a:latin typeface="Nunito" pitchFamily="2" charset="0"/>
            </a:endParaRPr>
          </a:p>
          <a:p>
            <a:pPr marL="0" indent="0">
              <a:buNone/>
            </a:pPr>
            <a:r>
              <a:rPr lang="en-IN" sz="1400" dirty="0"/>
              <a:t/>
            </a:r>
            <a:br>
              <a:rPr lang="en-IN" sz="1400" dirty="0"/>
            </a:br>
            <a:r>
              <a:rPr lang="en-IN" sz="1400" dirty="0"/>
              <a:t/>
            </a:r>
            <a:br>
              <a:rPr lang="en-IN" sz="1400" dirty="0"/>
            </a:br>
            <a:endParaRPr lang="en-IN" sz="1400" dirty="0"/>
          </a:p>
        </p:txBody>
      </p:sp>
    </p:spTree>
    <p:extLst>
      <p:ext uri="{BB962C8B-B14F-4D97-AF65-F5344CB8AC3E}">
        <p14:creationId xmlns:p14="http://schemas.microsoft.com/office/powerpoint/2010/main" val="571903477"/>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7334-158F-ADF4-B1D9-5CA1CA0FB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955AD-2A44-7F8C-07C6-D26522B65FA1}"/>
              </a:ext>
            </a:extLst>
          </p:cNvPr>
          <p:cNvSpPr>
            <a:spLocks noGrp="1"/>
          </p:cNvSpPr>
          <p:nvPr>
            <p:ph type="title"/>
          </p:nvPr>
        </p:nvSpPr>
        <p:spPr/>
        <p:txBody>
          <a:bodyPr>
            <a:normAutofit/>
          </a:bodyPr>
          <a:lstStyle/>
          <a:p>
            <a:pPr algn="l" fontAlgn="base"/>
            <a:r>
              <a:rPr lang="en-IN" b="1" i="0" dirty="0">
                <a:solidFill>
                  <a:srgbClr val="273239"/>
                </a:solidFill>
                <a:effectLst/>
                <a:latin typeface="Nunito" pitchFamily="2" charset="0"/>
              </a:rPr>
              <a:t>Table Manipulation Functions</a:t>
            </a:r>
          </a:p>
        </p:txBody>
      </p:sp>
      <p:sp>
        <p:nvSpPr>
          <p:cNvPr id="3" name="Content Placeholder 2">
            <a:extLst>
              <a:ext uri="{FF2B5EF4-FFF2-40B4-BE49-F238E27FC236}">
                <a16:creationId xmlns:a16="http://schemas.microsoft.com/office/drawing/2014/main" id="{B807D9DE-B886-3348-7268-EF7FD6FA45E1}"/>
              </a:ext>
            </a:extLst>
          </p:cNvPr>
          <p:cNvSpPr>
            <a:spLocks noGrp="1"/>
          </p:cNvSpPr>
          <p:nvPr>
            <p:ph sz="half" idx="1"/>
          </p:nvPr>
        </p:nvSpPr>
        <p:spPr>
          <a:xfrm>
            <a:off x="1371600" y="1278293"/>
            <a:ext cx="9448800" cy="5579707"/>
          </a:xfrm>
        </p:spPr>
        <p:txBody>
          <a:bodyPr>
            <a:noAutofit/>
          </a:bodyPr>
          <a:lstStyle/>
          <a:p>
            <a:pPr algn="l" fontAlgn="base">
              <a:spcAft>
                <a:spcPts val="750"/>
              </a:spcAft>
            </a:pPr>
            <a:r>
              <a:rPr lang="en-IN" b="0" i="0" dirty="0">
                <a:solidFill>
                  <a:srgbClr val="273239"/>
                </a:solidFill>
                <a:effectLst/>
                <a:latin typeface="Nunito" pitchFamily="2" charset="0"/>
              </a:rPr>
              <a:t>These functions are used to perform manipulation on the tables such as filter, joins outer joins, etc. Some of these are: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CROSSJOIN: Returns the cartesian product of two tables that contains rows from both tables.</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DISTINCT table: This function returns a table with unique values. Rows with duplicate values are eliminated from the table.</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GROUPBY: It is similar to the GROUPBY function in SQL </a:t>
            </a:r>
          </a:p>
          <a:p>
            <a:pPr algn="l" fontAlgn="base">
              <a:spcAft>
                <a:spcPts val="1800"/>
              </a:spcAft>
              <a:buFont typeface="Arial" panose="020B0604020202020204" pitchFamily="34" charset="0"/>
              <a:buChar char="•"/>
            </a:pPr>
            <a:r>
              <a:rPr lang="en-IN" b="0" i="0" dirty="0">
                <a:solidFill>
                  <a:srgbClr val="273239"/>
                </a:solidFill>
                <a:effectLst/>
                <a:latin typeface="Nunito" pitchFamily="2" charset="0"/>
              </a:rPr>
              <a:t>INTERSECT: This function returns the intersection of two tables without removing the duplicates.</a:t>
            </a:r>
          </a:p>
          <a:p>
            <a:pPr marL="0" indent="0">
              <a:buNone/>
            </a:pPr>
            <a:endParaRPr lang="en-IN" b="0" i="0" dirty="0">
              <a:solidFill>
                <a:srgbClr val="273239"/>
              </a:solidFill>
              <a:effectLst/>
              <a:latin typeface="Nunito" pitchFamily="2" charset="0"/>
            </a:endParaRPr>
          </a:p>
          <a:p>
            <a:pPr algn="l" fontAlgn="base">
              <a:spcAft>
                <a:spcPts val="1800"/>
              </a:spcAft>
              <a:buFont typeface="Arial" panose="020B0604020202020204" pitchFamily="34" charset="0"/>
              <a:buChar char="•"/>
            </a:pPr>
            <a:endParaRPr lang="en-IN" b="0" i="0" dirty="0">
              <a:solidFill>
                <a:srgbClr val="273239"/>
              </a:solidFill>
              <a:effectLst/>
              <a:latin typeface="Nunito" pitchFamily="2" charset="0"/>
            </a:endParaRPr>
          </a:p>
          <a:p>
            <a:pPr marL="0" indent="0">
              <a:buNone/>
            </a:pPr>
            <a:r>
              <a:rPr lang="en-IN" sz="1400" dirty="0"/>
              <a:t/>
            </a:r>
            <a:br>
              <a:rPr lang="en-IN" sz="1400" dirty="0"/>
            </a:br>
            <a:r>
              <a:rPr lang="en-IN" sz="1400" dirty="0"/>
              <a:t/>
            </a:r>
            <a:br>
              <a:rPr lang="en-IN" sz="1400" dirty="0"/>
            </a:br>
            <a:endParaRPr lang="en-IN" sz="1400" dirty="0"/>
          </a:p>
        </p:txBody>
      </p:sp>
    </p:spTree>
    <p:extLst>
      <p:ext uri="{BB962C8B-B14F-4D97-AF65-F5344CB8AC3E}">
        <p14:creationId xmlns:p14="http://schemas.microsoft.com/office/powerpoint/2010/main" val="1348534589"/>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39E2-129A-FC7C-64D1-7A156DF68A03}"/>
              </a:ext>
            </a:extLst>
          </p:cNvPr>
          <p:cNvSpPr>
            <a:spLocks noGrp="1"/>
          </p:cNvSpPr>
          <p:nvPr>
            <p:ph type="title"/>
          </p:nvPr>
        </p:nvSpPr>
        <p:spPr>
          <a:xfrm>
            <a:off x="1295400" y="-40690"/>
            <a:ext cx="9601200" cy="1485900"/>
          </a:xfrm>
        </p:spPr>
        <p:txBody>
          <a:bodyPr/>
          <a:lstStyle/>
          <a:p>
            <a:r>
              <a:rPr lang="en-IN" dirty="0"/>
              <a:t>Example Activity</a:t>
            </a:r>
          </a:p>
        </p:txBody>
      </p:sp>
      <p:sp>
        <p:nvSpPr>
          <p:cNvPr id="5" name="Rectangle 1">
            <a:extLst>
              <a:ext uri="{FF2B5EF4-FFF2-40B4-BE49-F238E27FC236}">
                <a16:creationId xmlns:a16="http://schemas.microsoft.com/office/drawing/2014/main" id="{9F248885-F80B-EA36-8B8A-3F7A30A2EFA0}"/>
              </a:ext>
            </a:extLst>
          </p:cNvPr>
          <p:cNvSpPr>
            <a:spLocks noGrp="1" noChangeArrowheads="1"/>
          </p:cNvSpPr>
          <p:nvPr>
            <p:ph sz="half" idx="1"/>
          </p:nvPr>
        </p:nvSpPr>
        <p:spPr bwMode="auto">
          <a:xfrm>
            <a:off x="1295400" y="721949"/>
            <a:ext cx="108966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PC2.2: Use DAX Formulas for Calculations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Create a Measure for Total Revenue</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Go to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Click on </a:t>
            </a:r>
            <a:r>
              <a:rPr kumimoji="0" lang="en-US" altLang="en-US" sz="1600" b="1" i="0" u="none" strike="noStrike" cap="none" normalizeH="0" baseline="0" dirty="0">
                <a:ln>
                  <a:noFill/>
                </a:ln>
                <a:solidFill>
                  <a:schemeClr val="tx1"/>
                </a:solidFill>
                <a:effectLst/>
                <a:latin typeface="Arial" panose="020B0604020202020204" pitchFamily="34" charset="0"/>
              </a:rPr>
              <a:t>New Measure</a:t>
            </a:r>
            <a:r>
              <a:rPr kumimoji="0" lang="en-US" altLang="en-US" sz="1600" b="0" i="0" u="none" strike="noStrike" cap="none" normalizeH="0" baseline="0" dirty="0">
                <a:ln>
                  <a:noFill/>
                </a:ln>
                <a:solidFill>
                  <a:schemeClr val="tx1"/>
                </a:solidFill>
                <a:effectLst/>
                <a:latin typeface="Arial" panose="020B0604020202020204" pitchFamily="34" charset="0"/>
              </a:rPr>
              <a:t> in the ribbon.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Enter the following formula:</a:t>
            </a: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Total Revenue = SUM(Sales[</a:t>
            </a:r>
            <a:r>
              <a:rPr kumimoji="0" lang="en-US" altLang="en-US" sz="1600" b="0" i="0" u="none" strike="noStrike" cap="none" normalizeH="0" baseline="0" dirty="0" err="1">
                <a:ln>
                  <a:noFill/>
                </a:ln>
                <a:solidFill>
                  <a:schemeClr val="tx1"/>
                </a:solidFill>
                <a:effectLst/>
                <a:latin typeface="Arial Unicode MS"/>
              </a:rPr>
              <a:t>TotalSaleAmount</a:t>
            </a:r>
            <a:r>
              <a:rPr kumimoji="0" lang="en-US" altLang="en-US" sz="1600" b="0" i="0" u="none" strike="noStrike" cap="none" normalizeH="0" baseline="0" dirty="0">
                <a:ln>
                  <a:noFill/>
                </a:ln>
                <a:solidFill>
                  <a:schemeClr val="tx1"/>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Create a Measure for Average Discount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Click on </a:t>
            </a:r>
            <a:r>
              <a:rPr kumimoji="0" lang="en-US" altLang="en-US" sz="1600" b="1" i="0" u="none" strike="noStrike" cap="none" normalizeH="0" baseline="0" dirty="0">
                <a:ln>
                  <a:noFill/>
                </a:ln>
                <a:solidFill>
                  <a:schemeClr val="tx1"/>
                </a:solidFill>
                <a:effectLst/>
                <a:latin typeface="Arial" panose="020B0604020202020204" pitchFamily="34" charset="0"/>
              </a:rPr>
              <a:t>New Measure</a:t>
            </a:r>
            <a:r>
              <a:rPr kumimoji="0" lang="en-US" altLang="en-US" sz="1600" b="0" i="0" u="none" strike="noStrike" cap="none" normalizeH="0" baseline="0" dirty="0">
                <a:ln>
                  <a:noFill/>
                </a:ln>
                <a:solidFill>
                  <a:schemeClr val="tx1"/>
                </a:solidFill>
                <a:effectLst/>
                <a:latin typeface="Arial" panose="020B0604020202020204" pitchFamily="34" charset="0"/>
              </a:rPr>
              <a:t> in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Enter the formula:</a:t>
            </a: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Average Discount = AVERAGE(Sales[Discount])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Create a Measure for Profit Margin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Click on </a:t>
            </a:r>
            <a:r>
              <a:rPr kumimoji="0" lang="en-US" altLang="en-US" sz="1600" b="1" i="0" u="none" strike="noStrike" cap="none" normalizeH="0" baseline="0" dirty="0">
                <a:ln>
                  <a:noFill/>
                </a:ln>
                <a:solidFill>
                  <a:schemeClr val="tx1"/>
                </a:solidFill>
                <a:effectLst/>
                <a:latin typeface="Arial" panose="020B0604020202020204" pitchFamily="34" charset="0"/>
              </a:rPr>
              <a:t>New Measure</a:t>
            </a:r>
            <a:r>
              <a:rPr kumimoji="0" lang="en-US" altLang="en-US" sz="1600" b="0" i="0" u="none" strike="noStrike" cap="none" normalizeH="0" baseline="0" dirty="0">
                <a:ln>
                  <a:noFill/>
                </a:ln>
                <a:solidFill>
                  <a:schemeClr val="tx1"/>
                </a:solidFill>
                <a:effectLst/>
                <a:latin typeface="Arial" panose="020B0604020202020204" pitchFamily="34" charset="0"/>
              </a:rPr>
              <a:t> in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Enter the formula:</a:t>
            </a: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Unicode MS"/>
              </a:rPr>
              <a:t>Profit Margin = DIVIDE( [Total Revenue] - SUMX(Sales, Sales[Quantity] * RELATED(Products[</a:t>
            </a:r>
            <a:r>
              <a:rPr kumimoji="0" lang="en-US" altLang="en-US" sz="1600" b="0" i="0" u="none" strike="noStrike" cap="none" normalizeH="0" baseline="0" dirty="0" err="1">
                <a:ln>
                  <a:noFill/>
                </a:ln>
                <a:solidFill>
                  <a:schemeClr val="tx1"/>
                </a:solidFill>
                <a:effectLst/>
                <a:latin typeface="Arial Unicode MS"/>
              </a:rPr>
              <a:t>UnitCost</a:t>
            </a:r>
            <a:r>
              <a:rPr kumimoji="0" lang="en-US" altLang="en-US" sz="1600" b="0" i="0" u="none" strike="noStrike" cap="none" normalizeH="0" baseline="0" dirty="0">
                <a:ln>
                  <a:noFill/>
                </a:ln>
                <a:solidFill>
                  <a:schemeClr val="tx1"/>
                </a:solidFill>
                <a:effectLst/>
                <a:latin typeface="Arial Unicode MS"/>
              </a:rPr>
              <a:t>])), [Total Revenue] )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Explanation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SUMX</a:t>
            </a:r>
            <a:r>
              <a:rPr kumimoji="0" lang="en-US" altLang="en-US" sz="1600" b="0" i="0" u="none" strike="noStrike" cap="none" normalizeH="0" baseline="0" dirty="0">
                <a:ln>
                  <a:noFill/>
                </a:ln>
                <a:solidFill>
                  <a:schemeClr val="tx1"/>
                </a:solidFill>
                <a:effectLst/>
              </a:rPr>
              <a:t>: Calculates the row-by-row multiplication of </a:t>
            </a:r>
            <a:r>
              <a:rPr kumimoji="0" lang="en-US" altLang="en-US" sz="1600" b="0" i="0" u="none" strike="noStrike" cap="none" normalizeH="0" baseline="0" dirty="0">
                <a:ln>
                  <a:noFill/>
                </a:ln>
                <a:solidFill>
                  <a:schemeClr val="tx1"/>
                </a:solidFill>
                <a:effectLst/>
                <a:latin typeface="Arial Unicode MS"/>
              </a:rPr>
              <a:t>Quantity</a:t>
            </a:r>
            <a:r>
              <a:rPr kumimoji="0" lang="en-US" altLang="en-US" sz="1600" b="0" i="0" u="none" strike="noStrike" cap="none" normalizeH="0" baseline="0" dirty="0">
                <a:ln>
                  <a:noFill/>
                </a:ln>
                <a:solidFill>
                  <a:schemeClr val="tx1"/>
                </a:solidFill>
                <a:effectLst/>
              </a:rPr>
              <a:t> and </a:t>
            </a:r>
            <a:r>
              <a:rPr kumimoji="0" lang="en-US" altLang="en-US" sz="1600" b="0" i="0" u="none" strike="noStrike" cap="none" normalizeH="0" baseline="0" dirty="0" err="1">
                <a:ln>
                  <a:noFill/>
                </a:ln>
                <a:solidFill>
                  <a:schemeClr val="tx1"/>
                </a:solidFill>
                <a:effectLst/>
                <a:latin typeface="Arial Unicode MS"/>
              </a:rPr>
              <a:t>UnitCost</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Products</a:t>
            </a:r>
            <a:r>
              <a:rPr kumimoji="0" lang="en-US" altLang="en-US" sz="1600" b="0" i="0" u="none" strike="noStrike" cap="none" normalizeH="0" baseline="0" dirty="0">
                <a:ln>
                  <a:noFill/>
                </a:ln>
                <a:solidFill>
                  <a:schemeClr val="tx1"/>
                </a:solidFill>
                <a:effectLst/>
              </a:rPr>
              <a:t> table using the </a:t>
            </a:r>
            <a:r>
              <a:rPr kumimoji="0" lang="en-US" altLang="en-US" sz="1600" b="0" i="0" u="none" strike="noStrike" cap="none" normalizeH="0" baseline="0" dirty="0">
                <a:ln>
                  <a:noFill/>
                </a:ln>
                <a:solidFill>
                  <a:schemeClr val="tx1"/>
                </a:solidFill>
                <a:effectLst/>
                <a:latin typeface="Arial Unicode MS"/>
              </a:rPr>
              <a:t>RELATED</a:t>
            </a:r>
            <a:r>
              <a:rPr kumimoji="0" lang="en-US" altLang="en-US" sz="1600" b="0" i="0" u="none" strike="noStrike" cap="none" normalizeH="0" baseline="0" dirty="0">
                <a:ln>
                  <a:noFill/>
                </a:ln>
                <a:solidFill>
                  <a:schemeClr val="tx1"/>
                </a:solidFill>
                <a:effectLst/>
              </a:rPr>
              <a:t> function.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Unicode MS"/>
              </a:rPr>
              <a:t>DIVIDE</a:t>
            </a:r>
            <a:r>
              <a:rPr kumimoji="0" lang="en-US" altLang="en-US" sz="1600" b="0" i="0" u="none" strike="noStrike" cap="none" normalizeH="0" baseline="0" dirty="0">
                <a:ln>
                  <a:noFill/>
                </a:ln>
                <a:solidFill>
                  <a:schemeClr val="tx1"/>
                </a:solidFill>
                <a:effectLst/>
              </a:rPr>
              <a:t>: Ensures safe division, handling cases where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might be zero.</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921861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F2980-A6CE-350B-36E5-459F4B256517}"/>
              </a:ext>
            </a:extLst>
          </p:cNvPr>
          <p:cNvSpPr>
            <a:spLocks noGrp="1"/>
          </p:cNvSpPr>
          <p:nvPr>
            <p:ph type="title"/>
          </p:nvPr>
        </p:nvSpPr>
        <p:spPr/>
        <p:txBody>
          <a:bodyPr/>
          <a:lstStyle/>
          <a:p>
            <a:r>
              <a:rPr lang="en-IN" dirty="0"/>
              <a:t>Activity</a:t>
            </a:r>
          </a:p>
        </p:txBody>
      </p:sp>
      <p:sp>
        <p:nvSpPr>
          <p:cNvPr id="3" name="Content Placeholder 2">
            <a:extLst>
              <a:ext uri="{FF2B5EF4-FFF2-40B4-BE49-F238E27FC236}">
                <a16:creationId xmlns:a16="http://schemas.microsoft.com/office/drawing/2014/main" id="{0CD9A64C-B97D-A31E-9F2E-1E9F5551ACCA}"/>
              </a:ext>
            </a:extLst>
          </p:cNvPr>
          <p:cNvSpPr>
            <a:spLocks noGrp="1"/>
          </p:cNvSpPr>
          <p:nvPr>
            <p:ph sz="half" idx="1"/>
          </p:nvPr>
        </p:nvSpPr>
        <p:spPr/>
        <p:txBody>
          <a:bodyPr>
            <a:normAutofit fontScale="85000" lnSpcReduction="20000"/>
          </a:bodyPr>
          <a:lstStyle/>
          <a:p>
            <a:r>
              <a:rPr lang="en-IN" dirty="0"/>
              <a:t>Load Data Retail_Sales_Analysis.xlsx to Power Bi.</a:t>
            </a:r>
          </a:p>
          <a:p>
            <a:r>
              <a:rPr lang="en-IN" dirty="0"/>
              <a:t>Navigate to Model View and Establish Relationships between tables like Sales, Customers, Product and Store.</a:t>
            </a:r>
          </a:p>
          <a:p>
            <a:r>
              <a:rPr lang="en-IN" dirty="0"/>
              <a:t>Use Customer ID for sales and customer table as one to many.</a:t>
            </a:r>
          </a:p>
          <a:p>
            <a:r>
              <a:rPr lang="en-IN" dirty="0"/>
              <a:t>Use Product ID for sales and product table as one to many.</a:t>
            </a:r>
          </a:p>
          <a:p>
            <a:r>
              <a:rPr lang="en-IN" dirty="0"/>
              <a:t>Use </a:t>
            </a:r>
            <a:r>
              <a:rPr lang="en-IN" dirty="0" err="1"/>
              <a:t>StoreID</a:t>
            </a:r>
            <a:r>
              <a:rPr lang="en-IN" dirty="0"/>
              <a:t> for sales and store table as one to many.</a:t>
            </a:r>
          </a:p>
          <a:p>
            <a:r>
              <a:rPr lang="en-IN" dirty="0"/>
              <a:t>Note: Make sure to set cross-filter direction for flexible filtering</a:t>
            </a:r>
          </a:p>
        </p:txBody>
      </p:sp>
      <p:sp>
        <p:nvSpPr>
          <p:cNvPr id="4" name="Content Placeholder 3">
            <a:extLst>
              <a:ext uri="{FF2B5EF4-FFF2-40B4-BE49-F238E27FC236}">
                <a16:creationId xmlns:a16="http://schemas.microsoft.com/office/drawing/2014/main" id="{22C386B7-E00E-A598-023D-9ABB26268C8F}"/>
              </a:ext>
            </a:extLst>
          </p:cNvPr>
          <p:cNvSpPr>
            <a:spLocks noGrp="1"/>
          </p:cNvSpPr>
          <p:nvPr>
            <p:ph sz="half" idx="2"/>
          </p:nvPr>
        </p:nvSpPr>
        <p:spPr/>
        <p:txBody>
          <a:bodyPr>
            <a:normAutofit fontScale="85000" lnSpcReduction="20000"/>
          </a:bodyPr>
          <a:lstStyle/>
          <a:p>
            <a:r>
              <a:rPr lang="en-IN" dirty="0"/>
              <a:t>Create a measure for total revenue.</a:t>
            </a:r>
          </a:p>
          <a:p>
            <a:r>
              <a:rPr lang="en-IN" dirty="0"/>
              <a:t>Create a measure for average discount</a:t>
            </a:r>
          </a:p>
          <a:p>
            <a:r>
              <a:rPr lang="en-IN" dirty="0"/>
              <a:t>Create a measure for profit margin.</a:t>
            </a:r>
          </a:p>
          <a:p>
            <a:r>
              <a:rPr lang="en-IN" dirty="0"/>
              <a:t>If possible, add a card visual for total revenue, average discount and profit margin.</a:t>
            </a:r>
          </a:p>
          <a:p>
            <a:r>
              <a:rPr lang="en-IN" dirty="0"/>
              <a:t>Finally create a table visual with fields like </a:t>
            </a:r>
            <a:r>
              <a:rPr lang="en-IN" dirty="0" err="1"/>
              <a:t>customerid</a:t>
            </a:r>
            <a:r>
              <a:rPr lang="en-IN" dirty="0"/>
              <a:t>, productid, storied, and the above measures we created.</a:t>
            </a:r>
          </a:p>
          <a:p>
            <a:r>
              <a:rPr lang="en-IN" dirty="0"/>
              <a:t>Save the power BI file later.</a:t>
            </a:r>
          </a:p>
        </p:txBody>
      </p:sp>
    </p:spTree>
    <p:extLst>
      <p:ext uri="{BB962C8B-B14F-4D97-AF65-F5344CB8AC3E}">
        <p14:creationId xmlns:p14="http://schemas.microsoft.com/office/powerpoint/2010/main" val="4166002194"/>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31B0-A8C5-0128-E22B-372ACB45B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86A9D-61C4-49C6-DF6B-60A1C89FB996}"/>
              </a:ext>
            </a:extLst>
          </p:cNvPr>
          <p:cNvSpPr>
            <a:spLocks noGrp="1"/>
          </p:cNvSpPr>
          <p:nvPr>
            <p:ph type="title"/>
          </p:nvPr>
        </p:nvSpPr>
        <p:spPr>
          <a:xfrm>
            <a:off x="1295399" y="2686050"/>
            <a:ext cx="9901335" cy="1485900"/>
          </a:xfrm>
        </p:spPr>
        <p:txBody>
          <a:bodyPr>
            <a:normAutofit/>
          </a:bodyPr>
          <a:lstStyle/>
          <a:p>
            <a:r>
              <a:rPr lang="en-US" b="1" dirty="0"/>
              <a:t>Day 14</a:t>
            </a:r>
            <a:r>
              <a:rPr lang="en-US" dirty="0"/>
              <a:t>: </a:t>
            </a:r>
            <a:r>
              <a:rPr lang="en-IN" dirty="0"/>
              <a:t>Power BI – Visualization</a:t>
            </a:r>
            <a:endParaRPr lang="en-US" dirty="0"/>
          </a:p>
        </p:txBody>
      </p:sp>
    </p:spTree>
    <p:extLst>
      <p:ext uri="{BB962C8B-B14F-4D97-AF65-F5344CB8AC3E}">
        <p14:creationId xmlns:p14="http://schemas.microsoft.com/office/powerpoint/2010/main" val="42064985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4E123-3E5D-E769-4FB2-9E64D2DBBF00}"/>
              </a:ext>
            </a:extLst>
          </p:cNvPr>
          <p:cNvSpPr>
            <a:spLocks noGrp="1"/>
          </p:cNvSpPr>
          <p:nvPr>
            <p:ph type="title"/>
          </p:nvPr>
        </p:nvSpPr>
        <p:spPr/>
        <p:txBody>
          <a:bodyPr/>
          <a:lstStyle/>
          <a:p>
            <a:r>
              <a:rPr lang="en-US" dirty="0"/>
              <a:t>CREATING DATA VISUALIZATION </a:t>
            </a:r>
            <a:endParaRPr lang="en-IN" dirty="0"/>
          </a:p>
        </p:txBody>
      </p:sp>
      <p:sp>
        <p:nvSpPr>
          <p:cNvPr id="5" name="Content Placeholder 4">
            <a:extLst>
              <a:ext uri="{FF2B5EF4-FFF2-40B4-BE49-F238E27FC236}">
                <a16:creationId xmlns:a16="http://schemas.microsoft.com/office/drawing/2014/main" id="{67D83B7A-4589-938B-2914-375A9A4746E8}"/>
              </a:ext>
            </a:extLst>
          </p:cNvPr>
          <p:cNvSpPr>
            <a:spLocks noGrp="1"/>
          </p:cNvSpPr>
          <p:nvPr>
            <p:ph sz="half" idx="2"/>
          </p:nvPr>
        </p:nvSpPr>
        <p:spPr>
          <a:xfrm>
            <a:off x="7187444" y="2329542"/>
            <a:ext cx="4447786" cy="3581401"/>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Top Products by Revenue</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a </a:t>
            </a:r>
            <a:r>
              <a:rPr kumimoji="0" lang="en-US" altLang="en-US" sz="1600" b="1" i="0" u="none" strike="noStrike" cap="none" normalizeH="0" baseline="0" dirty="0">
                <a:ln>
                  <a:noFill/>
                </a:ln>
                <a:solidFill>
                  <a:schemeClr val="tx1"/>
                </a:solidFill>
                <a:effectLst/>
                <a:latin typeface="Arial" panose="020B0604020202020204" pitchFamily="34" charset="0"/>
              </a:rPr>
              <a:t>Column Chart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a:t>
            </a:r>
            <a:r>
              <a:rPr kumimoji="0" lang="en-US" altLang="en-US" sz="1600" b="0" i="0" u="none" strike="noStrike" cap="none" normalizeH="0" baseline="0" dirty="0">
                <a:ln>
                  <a:noFill/>
                </a:ln>
                <a:solidFill>
                  <a:schemeClr val="tx1"/>
                </a:solidFill>
                <a:effectLst/>
                <a:latin typeface="Arial Unicode MS"/>
              </a:rPr>
              <a:t>ProductName</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Products</a:t>
            </a:r>
            <a:r>
              <a:rPr kumimoji="0" lang="en-US" altLang="en-US" sz="1600" b="0" i="0" u="none" strike="noStrike" cap="none" normalizeH="0" baseline="0" dirty="0">
                <a:ln>
                  <a:noFill/>
                </a:ln>
                <a:solidFill>
                  <a:schemeClr val="tx1"/>
                </a:solidFill>
                <a:effectLst/>
              </a:rPr>
              <a:t> table to the </a:t>
            </a:r>
            <a:r>
              <a:rPr kumimoji="0" lang="en-US" altLang="en-US" sz="1600" b="1" i="0" u="none" strike="noStrike" cap="none" normalizeH="0" baseline="0" dirty="0">
                <a:ln>
                  <a:noFill/>
                </a:ln>
                <a:solidFill>
                  <a:schemeClr val="tx1"/>
                </a:solidFill>
                <a:effectLst/>
                <a:latin typeface="Arial" panose="020B0604020202020204" pitchFamily="34" charset="0"/>
              </a:rPr>
              <a:t>Axis</a:t>
            </a:r>
            <a:r>
              <a:rPr kumimoji="0" lang="en-US" altLang="en-US" sz="1600" b="0" i="0" u="none" strike="noStrike" cap="none" normalizeH="0" baseline="0" dirty="0">
                <a:ln>
                  <a:noFill/>
                </a:ln>
                <a:solidFill>
                  <a:schemeClr val="tx1"/>
                </a:solidFill>
                <a:effectLst/>
                <a:latin typeface="Arial" panose="020B0604020202020204" pitchFamily="34" charset="0"/>
              </a:rPr>
              <a:t> field.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the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measure to the </a:t>
            </a:r>
            <a:r>
              <a:rPr kumimoji="0" lang="en-US" altLang="en-US" sz="1600" b="1" i="0" u="none" strike="noStrike" cap="none" normalizeH="0" baseline="0" dirty="0">
                <a:ln>
                  <a:noFill/>
                </a:ln>
                <a:solidFill>
                  <a:schemeClr val="tx1"/>
                </a:solidFill>
                <a:effectLst/>
                <a:latin typeface="Arial" panose="020B0604020202020204" pitchFamily="34" charset="0"/>
              </a:rPr>
              <a:t>Values</a:t>
            </a:r>
            <a:r>
              <a:rPr kumimoji="0" lang="en-US" altLang="en-US" sz="1600" b="0" i="0" u="none" strike="noStrike" cap="none" normalizeH="0" baseline="0" dirty="0">
                <a:ln>
                  <a:noFill/>
                </a:ln>
                <a:solidFill>
                  <a:schemeClr val="tx1"/>
                </a:solidFill>
                <a:effectLst/>
                <a:latin typeface="Arial" panose="020B0604020202020204" pitchFamily="34" charset="0"/>
              </a:rPr>
              <a:t> field.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Sort by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in descending order.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Sales Trend Over Time</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a </a:t>
            </a:r>
            <a:r>
              <a:rPr kumimoji="0" lang="en-US" altLang="en-US" sz="1600" b="1" i="0" u="none" strike="noStrike" cap="none" normalizeH="0" baseline="0" dirty="0">
                <a:ln>
                  <a:noFill/>
                </a:ln>
                <a:solidFill>
                  <a:schemeClr val="tx1"/>
                </a:solidFill>
                <a:effectLst/>
                <a:latin typeface="Arial" panose="020B0604020202020204" pitchFamily="34" charset="0"/>
              </a:rPr>
              <a:t>Line Chart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a:t>
            </a:r>
            <a:r>
              <a:rPr kumimoji="0" lang="en-US" altLang="en-US" sz="1600" b="0" i="0" u="none" strike="noStrike" cap="none" normalizeH="0" baseline="0" dirty="0" err="1">
                <a:ln>
                  <a:noFill/>
                </a:ln>
                <a:solidFill>
                  <a:schemeClr val="tx1"/>
                </a:solidFill>
                <a:effectLst/>
                <a:latin typeface="Arial Unicode MS"/>
              </a:rPr>
              <a:t>SaleDate</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 to the </a:t>
            </a:r>
            <a:r>
              <a:rPr kumimoji="0" lang="en-US" altLang="en-US" sz="1600" b="1" i="0" u="none" strike="noStrike" cap="none" normalizeH="0" baseline="0" dirty="0">
                <a:ln>
                  <a:noFill/>
                </a:ln>
                <a:solidFill>
                  <a:schemeClr val="tx1"/>
                </a:solidFill>
                <a:effectLst/>
                <a:latin typeface="Arial" panose="020B0604020202020204" pitchFamily="34" charset="0"/>
              </a:rPr>
              <a:t>Axis</a:t>
            </a:r>
            <a:r>
              <a:rPr kumimoji="0" lang="en-US" altLang="en-US" sz="1600" b="0" i="0" u="none" strike="noStrike" cap="none" normalizeH="0" baseline="0" dirty="0">
                <a:ln>
                  <a:noFill/>
                </a:ln>
                <a:solidFill>
                  <a:schemeClr val="tx1"/>
                </a:solidFill>
                <a:effectLst/>
                <a:latin typeface="Arial" panose="020B0604020202020204" pitchFamily="34" charset="0"/>
              </a:rPr>
              <a:t> field.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the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measure to the </a:t>
            </a:r>
            <a:r>
              <a:rPr kumimoji="0" lang="en-US" altLang="en-US" sz="1600" b="1" i="0" u="none" strike="noStrike" cap="none" normalizeH="0" baseline="0" dirty="0">
                <a:ln>
                  <a:noFill/>
                </a:ln>
                <a:solidFill>
                  <a:schemeClr val="tx1"/>
                </a:solidFill>
                <a:effectLst/>
                <a:latin typeface="Arial" panose="020B0604020202020204" pitchFamily="34" charset="0"/>
              </a:rPr>
              <a:t>Values</a:t>
            </a:r>
            <a:r>
              <a:rPr kumimoji="0" lang="en-US" altLang="en-US" sz="1600" b="0" i="0" u="none" strike="noStrike" cap="none" normalizeH="0" baseline="0" dirty="0">
                <a:ln>
                  <a:noFill/>
                </a:ln>
                <a:solidFill>
                  <a:schemeClr val="tx1"/>
                </a:solidFill>
                <a:effectLst/>
                <a:latin typeface="Arial" panose="020B0604020202020204" pitchFamily="34" charset="0"/>
              </a:rPr>
              <a:t> field.</a:t>
            </a:r>
          </a:p>
          <a:p>
            <a:endParaRPr lang="en-IN" dirty="0"/>
          </a:p>
        </p:txBody>
      </p:sp>
      <p:sp>
        <p:nvSpPr>
          <p:cNvPr id="6" name="Rectangle 1">
            <a:extLst>
              <a:ext uri="{FF2B5EF4-FFF2-40B4-BE49-F238E27FC236}">
                <a16:creationId xmlns:a16="http://schemas.microsoft.com/office/drawing/2014/main" id="{CDB0835E-D9CC-3EA2-9572-8834F19FA4CB}"/>
              </a:ext>
            </a:extLst>
          </p:cNvPr>
          <p:cNvSpPr>
            <a:spLocks noGrp="1" noChangeArrowheads="1"/>
          </p:cNvSpPr>
          <p:nvPr>
            <p:ph sz="half" idx="1"/>
          </p:nvPr>
        </p:nvSpPr>
        <p:spPr bwMode="auto">
          <a:xfrm>
            <a:off x="820380" y="2264227"/>
            <a:ext cx="636706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Load Data into Power BI</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Open Power BI Desktop.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Import the </a:t>
            </a:r>
            <a:r>
              <a:rPr kumimoji="0" lang="en-US" altLang="en-US" sz="1600" b="0" i="0" u="none" strike="noStrike" cap="none" normalizeH="0" baseline="0" dirty="0">
                <a:ln>
                  <a:noFill/>
                </a:ln>
                <a:solidFill>
                  <a:schemeClr val="tx1"/>
                </a:solidFill>
                <a:effectLst/>
                <a:latin typeface="Arial Unicode MS"/>
              </a:rPr>
              <a:t>Retail_Sales_Analysis_New.xlsx</a:t>
            </a:r>
            <a:r>
              <a:rPr kumimoji="0" lang="en-US" altLang="en-US" sz="1600" b="0" i="0" u="none" strike="noStrike" cap="none" normalizeH="0" baseline="0" dirty="0">
                <a:ln>
                  <a:noFill/>
                </a:ln>
                <a:solidFill>
                  <a:schemeClr val="tx1"/>
                </a:solidFill>
                <a:effectLst/>
              </a:rPr>
              <a:t> file as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explained earlier.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Create Key Visuals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Total Revenue Card</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 the Report View, select a </a:t>
            </a:r>
            <a:r>
              <a:rPr kumimoji="0" lang="en-US" altLang="en-US" sz="1600" b="1" i="0" u="none" strike="noStrike" cap="none" normalizeH="0" baseline="0" dirty="0">
                <a:ln>
                  <a:noFill/>
                </a:ln>
                <a:solidFill>
                  <a:schemeClr val="tx1"/>
                </a:solidFill>
                <a:effectLst/>
                <a:latin typeface="Arial" panose="020B0604020202020204" pitchFamily="34" charset="0"/>
              </a:rPr>
              <a:t>Card Visual</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the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measure (created earlier) </a:t>
            </a:r>
          </a:p>
          <a:p>
            <a:pPr marL="457200" marR="0" lvl="1"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to the </a:t>
            </a:r>
            <a:r>
              <a:rPr kumimoji="0" lang="en-US" altLang="en-US" sz="1600" b="1" i="0" u="none" strike="noStrike" cap="none" normalizeH="0" baseline="0" dirty="0">
                <a:ln>
                  <a:noFill/>
                </a:ln>
                <a:solidFill>
                  <a:schemeClr val="tx1"/>
                </a:solidFill>
                <a:effectLst/>
                <a:latin typeface="Arial" panose="020B0604020202020204" pitchFamily="34" charset="0"/>
              </a:rPr>
              <a:t>Fields</a:t>
            </a:r>
            <a:r>
              <a:rPr kumimoji="0" lang="en-US" altLang="en-US" sz="1600" b="0" i="0" u="none" strike="noStrike" cap="none" normalizeH="0" baseline="0" dirty="0">
                <a:ln>
                  <a:noFill/>
                </a:ln>
                <a:solidFill>
                  <a:schemeClr val="tx1"/>
                </a:solidFill>
                <a:effectLst/>
                <a:latin typeface="Arial" panose="020B0604020202020204" pitchFamily="34" charset="0"/>
              </a:rPr>
              <a:t> pane.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Sales by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a </a:t>
            </a:r>
            <a:r>
              <a:rPr kumimoji="0" lang="en-US" altLang="en-US" sz="1600" b="1" i="0" u="none" strike="noStrike" cap="none" normalizeH="0" baseline="0" dirty="0">
                <a:ln>
                  <a:noFill/>
                </a:ln>
                <a:solidFill>
                  <a:schemeClr val="tx1"/>
                </a:solidFill>
                <a:effectLst/>
                <a:latin typeface="Arial" panose="020B0604020202020204" pitchFamily="34" charset="0"/>
              </a:rPr>
              <a:t>Bar Chart</a:t>
            </a:r>
            <a:r>
              <a:rPr kumimoji="0" lang="en-US" altLang="en-US" sz="1600" b="0" i="0" u="none" strike="noStrike" cap="none" normalizeH="0" baseline="0" dirty="0">
                <a:ln>
                  <a:noFill/>
                </a:ln>
                <a:solidFill>
                  <a:schemeClr val="tx1"/>
                </a:solidFill>
                <a:effectLst/>
                <a:latin typeface="Arial" panose="020B0604020202020204" pitchFamily="34" charset="0"/>
              </a:rPr>
              <a:t> or </a:t>
            </a:r>
            <a:r>
              <a:rPr kumimoji="0" lang="en-US" altLang="en-US" sz="1600" b="1" i="0" u="none" strike="noStrike" cap="none" normalizeH="0" baseline="0" dirty="0">
                <a:ln>
                  <a:noFill/>
                </a:ln>
                <a:solidFill>
                  <a:schemeClr val="tx1"/>
                </a:solidFill>
                <a:effectLst/>
                <a:latin typeface="Arial" panose="020B0604020202020204" pitchFamily="34" charset="0"/>
              </a:rPr>
              <a:t>Pie Chart</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a:t>
            </a:r>
            <a:r>
              <a:rPr kumimoji="0" lang="en-US" altLang="en-US" sz="1600" b="0" i="0" u="none" strike="noStrike" cap="none" normalizeH="0" baseline="0" dirty="0">
                <a:ln>
                  <a:noFill/>
                </a:ln>
                <a:solidFill>
                  <a:schemeClr val="tx1"/>
                </a:solidFill>
                <a:effectLst/>
                <a:latin typeface="Arial Unicode MS"/>
              </a:rPr>
              <a:t>Region</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Customers</a:t>
            </a:r>
            <a:r>
              <a:rPr kumimoji="0" lang="en-US" altLang="en-US" sz="1600" b="0" i="0" u="none" strike="noStrike" cap="none" normalizeH="0" baseline="0" dirty="0">
                <a:ln>
                  <a:noFill/>
                </a:ln>
                <a:solidFill>
                  <a:schemeClr val="tx1"/>
                </a:solidFill>
                <a:effectLst/>
              </a:rPr>
              <a:t> table to the </a:t>
            </a:r>
            <a:r>
              <a:rPr kumimoji="0" lang="en-US" altLang="en-US" sz="1600" b="1" i="0" u="none" strike="noStrike" cap="none" normalizeH="0" baseline="0" dirty="0">
                <a:ln>
                  <a:noFill/>
                </a:ln>
                <a:solidFill>
                  <a:schemeClr val="tx1"/>
                </a:solidFill>
                <a:effectLst/>
                <a:latin typeface="Arial" panose="020B0604020202020204" pitchFamily="34" charset="0"/>
              </a:rPr>
              <a:t>Axis</a:t>
            </a:r>
            <a:r>
              <a:rPr kumimoji="0" lang="en-US" altLang="en-US" sz="1600" b="0" i="0" u="none" strike="noStrike" cap="none" normalizeH="0" baseline="0" dirty="0">
                <a:ln>
                  <a:noFill/>
                </a:ln>
                <a:solidFill>
                  <a:schemeClr val="tx1"/>
                </a:solidFill>
                <a:effectLst/>
                <a:latin typeface="Arial" panose="020B0604020202020204" pitchFamily="34" charset="0"/>
              </a:rPr>
              <a:t> (x axis) field.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Drag the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measure to the </a:t>
            </a:r>
            <a:r>
              <a:rPr kumimoji="0" lang="en-US" altLang="en-US" sz="1600" b="1" i="0" u="none" strike="noStrike" cap="none" normalizeH="0" baseline="0" dirty="0">
                <a:ln>
                  <a:noFill/>
                </a:ln>
                <a:solidFill>
                  <a:schemeClr val="tx1"/>
                </a:solidFill>
                <a:effectLst/>
                <a:latin typeface="Arial" panose="020B0604020202020204" pitchFamily="34" charset="0"/>
              </a:rPr>
              <a:t>Values</a:t>
            </a:r>
            <a:r>
              <a:rPr kumimoji="0" lang="en-US" altLang="en-US" sz="1600" b="0" i="0" u="none" strike="noStrike" cap="none" normalizeH="0" baseline="0" dirty="0">
                <a:ln>
                  <a:noFill/>
                </a:ln>
                <a:solidFill>
                  <a:schemeClr val="tx1"/>
                </a:solidFill>
                <a:effectLst/>
                <a:latin typeface="Arial" panose="020B0604020202020204" pitchFamily="34" charset="0"/>
              </a:rPr>
              <a:t> (y axis) field.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5587857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D694-83C4-EA8E-1933-CECA217B65E1}"/>
              </a:ext>
            </a:extLst>
          </p:cNvPr>
          <p:cNvSpPr>
            <a:spLocks noGrp="1"/>
          </p:cNvSpPr>
          <p:nvPr>
            <p:ph type="title"/>
          </p:nvPr>
        </p:nvSpPr>
        <p:spPr>
          <a:xfrm>
            <a:off x="1371600" y="685800"/>
            <a:ext cx="9601200" cy="648478"/>
          </a:xfrm>
        </p:spPr>
        <p:txBody>
          <a:bodyPr>
            <a:normAutofit fontScale="90000"/>
          </a:bodyPr>
          <a:lstStyle/>
          <a:p>
            <a:r>
              <a:rPr lang="en-IN" b="1" i="0" dirty="0">
                <a:solidFill>
                  <a:srgbClr val="232323"/>
                </a:solidFill>
                <a:effectLst/>
                <a:latin typeface="Satoshi-Bold"/>
              </a:rPr>
              <a:t>Charts </a:t>
            </a:r>
            <a:endParaRPr lang="en-IN" dirty="0"/>
          </a:p>
        </p:txBody>
      </p:sp>
      <p:sp>
        <p:nvSpPr>
          <p:cNvPr id="3" name="Content Placeholder 2">
            <a:extLst>
              <a:ext uri="{FF2B5EF4-FFF2-40B4-BE49-F238E27FC236}">
                <a16:creationId xmlns:a16="http://schemas.microsoft.com/office/drawing/2014/main" id="{CCC0F460-21E0-6938-C4D2-427A7FB07D99}"/>
              </a:ext>
            </a:extLst>
          </p:cNvPr>
          <p:cNvSpPr>
            <a:spLocks noGrp="1"/>
          </p:cNvSpPr>
          <p:nvPr>
            <p:ph sz="half" idx="1"/>
          </p:nvPr>
        </p:nvSpPr>
        <p:spPr>
          <a:xfrm>
            <a:off x="1371599" y="1446246"/>
            <a:ext cx="9601199" cy="3732244"/>
          </a:xfrm>
        </p:spPr>
        <p:txBody>
          <a:bodyPr>
            <a:noAutofit/>
          </a:bodyPr>
          <a:lstStyle/>
          <a:p>
            <a:pPr algn="just"/>
            <a:r>
              <a:rPr lang="en-IN" b="0" i="0" dirty="0">
                <a:solidFill>
                  <a:srgbClr val="232323"/>
                </a:solidFill>
                <a:effectLst/>
                <a:latin typeface="Satoshi-Regular"/>
              </a:rPr>
              <a:t>Power BI offers a variety of chart types, each serving specific purposes depending on the data being visualized. Here, we will delve into some of the most commonly used Power BI charts:</a:t>
            </a:r>
          </a:p>
          <a:p>
            <a:pPr algn="just"/>
            <a:r>
              <a:rPr lang="en-IN" b="0" i="0" dirty="0">
                <a:solidFill>
                  <a:srgbClr val="232323"/>
                </a:solidFill>
                <a:effectLst/>
                <a:latin typeface="Satoshi-Regular"/>
              </a:rPr>
              <a:t>Effective data visualization in Power BI can transform complex data sets into intuitive insights, facilitating better decision-making processes. Power BI </a:t>
            </a:r>
            <a:r>
              <a:rPr lang="en-IN" b="0" i="0" u="none" strike="noStrike" dirty="0">
                <a:solidFill>
                  <a:srgbClr val="232323"/>
                </a:solidFill>
                <a:effectLst/>
                <a:latin typeface="Satoshi-Regular"/>
              </a:rPr>
              <a:t>data visualization</a:t>
            </a:r>
            <a:r>
              <a:rPr lang="en-IN" b="0" i="0" dirty="0">
                <a:solidFill>
                  <a:srgbClr val="232323"/>
                </a:solidFill>
                <a:effectLst/>
                <a:latin typeface="Satoshi-Regular"/>
              </a:rPr>
              <a:t> capabilities are vast, offering a range of charts in Power BI that cater to different analytical needs. In this guide, we will explore various types of visualization in Power BI and how to effectively use them to represent data.</a:t>
            </a:r>
          </a:p>
          <a:p>
            <a:r>
              <a:rPr lang="en-IN" b="0" i="0" dirty="0">
                <a:solidFill>
                  <a:srgbClr val="232323"/>
                </a:solidFill>
                <a:effectLst/>
                <a:latin typeface="Satoshi-Regular"/>
              </a:rPr>
              <a:t>Power BI dashboards are interactive, allowing users to drill down into data, filter information, and view details on demand. This interactivity enables a deeper understanding of data trends and patterns.</a:t>
            </a:r>
            <a:r>
              <a:rPr lang="en-IN" dirty="0"/>
              <a:t/>
            </a:r>
            <a:br>
              <a:rPr lang="en-IN" dirty="0"/>
            </a:br>
            <a:endParaRPr lang="en-IN" b="0" i="0" u="none" strike="noStrike" dirty="0">
              <a:solidFill>
                <a:srgbClr val="232323"/>
              </a:solidFill>
              <a:effectLst/>
              <a:latin typeface="Satoshi-Regular"/>
            </a:endParaRPr>
          </a:p>
          <a:p>
            <a:pPr marL="0" indent="0">
              <a:buNone/>
            </a:pPr>
            <a:r>
              <a:rPr lang="en-IN" dirty="0"/>
              <a:t/>
            </a:r>
            <a:br>
              <a:rPr lang="en-IN" dirty="0"/>
            </a:br>
            <a:endParaRPr lang="en-IN" dirty="0"/>
          </a:p>
        </p:txBody>
      </p:sp>
    </p:spTree>
    <p:extLst>
      <p:ext uri="{BB962C8B-B14F-4D97-AF65-F5344CB8AC3E}">
        <p14:creationId xmlns:p14="http://schemas.microsoft.com/office/powerpoint/2010/main" val="974971494"/>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DF2A2-76F2-D94F-8D20-D16E3779C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2827B-2D9D-676B-CAF0-A2F6A1784B94}"/>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Bar and Column Charts</a:t>
            </a:r>
            <a:br>
              <a:rPr lang="en-IN" b="0" i="0" dirty="0">
                <a:solidFill>
                  <a:srgbClr val="232323"/>
                </a:solidFill>
                <a:effectLst/>
                <a:latin typeface="Satoshi-Medium"/>
              </a:rPr>
            </a:br>
            <a:r>
              <a:rPr lang="en-IN" dirty="0"/>
              <a:t/>
            </a:r>
            <a:br>
              <a:rPr lang="en-IN" dirty="0"/>
            </a:br>
            <a:r>
              <a:rPr lang="en-IN" dirty="0"/>
              <a:t> </a:t>
            </a:r>
            <a:r>
              <a:rPr lang="en-IN" b="1" i="0" dirty="0">
                <a:solidFill>
                  <a:srgbClr val="232323"/>
                </a:solidFill>
                <a:effectLst/>
                <a:latin typeface="Satoshi-Bold"/>
              </a:rPr>
              <a:t> </a:t>
            </a:r>
            <a:endParaRPr lang="en-IN" dirty="0"/>
          </a:p>
        </p:txBody>
      </p:sp>
      <p:sp>
        <p:nvSpPr>
          <p:cNvPr id="3" name="Content Placeholder 2">
            <a:extLst>
              <a:ext uri="{FF2B5EF4-FFF2-40B4-BE49-F238E27FC236}">
                <a16:creationId xmlns:a16="http://schemas.microsoft.com/office/drawing/2014/main" id="{D5ED871F-742B-0CC1-F948-1B95F92C0C4D}"/>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Bar and column charts</a:t>
            </a:r>
            <a:r>
              <a:rPr lang="en-IN" b="0" i="0" dirty="0">
                <a:solidFill>
                  <a:srgbClr val="232323"/>
                </a:solidFill>
                <a:effectLst/>
                <a:latin typeface="Satoshi-Regular"/>
              </a:rPr>
              <a:t> are fundamental types of charts in Power BI that display data in horizontal or vertical bars. These charts are ideal for comparing quantities across different categories.</a:t>
            </a:r>
          </a:p>
          <a:p>
            <a:pPr algn="l">
              <a:buFont typeface="Arial" panose="020B0604020202020204" pitchFamily="34" charset="0"/>
              <a:buChar char="•"/>
            </a:pPr>
            <a:r>
              <a:rPr lang="en-IN" b="1" i="0" u="none" strike="noStrike" dirty="0">
                <a:solidFill>
                  <a:srgbClr val="232323"/>
                </a:solidFill>
                <a:effectLst/>
                <a:latin typeface="Satoshi-Bold"/>
              </a:rPr>
              <a:t>Bar Charts</a:t>
            </a:r>
            <a:r>
              <a:rPr lang="en-IN" b="0" i="0" u="none" strike="noStrike" dirty="0">
                <a:solidFill>
                  <a:srgbClr val="232323"/>
                </a:solidFill>
                <a:effectLst/>
                <a:latin typeface="Satoshi-Regular"/>
              </a:rPr>
              <a:t>: Best for comparing values across categories when you have long category names.</a:t>
            </a:r>
          </a:p>
          <a:p>
            <a:pPr algn="l">
              <a:buFont typeface="Arial" panose="020B0604020202020204" pitchFamily="34" charset="0"/>
              <a:buChar char="•"/>
            </a:pPr>
            <a:r>
              <a:rPr lang="en-IN" b="1" i="0" u="none" strike="noStrike" dirty="0">
                <a:solidFill>
                  <a:srgbClr val="232323"/>
                </a:solidFill>
                <a:effectLst/>
                <a:latin typeface="Satoshi-Bold"/>
              </a:rPr>
              <a:t>Column Charts</a:t>
            </a:r>
            <a:r>
              <a:rPr lang="en-IN" b="0" i="0" u="none" strike="noStrike" dirty="0">
                <a:solidFill>
                  <a:srgbClr val="232323"/>
                </a:solidFill>
                <a:effectLst/>
                <a:latin typeface="Satoshi-Regular"/>
              </a:rPr>
              <a:t>: Useful for showing data changes over a period or for comparing items.</a:t>
            </a:r>
          </a:p>
          <a:p>
            <a:pPr algn="just"/>
            <a:endParaRPr lang="en-IN" dirty="0"/>
          </a:p>
        </p:txBody>
      </p:sp>
      <p:pic>
        <p:nvPicPr>
          <p:cNvPr id="5" name="Picture 4">
            <a:extLst>
              <a:ext uri="{FF2B5EF4-FFF2-40B4-BE49-F238E27FC236}">
                <a16:creationId xmlns:a16="http://schemas.microsoft.com/office/drawing/2014/main" id="{582A37F4-1ECE-D7AE-4189-85BE9E5A1853}"/>
              </a:ext>
            </a:extLst>
          </p:cNvPr>
          <p:cNvPicPr>
            <a:picLocks noChangeAspect="1"/>
          </p:cNvPicPr>
          <p:nvPr/>
        </p:nvPicPr>
        <p:blipFill>
          <a:blip r:embed="rId2"/>
          <a:stretch>
            <a:fillRect/>
          </a:stretch>
        </p:blipFill>
        <p:spPr>
          <a:xfrm>
            <a:off x="1922106" y="3706478"/>
            <a:ext cx="7959012" cy="3030223"/>
          </a:xfrm>
          <a:prstGeom prst="rect">
            <a:avLst/>
          </a:prstGeom>
        </p:spPr>
      </p:pic>
    </p:spTree>
    <p:extLst>
      <p:ext uri="{BB962C8B-B14F-4D97-AF65-F5344CB8AC3E}">
        <p14:creationId xmlns:p14="http://schemas.microsoft.com/office/powerpoint/2010/main" val="359586929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61A3A-3B6E-C0B0-6886-F0F3CF584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69E2E-43FE-7253-A969-2408C82481DC}"/>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Line Charts</a:t>
            </a:r>
            <a:br>
              <a:rPr lang="en-IN" b="0" i="0" dirty="0">
                <a:solidFill>
                  <a:srgbClr val="232323"/>
                </a:solidFill>
                <a:effectLst/>
                <a:latin typeface="Satoshi-Medium"/>
              </a:rPr>
            </a:br>
            <a:r>
              <a:rPr lang="en-IN" dirty="0"/>
              <a:t/>
            </a:r>
            <a:br>
              <a:rPr lang="en-IN" dirty="0"/>
            </a:br>
            <a:endParaRPr lang="en-IN" dirty="0"/>
          </a:p>
        </p:txBody>
      </p:sp>
      <p:sp>
        <p:nvSpPr>
          <p:cNvPr id="3" name="Content Placeholder 2">
            <a:extLst>
              <a:ext uri="{FF2B5EF4-FFF2-40B4-BE49-F238E27FC236}">
                <a16:creationId xmlns:a16="http://schemas.microsoft.com/office/drawing/2014/main" id="{2FB6C1EE-C623-87A3-F456-359140820707}"/>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Line charts</a:t>
            </a:r>
            <a:r>
              <a:rPr lang="en-IN" b="0" i="0" dirty="0">
                <a:solidFill>
                  <a:srgbClr val="232323"/>
                </a:solidFill>
                <a:effectLst/>
                <a:latin typeface="Satoshi-Regular"/>
              </a:rPr>
              <a:t> connect individual data points with lines, making them perfect for showing trends over time.</a:t>
            </a:r>
          </a:p>
          <a:p>
            <a:pPr algn="l">
              <a:buFont typeface="Arial" panose="020B0604020202020204" pitchFamily="34" charset="0"/>
              <a:buChar char="•"/>
            </a:pPr>
            <a:r>
              <a:rPr lang="en-IN" b="1" i="0" u="none" strike="noStrike" dirty="0">
                <a:solidFill>
                  <a:srgbClr val="232323"/>
                </a:solidFill>
                <a:effectLst/>
                <a:latin typeface="Satoshi-Bold"/>
              </a:rPr>
              <a:t>Single Line Chart</a:t>
            </a:r>
            <a:r>
              <a:rPr lang="en-IN" b="0" i="0" u="none" strike="noStrike" dirty="0">
                <a:solidFill>
                  <a:srgbClr val="232323"/>
                </a:solidFill>
                <a:effectLst/>
                <a:latin typeface="Satoshi-Regular"/>
              </a:rPr>
              <a:t>: For displaying trends of one variable over time.</a:t>
            </a:r>
          </a:p>
          <a:p>
            <a:pPr algn="l">
              <a:buFont typeface="Arial" panose="020B0604020202020204" pitchFamily="34" charset="0"/>
              <a:buChar char="•"/>
            </a:pPr>
            <a:r>
              <a:rPr lang="en-IN" b="1" i="0" u="none" strike="noStrike" dirty="0">
                <a:solidFill>
                  <a:srgbClr val="232323"/>
                </a:solidFill>
                <a:effectLst/>
                <a:latin typeface="Satoshi-Bold"/>
              </a:rPr>
              <a:t>Multiple Line Chart</a:t>
            </a:r>
            <a:r>
              <a:rPr lang="en-IN" b="0" i="0" u="none" strike="noStrike" dirty="0">
                <a:solidFill>
                  <a:srgbClr val="232323"/>
                </a:solidFill>
                <a:effectLst/>
                <a:latin typeface="Satoshi-Regular"/>
              </a:rPr>
              <a:t>: For comparing trends between multiple variables.</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Monitoring monthly sales trends over regions</a:t>
            </a:r>
          </a:p>
          <a:p>
            <a:pPr marL="0" indent="0">
              <a:buNone/>
            </a:pPr>
            <a:endParaRPr lang="en-IN" b="0" i="0" u="none" strike="noStrike" dirty="0">
              <a:solidFill>
                <a:srgbClr val="232323"/>
              </a:solidFill>
              <a:effectLst/>
              <a:latin typeface="Satoshi-Regular"/>
            </a:endParaRPr>
          </a:p>
          <a:p>
            <a:pPr algn="just"/>
            <a:endParaRPr lang="en-IN" dirty="0"/>
          </a:p>
        </p:txBody>
      </p:sp>
      <p:pic>
        <p:nvPicPr>
          <p:cNvPr id="6" name="Picture 5">
            <a:extLst>
              <a:ext uri="{FF2B5EF4-FFF2-40B4-BE49-F238E27FC236}">
                <a16:creationId xmlns:a16="http://schemas.microsoft.com/office/drawing/2014/main" id="{46A822A0-06A2-1ED3-3187-C5044B3B028B}"/>
              </a:ext>
            </a:extLst>
          </p:cNvPr>
          <p:cNvPicPr>
            <a:picLocks noChangeAspect="1"/>
          </p:cNvPicPr>
          <p:nvPr/>
        </p:nvPicPr>
        <p:blipFill>
          <a:blip r:embed="rId2"/>
          <a:stretch>
            <a:fillRect/>
          </a:stretch>
        </p:blipFill>
        <p:spPr>
          <a:xfrm>
            <a:off x="2407300" y="3429000"/>
            <a:ext cx="5635690" cy="3159895"/>
          </a:xfrm>
          <a:prstGeom prst="rect">
            <a:avLst/>
          </a:prstGeom>
        </p:spPr>
      </p:pic>
    </p:spTree>
    <p:extLst>
      <p:ext uri="{BB962C8B-B14F-4D97-AF65-F5344CB8AC3E}">
        <p14:creationId xmlns:p14="http://schemas.microsoft.com/office/powerpoint/2010/main" val="373968558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626EE-5635-6814-EDC8-163E64EC9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C0279-14DE-52EA-F4FA-E1C290BB2EB5}"/>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Pie and Donut Charts</a:t>
            </a:r>
            <a:br>
              <a:rPr lang="en-IN" b="0" i="0" dirty="0">
                <a:solidFill>
                  <a:srgbClr val="232323"/>
                </a:solidFill>
                <a:effectLst/>
                <a:latin typeface="Satoshi-Medium"/>
              </a:rPr>
            </a:br>
            <a:r>
              <a:rPr lang="en-IN" dirty="0"/>
              <a:t/>
            </a:r>
            <a:br>
              <a:rPr lang="en-IN" dirty="0"/>
            </a:br>
            <a:endParaRPr lang="en-IN" dirty="0"/>
          </a:p>
        </p:txBody>
      </p:sp>
      <p:sp>
        <p:nvSpPr>
          <p:cNvPr id="3" name="Content Placeholder 2">
            <a:extLst>
              <a:ext uri="{FF2B5EF4-FFF2-40B4-BE49-F238E27FC236}">
                <a16:creationId xmlns:a16="http://schemas.microsoft.com/office/drawing/2014/main" id="{56D82115-C6DE-2EEA-E8FF-12EFA1DF8281}"/>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Pie and donut charts</a:t>
            </a:r>
            <a:r>
              <a:rPr lang="en-IN" b="0" i="0" dirty="0">
                <a:solidFill>
                  <a:srgbClr val="232323"/>
                </a:solidFill>
                <a:effectLst/>
                <a:latin typeface="Satoshi-Regular"/>
              </a:rPr>
              <a:t> represent data in segments, showing proportions of a whole.</a:t>
            </a:r>
          </a:p>
          <a:p>
            <a:pPr algn="l">
              <a:buFont typeface="Arial" panose="020B0604020202020204" pitchFamily="34" charset="0"/>
              <a:buChar char="•"/>
            </a:pPr>
            <a:r>
              <a:rPr lang="en-IN" b="1" i="0" u="none" strike="noStrike" dirty="0">
                <a:solidFill>
                  <a:srgbClr val="232323"/>
                </a:solidFill>
                <a:effectLst/>
                <a:latin typeface="Satoshi-Bold"/>
              </a:rPr>
              <a:t>Pie Charts</a:t>
            </a:r>
            <a:r>
              <a:rPr lang="en-IN" b="0" i="0" u="none" strike="noStrike" dirty="0">
                <a:solidFill>
                  <a:srgbClr val="232323"/>
                </a:solidFill>
                <a:effectLst/>
                <a:latin typeface="Satoshi-Regular"/>
              </a:rPr>
              <a:t>: Simple and effective for showing parts of a whole.</a:t>
            </a:r>
          </a:p>
          <a:p>
            <a:pPr algn="l">
              <a:buFont typeface="Arial" panose="020B0604020202020204" pitchFamily="34" charset="0"/>
              <a:buChar char="•"/>
            </a:pPr>
            <a:r>
              <a:rPr lang="en-IN" b="1" i="0" u="none" strike="noStrike" dirty="0">
                <a:solidFill>
                  <a:srgbClr val="232323"/>
                </a:solidFill>
                <a:effectLst/>
                <a:latin typeface="Satoshi-Bold"/>
              </a:rPr>
              <a:t>Donut Charts</a:t>
            </a:r>
            <a:r>
              <a:rPr lang="en-IN" b="0" i="0" u="none" strike="noStrike" dirty="0">
                <a:solidFill>
                  <a:srgbClr val="232323"/>
                </a:solidFill>
                <a:effectLst/>
                <a:latin typeface="Satoshi-Regular"/>
              </a:rPr>
              <a:t>: Similar to pie charts but with a blank </a:t>
            </a:r>
            <a:r>
              <a:rPr lang="en-IN" b="0" i="0" u="none" strike="noStrike" dirty="0" err="1">
                <a:solidFill>
                  <a:srgbClr val="232323"/>
                </a:solidFill>
                <a:effectLst/>
                <a:latin typeface="Satoshi-Regular"/>
              </a:rPr>
              <a:t>center</a:t>
            </a:r>
            <a:r>
              <a:rPr lang="en-IN" b="0" i="0" u="none" strike="noStrike" dirty="0">
                <a:solidFill>
                  <a:srgbClr val="232323"/>
                </a:solidFill>
                <a:effectLst/>
                <a:latin typeface="Satoshi-Regular"/>
              </a:rPr>
              <a:t>, often used for aesthetic preference.</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Visualizing share distributions among Buyers.</a:t>
            </a:r>
          </a:p>
          <a:p>
            <a:r>
              <a:rPr lang="en-IN" dirty="0"/>
              <a:t/>
            </a:r>
            <a:br>
              <a:rPr lang="en-IN" dirty="0"/>
            </a:b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5" name="Picture 4">
            <a:extLst>
              <a:ext uri="{FF2B5EF4-FFF2-40B4-BE49-F238E27FC236}">
                <a16:creationId xmlns:a16="http://schemas.microsoft.com/office/drawing/2014/main" id="{783AD7B0-1E1E-B75B-C8B5-B90F032F72D4}"/>
              </a:ext>
            </a:extLst>
          </p:cNvPr>
          <p:cNvPicPr>
            <a:picLocks noChangeAspect="1"/>
          </p:cNvPicPr>
          <p:nvPr/>
        </p:nvPicPr>
        <p:blipFill>
          <a:blip r:embed="rId2"/>
          <a:stretch>
            <a:fillRect/>
          </a:stretch>
        </p:blipFill>
        <p:spPr>
          <a:xfrm>
            <a:off x="1828800" y="3541627"/>
            <a:ext cx="7837714" cy="3020149"/>
          </a:xfrm>
          <a:prstGeom prst="rect">
            <a:avLst/>
          </a:prstGeom>
        </p:spPr>
      </p:pic>
    </p:spTree>
    <p:extLst>
      <p:ext uri="{BB962C8B-B14F-4D97-AF65-F5344CB8AC3E}">
        <p14:creationId xmlns:p14="http://schemas.microsoft.com/office/powerpoint/2010/main" val="273399168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E90A-7F17-006C-8D29-B6B6B0BFD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F5909-2DDA-9F40-2C05-A734008E1A04}"/>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Area Charts</a:t>
            </a:r>
            <a:br>
              <a:rPr lang="en-IN" b="0" i="0" dirty="0">
                <a:solidFill>
                  <a:srgbClr val="232323"/>
                </a:solidFill>
                <a:effectLst/>
                <a:latin typeface="Satoshi-Medium"/>
              </a:rPr>
            </a:br>
            <a:r>
              <a:rPr lang="en-IN" dirty="0"/>
              <a:t/>
            </a:r>
            <a:br>
              <a:rPr lang="en-IN" dirty="0"/>
            </a:br>
            <a:endParaRPr lang="en-IN" dirty="0"/>
          </a:p>
        </p:txBody>
      </p:sp>
      <p:sp>
        <p:nvSpPr>
          <p:cNvPr id="3" name="Content Placeholder 2">
            <a:extLst>
              <a:ext uri="{FF2B5EF4-FFF2-40B4-BE49-F238E27FC236}">
                <a16:creationId xmlns:a16="http://schemas.microsoft.com/office/drawing/2014/main" id="{59CEFCC0-3C15-B6B6-E913-E2D994429850}"/>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Area charts</a:t>
            </a:r>
            <a:r>
              <a:rPr lang="en-IN" b="0" i="0" dirty="0">
                <a:solidFill>
                  <a:srgbClr val="232323"/>
                </a:solidFill>
                <a:effectLst/>
                <a:latin typeface="Satoshi-Regular"/>
              </a:rPr>
              <a:t> are similar to line charts but with the area below the line filled in, useful for emphasizing the magnitude of change over time.</a:t>
            </a:r>
          </a:p>
          <a:p>
            <a:pPr algn="l">
              <a:buFont typeface="Arial" panose="020B0604020202020204" pitchFamily="34" charset="0"/>
              <a:buChar char="•"/>
            </a:pPr>
            <a:r>
              <a:rPr lang="en-IN" b="1" i="0" u="none" strike="noStrike" dirty="0">
                <a:solidFill>
                  <a:srgbClr val="232323"/>
                </a:solidFill>
                <a:effectLst/>
                <a:latin typeface="Satoshi-Bold"/>
              </a:rPr>
              <a:t>Stacked Area Chart</a:t>
            </a:r>
            <a:r>
              <a:rPr lang="en-IN" b="0" i="0" u="none" strike="noStrike" dirty="0">
                <a:solidFill>
                  <a:srgbClr val="232323"/>
                </a:solidFill>
                <a:effectLst/>
                <a:latin typeface="Satoshi-Regular"/>
              </a:rPr>
              <a:t>: Shows the contribution of each part to a total over time.</a:t>
            </a:r>
          </a:p>
          <a:p>
            <a:pPr algn="l">
              <a:buFont typeface="Arial" panose="020B0604020202020204" pitchFamily="34" charset="0"/>
              <a:buChar char="•"/>
            </a:pPr>
            <a:r>
              <a:rPr lang="en-IN" b="1" i="0" u="none" strike="noStrike" dirty="0">
                <a:solidFill>
                  <a:srgbClr val="232323"/>
                </a:solidFill>
                <a:effectLst/>
                <a:latin typeface="Satoshi-Bold"/>
              </a:rPr>
              <a:t>100% Stacked Area Chart</a:t>
            </a:r>
            <a:r>
              <a:rPr lang="en-IN" b="0" i="0" u="none" strike="noStrike" dirty="0">
                <a:solidFill>
                  <a:srgbClr val="232323"/>
                </a:solidFill>
                <a:effectLst/>
                <a:latin typeface="Satoshi-Regular"/>
              </a:rPr>
              <a:t>: Displays the percentage distribution of each category over time.</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Displaying the composition of total sales, costs and units  by different category</a:t>
            </a:r>
          </a:p>
          <a:p>
            <a:pPr marL="0" indent="0">
              <a:buNone/>
            </a:pP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6" name="Picture 5">
            <a:extLst>
              <a:ext uri="{FF2B5EF4-FFF2-40B4-BE49-F238E27FC236}">
                <a16:creationId xmlns:a16="http://schemas.microsoft.com/office/drawing/2014/main" id="{DA1E09AC-2E82-79E0-3A9D-2F868F049B71}"/>
              </a:ext>
            </a:extLst>
          </p:cNvPr>
          <p:cNvPicPr>
            <a:picLocks noChangeAspect="1"/>
          </p:cNvPicPr>
          <p:nvPr/>
        </p:nvPicPr>
        <p:blipFill>
          <a:blip r:embed="rId2"/>
          <a:stretch>
            <a:fillRect/>
          </a:stretch>
        </p:blipFill>
        <p:spPr>
          <a:xfrm>
            <a:off x="3025845" y="3679924"/>
            <a:ext cx="4895845" cy="3028786"/>
          </a:xfrm>
          <a:prstGeom prst="rect">
            <a:avLst/>
          </a:prstGeom>
        </p:spPr>
      </p:pic>
    </p:spTree>
    <p:extLst>
      <p:ext uri="{BB962C8B-B14F-4D97-AF65-F5344CB8AC3E}">
        <p14:creationId xmlns:p14="http://schemas.microsoft.com/office/powerpoint/2010/main" val="292941744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792A0-BDA6-A367-F15F-D01C265CE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80AC2-3E9A-7859-AA71-63CBACA2DA24}"/>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Scatter and Bubble Charts</a:t>
            </a:r>
            <a:br>
              <a:rPr lang="en-IN" b="0" i="0" dirty="0">
                <a:solidFill>
                  <a:srgbClr val="232323"/>
                </a:solidFill>
                <a:effectLst/>
                <a:latin typeface="Satoshi-Medium"/>
              </a:rPr>
            </a:br>
            <a:r>
              <a:rPr lang="en-IN" dirty="0"/>
              <a:t/>
            </a:r>
            <a:br>
              <a:rPr lang="en-IN" dirty="0"/>
            </a:br>
            <a:endParaRPr lang="en-IN" dirty="0"/>
          </a:p>
        </p:txBody>
      </p:sp>
      <p:sp>
        <p:nvSpPr>
          <p:cNvPr id="3" name="Content Placeholder 2">
            <a:extLst>
              <a:ext uri="{FF2B5EF4-FFF2-40B4-BE49-F238E27FC236}">
                <a16:creationId xmlns:a16="http://schemas.microsoft.com/office/drawing/2014/main" id="{EB8FB357-AD1F-B280-BC14-93A02020202C}"/>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Scatter and bubble charts</a:t>
            </a:r>
            <a:r>
              <a:rPr lang="en-IN" b="0" i="0" dirty="0">
                <a:solidFill>
                  <a:srgbClr val="232323"/>
                </a:solidFill>
                <a:effectLst/>
                <a:latin typeface="Satoshi-Regular"/>
              </a:rPr>
              <a:t> are used to show relationships between two or more variables.</a:t>
            </a:r>
          </a:p>
          <a:p>
            <a:pPr algn="l">
              <a:buFont typeface="Arial" panose="020B0604020202020204" pitchFamily="34" charset="0"/>
              <a:buChar char="•"/>
            </a:pPr>
            <a:r>
              <a:rPr lang="en-IN" b="1" i="0" u="none" strike="noStrike" dirty="0">
                <a:solidFill>
                  <a:srgbClr val="232323"/>
                </a:solidFill>
                <a:effectLst/>
                <a:latin typeface="Satoshi-Bold"/>
              </a:rPr>
              <a:t>Scatter Charts</a:t>
            </a:r>
            <a:r>
              <a:rPr lang="en-IN" b="0" i="0" u="none" strike="noStrike" dirty="0">
                <a:solidFill>
                  <a:srgbClr val="232323"/>
                </a:solidFill>
                <a:effectLst/>
                <a:latin typeface="Satoshi-Regular"/>
              </a:rPr>
              <a:t>: Display individual data points to highlight correlations.</a:t>
            </a:r>
          </a:p>
          <a:p>
            <a:pPr algn="l">
              <a:buFont typeface="Arial" panose="020B0604020202020204" pitchFamily="34" charset="0"/>
              <a:buChar char="•"/>
            </a:pPr>
            <a:r>
              <a:rPr lang="en-IN" b="1" i="0" u="none" strike="noStrike" dirty="0">
                <a:solidFill>
                  <a:srgbClr val="232323"/>
                </a:solidFill>
                <a:effectLst/>
                <a:latin typeface="Satoshi-Bold"/>
              </a:rPr>
              <a:t>Bubble Charts</a:t>
            </a:r>
            <a:r>
              <a:rPr lang="en-IN" b="0" i="0" u="none" strike="noStrike" dirty="0">
                <a:solidFill>
                  <a:srgbClr val="232323"/>
                </a:solidFill>
                <a:effectLst/>
                <a:latin typeface="Satoshi-Regular"/>
              </a:rPr>
              <a:t>: Similar to scatter charts but with an additional dimension represented by the size of the bubbles.</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a:t>
            </a:r>
            <a:r>
              <a:rPr lang="en-IN" b="0" i="0" dirty="0" err="1">
                <a:solidFill>
                  <a:srgbClr val="232323"/>
                </a:solidFill>
                <a:effectLst/>
                <a:latin typeface="Satoshi-Regular"/>
              </a:rPr>
              <a:t>Analyzing</a:t>
            </a:r>
            <a:r>
              <a:rPr lang="en-IN" b="0" i="0" dirty="0">
                <a:solidFill>
                  <a:srgbClr val="232323"/>
                </a:solidFill>
                <a:effectLst/>
                <a:latin typeface="Satoshi-Regular"/>
              </a:rPr>
              <a:t> the relationship between Sales per sq. feet and Total Sales Variance by Districts</a:t>
            </a:r>
          </a:p>
          <a:p>
            <a:endParaRPr lang="en-IN" b="0" i="0" dirty="0">
              <a:solidFill>
                <a:srgbClr val="232323"/>
              </a:solidFill>
              <a:effectLst/>
              <a:latin typeface="Satoshi-Regular"/>
            </a:endParaRPr>
          </a:p>
          <a:p>
            <a:pPr marL="0" indent="0">
              <a:buNone/>
            </a:pP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5" name="Picture 4">
            <a:extLst>
              <a:ext uri="{FF2B5EF4-FFF2-40B4-BE49-F238E27FC236}">
                <a16:creationId xmlns:a16="http://schemas.microsoft.com/office/drawing/2014/main" id="{D861B681-6CED-FD0E-BEA0-33ED1298CDF3}"/>
              </a:ext>
            </a:extLst>
          </p:cNvPr>
          <p:cNvPicPr>
            <a:picLocks noChangeAspect="1"/>
          </p:cNvPicPr>
          <p:nvPr/>
        </p:nvPicPr>
        <p:blipFill>
          <a:blip r:embed="rId2"/>
          <a:stretch>
            <a:fillRect/>
          </a:stretch>
        </p:blipFill>
        <p:spPr>
          <a:xfrm>
            <a:off x="2155372" y="4047659"/>
            <a:ext cx="7025951" cy="2375372"/>
          </a:xfrm>
          <a:prstGeom prst="rect">
            <a:avLst/>
          </a:prstGeom>
        </p:spPr>
      </p:pic>
    </p:spTree>
    <p:extLst>
      <p:ext uri="{BB962C8B-B14F-4D97-AF65-F5344CB8AC3E}">
        <p14:creationId xmlns:p14="http://schemas.microsoft.com/office/powerpoint/2010/main" val="1129457135"/>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67A6D-C84A-C592-875E-AD4967E18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3FA01-60BB-78C0-1580-C2EBB1DFA21A}"/>
              </a:ext>
            </a:extLst>
          </p:cNvPr>
          <p:cNvSpPr>
            <a:spLocks noGrp="1"/>
          </p:cNvSpPr>
          <p:nvPr>
            <p:ph type="title"/>
          </p:nvPr>
        </p:nvSpPr>
        <p:spPr>
          <a:xfrm>
            <a:off x="1371600" y="685800"/>
            <a:ext cx="9601200" cy="648478"/>
          </a:xfrm>
        </p:spPr>
        <p:txBody>
          <a:bodyPr>
            <a:normAutofit fontScale="90000"/>
          </a:bodyPr>
          <a:lstStyle/>
          <a:p>
            <a:pPr algn="l"/>
            <a:r>
              <a:rPr lang="en-IN" b="0" i="0" dirty="0" err="1">
                <a:solidFill>
                  <a:srgbClr val="232323"/>
                </a:solidFill>
                <a:effectLst/>
                <a:latin typeface="Satoshi-Medium"/>
              </a:rPr>
              <a:t>Treemaps</a:t>
            </a: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27F81159-D63E-CAE2-E3AC-FAB5AC2A78AE}"/>
              </a:ext>
            </a:extLst>
          </p:cNvPr>
          <p:cNvSpPr>
            <a:spLocks noGrp="1"/>
          </p:cNvSpPr>
          <p:nvPr>
            <p:ph sz="half" idx="1"/>
          </p:nvPr>
        </p:nvSpPr>
        <p:spPr>
          <a:xfrm>
            <a:off x="1371599" y="1446246"/>
            <a:ext cx="9601199" cy="5411754"/>
          </a:xfrm>
        </p:spPr>
        <p:txBody>
          <a:bodyPr>
            <a:noAutofit/>
          </a:bodyPr>
          <a:lstStyle/>
          <a:p>
            <a:pPr algn="just"/>
            <a:r>
              <a:rPr lang="en-IN" b="1" i="0" dirty="0" err="1">
                <a:solidFill>
                  <a:srgbClr val="232323"/>
                </a:solidFill>
                <a:effectLst/>
                <a:latin typeface="Satoshi-Bold"/>
              </a:rPr>
              <a:t>Treemaps</a:t>
            </a:r>
            <a:r>
              <a:rPr lang="en-IN" b="0" i="0" dirty="0">
                <a:solidFill>
                  <a:srgbClr val="232323"/>
                </a:solidFill>
                <a:effectLst/>
                <a:latin typeface="Satoshi-Regular"/>
              </a:rPr>
              <a:t> are hierarchical charts that use nested rectangles to represent data, where the size and </a:t>
            </a:r>
            <a:r>
              <a:rPr lang="en-IN" b="0" i="0" dirty="0" err="1">
                <a:solidFill>
                  <a:srgbClr val="232323"/>
                </a:solidFill>
                <a:effectLst/>
                <a:latin typeface="Satoshi-Regular"/>
              </a:rPr>
              <a:t>color</a:t>
            </a:r>
            <a:r>
              <a:rPr lang="en-IN" b="0" i="0" dirty="0">
                <a:solidFill>
                  <a:srgbClr val="232323"/>
                </a:solidFill>
                <a:effectLst/>
                <a:latin typeface="Satoshi-Regular"/>
              </a:rPr>
              <a:t> of each rectangle indicate the value.</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a:t>
            </a:r>
            <a:r>
              <a:rPr lang="en-IN" b="0" i="0" dirty="0" err="1">
                <a:solidFill>
                  <a:srgbClr val="232323"/>
                </a:solidFill>
                <a:effectLst/>
                <a:latin typeface="Satoshi-Regular"/>
              </a:rPr>
              <a:t>Analyzing</a:t>
            </a:r>
            <a:r>
              <a:rPr lang="en-IN" b="0" i="0" dirty="0">
                <a:solidFill>
                  <a:srgbClr val="232323"/>
                </a:solidFill>
                <a:effectLst/>
                <a:latin typeface="Satoshi-Regular"/>
              </a:rPr>
              <a:t> count of product by category and manufacturer.</a:t>
            </a:r>
          </a:p>
          <a:p>
            <a:pPr marL="0" indent="0">
              <a:buNone/>
            </a:pPr>
            <a:r>
              <a:rPr lang="en-IN" dirty="0"/>
              <a:t/>
            </a:r>
            <a:br>
              <a:rPr lang="en-IN" dirty="0"/>
            </a:br>
            <a:endParaRPr lang="en-IN" b="0" i="0" dirty="0">
              <a:solidFill>
                <a:srgbClr val="232323"/>
              </a:solidFill>
              <a:effectLst/>
              <a:latin typeface="Satoshi-Regular"/>
            </a:endParaRPr>
          </a:p>
          <a:p>
            <a:endParaRPr lang="en-IN" b="0" i="0" dirty="0">
              <a:solidFill>
                <a:srgbClr val="232323"/>
              </a:solidFill>
              <a:effectLst/>
              <a:latin typeface="Satoshi-Regular"/>
            </a:endParaRPr>
          </a:p>
          <a:p>
            <a:pPr marL="0" indent="0">
              <a:buNone/>
            </a:pP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6" name="Picture 5">
            <a:extLst>
              <a:ext uri="{FF2B5EF4-FFF2-40B4-BE49-F238E27FC236}">
                <a16:creationId xmlns:a16="http://schemas.microsoft.com/office/drawing/2014/main" id="{CBD5175B-91CB-8929-8F3A-0E6868ABD5C2}"/>
              </a:ext>
            </a:extLst>
          </p:cNvPr>
          <p:cNvPicPr>
            <a:picLocks noChangeAspect="1"/>
          </p:cNvPicPr>
          <p:nvPr/>
        </p:nvPicPr>
        <p:blipFill>
          <a:blip r:embed="rId2"/>
          <a:stretch>
            <a:fillRect/>
          </a:stretch>
        </p:blipFill>
        <p:spPr>
          <a:xfrm>
            <a:off x="1965774" y="2621549"/>
            <a:ext cx="7103582" cy="4068500"/>
          </a:xfrm>
          <a:prstGeom prst="rect">
            <a:avLst/>
          </a:prstGeom>
        </p:spPr>
      </p:pic>
    </p:spTree>
    <p:extLst>
      <p:ext uri="{BB962C8B-B14F-4D97-AF65-F5344CB8AC3E}">
        <p14:creationId xmlns:p14="http://schemas.microsoft.com/office/powerpoint/2010/main" val="3000810140"/>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4322A-FF5A-01CF-AB09-BE4966E1E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DBBE7-DF4B-143D-6459-58F3989C2501}"/>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Waterfall Charts</a:t>
            </a:r>
            <a:br>
              <a:rPr lang="en-IN" b="0" i="0" dirty="0">
                <a:solidFill>
                  <a:srgbClr val="232323"/>
                </a:solidFill>
                <a:effectLst/>
                <a:latin typeface="Satoshi-Medium"/>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DEAB5EBB-4572-55A8-5C34-65A5417E8F50}"/>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Waterfall charts</a:t>
            </a:r>
            <a:r>
              <a:rPr lang="en-IN" b="0" i="0" dirty="0">
                <a:solidFill>
                  <a:srgbClr val="232323"/>
                </a:solidFill>
                <a:effectLst/>
                <a:latin typeface="Satoshi-Regular"/>
              </a:rPr>
              <a:t> show the cumulative effect of sequentially introduced positive or negative values, useful for understanding the incremental impacts on a total.</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Illustrating the Total Sales Variance by Fiscal Month.</a:t>
            </a:r>
          </a:p>
          <a:p>
            <a:pPr marL="0" indent="0" algn="just">
              <a:buNone/>
            </a:pPr>
            <a:endParaRPr lang="en-IN" b="0" i="0" dirty="0">
              <a:solidFill>
                <a:srgbClr val="232323"/>
              </a:solidFill>
              <a:effectLst/>
              <a:latin typeface="Satoshi-Regular"/>
            </a:endParaRPr>
          </a:p>
          <a:p>
            <a:pPr marL="0" indent="0">
              <a:buNone/>
            </a:pPr>
            <a:r>
              <a:rPr lang="en-IN" dirty="0"/>
              <a:t/>
            </a:r>
            <a:br>
              <a:rPr lang="en-IN" dirty="0"/>
            </a:br>
            <a:endParaRPr lang="en-IN" b="0" i="0" dirty="0">
              <a:solidFill>
                <a:srgbClr val="232323"/>
              </a:solidFill>
              <a:effectLst/>
              <a:latin typeface="Satoshi-Regular"/>
            </a:endParaRPr>
          </a:p>
          <a:p>
            <a:endParaRPr lang="en-IN" b="0" i="0" dirty="0">
              <a:solidFill>
                <a:srgbClr val="232323"/>
              </a:solidFill>
              <a:effectLst/>
              <a:latin typeface="Satoshi-Regular"/>
            </a:endParaRPr>
          </a:p>
          <a:p>
            <a:pPr marL="0" indent="0">
              <a:buNone/>
            </a:pP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5" name="Picture 4">
            <a:extLst>
              <a:ext uri="{FF2B5EF4-FFF2-40B4-BE49-F238E27FC236}">
                <a16:creationId xmlns:a16="http://schemas.microsoft.com/office/drawing/2014/main" id="{623CE6EA-CFBF-499F-9AF7-695367F291CC}"/>
              </a:ext>
            </a:extLst>
          </p:cNvPr>
          <p:cNvPicPr>
            <a:picLocks noChangeAspect="1"/>
          </p:cNvPicPr>
          <p:nvPr/>
        </p:nvPicPr>
        <p:blipFill>
          <a:blip r:embed="rId2"/>
          <a:stretch>
            <a:fillRect/>
          </a:stretch>
        </p:blipFill>
        <p:spPr>
          <a:xfrm>
            <a:off x="2941975" y="2737076"/>
            <a:ext cx="5804198" cy="3791145"/>
          </a:xfrm>
          <a:prstGeom prst="rect">
            <a:avLst/>
          </a:prstGeom>
        </p:spPr>
      </p:pic>
    </p:spTree>
    <p:extLst>
      <p:ext uri="{BB962C8B-B14F-4D97-AF65-F5344CB8AC3E}">
        <p14:creationId xmlns:p14="http://schemas.microsoft.com/office/powerpoint/2010/main" val="263315641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ACC1-74F1-A3AF-F26A-C4A9F2E6C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7E8F9-E801-2DC0-364E-C6BE4210567C}"/>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Heatmaps</a:t>
            </a:r>
          </a:p>
        </p:txBody>
      </p:sp>
      <p:sp>
        <p:nvSpPr>
          <p:cNvPr id="3" name="Content Placeholder 2">
            <a:extLst>
              <a:ext uri="{FF2B5EF4-FFF2-40B4-BE49-F238E27FC236}">
                <a16:creationId xmlns:a16="http://schemas.microsoft.com/office/drawing/2014/main" id="{490B0038-AF60-C00A-7136-6BCB824145DA}"/>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Heatmaps</a:t>
            </a:r>
            <a:r>
              <a:rPr lang="en-IN" b="0" i="0" dirty="0">
                <a:solidFill>
                  <a:srgbClr val="232323"/>
                </a:solidFill>
                <a:effectLst/>
                <a:latin typeface="Satoshi-Regular"/>
              </a:rPr>
              <a:t> use </a:t>
            </a:r>
            <a:r>
              <a:rPr lang="en-IN" b="0" i="0" dirty="0" err="1">
                <a:solidFill>
                  <a:srgbClr val="232323"/>
                </a:solidFill>
                <a:effectLst/>
                <a:latin typeface="Satoshi-Regular"/>
              </a:rPr>
              <a:t>color</a:t>
            </a:r>
            <a:r>
              <a:rPr lang="en-IN" b="0" i="0" dirty="0">
                <a:solidFill>
                  <a:srgbClr val="232323"/>
                </a:solidFill>
                <a:effectLst/>
                <a:latin typeface="Satoshi-Regular"/>
              </a:rPr>
              <a:t> to represent data density or intensity, making them excellent for spotting patterns and correlations in large data sets.</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Visualizing website traffic across different pages and times.</a:t>
            </a:r>
          </a:p>
          <a:p>
            <a:pPr algn="just"/>
            <a:endParaRPr lang="en-IN" b="0" i="0" dirty="0">
              <a:solidFill>
                <a:srgbClr val="232323"/>
              </a:solidFill>
              <a:effectLst/>
              <a:latin typeface="Satoshi-Regular"/>
            </a:endParaRPr>
          </a:p>
          <a:p>
            <a:pPr marL="0" indent="0" algn="just">
              <a:buNone/>
            </a:pPr>
            <a:endParaRPr lang="en-IN" b="0" i="0" dirty="0">
              <a:solidFill>
                <a:srgbClr val="232323"/>
              </a:solidFill>
              <a:effectLst/>
              <a:latin typeface="Satoshi-Regular"/>
            </a:endParaRPr>
          </a:p>
          <a:p>
            <a:pPr marL="0" indent="0">
              <a:buNone/>
            </a:pPr>
            <a:r>
              <a:rPr lang="en-IN" dirty="0"/>
              <a:t/>
            </a:r>
            <a:br>
              <a:rPr lang="en-IN" dirty="0"/>
            </a:br>
            <a:endParaRPr lang="en-IN" b="0" i="0" dirty="0">
              <a:solidFill>
                <a:srgbClr val="232323"/>
              </a:solidFill>
              <a:effectLst/>
              <a:latin typeface="Satoshi-Regular"/>
            </a:endParaRPr>
          </a:p>
          <a:p>
            <a:endParaRPr lang="en-IN" b="0" i="0" dirty="0">
              <a:solidFill>
                <a:srgbClr val="232323"/>
              </a:solidFill>
              <a:effectLst/>
              <a:latin typeface="Satoshi-Regular"/>
            </a:endParaRPr>
          </a:p>
          <a:p>
            <a:pPr marL="0" indent="0">
              <a:buNone/>
            </a:pP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6" name="Picture 5">
            <a:extLst>
              <a:ext uri="{FF2B5EF4-FFF2-40B4-BE49-F238E27FC236}">
                <a16:creationId xmlns:a16="http://schemas.microsoft.com/office/drawing/2014/main" id="{45B01681-210B-94E9-FC1B-0D9643F162D5}"/>
              </a:ext>
            </a:extLst>
          </p:cNvPr>
          <p:cNvPicPr>
            <a:picLocks noChangeAspect="1"/>
          </p:cNvPicPr>
          <p:nvPr/>
        </p:nvPicPr>
        <p:blipFill>
          <a:blip r:embed="rId2"/>
          <a:stretch>
            <a:fillRect/>
          </a:stretch>
        </p:blipFill>
        <p:spPr>
          <a:xfrm>
            <a:off x="3045296" y="2665834"/>
            <a:ext cx="5454891" cy="3331570"/>
          </a:xfrm>
          <a:prstGeom prst="rect">
            <a:avLst/>
          </a:prstGeom>
        </p:spPr>
      </p:pic>
    </p:spTree>
    <p:extLst>
      <p:ext uri="{BB962C8B-B14F-4D97-AF65-F5344CB8AC3E}">
        <p14:creationId xmlns:p14="http://schemas.microsoft.com/office/powerpoint/2010/main" val="345753344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C222-3279-DF2B-5541-EA22DFE40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0528E-2535-CD5A-5134-8CEE71813565}"/>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Gauge Charts</a:t>
            </a:r>
            <a:br>
              <a:rPr lang="en-IN" b="0" i="0" dirty="0">
                <a:solidFill>
                  <a:srgbClr val="232323"/>
                </a:solidFill>
                <a:effectLst/>
                <a:latin typeface="Satoshi-Medium"/>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37030541-105B-1897-D6AC-D720C8F2D2C3}"/>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Gauge charts</a:t>
            </a:r>
            <a:r>
              <a:rPr lang="en-IN" b="0" i="0" dirty="0">
                <a:solidFill>
                  <a:srgbClr val="232323"/>
                </a:solidFill>
                <a:effectLst/>
                <a:latin typeface="Satoshi-Regular"/>
              </a:rPr>
              <a:t> are used to show progress toward a goal, with a needle indicating the current value against a target.</a:t>
            </a:r>
          </a:p>
          <a:p>
            <a:pPr algn="just"/>
            <a:r>
              <a:rPr lang="en-IN" b="1" i="0" dirty="0">
                <a:solidFill>
                  <a:srgbClr val="232323"/>
                </a:solidFill>
                <a:effectLst/>
                <a:latin typeface="Satoshi-Bold"/>
              </a:rPr>
              <a:t>Usage Example</a:t>
            </a:r>
            <a:r>
              <a:rPr lang="en-IN" b="0" i="0" dirty="0">
                <a:solidFill>
                  <a:srgbClr val="232323"/>
                </a:solidFill>
                <a:effectLst/>
                <a:latin typeface="Satoshi-Regular"/>
              </a:rPr>
              <a:t>: Tracking key performance indicators (KPIs) like monthly sales targets.</a:t>
            </a:r>
          </a:p>
          <a:p>
            <a:pPr algn="just"/>
            <a:endParaRPr lang="en-IN" b="0" i="0" dirty="0">
              <a:solidFill>
                <a:srgbClr val="232323"/>
              </a:solidFill>
              <a:effectLst/>
              <a:latin typeface="Satoshi-Regular"/>
            </a:endParaRPr>
          </a:p>
          <a:p>
            <a:pPr marL="0" indent="0" algn="just">
              <a:buNone/>
            </a:pPr>
            <a:endParaRPr lang="en-IN" b="0" i="0" dirty="0">
              <a:solidFill>
                <a:srgbClr val="232323"/>
              </a:solidFill>
              <a:effectLst/>
              <a:latin typeface="Satoshi-Regular"/>
            </a:endParaRPr>
          </a:p>
          <a:p>
            <a:pPr marL="0" indent="0">
              <a:buNone/>
            </a:pPr>
            <a:r>
              <a:rPr lang="en-IN" dirty="0"/>
              <a:t/>
            </a:r>
            <a:br>
              <a:rPr lang="en-IN" dirty="0"/>
            </a:br>
            <a:endParaRPr lang="en-IN" b="0" i="0" dirty="0">
              <a:solidFill>
                <a:srgbClr val="232323"/>
              </a:solidFill>
              <a:effectLst/>
              <a:latin typeface="Satoshi-Regular"/>
            </a:endParaRPr>
          </a:p>
          <a:p>
            <a:endParaRPr lang="en-IN" b="0" i="0" dirty="0">
              <a:solidFill>
                <a:srgbClr val="232323"/>
              </a:solidFill>
              <a:effectLst/>
              <a:latin typeface="Satoshi-Regular"/>
            </a:endParaRPr>
          </a:p>
          <a:p>
            <a:pPr marL="0" indent="0">
              <a:buNone/>
            </a:pPr>
            <a:endParaRPr lang="en-IN" b="0" i="0" dirty="0">
              <a:solidFill>
                <a:srgbClr val="232323"/>
              </a:solidFill>
              <a:effectLst/>
              <a:latin typeface="Satoshi-Regular"/>
            </a:endParaRPr>
          </a:p>
          <a:p>
            <a:pPr marL="0" indent="0">
              <a:buNone/>
            </a:pPr>
            <a:endParaRPr lang="en-IN" b="0" i="0" u="none" strike="noStrike" dirty="0">
              <a:solidFill>
                <a:srgbClr val="232323"/>
              </a:solidFill>
              <a:effectLst/>
              <a:latin typeface="Satoshi-Regular"/>
            </a:endParaRPr>
          </a:p>
          <a:p>
            <a:pPr algn="just"/>
            <a:endParaRPr lang="en-IN" dirty="0"/>
          </a:p>
        </p:txBody>
      </p:sp>
      <p:pic>
        <p:nvPicPr>
          <p:cNvPr id="5" name="Picture 4">
            <a:extLst>
              <a:ext uri="{FF2B5EF4-FFF2-40B4-BE49-F238E27FC236}">
                <a16:creationId xmlns:a16="http://schemas.microsoft.com/office/drawing/2014/main" id="{0CA532A7-A374-1990-4FBF-B3E7B009E884}"/>
              </a:ext>
            </a:extLst>
          </p:cNvPr>
          <p:cNvPicPr>
            <a:picLocks noChangeAspect="1"/>
          </p:cNvPicPr>
          <p:nvPr/>
        </p:nvPicPr>
        <p:blipFill>
          <a:blip r:embed="rId2"/>
          <a:stretch>
            <a:fillRect/>
          </a:stretch>
        </p:blipFill>
        <p:spPr>
          <a:xfrm>
            <a:off x="2631830" y="2581980"/>
            <a:ext cx="6101623" cy="4052903"/>
          </a:xfrm>
          <a:prstGeom prst="rect">
            <a:avLst/>
          </a:prstGeom>
        </p:spPr>
      </p:pic>
    </p:spTree>
    <p:extLst>
      <p:ext uri="{BB962C8B-B14F-4D97-AF65-F5344CB8AC3E}">
        <p14:creationId xmlns:p14="http://schemas.microsoft.com/office/powerpoint/2010/main" val="177596883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A27C5-4606-786E-3E8B-E51824E44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151B37-D4A6-39DA-5416-934722A9DF9B}"/>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B68FD43A-1C06-0EA2-BD09-2E4C230A8C92}"/>
              </a:ext>
            </a:extLst>
          </p:cNvPr>
          <p:cNvSpPr>
            <a:spLocks noGrp="1"/>
          </p:cNvSpPr>
          <p:nvPr>
            <p:ph sz="half" idx="1"/>
          </p:nvPr>
        </p:nvSpPr>
        <p:spPr>
          <a:xfrm>
            <a:off x="1371599" y="1839432"/>
            <a:ext cx="9601199" cy="5018567"/>
          </a:xfrm>
        </p:spPr>
        <p:txBody>
          <a:bodyPr>
            <a:noAutofit/>
          </a:bodyPr>
          <a:lstStyle/>
          <a:p>
            <a:pPr algn="l"/>
            <a:r>
              <a:rPr lang="en-IN" b="1" i="0" dirty="0">
                <a:solidFill>
                  <a:srgbClr val="000000"/>
                </a:solidFill>
                <a:effectLst/>
                <a:latin typeface="adobe-clean"/>
              </a:rPr>
              <a:t>1. Aster Plot</a:t>
            </a:r>
          </a:p>
          <a:p>
            <a:pPr algn="just">
              <a:spcBef>
                <a:spcPts val="1125"/>
              </a:spcBef>
              <a:spcAft>
                <a:spcPts val="1125"/>
              </a:spcAft>
            </a:pPr>
            <a:r>
              <a:rPr lang="en-IN" b="0" i="0" dirty="0">
                <a:solidFill>
                  <a:srgbClr val="000000"/>
                </a:solidFill>
                <a:effectLst/>
                <a:latin typeface="adobe-clean"/>
              </a:rPr>
              <a:t>Aster plot charts are similar to pie charts and doughnut charts. In the aster plot, you can be able to visualize up to two measures. The first measure controls the depth and the second measure controls the width of each section.</a:t>
            </a:r>
          </a:p>
          <a:p>
            <a:pPr marL="0" indent="0">
              <a:buNone/>
            </a:pPr>
            <a:r>
              <a:rPr lang="en-IN" dirty="0"/>
              <a:t/>
            </a:r>
            <a:br>
              <a:rPr lang="en-IN" dirty="0"/>
            </a:br>
            <a:endParaRPr lang="en-IN" dirty="0"/>
          </a:p>
        </p:txBody>
      </p:sp>
      <p:pic>
        <p:nvPicPr>
          <p:cNvPr id="6" name="Picture 5">
            <a:extLst>
              <a:ext uri="{FF2B5EF4-FFF2-40B4-BE49-F238E27FC236}">
                <a16:creationId xmlns:a16="http://schemas.microsoft.com/office/drawing/2014/main" id="{5660D14C-003A-FDEB-FA1A-8E3CE9A9245F}"/>
              </a:ext>
            </a:extLst>
          </p:cNvPr>
          <p:cNvPicPr>
            <a:picLocks noChangeAspect="1"/>
          </p:cNvPicPr>
          <p:nvPr/>
        </p:nvPicPr>
        <p:blipFill>
          <a:blip r:embed="rId2"/>
          <a:stretch>
            <a:fillRect/>
          </a:stretch>
        </p:blipFill>
        <p:spPr>
          <a:xfrm>
            <a:off x="2955295" y="3300992"/>
            <a:ext cx="4877911" cy="3658433"/>
          </a:xfrm>
          <a:prstGeom prst="rect">
            <a:avLst/>
          </a:prstGeom>
        </p:spPr>
      </p:pic>
    </p:spTree>
    <p:extLst>
      <p:ext uri="{BB962C8B-B14F-4D97-AF65-F5344CB8AC3E}">
        <p14:creationId xmlns:p14="http://schemas.microsoft.com/office/powerpoint/2010/main" val="235569058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4B27-3F63-91C9-BB3A-F32A48BD6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56BB7-0263-3246-02D9-8072CA28B9DF}"/>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30EC3F46-D4EC-BEB2-A1D3-F111382223AF}"/>
              </a:ext>
            </a:extLst>
          </p:cNvPr>
          <p:cNvSpPr>
            <a:spLocks noGrp="1"/>
          </p:cNvSpPr>
          <p:nvPr>
            <p:ph sz="half" idx="1"/>
          </p:nvPr>
        </p:nvSpPr>
        <p:spPr>
          <a:xfrm>
            <a:off x="1371599" y="1839432"/>
            <a:ext cx="9601199" cy="5018567"/>
          </a:xfrm>
        </p:spPr>
        <p:txBody>
          <a:bodyPr>
            <a:noAutofit/>
          </a:bodyPr>
          <a:lstStyle/>
          <a:p>
            <a:pPr algn="l"/>
            <a:r>
              <a:rPr lang="en-IN" b="1" i="0" dirty="0">
                <a:solidFill>
                  <a:srgbClr val="000000"/>
                </a:solidFill>
                <a:effectLst/>
                <a:latin typeface="adobe-clean"/>
              </a:rPr>
              <a:t>2. Bullet Charts</a:t>
            </a:r>
          </a:p>
          <a:p>
            <a:pPr algn="just">
              <a:spcBef>
                <a:spcPts val="1125"/>
              </a:spcBef>
              <a:spcAft>
                <a:spcPts val="1125"/>
              </a:spcAft>
            </a:pPr>
            <a:r>
              <a:rPr lang="en-IN" b="0" i="0" dirty="0">
                <a:solidFill>
                  <a:srgbClr val="000000"/>
                </a:solidFill>
                <a:effectLst/>
                <a:latin typeface="adobe-clean"/>
              </a:rPr>
              <a:t>Bullet charts are the replacement of dashboard gauges and meters. They are useful to compare one or more measures to enrich the data. Bullet charts may be vertical, horizontal and may be stacked to allow the comparison of the data. </a:t>
            </a:r>
          </a:p>
          <a:p>
            <a:pPr marL="0" indent="0">
              <a:buNone/>
            </a:pP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D07EC8CF-17C4-F03C-AA34-F25CAC4394BC}"/>
              </a:ext>
            </a:extLst>
          </p:cNvPr>
          <p:cNvPicPr>
            <a:picLocks noChangeAspect="1"/>
          </p:cNvPicPr>
          <p:nvPr/>
        </p:nvPicPr>
        <p:blipFill>
          <a:blip r:embed="rId2"/>
          <a:stretch>
            <a:fillRect/>
          </a:stretch>
        </p:blipFill>
        <p:spPr>
          <a:xfrm>
            <a:off x="2599511" y="3696816"/>
            <a:ext cx="6503882" cy="1867325"/>
          </a:xfrm>
          <a:prstGeom prst="rect">
            <a:avLst/>
          </a:prstGeom>
        </p:spPr>
      </p:pic>
    </p:spTree>
    <p:extLst>
      <p:ext uri="{BB962C8B-B14F-4D97-AF65-F5344CB8AC3E}">
        <p14:creationId xmlns:p14="http://schemas.microsoft.com/office/powerpoint/2010/main" val="411541240"/>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F04F6-7ECD-3427-F0D5-BDBBB4616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33F03-7860-8F90-B536-C4D2161B64DE}"/>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04482DF9-F51F-0E0A-814D-34007ED0BCFA}"/>
              </a:ext>
            </a:extLst>
          </p:cNvPr>
          <p:cNvSpPr>
            <a:spLocks noGrp="1"/>
          </p:cNvSpPr>
          <p:nvPr>
            <p:ph sz="half" idx="1"/>
          </p:nvPr>
        </p:nvSpPr>
        <p:spPr>
          <a:xfrm>
            <a:off x="1371599" y="1839432"/>
            <a:ext cx="9601199" cy="5018567"/>
          </a:xfrm>
        </p:spPr>
        <p:txBody>
          <a:bodyPr>
            <a:noAutofit/>
          </a:bodyPr>
          <a:lstStyle/>
          <a:p>
            <a:pPr algn="l"/>
            <a:r>
              <a:rPr lang="en-IN" b="1" dirty="0">
                <a:solidFill>
                  <a:srgbClr val="000000"/>
                </a:solidFill>
                <a:latin typeface="adobe-clean"/>
              </a:rPr>
              <a:t>3</a:t>
            </a:r>
            <a:r>
              <a:rPr lang="en-IN" b="1" i="0" dirty="0">
                <a:solidFill>
                  <a:srgbClr val="000000"/>
                </a:solidFill>
                <a:effectLst/>
                <a:latin typeface="adobe-clean"/>
              </a:rPr>
              <a:t>. Calendar Charts</a:t>
            </a:r>
          </a:p>
          <a:p>
            <a:pPr algn="just">
              <a:spcBef>
                <a:spcPts val="1125"/>
              </a:spcBef>
              <a:spcAft>
                <a:spcPts val="1125"/>
              </a:spcAft>
            </a:pPr>
            <a:r>
              <a:rPr lang="en-IN" b="0" i="0" dirty="0">
                <a:solidFill>
                  <a:srgbClr val="000000"/>
                </a:solidFill>
                <a:effectLst/>
                <a:latin typeface="adobe-clean"/>
              </a:rPr>
              <a:t>The calendar charts are unique charts and allow you to represent the distribution of values across a calendar. The custom calendar supports one data field and many measurable columns that are necessary for your project.</a:t>
            </a:r>
          </a:p>
          <a:p>
            <a:pPr marL="0" indent="0">
              <a:buNone/>
            </a:pPr>
            <a:r>
              <a:rPr lang="en-IN" dirty="0"/>
              <a:t/>
            </a:r>
            <a:br>
              <a:rPr lang="en-IN" dirty="0"/>
            </a:br>
            <a:r>
              <a:rPr lang="en-IN" dirty="0"/>
              <a:t/>
            </a:r>
            <a:br>
              <a:rPr lang="en-IN" dirty="0"/>
            </a:br>
            <a:endParaRPr lang="en-IN" dirty="0"/>
          </a:p>
        </p:txBody>
      </p:sp>
      <p:pic>
        <p:nvPicPr>
          <p:cNvPr id="6" name="Picture 5">
            <a:extLst>
              <a:ext uri="{FF2B5EF4-FFF2-40B4-BE49-F238E27FC236}">
                <a16:creationId xmlns:a16="http://schemas.microsoft.com/office/drawing/2014/main" id="{7A4644EF-3389-7465-2118-68BF91EA3EE8}"/>
              </a:ext>
            </a:extLst>
          </p:cNvPr>
          <p:cNvPicPr>
            <a:picLocks noChangeAspect="1"/>
          </p:cNvPicPr>
          <p:nvPr/>
        </p:nvPicPr>
        <p:blipFill>
          <a:blip r:embed="rId2"/>
          <a:stretch>
            <a:fillRect/>
          </a:stretch>
        </p:blipFill>
        <p:spPr>
          <a:xfrm>
            <a:off x="2323064" y="3199567"/>
            <a:ext cx="6503882" cy="3658433"/>
          </a:xfrm>
          <a:prstGeom prst="rect">
            <a:avLst/>
          </a:prstGeom>
        </p:spPr>
      </p:pic>
    </p:spTree>
    <p:extLst>
      <p:ext uri="{BB962C8B-B14F-4D97-AF65-F5344CB8AC3E}">
        <p14:creationId xmlns:p14="http://schemas.microsoft.com/office/powerpoint/2010/main" val="2489653061"/>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B881-B2F7-4FBD-8439-3DDD3AEB5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DD63B-2159-9418-E7CA-E0A7A1CB35B5}"/>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91C4238D-95B0-1A12-D212-F7BB02D55EE3}"/>
              </a:ext>
            </a:extLst>
          </p:cNvPr>
          <p:cNvSpPr>
            <a:spLocks noGrp="1"/>
          </p:cNvSpPr>
          <p:nvPr>
            <p:ph sz="half" idx="1"/>
          </p:nvPr>
        </p:nvSpPr>
        <p:spPr>
          <a:xfrm>
            <a:off x="1371599" y="1839432"/>
            <a:ext cx="9601199" cy="5018567"/>
          </a:xfrm>
        </p:spPr>
        <p:txBody>
          <a:bodyPr>
            <a:noAutofit/>
          </a:bodyPr>
          <a:lstStyle/>
          <a:p>
            <a:r>
              <a:rPr lang="en-IN" b="1" dirty="0">
                <a:solidFill>
                  <a:srgbClr val="000000"/>
                </a:solidFill>
                <a:latin typeface="adobe-clean"/>
              </a:rPr>
              <a:t>4</a:t>
            </a:r>
            <a:r>
              <a:rPr lang="en-IN" b="1" i="0" dirty="0">
                <a:solidFill>
                  <a:srgbClr val="000000"/>
                </a:solidFill>
                <a:effectLst/>
                <a:latin typeface="adobe-clean"/>
              </a:rPr>
              <a:t>. Chiclet Slicer</a:t>
            </a:r>
          </a:p>
          <a:p>
            <a:pPr algn="just">
              <a:spcBef>
                <a:spcPts val="1125"/>
              </a:spcBef>
              <a:spcAft>
                <a:spcPts val="1125"/>
              </a:spcAft>
            </a:pPr>
            <a:r>
              <a:rPr lang="en-IN" b="0" i="0" dirty="0">
                <a:solidFill>
                  <a:srgbClr val="000000"/>
                </a:solidFill>
                <a:effectLst/>
                <a:latin typeface="adobe-clean"/>
              </a:rPr>
              <a:t>Chiclet Slicer is similar to the slicer and it is made of buttons. It has a lot more flexibility and includes the ability to use images instead of text as filters.</a:t>
            </a:r>
          </a:p>
          <a:p>
            <a:pPr marL="0" indent="0">
              <a:buNone/>
            </a:pP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27147B66-A578-9AFE-2D1C-9BFC1BF3EF82}"/>
              </a:ext>
            </a:extLst>
          </p:cNvPr>
          <p:cNvPicPr>
            <a:picLocks noChangeAspect="1"/>
          </p:cNvPicPr>
          <p:nvPr/>
        </p:nvPicPr>
        <p:blipFill>
          <a:blip r:embed="rId2"/>
          <a:stretch>
            <a:fillRect/>
          </a:stretch>
        </p:blipFill>
        <p:spPr>
          <a:xfrm>
            <a:off x="3261319" y="3127368"/>
            <a:ext cx="3309601" cy="3044832"/>
          </a:xfrm>
          <a:prstGeom prst="rect">
            <a:avLst/>
          </a:prstGeom>
        </p:spPr>
      </p:pic>
    </p:spTree>
    <p:extLst>
      <p:ext uri="{BB962C8B-B14F-4D97-AF65-F5344CB8AC3E}">
        <p14:creationId xmlns:p14="http://schemas.microsoft.com/office/powerpoint/2010/main" val="3995478447"/>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487AC-1E2C-02AF-6028-90A12AEB7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58B9D-883D-898A-FF7A-ABCFF7C31049}"/>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390DB38B-7420-6763-E9B4-589D73DDC2C5}"/>
              </a:ext>
            </a:extLst>
          </p:cNvPr>
          <p:cNvSpPr>
            <a:spLocks noGrp="1"/>
          </p:cNvSpPr>
          <p:nvPr>
            <p:ph sz="half" idx="1"/>
          </p:nvPr>
        </p:nvSpPr>
        <p:spPr>
          <a:xfrm>
            <a:off x="1371599" y="1839432"/>
            <a:ext cx="9601199" cy="5018567"/>
          </a:xfrm>
        </p:spPr>
        <p:txBody>
          <a:bodyPr>
            <a:noAutofit/>
          </a:bodyPr>
          <a:lstStyle/>
          <a:p>
            <a:r>
              <a:rPr lang="en-IN" b="1" i="0" dirty="0">
                <a:solidFill>
                  <a:srgbClr val="000000"/>
                </a:solidFill>
                <a:effectLst/>
                <a:latin typeface="adobe-clean"/>
              </a:rPr>
              <a:t>5. Chord</a:t>
            </a:r>
          </a:p>
          <a:p>
            <a:pPr algn="just">
              <a:spcBef>
                <a:spcPts val="1125"/>
              </a:spcBef>
              <a:spcAft>
                <a:spcPts val="1125"/>
              </a:spcAft>
            </a:pPr>
            <a:r>
              <a:rPr lang="en-IN" b="0" i="0" dirty="0">
                <a:solidFill>
                  <a:srgbClr val="000000"/>
                </a:solidFill>
                <a:effectLst/>
                <a:latin typeface="adobe-clean"/>
              </a:rPr>
              <a:t>Chord diagram provides an easy way to identify the interrelationship data visualization in a matrix. A circular chart shows the relationship between the variables, and it connects the data points in the form of an arc in the chord chart. </a:t>
            </a:r>
          </a:p>
          <a:p>
            <a:pPr marL="0" indent="0">
              <a:buNone/>
            </a:pPr>
            <a:r>
              <a:rPr lang="en-IN" dirty="0"/>
              <a:t/>
            </a:r>
            <a:br>
              <a:rPr lang="en-IN" dirty="0"/>
            </a:br>
            <a:r>
              <a:rPr lang="en-IN" dirty="0"/>
              <a:t/>
            </a:r>
            <a:br>
              <a:rPr lang="en-IN" dirty="0"/>
            </a:br>
            <a:endParaRPr lang="en-IN" dirty="0"/>
          </a:p>
        </p:txBody>
      </p:sp>
      <p:pic>
        <p:nvPicPr>
          <p:cNvPr id="6" name="Picture 5">
            <a:extLst>
              <a:ext uri="{FF2B5EF4-FFF2-40B4-BE49-F238E27FC236}">
                <a16:creationId xmlns:a16="http://schemas.microsoft.com/office/drawing/2014/main" id="{A169690E-F1DF-D427-93EE-A263D6F6B50F}"/>
              </a:ext>
            </a:extLst>
          </p:cNvPr>
          <p:cNvPicPr>
            <a:picLocks noChangeAspect="1"/>
          </p:cNvPicPr>
          <p:nvPr/>
        </p:nvPicPr>
        <p:blipFill>
          <a:blip r:embed="rId2"/>
          <a:stretch>
            <a:fillRect/>
          </a:stretch>
        </p:blipFill>
        <p:spPr>
          <a:xfrm>
            <a:off x="3280972" y="3429000"/>
            <a:ext cx="3577027" cy="3034609"/>
          </a:xfrm>
          <a:prstGeom prst="rect">
            <a:avLst/>
          </a:prstGeom>
        </p:spPr>
      </p:pic>
    </p:spTree>
    <p:extLst>
      <p:ext uri="{BB962C8B-B14F-4D97-AF65-F5344CB8AC3E}">
        <p14:creationId xmlns:p14="http://schemas.microsoft.com/office/powerpoint/2010/main" val="82906019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6188A-FA56-F00C-FCD8-AF70758E5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CEE3EC-8D5E-AD26-461D-7A5030141973}"/>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2B7AE3B8-9742-240E-9FCD-1DD52F7DE2D4}"/>
              </a:ext>
            </a:extLst>
          </p:cNvPr>
          <p:cNvSpPr>
            <a:spLocks noGrp="1"/>
          </p:cNvSpPr>
          <p:nvPr>
            <p:ph sz="half" idx="1"/>
          </p:nvPr>
        </p:nvSpPr>
        <p:spPr>
          <a:xfrm>
            <a:off x="1371599" y="1839432"/>
            <a:ext cx="9601199" cy="5018567"/>
          </a:xfrm>
        </p:spPr>
        <p:txBody>
          <a:bodyPr>
            <a:noAutofit/>
          </a:bodyPr>
          <a:lstStyle/>
          <a:p>
            <a:r>
              <a:rPr lang="en-IN" b="1" dirty="0">
                <a:solidFill>
                  <a:srgbClr val="000000"/>
                </a:solidFill>
                <a:latin typeface="adobe-clean"/>
              </a:rPr>
              <a:t>6</a:t>
            </a:r>
            <a:r>
              <a:rPr lang="en-IN" b="1" i="0" dirty="0">
                <a:solidFill>
                  <a:srgbClr val="000000"/>
                </a:solidFill>
                <a:effectLst/>
                <a:latin typeface="adobe-clean"/>
              </a:rPr>
              <a:t>. Dot plot</a:t>
            </a:r>
          </a:p>
          <a:p>
            <a:pPr algn="just">
              <a:spcBef>
                <a:spcPts val="1125"/>
              </a:spcBef>
              <a:spcAft>
                <a:spcPts val="1125"/>
              </a:spcAft>
            </a:pPr>
            <a:r>
              <a:rPr lang="en-IN" b="0" i="0" dirty="0">
                <a:solidFill>
                  <a:srgbClr val="000000"/>
                </a:solidFill>
                <a:effectLst/>
                <a:latin typeface="adobe-clean"/>
              </a:rPr>
              <a:t>A dot plot chart is similar to the scatter chart and bubble chart, and it allows you to compare multiple measures by their magnitudes and represent the data with the dot. It also allows you to plot the data along the x-axis. </a:t>
            </a:r>
          </a:p>
          <a:p>
            <a:pPr marL="0" indent="0">
              <a:buNone/>
            </a:pP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160849F0-94CF-6FE5-47E1-616E8149AA9C}"/>
              </a:ext>
            </a:extLst>
          </p:cNvPr>
          <p:cNvPicPr>
            <a:picLocks noChangeAspect="1"/>
          </p:cNvPicPr>
          <p:nvPr/>
        </p:nvPicPr>
        <p:blipFill>
          <a:blip r:embed="rId2"/>
          <a:srcRect l="-1144" t="-6271" r="1144" b="17606"/>
          <a:stretch/>
        </p:blipFill>
        <p:spPr>
          <a:xfrm>
            <a:off x="2525083" y="3199567"/>
            <a:ext cx="6503882" cy="3243763"/>
          </a:xfrm>
          <a:prstGeom prst="rect">
            <a:avLst/>
          </a:prstGeom>
        </p:spPr>
      </p:pic>
    </p:spTree>
    <p:extLst>
      <p:ext uri="{BB962C8B-B14F-4D97-AF65-F5344CB8AC3E}">
        <p14:creationId xmlns:p14="http://schemas.microsoft.com/office/powerpoint/2010/main" val="1765897479"/>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2D9EF-3537-2911-1FFE-A62AF7474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9203C-5159-62B9-E02F-A5A839103F71}"/>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6509F40D-47B3-33A0-3DBB-5D2C04ABCCF5}"/>
              </a:ext>
            </a:extLst>
          </p:cNvPr>
          <p:cNvSpPr>
            <a:spLocks noGrp="1"/>
          </p:cNvSpPr>
          <p:nvPr>
            <p:ph sz="half" idx="1"/>
          </p:nvPr>
        </p:nvSpPr>
        <p:spPr>
          <a:xfrm>
            <a:off x="1371599" y="1839432"/>
            <a:ext cx="9601199" cy="5018567"/>
          </a:xfrm>
        </p:spPr>
        <p:txBody>
          <a:bodyPr>
            <a:noAutofit/>
          </a:bodyPr>
          <a:lstStyle/>
          <a:p>
            <a:r>
              <a:rPr lang="en-IN" b="1" i="0" dirty="0">
                <a:solidFill>
                  <a:srgbClr val="000000"/>
                </a:solidFill>
                <a:effectLst/>
                <a:latin typeface="adobe-clean"/>
              </a:rPr>
              <a:t>7. Histogram</a:t>
            </a:r>
          </a:p>
          <a:p>
            <a:pPr algn="just">
              <a:spcBef>
                <a:spcPts val="1125"/>
              </a:spcBef>
              <a:spcAft>
                <a:spcPts val="1125"/>
              </a:spcAft>
            </a:pPr>
            <a:r>
              <a:rPr lang="en-IN" b="0" i="0" dirty="0">
                <a:solidFill>
                  <a:srgbClr val="000000"/>
                </a:solidFill>
                <a:effectLst/>
                <a:latin typeface="adobe-clean"/>
              </a:rPr>
              <a:t>A histogram chart is similar to a column chart, and it visualizes the distribution of data over a certain time. Each bar in the histogram shows the frequency at each interval. </a:t>
            </a:r>
          </a:p>
          <a:p>
            <a:pPr marL="0" indent="0">
              <a:buNone/>
            </a:pPr>
            <a:r>
              <a:rPr lang="en-IN" dirty="0"/>
              <a:t/>
            </a:r>
            <a:br>
              <a:rPr lang="en-IN" dirty="0"/>
            </a:br>
            <a:r>
              <a:rPr lang="en-IN" dirty="0"/>
              <a:t/>
            </a:r>
            <a:br>
              <a:rPr lang="en-IN" dirty="0"/>
            </a:br>
            <a:endParaRPr lang="en-IN" dirty="0"/>
          </a:p>
        </p:txBody>
      </p:sp>
      <p:pic>
        <p:nvPicPr>
          <p:cNvPr id="6" name="Picture 5">
            <a:extLst>
              <a:ext uri="{FF2B5EF4-FFF2-40B4-BE49-F238E27FC236}">
                <a16:creationId xmlns:a16="http://schemas.microsoft.com/office/drawing/2014/main" id="{23086BC7-9492-8FF1-872F-FD9FEF795308}"/>
              </a:ext>
            </a:extLst>
          </p:cNvPr>
          <p:cNvPicPr>
            <a:picLocks noChangeAspect="1"/>
          </p:cNvPicPr>
          <p:nvPr/>
        </p:nvPicPr>
        <p:blipFill>
          <a:blip r:embed="rId2"/>
          <a:stretch>
            <a:fillRect/>
          </a:stretch>
        </p:blipFill>
        <p:spPr>
          <a:xfrm>
            <a:off x="2992915" y="3101432"/>
            <a:ext cx="4758220" cy="3756567"/>
          </a:xfrm>
          <a:prstGeom prst="rect">
            <a:avLst/>
          </a:prstGeom>
        </p:spPr>
      </p:pic>
    </p:spTree>
    <p:extLst>
      <p:ext uri="{BB962C8B-B14F-4D97-AF65-F5344CB8AC3E}">
        <p14:creationId xmlns:p14="http://schemas.microsoft.com/office/powerpoint/2010/main" val="195742937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C981-6F6A-AF25-9750-226717214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4C90B-95DA-A6B5-8E29-E08EB64D96C6}"/>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DAB6D3B8-E73B-4D58-A001-72AD842908F0}"/>
              </a:ext>
            </a:extLst>
          </p:cNvPr>
          <p:cNvSpPr>
            <a:spLocks noGrp="1"/>
          </p:cNvSpPr>
          <p:nvPr>
            <p:ph sz="half" idx="1"/>
          </p:nvPr>
        </p:nvSpPr>
        <p:spPr>
          <a:xfrm>
            <a:off x="1371599" y="1839432"/>
            <a:ext cx="9601199" cy="5018567"/>
          </a:xfrm>
        </p:spPr>
        <p:txBody>
          <a:bodyPr>
            <a:noAutofit/>
          </a:bodyPr>
          <a:lstStyle/>
          <a:p>
            <a:pPr algn="l"/>
            <a:r>
              <a:rPr lang="en-IN" b="1" i="0" dirty="0">
                <a:solidFill>
                  <a:srgbClr val="000000"/>
                </a:solidFill>
                <a:effectLst/>
                <a:latin typeface="adobe-clean"/>
              </a:rPr>
              <a:t>8. Radar Chart</a:t>
            </a:r>
          </a:p>
          <a:p>
            <a:pPr algn="just">
              <a:spcBef>
                <a:spcPts val="1125"/>
              </a:spcBef>
              <a:spcAft>
                <a:spcPts val="1125"/>
              </a:spcAft>
            </a:pPr>
            <a:r>
              <a:rPr lang="en-IN" b="0" i="0" dirty="0">
                <a:solidFill>
                  <a:srgbClr val="000000"/>
                </a:solidFill>
                <a:effectLst/>
                <a:latin typeface="adobe-clean"/>
              </a:rPr>
              <a:t>A radar chart is a graphical chart to display various types of data in the form of two-dimensional charts. It compares two or more variables to display on the axes starting from the point. Stream Graph: A stream graph is a type of stacked graph which represents data around the central axis, it shows the changes in the data over a certain time through a flowing, organic shape that resembles a river-like stream.</a:t>
            </a:r>
          </a:p>
          <a:p>
            <a:r>
              <a:rPr lang="en-IN" dirty="0"/>
              <a:t/>
            </a:r>
            <a:br>
              <a:rPr lang="en-IN" dirty="0"/>
            </a:b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48AC9FAF-4D26-0397-1E58-ECDB5D23FC3C}"/>
              </a:ext>
            </a:extLst>
          </p:cNvPr>
          <p:cNvPicPr>
            <a:picLocks noChangeAspect="1"/>
          </p:cNvPicPr>
          <p:nvPr/>
        </p:nvPicPr>
        <p:blipFill>
          <a:blip r:embed="rId2"/>
          <a:stretch>
            <a:fillRect/>
          </a:stretch>
        </p:blipFill>
        <p:spPr>
          <a:xfrm>
            <a:off x="3240970" y="3959388"/>
            <a:ext cx="3627664" cy="3128045"/>
          </a:xfrm>
          <a:prstGeom prst="rect">
            <a:avLst/>
          </a:prstGeom>
        </p:spPr>
      </p:pic>
    </p:spTree>
    <p:extLst>
      <p:ext uri="{BB962C8B-B14F-4D97-AF65-F5344CB8AC3E}">
        <p14:creationId xmlns:p14="http://schemas.microsoft.com/office/powerpoint/2010/main" val="47362877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3A58A-6636-57A9-4D93-373DD605F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A1D4C-6839-8BE8-922C-19844DBE29B0}"/>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9B03C4FC-093A-6E41-45D5-E357BB5B3141}"/>
              </a:ext>
            </a:extLst>
          </p:cNvPr>
          <p:cNvSpPr>
            <a:spLocks noGrp="1"/>
          </p:cNvSpPr>
          <p:nvPr>
            <p:ph sz="half" idx="1"/>
          </p:nvPr>
        </p:nvSpPr>
        <p:spPr>
          <a:xfrm>
            <a:off x="1371599" y="1839432"/>
            <a:ext cx="9601199" cy="5018567"/>
          </a:xfrm>
        </p:spPr>
        <p:txBody>
          <a:bodyPr>
            <a:noAutofit/>
          </a:bodyPr>
          <a:lstStyle/>
          <a:p>
            <a:pPr algn="l"/>
            <a:r>
              <a:rPr lang="en-IN" b="1" i="0" dirty="0">
                <a:solidFill>
                  <a:srgbClr val="000000"/>
                </a:solidFill>
                <a:effectLst/>
                <a:latin typeface="adobe-clean"/>
              </a:rPr>
              <a:t>9.Stream Graph</a:t>
            </a:r>
          </a:p>
          <a:p>
            <a:pPr algn="just">
              <a:spcBef>
                <a:spcPts val="1125"/>
              </a:spcBef>
              <a:spcAft>
                <a:spcPts val="1125"/>
              </a:spcAft>
            </a:pPr>
            <a:r>
              <a:rPr lang="en-IN" b="0" i="0" dirty="0">
                <a:solidFill>
                  <a:srgbClr val="000000"/>
                </a:solidFill>
                <a:effectLst/>
                <a:latin typeface="adobe-clean"/>
              </a:rPr>
              <a:t>A stream graph is a type of stacked graph which represents data around the central axis, it shows the changes in the data over a certain time through a flowing, organic shape that resembles a river-like stream. </a:t>
            </a:r>
          </a:p>
          <a:p>
            <a:pPr marL="0" indent="0">
              <a:buNone/>
            </a:pPr>
            <a:r>
              <a:rPr lang="en-IN" dirty="0"/>
              <a:t/>
            </a:r>
            <a:br>
              <a:rPr lang="en-IN" dirty="0"/>
            </a:br>
            <a:r>
              <a:rPr lang="en-IN" dirty="0"/>
              <a:t/>
            </a:r>
            <a:br>
              <a:rPr lang="en-IN" dirty="0"/>
            </a:br>
            <a:r>
              <a:rPr lang="en-IN" dirty="0"/>
              <a:t/>
            </a:r>
            <a:br>
              <a:rPr lang="en-IN" dirty="0"/>
            </a:br>
            <a:endParaRPr lang="en-IN" dirty="0"/>
          </a:p>
        </p:txBody>
      </p:sp>
      <p:pic>
        <p:nvPicPr>
          <p:cNvPr id="6" name="Picture 5">
            <a:extLst>
              <a:ext uri="{FF2B5EF4-FFF2-40B4-BE49-F238E27FC236}">
                <a16:creationId xmlns:a16="http://schemas.microsoft.com/office/drawing/2014/main" id="{6EFBD288-16FC-8470-3E84-189393675CA7}"/>
              </a:ext>
            </a:extLst>
          </p:cNvPr>
          <p:cNvPicPr>
            <a:picLocks noChangeAspect="1"/>
          </p:cNvPicPr>
          <p:nvPr/>
        </p:nvPicPr>
        <p:blipFill>
          <a:blip r:embed="rId2"/>
          <a:stretch>
            <a:fillRect/>
          </a:stretch>
        </p:blipFill>
        <p:spPr>
          <a:xfrm>
            <a:off x="2812162" y="3429000"/>
            <a:ext cx="4026195" cy="3019646"/>
          </a:xfrm>
          <a:prstGeom prst="rect">
            <a:avLst/>
          </a:prstGeom>
        </p:spPr>
      </p:pic>
    </p:spTree>
    <p:extLst>
      <p:ext uri="{BB962C8B-B14F-4D97-AF65-F5344CB8AC3E}">
        <p14:creationId xmlns:p14="http://schemas.microsoft.com/office/powerpoint/2010/main" val="1280087341"/>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442B-809E-7E0F-75E3-E920F5377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3E469-5059-6CD1-8D48-9AF747A3BE37}"/>
              </a:ext>
            </a:extLst>
          </p:cNvPr>
          <p:cNvSpPr>
            <a:spLocks noGrp="1"/>
          </p:cNvSpPr>
          <p:nvPr>
            <p:ph type="title"/>
          </p:nvPr>
        </p:nvSpPr>
        <p:spPr>
          <a:xfrm>
            <a:off x="1371600" y="685800"/>
            <a:ext cx="10483702" cy="760446"/>
          </a:xfrm>
        </p:spPr>
        <p:txBody>
          <a:bodyPr>
            <a:normAutofit fontScale="90000"/>
          </a:bodyPr>
          <a:lstStyle/>
          <a:p>
            <a:pPr algn="l">
              <a:spcBef>
                <a:spcPts val="1275"/>
              </a:spcBef>
              <a:spcAft>
                <a:spcPts val="1275"/>
              </a:spcAft>
            </a:pPr>
            <a:r>
              <a:rPr lang="en-IN" b="1" i="0" dirty="0">
                <a:solidFill>
                  <a:srgbClr val="000000"/>
                </a:solidFill>
                <a:effectLst/>
                <a:latin typeface="adobe-clean"/>
              </a:rPr>
              <a:t>Power BI - Individual Custom Visualizations Types</a:t>
            </a:r>
            <a:br>
              <a:rPr lang="en-IN" b="1" i="0" dirty="0">
                <a:solidFill>
                  <a:srgbClr val="000000"/>
                </a:solidFill>
                <a:effectLst/>
                <a:latin typeface="adobe-clean"/>
              </a:rPr>
            </a:br>
            <a:r>
              <a:rPr lang="en-IN" dirty="0"/>
              <a:t/>
            </a:r>
            <a:br>
              <a:rPr lang="en-IN" dirty="0"/>
            </a:br>
            <a:endParaRPr lang="en-IN" b="0" i="0" dirty="0">
              <a:solidFill>
                <a:srgbClr val="232323"/>
              </a:solidFill>
              <a:effectLst/>
              <a:latin typeface="Satoshi-Medium"/>
            </a:endParaRPr>
          </a:p>
        </p:txBody>
      </p:sp>
      <p:sp>
        <p:nvSpPr>
          <p:cNvPr id="3" name="Content Placeholder 2">
            <a:extLst>
              <a:ext uri="{FF2B5EF4-FFF2-40B4-BE49-F238E27FC236}">
                <a16:creationId xmlns:a16="http://schemas.microsoft.com/office/drawing/2014/main" id="{A2154C36-D93B-D184-EDFD-4BB1D317AAB9}"/>
              </a:ext>
            </a:extLst>
          </p:cNvPr>
          <p:cNvSpPr>
            <a:spLocks noGrp="1"/>
          </p:cNvSpPr>
          <p:nvPr>
            <p:ph sz="half" idx="1"/>
          </p:nvPr>
        </p:nvSpPr>
        <p:spPr>
          <a:xfrm>
            <a:off x="1371599" y="1839432"/>
            <a:ext cx="9601199" cy="5018567"/>
          </a:xfrm>
        </p:spPr>
        <p:txBody>
          <a:bodyPr>
            <a:noAutofit/>
          </a:bodyPr>
          <a:lstStyle/>
          <a:p>
            <a:r>
              <a:rPr lang="en-IN" b="1" i="0" dirty="0">
                <a:solidFill>
                  <a:srgbClr val="000000"/>
                </a:solidFill>
                <a:effectLst/>
                <a:latin typeface="adobe-clean"/>
              </a:rPr>
              <a:t>9. Sunburst</a:t>
            </a:r>
          </a:p>
          <a:p>
            <a:pPr algn="just">
              <a:spcBef>
                <a:spcPts val="1125"/>
              </a:spcBef>
              <a:spcAft>
                <a:spcPts val="1125"/>
              </a:spcAft>
            </a:pPr>
            <a:r>
              <a:rPr lang="en-IN" b="0" i="0" dirty="0">
                <a:solidFill>
                  <a:srgbClr val="000000"/>
                </a:solidFill>
                <a:effectLst/>
                <a:latin typeface="adobe-clean"/>
              </a:rPr>
              <a:t>The sunburst chart is also called a multi-level pie chart, radial </a:t>
            </a:r>
            <a:r>
              <a:rPr lang="en-IN" b="0" i="0" dirty="0" err="1">
                <a:solidFill>
                  <a:srgbClr val="000000"/>
                </a:solidFill>
                <a:effectLst/>
                <a:latin typeface="adobe-clean"/>
              </a:rPr>
              <a:t>treemap</a:t>
            </a:r>
            <a:r>
              <a:rPr lang="en-IN" b="0" i="0" dirty="0">
                <a:solidFill>
                  <a:srgbClr val="000000"/>
                </a:solidFill>
                <a:effectLst/>
                <a:latin typeface="adobe-clean"/>
              </a:rPr>
              <a:t>, and ring chart which is used to visualize the typical hierarchical data.  It consists of inner circles surrounded by rings of deeper hierarchy levels. The angle of each part is divided equally under its parent node. </a:t>
            </a:r>
          </a:p>
          <a:p>
            <a:pPr marL="0" indent="0">
              <a:buNone/>
            </a:pPr>
            <a:r>
              <a:rPr lang="en-IN" dirty="0"/>
              <a:t/>
            </a:r>
            <a:br>
              <a:rPr lang="en-IN" dirty="0"/>
            </a:br>
            <a:r>
              <a:rPr lang="en-IN" dirty="0"/>
              <a:t/>
            </a:r>
            <a:br>
              <a:rPr lang="en-IN" dirty="0"/>
            </a:br>
            <a:r>
              <a:rPr lang="en-IN" dirty="0"/>
              <a:t/>
            </a:r>
            <a:br>
              <a:rPr lang="en-IN" dirty="0"/>
            </a:br>
            <a:endParaRPr lang="en-IN" dirty="0"/>
          </a:p>
        </p:txBody>
      </p:sp>
      <p:pic>
        <p:nvPicPr>
          <p:cNvPr id="5" name="Picture 4">
            <a:extLst>
              <a:ext uri="{FF2B5EF4-FFF2-40B4-BE49-F238E27FC236}">
                <a16:creationId xmlns:a16="http://schemas.microsoft.com/office/drawing/2014/main" id="{748B8EF5-6844-EF7A-4A58-64345EED5247}"/>
              </a:ext>
            </a:extLst>
          </p:cNvPr>
          <p:cNvPicPr>
            <a:picLocks noChangeAspect="1"/>
          </p:cNvPicPr>
          <p:nvPr/>
        </p:nvPicPr>
        <p:blipFill>
          <a:blip r:embed="rId2"/>
          <a:stretch>
            <a:fillRect/>
          </a:stretch>
        </p:blipFill>
        <p:spPr>
          <a:xfrm>
            <a:off x="3385300" y="3613296"/>
            <a:ext cx="3143091" cy="3143091"/>
          </a:xfrm>
          <a:prstGeom prst="rect">
            <a:avLst/>
          </a:prstGeom>
        </p:spPr>
      </p:pic>
    </p:spTree>
    <p:extLst>
      <p:ext uri="{BB962C8B-B14F-4D97-AF65-F5344CB8AC3E}">
        <p14:creationId xmlns:p14="http://schemas.microsoft.com/office/powerpoint/2010/main" val="183404120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13E81-4F7D-2A8D-51D5-72210CBBD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009EC-5EC2-E829-73AE-FF607D1A4E59}"/>
              </a:ext>
            </a:extLst>
          </p:cNvPr>
          <p:cNvSpPr>
            <a:spLocks noGrp="1"/>
          </p:cNvSpPr>
          <p:nvPr>
            <p:ph type="title"/>
          </p:nvPr>
        </p:nvSpPr>
        <p:spPr>
          <a:xfrm>
            <a:off x="1371600" y="685800"/>
            <a:ext cx="9601200" cy="648478"/>
          </a:xfrm>
        </p:spPr>
        <p:txBody>
          <a:bodyPr>
            <a:normAutofit fontScale="90000"/>
          </a:bodyPr>
          <a:lstStyle/>
          <a:p>
            <a:pPr algn="l"/>
            <a:r>
              <a:rPr lang="en-IN" b="0" i="0" dirty="0">
                <a:solidFill>
                  <a:srgbClr val="232323"/>
                </a:solidFill>
                <a:effectLst/>
                <a:latin typeface="Satoshi-Medium"/>
              </a:rPr>
              <a:t>Activity to do</a:t>
            </a:r>
          </a:p>
        </p:txBody>
      </p:sp>
      <p:sp>
        <p:nvSpPr>
          <p:cNvPr id="3" name="Content Placeholder 2">
            <a:extLst>
              <a:ext uri="{FF2B5EF4-FFF2-40B4-BE49-F238E27FC236}">
                <a16:creationId xmlns:a16="http://schemas.microsoft.com/office/drawing/2014/main" id="{9DBF0893-3050-D208-9F60-347B3C6FE8B4}"/>
              </a:ext>
            </a:extLst>
          </p:cNvPr>
          <p:cNvSpPr>
            <a:spLocks noGrp="1"/>
          </p:cNvSpPr>
          <p:nvPr>
            <p:ph sz="half" idx="1"/>
          </p:nvPr>
        </p:nvSpPr>
        <p:spPr>
          <a:xfrm>
            <a:off x="1371599" y="1446246"/>
            <a:ext cx="9601199" cy="5411754"/>
          </a:xfrm>
        </p:spPr>
        <p:txBody>
          <a:bodyPr>
            <a:noAutofit/>
          </a:bodyPr>
          <a:lstStyle/>
          <a:p>
            <a:pPr algn="just"/>
            <a:r>
              <a:rPr lang="en-IN" b="1" i="0" dirty="0">
                <a:solidFill>
                  <a:srgbClr val="232323"/>
                </a:solidFill>
                <a:effectLst/>
                <a:latin typeface="Satoshi-Bold"/>
              </a:rPr>
              <a:t>Create all Visualization Charts IN Power BI and Explore with Retail sales data.</a:t>
            </a:r>
          </a:p>
          <a:p>
            <a:pPr algn="just"/>
            <a:r>
              <a:rPr lang="en-IN" b="1" dirty="0">
                <a:solidFill>
                  <a:srgbClr val="232323"/>
                </a:solidFill>
                <a:latin typeface="Satoshi-Bold"/>
              </a:rPr>
              <a:t>Use DAX Functions  and create Relation ship and work on</a:t>
            </a:r>
          </a:p>
          <a:p>
            <a:pPr algn="just"/>
            <a:r>
              <a:rPr lang="en-IN" b="1" dirty="0">
                <a:solidFill>
                  <a:srgbClr val="232323"/>
                </a:solidFill>
                <a:latin typeface="Satoshi-Bold"/>
              </a:rPr>
              <a:t>Have your own Data Base and work and that with Problem statement</a:t>
            </a:r>
            <a:endParaRPr lang="en-IN" dirty="0"/>
          </a:p>
        </p:txBody>
      </p:sp>
    </p:spTree>
    <p:extLst>
      <p:ext uri="{BB962C8B-B14F-4D97-AF65-F5344CB8AC3E}">
        <p14:creationId xmlns:p14="http://schemas.microsoft.com/office/powerpoint/2010/main" val="1289121313"/>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6667F-2F77-9EEC-A200-2B704C6D6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2914-B23C-4EDD-6D1E-2F3777FE6F17}"/>
              </a:ext>
            </a:extLst>
          </p:cNvPr>
          <p:cNvSpPr>
            <a:spLocks noGrp="1"/>
          </p:cNvSpPr>
          <p:nvPr>
            <p:ph type="title"/>
          </p:nvPr>
        </p:nvSpPr>
        <p:spPr>
          <a:xfrm>
            <a:off x="1295399" y="2686050"/>
            <a:ext cx="10013303" cy="1485900"/>
          </a:xfrm>
        </p:spPr>
        <p:txBody>
          <a:bodyPr>
            <a:normAutofit/>
          </a:bodyPr>
          <a:lstStyle/>
          <a:p>
            <a:r>
              <a:rPr lang="en-US" b="1" dirty="0"/>
              <a:t>Day 15</a:t>
            </a:r>
            <a:r>
              <a:rPr lang="en-US" dirty="0"/>
              <a:t>: </a:t>
            </a:r>
            <a:r>
              <a:rPr lang="en-IN" dirty="0"/>
              <a:t>Power BI – Interactive Dashboard Creation and Visualization</a:t>
            </a:r>
            <a:endParaRPr lang="en-US" dirty="0"/>
          </a:p>
        </p:txBody>
      </p:sp>
    </p:spTree>
    <p:extLst>
      <p:ext uri="{BB962C8B-B14F-4D97-AF65-F5344CB8AC3E}">
        <p14:creationId xmlns:p14="http://schemas.microsoft.com/office/powerpoint/2010/main" val="548040306"/>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AE5E1-C237-C073-4C8D-47FEB3B3200E}"/>
              </a:ext>
            </a:extLst>
          </p:cNvPr>
          <p:cNvSpPr>
            <a:spLocks noGrp="1"/>
          </p:cNvSpPr>
          <p:nvPr>
            <p:ph type="title"/>
          </p:nvPr>
        </p:nvSpPr>
        <p:spPr/>
        <p:txBody>
          <a:bodyPr/>
          <a:lstStyle/>
          <a:p>
            <a:r>
              <a:rPr lang="en-US" dirty="0"/>
              <a:t>DEVELOPING INTERACTIVE DASHBOARD</a:t>
            </a:r>
            <a:endParaRPr lang="en-IN" dirty="0"/>
          </a:p>
        </p:txBody>
      </p:sp>
      <p:sp>
        <p:nvSpPr>
          <p:cNvPr id="4" name="Rectangle 1">
            <a:extLst>
              <a:ext uri="{FF2B5EF4-FFF2-40B4-BE49-F238E27FC236}">
                <a16:creationId xmlns:a16="http://schemas.microsoft.com/office/drawing/2014/main" id="{62035E7E-4BCF-7080-9162-1F7AC0E8989F}"/>
              </a:ext>
            </a:extLst>
          </p:cNvPr>
          <p:cNvSpPr>
            <a:spLocks noGrp="1" noChangeArrowheads="1"/>
          </p:cNvSpPr>
          <p:nvPr>
            <p:ph idx="1"/>
          </p:nvPr>
        </p:nvSpPr>
        <p:spPr bwMode="auto">
          <a:xfrm>
            <a:off x="1371600" y="1691433"/>
            <a:ext cx="10508774"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Add Interactivity</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Select any visual and use the </a:t>
            </a:r>
            <a:r>
              <a:rPr kumimoji="0" lang="en-US" altLang="en-US" sz="1600" b="1" i="0" u="none" strike="noStrike" cap="none" normalizeH="0" baseline="0" dirty="0">
                <a:ln>
                  <a:noFill/>
                </a:ln>
                <a:solidFill>
                  <a:schemeClr val="tx1"/>
                </a:solidFill>
                <a:effectLst/>
                <a:latin typeface="Arial" panose="020B0604020202020204" pitchFamily="34" charset="0"/>
              </a:rPr>
              <a:t>Filters Pane</a:t>
            </a:r>
            <a:r>
              <a:rPr kumimoji="0" lang="en-US" altLang="en-US" sz="1600" b="0" i="0" u="none" strike="noStrike" cap="none" normalizeH="0" baseline="0" dirty="0">
                <a:ln>
                  <a:noFill/>
                </a:ln>
                <a:solidFill>
                  <a:schemeClr val="tx1"/>
                </a:solidFill>
                <a:effectLst/>
                <a:latin typeface="Arial" panose="020B0604020202020204" pitchFamily="34" charset="0"/>
              </a:rPr>
              <a:t> to apply filters for interactivity.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For example, allow filtering by </a:t>
            </a:r>
            <a:r>
              <a:rPr kumimoji="0" lang="en-US" altLang="en-US" sz="1600" b="0" i="0" u="none" strike="noStrike" cap="none" normalizeH="0" baseline="0" dirty="0">
                <a:ln>
                  <a:noFill/>
                </a:ln>
                <a:solidFill>
                  <a:schemeClr val="tx1"/>
                </a:solidFill>
                <a:effectLst/>
                <a:latin typeface="Arial Unicode MS"/>
              </a:rPr>
              <a:t>Region</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Product</a:t>
            </a:r>
            <a:r>
              <a:rPr kumimoji="0" lang="en-US" altLang="en-US" sz="1600" b="0" i="0" u="none" strike="noStrike" cap="none" normalizeH="0" baseline="0" dirty="0">
                <a:ln>
                  <a:noFill/>
                </a:ln>
                <a:solidFill>
                  <a:schemeClr val="tx1"/>
                </a:solidFill>
                <a:effectLst/>
              </a:rPr>
              <a:t>, or </a:t>
            </a:r>
            <a:r>
              <a:rPr kumimoji="0" lang="en-US" altLang="en-US" sz="1600" b="0" i="0" u="none" strike="noStrike" cap="none" normalizeH="0" baseline="0" dirty="0">
                <a:ln>
                  <a:noFill/>
                </a:ln>
                <a:solidFill>
                  <a:schemeClr val="tx1"/>
                </a:solidFill>
                <a:effectLst/>
                <a:latin typeface="Arial Unicode MS"/>
              </a:rPr>
              <a:t>Store</a:t>
            </a:r>
            <a:r>
              <a:rPr kumimoji="0" lang="en-US" altLang="en-US" sz="16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Slicers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slicers to allow stakeholders to dynamically filter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a </a:t>
            </a:r>
            <a:r>
              <a:rPr kumimoji="0" lang="en-US" altLang="en-US" sz="1600" b="1" i="0" u="none" strike="noStrike" cap="none" normalizeH="0" baseline="0" dirty="0">
                <a:ln>
                  <a:noFill/>
                </a:ln>
                <a:solidFill>
                  <a:schemeClr val="tx1"/>
                </a:solidFill>
                <a:effectLst/>
                <a:latin typeface="Arial" panose="020B0604020202020204" pitchFamily="34" charset="0"/>
              </a:rPr>
              <a:t>Slicer Visual</a:t>
            </a:r>
            <a:r>
              <a:rPr kumimoji="0" lang="en-US" altLang="en-US" sz="1600" b="0" i="0" u="none" strike="noStrike" cap="none" normalizeH="0" baseline="0" dirty="0">
                <a:ln>
                  <a:noFill/>
                </a:ln>
                <a:solidFill>
                  <a:schemeClr val="tx1"/>
                </a:solidFill>
                <a:effectLst/>
                <a:latin typeface="Arial" panose="020B0604020202020204" pitchFamily="34" charset="0"/>
              </a:rPr>
              <a:t> for </a:t>
            </a:r>
            <a:r>
              <a:rPr kumimoji="0" lang="en-US" altLang="en-US" sz="1600" b="0" i="0" u="none" strike="noStrike" cap="none" normalizeH="0" baseline="0" dirty="0">
                <a:ln>
                  <a:noFill/>
                </a:ln>
                <a:solidFill>
                  <a:schemeClr val="tx1"/>
                </a:solidFill>
                <a:effectLst/>
                <a:latin typeface="Arial Unicode MS"/>
              </a:rPr>
              <a:t>Region</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Customers</a:t>
            </a:r>
            <a:r>
              <a:rPr kumimoji="0" lang="en-US" altLang="en-US" sz="1600" b="0" i="0" u="none" strike="noStrike" cap="none" normalizeH="0" baseline="0" dirty="0">
                <a:ln>
                  <a:noFill/>
                </a:ln>
                <a:solidFill>
                  <a:schemeClr val="tx1"/>
                </a:solidFill>
                <a:effectLst/>
              </a:rPr>
              <a:t> table.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another slicer for </a:t>
            </a:r>
            <a:r>
              <a:rPr kumimoji="0" lang="en-US" altLang="en-US" sz="1600" b="0" i="0" u="none" strike="noStrike" cap="none" normalizeH="0" baseline="0" dirty="0" err="1">
                <a:ln>
                  <a:noFill/>
                </a:ln>
                <a:solidFill>
                  <a:schemeClr val="tx1"/>
                </a:solidFill>
                <a:effectLst/>
                <a:latin typeface="Arial Unicode MS"/>
              </a:rPr>
              <a:t>SaleDate</a:t>
            </a:r>
            <a:r>
              <a:rPr kumimoji="0" lang="en-US" altLang="en-US" sz="1600" b="0" i="0" u="none" strike="noStrike" cap="none" normalizeH="0" baseline="0" dirty="0">
                <a:ln>
                  <a:noFill/>
                </a:ln>
                <a:solidFill>
                  <a:schemeClr val="tx1"/>
                </a:solidFill>
                <a:effectLst/>
              </a:rPr>
              <a:t> from the </a:t>
            </a:r>
            <a:r>
              <a:rPr kumimoji="0" lang="en-US" altLang="en-US" sz="1600" b="0" i="0" u="none" strike="noStrike" cap="none" normalizeH="0" baseline="0" dirty="0">
                <a:ln>
                  <a:noFill/>
                </a:ln>
                <a:solidFill>
                  <a:schemeClr val="tx1"/>
                </a:solidFill>
                <a:effectLst/>
                <a:latin typeface="Arial Unicode MS"/>
              </a:rPr>
              <a:t>Sales</a:t>
            </a:r>
            <a:r>
              <a:rPr kumimoji="0" lang="en-US" altLang="en-US" sz="1600" b="0" i="0" u="none" strike="noStrike" cap="none" normalizeH="0" baseline="0" dirty="0">
                <a:ln>
                  <a:noFill/>
                </a:ln>
                <a:solidFill>
                  <a:schemeClr val="tx1"/>
                </a:solidFill>
                <a:effectLst/>
              </a:rPr>
              <a:t> table, setting it as a date range.</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err="1">
                <a:ln>
                  <a:noFill/>
                </a:ln>
                <a:solidFill>
                  <a:schemeClr val="tx1"/>
                </a:solidFill>
                <a:effectLst/>
                <a:latin typeface="Arial" panose="020B0604020202020204" pitchFamily="34" charset="0"/>
              </a:rPr>
              <a:t>Drillthrough</a:t>
            </a:r>
            <a:r>
              <a:rPr kumimoji="0" lang="en-US" altLang="en-US" sz="1600" b="1" i="0" u="none" strike="noStrike" cap="none" normalizeH="0" baseline="0" dirty="0">
                <a:ln>
                  <a:noFill/>
                </a:ln>
                <a:solidFill>
                  <a:schemeClr val="tx1"/>
                </a:solidFill>
                <a:effectLst/>
                <a:latin typeface="Arial" panose="020B0604020202020204" pitchFamily="34" charset="0"/>
              </a:rPr>
              <a:t> Filters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Enable </a:t>
            </a:r>
            <a:r>
              <a:rPr kumimoji="0" lang="en-US" altLang="en-US" sz="1600" b="0" i="0" u="none" strike="noStrike" cap="none" normalizeH="0" baseline="0" dirty="0" err="1">
                <a:ln>
                  <a:noFill/>
                </a:ln>
                <a:solidFill>
                  <a:schemeClr val="tx1"/>
                </a:solidFill>
                <a:effectLst/>
                <a:latin typeface="Arial" panose="020B0604020202020204" pitchFamily="34" charset="0"/>
              </a:rPr>
              <a:t>drillthrough</a:t>
            </a:r>
            <a:r>
              <a:rPr kumimoji="0" lang="en-US" altLang="en-US" sz="1600" b="0" i="0" u="none" strike="noStrike" cap="none" normalizeH="0" baseline="0" dirty="0">
                <a:ln>
                  <a:noFill/>
                </a:ln>
                <a:solidFill>
                  <a:schemeClr val="tx1"/>
                </a:solidFill>
                <a:effectLst/>
                <a:latin typeface="Arial" panose="020B0604020202020204" pitchFamily="34" charset="0"/>
              </a:rPr>
              <a:t> by creating a separate page focused on specific details: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For example, create a detailed page for </a:t>
            </a:r>
            <a:r>
              <a:rPr kumimoji="0" lang="en-US" altLang="en-US" sz="1600" b="0" i="0" u="none" strike="noStrike" cap="none" normalizeH="0" baseline="0" dirty="0">
                <a:ln>
                  <a:noFill/>
                </a:ln>
                <a:solidFill>
                  <a:schemeClr val="tx1"/>
                </a:solidFill>
                <a:effectLst/>
                <a:latin typeface="Arial Unicode MS"/>
              </a:rPr>
              <a:t>Product Performance</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fields like </a:t>
            </a:r>
            <a:r>
              <a:rPr kumimoji="0" lang="en-US" altLang="en-US" sz="1600" b="0" i="0" u="none" strike="noStrike" cap="none" normalizeH="0" baseline="0" dirty="0">
                <a:ln>
                  <a:noFill/>
                </a:ln>
                <a:solidFill>
                  <a:schemeClr val="tx1"/>
                </a:solidFill>
                <a:effectLst/>
                <a:latin typeface="Arial Unicode MS"/>
              </a:rPr>
              <a:t>ProductName</a:t>
            </a:r>
            <a:r>
              <a:rPr kumimoji="0" lang="en-US" altLang="en-US" sz="1600" b="0" i="0" u="none" strike="noStrike" cap="none" normalizeH="0" baseline="0" dirty="0">
                <a:ln>
                  <a:noFill/>
                </a:ln>
                <a:solidFill>
                  <a:schemeClr val="tx1"/>
                </a:solidFill>
                <a:effectLst/>
              </a:rPr>
              <a:t> and related measures.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Set up the </a:t>
            </a:r>
            <a:r>
              <a:rPr kumimoji="0" lang="en-US" altLang="en-US" sz="1600" b="0" i="0" u="none" strike="noStrike" cap="none" normalizeH="0" baseline="0" dirty="0" err="1">
                <a:ln>
                  <a:noFill/>
                </a:ln>
                <a:solidFill>
                  <a:schemeClr val="tx1"/>
                </a:solidFill>
                <a:effectLst/>
                <a:latin typeface="Arial" panose="020B0604020202020204" pitchFamily="34" charset="0"/>
              </a:rPr>
              <a:t>drillthrough</a:t>
            </a:r>
            <a:r>
              <a:rPr kumimoji="0" lang="en-US" altLang="en-US" sz="1600" b="0" i="0" u="none" strike="noStrike" cap="none" normalizeH="0" baseline="0" dirty="0">
                <a:ln>
                  <a:noFill/>
                </a:ln>
                <a:solidFill>
                  <a:schemeClr val="tx1"/>
                </a:solidFill>
                <a:effectLst/>
                <a:latin typeface="Arial" panose="020B0604020202020204" pitchFamily="34" charset="0"/>
              </a:rPr>
              <a:t> filter using </a:t>
            </a:r>
            <a:r>
              <a:rPr kumimoji="0" lang="en-US" altLang="en-US" sz="1600" b="0" i="0" u="none" strike="noStrike" cap="none" normalizeH="0" baseline="0" dirty="0">
                <a:ln>
                  <a:noFill/>
                </a:ln>
                <a:solidFill>
                  <a:schemeClr val="tx1"/>
                </a:solidFill>
                <a:effectLst/>
                <a:latin typeface="Arial Unicode MS"/>
              </a:rPr>
              <a:t>ProductName</a:t>
            </a:r>
            <a:r>
              <a:rPr kumimoji="0" lang="en-US" altLang="en-US" sz="1600" b="0" i="0" u="none" strike="noStrike" cap="none" normalizeH="0" baseline="0" dirty="0">
                <a:ln>
                  <a:noFill/>
                </a:ln>
                <a:solidFill>
                  <a:schemeClr val="tx1"/>
                </a:solidFill>
                <a:effectLst/>
              </a:rPr>
              <a:t>.</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Tooltips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Enhance visuals with additional context by enabling tooltips: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Select a visual, go to </a:t>
            </a:r>
            <a:r>
              <a:rPr kumimoji="0" lang="en-US" altLang="en-US" sz="1600" b="1" i="0" u="none" strike="noStrike" cap="none" normalizeH="0" baseline="0" dirty="0">
                <a:ln>
                  <a:noFill/>
                </a:ln>
                <a:solidFill>
                  <a:schemeClr val="tx1"/>
                </a:solidFill>
                <a:effectLst/>
                <a:latin typeface="Arial" panose="020B0604020202020204" pitchFamily="34" charset="0"/>
              </a:rPr>
              <a:t>Format Pane</a:t>
            </a:r>
            <a:r>
              <a:rPr kumimoji="0" lang="en-US" altLang="en-US" sz="1600" b="0" i="0" u="none" strike="noStrike" cap="none" normalizeH="0" baseline="0" dirty="0">
                <a:ln>
                  <a:noFill/>
                </a:ln>
                <a:solidFill>
                  <a:schemeClr val="tx1"/>
                </a:solidFill>
                <a:effectLst/>
                <a:latin typeface="Arial" panose="020B0604020202020204" pitchFamily="34" charset="0"/>
              </a:rPr>
              <a:t> &gt; </a:t>
            </a:r>
            <a:r>
              <a:rPr kumimoji="0" lang="en-US" altLang="en-US" sz="1600" b="1" i="0" u="none" strike="noStrike" cap="none" normalizeH="0" baseline="0" dirty="0">
                <a:ln>
                  <a:noFill/>
                </a:ln>
                <a:solidFill>
                  <a:schemeClr val="tx1"/>
                </a:solidFill>
                <a:effectLst/>
                <a:latin typeface="Arial" panose="020B0604020202020204" pitchFamily="34" charset="0"/>
              </a:rPr>
              <a:t>Tooltip</a:t>
            </a:r>
            <a:r>
              <a:rPr kumimoji="0" lang="en-US" altLang="en-US" sz="1600" b="0" i="0" u="none" strike="noStrike" cap="none" normalizeH="0" baseline="0" dirty="0">
                <a:ln>
                  <a:noFill/>
                </a:ln>
                <a:solidFill>
                  <a:schemeClr val="tx1"/>
                </a:solidFill>
                <a:effectLst/>
                <a:latin typeface="Arial" panose="020B0604020202020204" pitchFamily="34" charset="0"/>
              </a:rPr>
              <a:t>, and customize what appears when hovering over data points.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1761483"/>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A08E4-6A00-AFCB-3F79-A66AFC1A6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F2435-F89B-9ED2-6F88-E73BD714AA80}"/>
              </a:ext>
            </a:extLst>
          </p:cNvPr>
          <p:cNvSpPr>
            <a:spLocks noGrp="1"/>
          </p:cNvSpPr>
          <p:nvPr>
            <p:ph type="title"/>
          </p:nvPr>
        </p:nvSpPr>
        <p:spPr/>
        <p:txBody>
          <a:bodyPr>
            <a:normAutofit/>
          </a:bodyPr>
          <a:lstStyle/>
          <a:p>
            <a:pPr algn="l" fontAlgn="base">
              <a:spcBef>
                <a:spcPts val="975"/>
              </a:spcBef>
            </a:pPr>
            <a:r>
              <a:rPr lang="en-IN" b="1" i="0" dirty="0">
                <a:solidFill>
                  <a:srgbClr val="273239"/>
                </a:solidFill>
                <a:effectLst/>
                <a:latin typeface="Source Sans 3"/>
              </a:rPr>
              <a:t>Understanding Filters in Power BI</a:t>
            </a:r>
            <a:endParaRPr lang="en-IN" dirty="0"/>
          </a:p>
        </p:txBody>
      </p:sp>
      <p:sp>
        <p:nvSpPr>
          <p:cNvPr id="4" name="Rectangle 1">
            <a:extLst>
              <a:ext uri="{FF2B5EF4-FFF2-40B4-BE49-F238E27FC236}">
                <a16:creationId xmlns:a16="http://schemas.microsoft.com/office/drawing/2014/main" id="{5BC99183-44F8-4106-8A03-707564F87474}"/>
              </a:ext>
            </a:extLst>
          </p:cNvPr>
          <p:cNvSpPr>
            <a:spLocks noGrp="1" noChangeArrowheads="1"/>
          </p:cNvSpPr>
          <p:nvPr>
            <p:ph idx="1"/>
          </p:nvPr>
        </p:nvSpPr>
        <p:spPr bwMode="auto">
          <a:xfrm>
            <a:off x="1125893" y="1516467"/>
            <a:ext cx="635725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dirty="0">
                <a:solidFill>
                  <a:srgbClr val="273239"/>
                </a:solidFill>
                <a:latin typeface="Nunito" pitchFamily="2" charset="0"/>
              </a:rPr>
              <a:t>Power BI </a:t>
            </a:r>
            <a:r>
              <a:rPr lang="en-IN" b="0" i="0" dirty="0">
                <a:solidFill>
                  <a:srgbClr val="273239"/>
                </a:solidFill>
                <a:effectLst/>
                <a:latin typeface="Nunito" pitchFamily="2" charset="0"/>
              </a:rPr>
              <a:t>filters are used to extract the required information from the huge amount of dataset and then it controls what type of information should be present in the report and visuals. </a:t>
            </a:r>
          </a:p>
          <a:p>
            <a:pPr marL="0" marR="0" lvl="0" indent="0" algn="l" defTabSz="914400" rtl="0" eaLnBrk="0" fontAlgn="base" latinLnBrk="0" hangingPunct="0">
              <a:lnSpc>
                <a:spcPct val="100000"/>
              </a:lnSpc>
              <a:spcBef>
                <a:spcPct val="0"/>
              </a:spcBef>
              <a:spcAft>
                <a:spcPct val="0"/>
              </a:spcAft>
              <a:buClrTx/>
              <a:buSzTx/>
              <a:buNone/>
              <a:tabLst/>
            </a:pPr>
            <a:endParaRPr lang="en-IN" b="0" i="0" dirty="0">
              <a:solidFill>
                <a:srgbClr val="273239"/>
              </a:solidFill>
              <a:effectLst/>
              <a:latin typeface="Nunito" pitchFamily="2"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b="0" i="0" dirty="0">
                <a:solidFill>
                  <a:srgbClr val="273239"/>
                </a:solidFill>
                <a:effectLst/>
                <a:latin typeface="Nunito" pitchFamily="2" charset="0"/>
              </a:rPr>
              <a:t>The main goal of the Power BI filter is to focus on a special kind of subset of data from the dataset based on its specific conditions.</a:t>
            </a:r>
          </a:p>
          <a:p>
            <a:pPr marL="0" marR="0" lvl="0" indent="0" algn="l" defTabSz="914400" rtl="0" eaLnBrk="0" fontAlgn="base" latinLnBrk="0" hangingPunct="0">
              <a:lnSpc>
                <a:spcPct val="100000"/>
              </a:lnSpc>
              <a:spcBef>
                <a:spcPct val="0"/>
              </a:spcBef>
              <a:spcAft>
                <a:spcPct val="0"/>
              </a:spcAft>
              <a:buClrTx/>
              <a:buSzTx/>
              <a:buNone/>
              <a:tabLst/>
            </a:pPr>
            <a:r>
              <a:rPr lang="en-IN" b="0" i="0" dirty="0">
                <a:solidFill>
                  <a:srgbClr val="273239"/>
                </a:solidFill>
                <a:effectLst/>
                <a:latin typeface="Nunito" pitchFamily="2" charset="0"/>
              </a:rPr>
              <a:t> </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b="0" i="0" dirty="0">
                <a:solidFill>
                  <a:srgbClr val="273239"/>
                </a:solidFill>
                <a:effectLst/>
                <a:latin typeface="Nunito" pitchFamily="2" charset="0"/>
              </a:rPr>
              <a:t>So the power BI filters only target specific types of subsets from the dataset according to its given criteria.</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IN" b="0" i="0" dirty="0">
              <a:solidFill>
                <a:srgbClr val="273239"/>
              </a:solidFill>
              <a:effectLst/>
              <a:latin typeface="Nunito" pitchFamily="2"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b="0" i="0" dirty="0">
                <a:solidFill>
                  <a:srgbClr val="273239"/>
                </a:solidFill>
                <a:effectLst/>
                <a:latin typeface="Nunito" pitchFamily="2" charset="0"/>
              </a:rPr>
              <a:t>When you open the Power BI report with its dataset, the filters panel is located on the right side of your screen.</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F6C6425-86A1-77E4-2D02-D83C3E6EEB54}"/>
              </a:ext>
            </a:extLst>
          </p:cNvPr>
          <p:cNvPicPr>
            <a:picLocks noChangeAspect="1"/>
          </p:cNvPicPr>
          <p:nvPr/>
        </p:nvPicPr>
        <p:blipFill>
          <a:blip r:embed="rId2"/>
          <a:stretch>
            <a:fillRect/>
          </a:stretch>
        </p:blipFill>
        <p:spPr>
          <a:xfrm>
            <a:off x="7641771" y="1428750"/>
            <a:ext cx="4030823" cy="4852978"/>
          </a:xfrm>
          <a:prstGeom prst="rect">
            <a:avLst/>
          </a:prstGeom>
        </p:spPr>
      </p:pic>
    </p:spTree>
    <p:extLst>
      <p:ext uri="{BB962C8B-B14F-4D97-AF65-F5344CB8AC3E}">
        <p14:creationId xmlns:p14="http://schemas.microsoft.com/office/powerpoint/2010/main" val="3465985340"/>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4C21B-ED8E-C642-19AA-38353CEF5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6F8E1-E549-029F-ABEB-E12D6C554A1E}"/>
              </a:ext>
            </a:extLst>
          </p:cNvPr>
          <p:cNvSpPr>
            <a:spLocks noGrp="1"/>
          </p:cNvSpPr>
          <p:nvPr>
            <p:ph type="title"/>
          </p:nvPr>
        </p:nvSpPr>
        <p:spPr/>
        <p:txBody>
          <a:bodyPr>
            <a:normAutofit/>
          </a:bodyPr>
          <a:lstStyle/>
          <a:p>
            <a:pPr algn="l" fontAlgn="base">
              <a:spcBef>
                <a:spcPts val="1800"/>
              </a:spcBef>
              <a:spcAft>
                <a:spcPts val="1800"/>
              </a:spcAft>
            </a:pPr>
            <a:r>
              <a:rPr lang="en-IN" sz="4000" b="1" i="0" dirty="0">
                <a:solidFill>
                  <a:srgbClr val="273239"/>
                </a:solidFill>
                <a:effectLst/>
                <a:latin typeface="Nunito" pitchFamily="2" charset="0"/>
              </a:rPr>
              <a:t>How to add Power BI Filter to a Visual</a:t>
            </a:r>
            <a:endParaRPr lang="en-IN" sz="4000" dirty="0"/>
          </a:p>
        </p:txBody>
      </p:sp>
      <p:pic>
        <p:nvPicPr>
          <p:cNvPr id="6" name="Picture 5">
            <a:extLst>
              <a:ext uri="{FF2B5EF4-FFF2-40B4-BE49-F238E27FC236}">
                <a16:creationId xmlns:a16="http://schemas.microsoft.com/office/drawing/2014/main" id="{D524A9A2-DD40-02AE-252F-077DDFE30B94}"/>
              </a:ext>
            </a:extLst>
          </p:cNvPr>
          <p:cNvPicPr>
            <a:picLocks noChangeAspect="1"/>
          </p:cNvPicPr>
          <p:nvPr/>
        </p:nvPicPr>
        <p:blipFill>
          <a:blip r:embed="rId2"/>
          <a:stretch>
            <a:fillRect/>
          </a:stretch>
        </p:blipFill>
        <p:spPr>
          <a:xfrm>
            <a:off x="2713846" y="3102265"/>
            <a:ext cx="6243541" cy="3334463"/>
          </a:xfrm>
          <a:prstGeom prst="rect">
            <a:avLst/>
          </a:prstGeom>
        </p:spPr>
      </p:pic>
      <p:sp>
        <p:nvSpPr>
          <p:cNvPr id="8" name="Content Placeholder 2">
            <a:extLst>
              <a:ext uri="{FF2B5EF4-FFF2-40B4-BE49-F238E27FC236}">
                <a16:creationId xmlns:a16="http://schemas.microsoft.com/office/drawing/2014/main" id="{EFC2D123-2113-2675-F2AA-95283F96BC73}"/>
              </a:ext>
            </a:extLst>
          </p:cNvPr>
          <p:cNvSpPr txBox="1">
            <a:spLocks/>
          </p:cNvSpPr>
          <p:nvPr/>
        </p:nvSpPr>
        <p:spPr>
          <a:xfrm>
            <a:off x="1371600" y="1268965"/>
            <a:ext cx="9601199"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1:</a:t>
            </a:r>
            <a:r>
              <a:rPr lang="en-IN" b="0" i="0" dirty="0">
                <a:solidFill>
                  <a:srgbClr val="273239"/>
                </a:solidFill>
                <a:effectLst/>
                <a:latin typeface="Nunito" pitchFamily="2" charset="0"/>
              </a:rPr>
              <a:t> Select the visual that can be any chart, table, card, etc. to which you want to add the filter. when you select the visual the “Filters on this visual” option displays inside the Filters panel. As you can see in the below screenshot we created a pie chart as a visual and we select that pie chart after selecting it, the “Filters on this visual” option get displayed inside the Filters panel.</a:t>
            </a:r>
          </a:p>
        </p:txBody>
      </p:sp>
    </p:spTree>
    <p:extLst>
      <p:ext uri="{BB962C8B-B14F-4D97-AF65-F5344CB8AC3E}">
        <p14:creationId xmlns:p14="http://schemas.microsoft.com/office/powerpoint/2010/main" val="2977272264"/>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3D445-25BE-16F3-6685-6EB76CF5A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64AD7-FF5C-E78F-DC0B-AD393F144185}"/>
              </a:ext>
            </a:extLst>
          </p:cNvPr>
          <p:cNvSpPr>
            <a:spLocks noGrp="1"/>
          </p:cNvSpPr>
          <p:nvPr>
            <p:ph type="title"/>
          </p:nvPr>
        </p:nvSpPr>
        <p:spPr/>
        <p:txBody>
          <a:bodyPr>
            <a:normAutofit/>
          </a:bodyPr>
          <a:lstStyle/>
          <a:p>
            <a:pPr algn="l" fontAlgn="base">
              <a:spcBef>
                <a:spcPts val="1800"/>
              </a:spcBef>
              <a:spcAft>
                <a:spcPts val="1800"/>
              </a:spcAft>
            </a:pPr>
            <a:r>
              <a:rPr lang="en-IN" sz="4000" b="1" i="0" dirty="0">
                <a:solidFill>
                  <a:srgbClr val="273239"/>
                </a:solidFill>
                <a:effectLst/>
                <a:latin typeface="Nunito" pitchFamily="2" charset="0"/>
              </a:rPr>
              <a:t>How to add Power BI Filter to a Visual</a:t>
            </a:r>
            <a:endParaRPr lang="en-IN" sz="4000" dirty="0"/>
          </a:p>
        </p:txBody>
      </p:sp>
      <p:sp>
        <p:nvSpPr>
          <p:cNvPr id="8" name="Content Placeholder 2">
            <a:extLst>
              <a:ext uri="{FF2B5EF4-FFF2-40B4-BE49-F238E27FC236}">
                <a16:creationId xmlns:a16="http://schemas.microsoft.com/office/drawing/2014/main" id="{0BC37A48-532C-B5BD-A90A-DA09E50DDC76}"/>
              </a:ext>
            </a:extLst>
          </p:cNvPr>
          <p:cNvSpPr txBox="1">
            <a:spLocks/>
          </p:cNvSpPr>
          <p:nvPr/>
        </p:nvSpPr>
        <p:spPr>
          <a:xfrm>
            <a:off x="1371600" y="1268965"/>
            <a:ext cx="9601199"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2:</a:t>
            </a:r>
            <a:r>
              <a:rPr lang="en-IN" b="0" i="0" dirty="0">
                <a:solidFill>
                  <a:srgbClr val="273239"/>
                </a:solidFill>
                <a:effectLst/>
                <a:latin typeface="Nunito" pitchFamily="2" charset="0"/>
              </a:rPr>
              <a:t> Drag and drop the fields from the data panel inside the respective fields to populate the visual. As You can see in the below screenshot, we drag the Country, Product, and Qty Sold fields from the data panel and then drop them inside the respective fields under the visualization panel.</a:t>
            </a:r>
          </a:p>
          <a:p>
            <a:endParaRPr lang="en-IN"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CF4B2F22-E213-18F6-ACC8-770FB296F8EA}"/>
              </a:ext>
            </a:extLst>
          </p:cNvPr>
          <p:cNvPicPr>
            <a:picLocks noChangeAspect="1"/>
          </p:cNvPicPr>
          <p:nvPr/>
        </p:nvPicPr>
        <p:blipFill>
          <a:blip r:embed="rId2"/>
          <a:stretch>
            <a:fillRect/>
          </a:stretch>
        </p:blipFill>
        <p:spPr>
          <a:xfrm>
            <a:off x="3676650" y="2607501"/>
            <a:ext cx="3069383" cy="3879023"/>
          </a:xfrm>
          <a:prstGeom prst="rect">
            <a:avLst/>
          </a:prstGeom>
        </p:spPr>
      </p:pic>
    </p:spTree>
    <p:extLst>
      <p:ext uri="{BB962C8B-B14F-4D97-AF65-F5344CB8AC3E}">
        <p14:creationId xmlns:p14="http://schemas.microsoft.com/office/powerpoint/2010/main" val="2170594052"/>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B4C0A-FEB7-8A00-CDF5-0584B02AC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5C163-5347-0652-58D1-F20EE40B248E}"/>
              </a:ext>
            </a:extLst>
          </p:cNvPr>
          <p:cNvSpPr>
            <a:spLocks noGrp="1"/>
          </p:cNvSpPr>
          <p:nvPr>
            <p:ph type="title"/>
          </p:nvPr>
        </p:nvSpPr>
        <p:spPr/>
        <p:txBody>
          <a:bodyPr>
            <a:normAutofit/>
          </a:bodyPr>
          <a:lstStyle/>
          <a:p>
            <a:pPr algn="l" fontAlgn="base">
              <a:spcBef>
                <a:spcPts val="1800"/>
              </a:spcBef>
              <a:spcAft>
                <a:spcPts val="1800"/>
              </a:spcAft>
            </a:pPr>
            <a:r>
              <a:rPr lang="en-IN" sz="4000" b="1" i="0" dirty="0">
                <a:solidFill>
                  <a:srgbClr val="273239"/>
                </a:solidFill>
                <a:effectLst/>
                <a:latin typeface="Nunito" pitchFamily="2" charset="0"/>
              </a:rPr>
              <a:t>How to add Power BI Filter to a Visual</a:t>
            </a:r>
            <a:endParaRPr lang="en-IN" sz="4000" dirty="0"/>
          </a:p>
        </p:txBody>
      </p:sp>
      <p:sp>
        <p:nvSpPr>
          <p:cNvPr id="8" name="Content Placeholder 2">
            <a:extLst>
              <a:ext uri="{FF2B5EF4-FFF2-40B4-BE49-F238E27FC236}">
                <a16:creationId xmlns:a16="http://schemas.microsoft.com/office/drawing/2014/main" id="{ED9BB74E-7829-7550-A492-C5DC2658B8D3}"/>
              </a:ext>
            </a:extLst>
          </p:cNvPr>
          <p:cNvSpPr txBox="1">
            <a:spLocks/>
          </p:cNvSpPr>
          <p:nvPr/>
        </p:nvSpPr>
        <p:spPr>
          <a:xfrm>
            <a:off x="1371600" y="1268965"/>
            <a:ext cx="9601199"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3</a:t>
            </a:r>
            <a:r>
              <a:rPr lang="en-IN" b="0" i="0" dirty="0">
                <a:solidFill>
                  <a:srgbClr val="273239"/>
                </a:solidFill>
                <a:effectLst/>
                <a:latin typeface="Nunito" pitchFamily="2" charset="0"/>
              </a:rPr>
              <a:t>: Then the visual will get updated to include the applied filter. As we can see in the below screenshot with the creation of a pie chart Automatic filters have been already added to a pie chart.</a:t>
            </a:r>
          </a:p>
        </p:txBody>
      </p:sp>
      <p:pic>
        <p:nvPicPr>
          <p:cNvPr id="5" name="Picture 4">
            <a:extLst>
              <a:ext uri="{FF2B5EF4-FFF2-40B4-BE49-F238E27FC236}">
                <a16:creationId xmlns:a16="http://schemas.microsoft.com/office/drawing/2014/main" id="{042198D7-2856-1B5A-046A-551F06ADC0D2}"/>
              </a:ext>
            </a:extLst>
          </p:cNvPr>
          <p:cNvPicPr>
            <a:picLocks noChangeAspect="1"/>
          </p:cNvPicPr>
          <p:nvPr/>
        </p:nvPicPr>
        <p:blipFill>
          <a:blip r:embed="rId2"/>
          <a:stretch>
            <a:fillRect/>
          </a:stretch>
        </p:blipFill>
        <p:spPr>
          <a:xfrm>
            <a:off x="2392719" y="2171700"/>
            <a:ext cx="7219950" cy="4724400"/>
          </a:xfrm>
          <a:prstGeom prst="rect">
            <a:avLst/>
          </a:prstGeom>
        </p:spPr>
      </p:pic>
    </p:spTree>
    <p:extLst>
      <p:ext uri="{BB962C8B-B14F-4D97-AF65-F5344CB8AC3E}">
        <p14:creationId xmlns:p14="http://schemas.microsoft.com/office/powerpoint/2010/main" val="144098331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03CDA-EAE6-2D36-D569-DFC0D5BE7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4A596-3A5D-26E0-B4FD-A7437A843340}"/>
              </a:ext>
            </a:extLst>
          </p:cNvPr>
          <p:cNvSpPr>
            <a:spLocks noGrp="1"/>
          </p:cNvSpPr>
          <p:nvPr>
            <p:ph type="title"/>
          </p:nvPr>
        </p:nvSpPr>
        <p:spPr/>
        <p:txBody>
          <a:bodyPr>
            <a:noAutofit/>
          </a:bodyPr>
          <a:lstStyle/>
          <a:p>
            <a:pPr algn="l" fontAlgn="base">
              <a:spcBef>
                <a:spcPts val="1800"/>
              </a:spcBef>
              <a:spcAft>
                <a:spcPts val="1800"/>
              </a:spcAft>
            </a:pPr>
            <a:r>
              <a:rPr lang="en-IN" sz="4000" b="1" i="0" dirty="0">
                <a:solidFill>
                  <a:srgbClr val="273239"/>
                </a:solidFill>
                <a:effectLst/>
                <a:latin typeface="Nunito" pitchFamily="2" charset="0"/>
              </a:rPr>
              <a:t>How to add a Power BI Filter to a Page</a:t>
            </a:r>
            <a:br>
              <a:rPr lang="en-IN" sz="4000" b="1" i="0" dirty="0">
                <a:solidFill>
                  <a:srgbClr val="273239"/>
                </a:solidFill>
                <a:effectLst/>
                <a:latin typeface="Nunito" pitchFamily="2" charset="0"/>
              </a:rPr>
            </a:br>
            <a:r>
              <a:rPr lang="en-IN" sz="4000" dirty="0"/>
              <a:t/>
            </a:r>
            <a:br>
              <a:rPr lang="en-IN" sz="4000" dirty="0"/>
            </a:br>
            <a:endParaRPr lang="en-IN" sz="4000" dirty="0"/>
          </a:p>
        </p:txBody>
      </p:sp>
      <p:sp>
        <p:nvSpPr>
          <p:cNvPr id="8" name="Content Placeholder 2">
            <a:extLst>
              <a:ext uri="{FF2B5EF4-FFF2-40B4-BE49-F238E27FC236}">
                <a16:creationId xmlns:a16="http://schemas.microsoft.com/office/drawing/2014/main" id="{0556E262-0B6B-4C11-F3EC-00C5A2CDDC72}"/>
              </a:ext>
            </a:extLst>
          </p:cNvPr>
          <p:cNvSpPr txBox="1">
            <a:spLocks/>
          </p:cNvSpPr>
          <p:nvPr/>
        </p:nvSpPr>
        <p:spPr>
          <a:xfrm>
            <a:off x="1371600" y="1268965"/>
            <a:ext cx="9601199"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1:</a:t>
            </a:r>
            <a:r>
              <a:rPr lang="en-IN" b="0" i="0" dirty="0">
                <a:solidFill>
                  <a:srgbClr val="273239"/>
                </a:solidFill>
                <a:effectLst/>
                <a:latin typeface="Nunito" pitchFamily="2" charset="0"/>
              </a:rPr>
              <a:t> To use page-level filter create two visuals on the dashboard. For example, we created two visuals are pie chart and a table.</a:t>
            </a:r>
          </a:p>
          <a:p>
            <a:pPr marL="0" indent="0">
              <a:buNone/>
            </a:pPr>
            <a:r>
              <a:rPr lang="en-IN" dirty="0"/>
              <a:t/>
            </a:r>
            <a:br>
              <a:rPr lang="en-IN" dirty="0"/>
            </a:br>
            <a:endParaRPr lang="en-IN"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301F1023-4EB6-2CFB-1E49-0D6F9654CB19}"/>
              </a:ext>
            </a:extLst>
          </p:cNvPr>
          <p:cNvPicPr>
            <a:picLocks noChangeAspect="1"/>
          </p:cNvPicPr>
          <p:nvPr/>
        </p:nvPicPr>
        <p:blipFill>
          <a:blip r:embed="rId2"/>
          <a:stretch>
            <a:fillRect/>
          </a:stretch>
        </p:blipFill>
        <p:spPr>
          <a:xfrm>
            <a:off x="2186960" y="2003482"/>
            <a:ext cx="6359882" cy="4501703"/>
          </a:xfrm>
          <a:prstGeom prst="rect">
            <a:avLst/>
          </a:prstGeom>
        </p:spPr>
      </p:pic>
    </p:spTree>
    <p:extLst>
      <p:ext uri="{BB962C8B-B14F-4D97-AF65-F5344CB8AC3E}">
        <p14:creationId xmlns:p14="http://schemas.microsoft.com/office/powerpoint/2010/main" val="2392283491"/>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4147A-96D7-9615-E0B1-25F3456BF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5FD4F-A024-B93E-E53A-8B4907A102E8}"/>
              </a:ext>
            </a:extLst>
          </p:cNvPr>
          <p:cNvSpPr>
            <a:spLocks noGrp="1"/>
          </p:cNvSpPr>
          <p:nvPr>
            <p:ph type="title"/>
          </p:nvPr>
        </p:nvSpPr>
        <p:spPr/>
        <p:txBody>
          <a:bodyPr>
            <a:noAutofit/>
          </a:bodyPr>
          <a:lstStyle/>
          <a:p>
            <a:pPr algn="l" fontAlgn="base">
              <a:spcBef>
                <a:spcPts val="1800"/>
              </a:spcBef>
              <a:spcAft>
                <a:spcPts val="1800"/>
              </a:spcAft>
            </a:pPr>
            <a:r>
              <a:rPr lang="en-IN" sz="4000" b="1" i="0" dirty="0">
                <a:solidFill>
                  <a:srgbClr val="273239"/>
                </a:solidFill>
                <a:effectLst/>
                <a:latin typeface="Nunito" pitchFamily="2" charset="0"/>
              </a:rPr>
              <a:t>How to add a Power BI Filter to a Page</a:t>
            </a:r>
            <a:br>
              <a:rPr lang="en-IN" sz="4000" b="1" i="0" dirty="0">
                <a:solidFill>
                  <a:srgbClr val="273239"/>
                </a:solidFill>
                <a:effectLst/>
                <a:latin typeface="Nunito" pitchFamily="2" charset="0"/>
              </a:rPr>
            </a:br>
            <a:r>
              <a:rPr lang="en-IN" sz="4000" dirty="0"/>
              <a:t/>
            </a:r>
            <a:br>
              <a:rPr lang="en-IN" sz="4000" dirty="0"/>
            </a:br>
            <a:endParaRPr lang="en-IN" sz="4000" dirty="0"/>
          </a:p>
        </p:txBody>
      </p:sp>
      <p:sp>
        <p:nvSpPr>
          <p:cNvPr id="8" name="Content Placeholder 2">
            <a:extLst>
              <a:ext uri="{FF2B5EF4-FFF2-40B4-BE49-F238E27FC236}">
                <a16:creationId xmlns:a16="http://schemas.microsoft.com/office/drawing/2014/main" id="{AA66E8A5-3126-2ABC-CB5A-08580F753552}"/>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2:</a:t>
            </a:r>
            <a:r>
              <a:rPr lang="en-IN" b="0" i="0" dirty="0">
                <a:solidFill>
                  <a:srgbClr val="273239"/>
                </a:solidFill>
                <a:effectLst/>
                <a:latin typeface="Nunito" pitchFamily="2" charset="0"/>
              </a:rPr>
              <a:t> Initially use the visual level filters to populate each visual individually. As we can see in the below screenshot we populate the two visuals pie chart and column by selecting its perspective fields from the data panel. and then your dashboard is shown as below:</a:t>
            </a:r>
          </a:p>
        </p:txBody>
      </p:sp>
      <p:pic>
        <p:nvPicPr>
          <p:cNvPr id="5" name="Picture 4">
            <a:extLst>
              <a:ext uri="{FF2B5EF4-FFF2-40B4-BE49-F238E27FC236}">
                <a16:creationId xmlns:a16="http://schemas.microsoft.com/office/drawing/2014/main" id="{1DE67EDF-8C6D-E0FB-7CEB-0A15EF094274}"/>
              </a:ext>
            </a:extLst>
          </p:cNvPr>
          <p:cNvPicPr>
            <a:picLocks noChangeAspect="1"/>
          </p:cNvPicPr>
          <p:nvPr/>
        </p:nvPicPr>
        <p:blipFill>
          <a:blip r:embed="rId2"/>
          <a:stretch>
            <a:fillRect/>
          </a:stretch>
        </p:blipFill>
        <p:spPr>
          <a:xfrm>
            <a:off x="2580302" y="2565649"/>
            <a:ext cx="6302440" cy="3721121"/>
          </a:xfrm>
          <a:prstGeom prst="rect">
            <a:avLst/>
          </a:prstGeom>
        </p:spPr>
      </p:pic>
    </p:spTree>
    <p:extLst>
      <p:ext uri="{BB962C8B-B14F-4D97-AF65-F5344CB8AC3E}">
        <p14:creationId xmlns:p14="http://schemas.microsoft.com/office/powerpoint/2010/main" val="132306132"/>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577CF-F814-0B4B-98E6-3DF0799A3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5F4E6-8971-CD90-AFCD-11E2657CC72D}"/>
              </a:ext>
            </a:extLst>
          </p:cNvPr>
          <p:cNvSpPr>
            <a:spLocks noGrp="1"/>
          </p:cNvSpPr>
          <p:nvPr>
            <p:ph type="title"/>
          </p:nvPr>
        </p:nvSpPr>
        <p:spPr/>
        <p:txBody>
          <a:bodyPr>
            <a:noAutofit/>
          </a:bodyPr>
          <a:lstStyle/>
          <a:p>
            <a:pPr algn="l" fontAlgn="base">
              <a:spcBef>
                <a:spcPts val="1800"/>
              </a:spcBef>
              <a:spcAft>
                <a:spcPts val="1800"/>
              </a:spcAft>
            </a:pPr>
            <a:r>
              <a:rPr lang="en-IN" sz="4000" b="1" i="0" dirty="0">
                <a:solidFill>
                  <a:srgbClr val="273239"/>
                </a:solidFill>
                <a:effectLst/>
                <a:latin typeface="Nunito" pitchFamily="2" charset="0"/>
              </a:rPr>
              <a:t>How to add a Power BI Filter to a Page</a:t>
            </a:r>
            <a:br>
              <a:rPr lang="en-IN" sz="4000" b="1" i="0" dirty="0">
                <a:solidFill>
                  <a:srgbClr val="273239"/>
                </a:solidFill>
                <a:effectLst/>
                <a:latin typeface="Nunito" pitchFamily="2" charset="0"/>
              </a:rPr>
            </a:br>
            <a:r>
              <a:rPr lang="en-IN" sz="4000" dirty="0"/>
              <a:t/>
            </a:r>
            <a:br>
              <a:rPr lang="en-IN" sz="4000" dirty="0"/>
            </a:br>
            <a:endParaRPr lang="en-IN" sz="4000" dirty="0"/>
          </a:p>
        </p:txBody>
      </p:sp>
      <p:sp>
        <p:nvSpPr>
          <p:cNvPr id="8" name="Content Placeholder 2">
            <a:extLst>
              <a:ext uri="{FF2B5EF4-FFF2-40B4-BE49-F238E27FC236}">
                <a16:creationId xmlns:a16="http://schemas.microsoft.com/office/drawing/2014/main" id="{6F290188-30B1-4728-66E2-199FAC1A50EA}"/>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3: </a:t>
            </a:r>
            <a:r>
              <a:rPr lang="en-IN" b="0" i="0" dirty="0">
                <a:solidFill>
                  <a:srgbClr val="273239"/>
                </a:solidFill>
                <a:effectLst/>
                <a:latin typeface="Nunito" pitchFamily="2" charset="0"/>
              </a:rPr>
              <a:t>To use the page-level filter drag and drop the data fields from the data panel under the “Filters on this page” option. As you can see in the below screenshot we drop the product data field in the “Filters on this option”.</a:t>
            </a:r>
          </a:p>
        </p:txBody>
      </p:sp>
      <p:pic>
        <p:nvPicPr>
          <p:cNvPr id="4" name="Picture 3">
            <a:extLst>
              <a:ext uri="{FF2B5EF4-FFF2-40B4-BE49-F238E27FC236}">
                <a16:creationId xmlns:a16="http://schemas.microsoft.com/office/drawing/2014/main" id="{844159F9-6910-76FE-ECD7-784D44137C2C}"/>
              </a:ext>
            </a:extLst>
          </p:cNvPr>
          <p:cNvPicPr>
            <a:picLocks noChangeAspect="1"/>
          </p:cNvPicPr>
          <p:nvPr/>
        </p:nvPicPr>
        <p:blipFill>
          <a:blip r:embed="rId2"/>
          <a:stretch>
            <a:fillRect/>
          </a:stretch>
        </p:blipFill>
        <p:spPr>
          <a:xfrm>
            <a:off x="2644548" y="2449772"/>
            <a:ext cx="6772275" cy="3952875"/>
          </a:xfrm>
          <a:prstGeom prst="rect">
            <a:avLst/>
          </a:prstGeom>
        </p:spPr>
      </p:pic>
    </p:spTree>
    <p:extLst>
      <p:ext uri="{BB962C8B-B14F-4D97-AF65-F5344CB8AC3E}">
        <p14:creationId xmlns:p14="http://schemas.microsoft.com/office/powerpoint/2010/main" val="1822762376"/>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95E16-387B-DC2D-911C-FB4F296CC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4E063C-AEB0-E430-8612-CFD3438FEFAB}"/>
              </a:ext>
            </a:extLst>
          </p:cNvPr>
          <p:cNvSpPr>
            <a:spLocks noGrp="1"/>
          </p:cNvSpPr>
          <p:nvPr>
            <p:ph type="title"/>
          </p:nvPr>
        </p:nvSpPr>
        <p:spPr/>
        <p:txBody>
          <a:bodyPr>
            <a:noAutofit/>
          </a:bodyPr>
          <a:lstStyle/>
          <a:p>
            <a:pPr algn="l" fontAlgn="base">
              <a:spcBef>
                <a:spcPts val="1800"/>
              </a:spcBef>
              <a:spcAft>
                <a:spcPts val="1800"/>
              </a:spcAft>
            </a:pPr>
            <a:r>
              <a:rPr lang="en-IN" sz="4000" b="1" i="0" dirty="0">
                <a:solidFill>
                  <a:srgbClr val="273239"/>
                </a:solidFill>
                <a:effectLst/>
                <a:latin typeface="Nunito" pitchFamily="2" charset="0"/>
              </a:rPr>
              <a:t>How to add a Power BI Filter to a Page</a:t>
            </a:r>
            <a:br>
              <a:rPr lang="en-IN" sz="4000" b="1" i="0" dirty="0">
                <a:solidFill>
                  <a:srgbClr val="273239"/>
                </a:solidFill>
                <a:effectLst/>
                <a:latin typeface="Nunito" pitchFamily="2" charset="0"/>
              </a:rPr>
            </a:br>
            <a:r>
              <a:rPr lang="en-IN" sz="4000" dirty="0"/>
              <a:t/>
            </a:r>
            <a:br>
              <a:rPr lang="en-IN" sz="4000" dirty="0"/>
            </a:br>
            <a:endParaRPr lang="en-IN" sz="4000" dirty="0"/>
          </a:p>
        </p:txBody>
      </p:sp>
      <p:sp>
        <p:nvSpPr>
          <p:cNvPr id="8" name="Content Placeholder 2">
            <a:extLst>
              <a:ext uri="{FF2B5EF4-FFF2-40B4-BE49-F238E27FC236}">
                <a16:creationId xmlns:a16="http://schemas.microsoft.com/office/drawing/2014/main" id="{AEE95DE3-8EB8-260A-C194-8402DA2F949D}"/>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just" fontAlgn="base">
              <a:spcAft>
                <a:spcPts val="750"/>
              </a:spcAft>
            </a:pPr>
            <a:r>
              <a:rPr lang="en-IN" b="1" i="0" dirty="0">
                <a:solidFill>
                  <a:srgbClr val="273239"/>
                </a:solidFill>
                <a:effectLst/>
                <a:latin typeface="Nunito" pitchFamily="2" charset="0"/>
              </a:rPr>
              <a:t>Step 4:</a:t>
            </a:r>
            <a:r>
              <a:rPr lang="en-IN" b="0" i="0" dirty="0">
                <a:solidFill>
                  <a:srgbClr val="273239"/>
                </a:solidFill>
                <a:effectLst/>
                <a:latin typeface="Nunito" pitchFamily="2" charset="0"/>
              </a:rPr>
              <a:t> Select the necessary values from the data field which you want to update on all visuals of the current page. and your entire visuals of the page will get updated. In the below screenshot, we select the CPU, Hard Disk, and Pad values, so these values get updated on the pie chart and column visual.</a:t>
            </a:r>
          </a:p>
          <a:p>
            <a:pPr algn="just" fontAlgn="base">
              <a:spcAft>
                <a:spcPts val="750"/>
              </a:spcAft>
            </a:pPr>
            <a:r>
              <a:rPr lang="en-IN" b="0" i="0" dirty="0">
                <a:solidFill>
                  <a:srgbClr val="273239"/>
                </a:solidFill>
                <a:effectLst/>
                <a:latin typeface="Nunito" pitchFamily="2" charset="0"/>
              </a:rPr>
              <a:t>As you can see in the Second screenshot, the pie chart and table two visuals get updated by in its product field.</a:t>
            </a:r>
          </a:p>
          <a:p>
            <a:pPr marL="0" indent="0">
              <a:buNone/>
            </a:pPr>
            <a:endParaRPr lang="en-IN" b="0" i="0" dirty="0">
              <a:solidFill>
                <a:srgbClr val="273239"/>
              </a:solidFill>
              <a:effectLst/>
              <a:latin typeface="Nunito" pitchFamily="2" charset="0"/>
            </a:endParaRPr>
          </a:p>
          <a:p>
            <a:pPr marL="0" indent="0">
              <a:buNone/>
            </a:pPr>
            <a:endParaRPr lang="en-IN"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E7E80DA4-5FA3-8580-039F-32A8D5F5A3BF}"/>
              </a:ext>
            </a:extLst>
          </p:cNvPr>
          <p:cNvPicPr>
            <a:picLocks noChangeAspect="1"/>
          </p:cNvPicPr>
          <p:nvPr/>
        </p:nvPicPr>
        <p:blipFill>
          <a:blip r:embed="rId2"/>
          <a:stretch>
            <a:fillRect/>
          </a:stretch>
        </p:blipFill>
        <p:spPr>
          <a:xfrm>
            <a:off x="3724371" y="3386042"/>
            <a:ext cx="3898739" cy="3211037"/>
          </a:xfrm>
          <a:prstGeom prst="rect">
            <a:avLst/>
          </a:prstGeom>
        </p:spPr>
      </p:pic>
    </p:spTree>
    <p:extLst>
      <p:ext uri="{BB962C8B-B14F-4D97-AF65-F5344CB8AC3E}">
        <p14:creationId xmlns:p14="http://schemas.microsoft.com/office/powerpoint/2010/main" val="175237281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A8295-9219-B218-1BC5-3BCF1D65C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A1586-AA11-CCB7-640D-99B4CCBBE17D}"/>
              </a:ext>
            </a:extLst>
          </p:cNvPr>
          <p:cNvSpPr>
            <a:spLocks noGrp="1"/>
          </p:cNvSpPr>
          <p:nvPr>
            <p:ph type="title"/>
          </p:nvPr>
        </p:nvSpPr>
        <p:spPr/>
        <p:txBody>
          <a:bodyPr>
            <a:noAutofit/>
          </a:bodyPr>
          <a:lstStyle/>
          <a:p>
            <a:pPr algn="l" fontAlgn="base">
              <a:spcBef>
                <a:spcPts val="975"/>
              </a:spcBef>
            </a:pPr>
            <a:r>
              <a:rPr lang="en-IN" b="1" i="0" dirty="0">
                <a:solidFill>
                  <a:srgbClr val="273239"/>
                </a:solidFill>
                <a:effectLst/>
                <a:latin typeface="Source Sans 3"/>
              </a:rPr>
              <a:t>Power BI – Slicer</a:t>
            </a:r>
            <a:r>
              <a:rPr lang="en-IN" b="0" i="0" dirty="0">
                <a:effectLst/>
                <a:latin typeface="Source Sans 3"/>
              </a:rPr>
              <a:t/>
            </a:r>
            <a:br>
              <a:rPr lang="en-IN" b="0" i="0" dirty="0">
                <a:effectLst/>
                <a:latin typeface="Source Sans 3"/>
              </a:rPr>
            </a:br>
            <a:endParaRPr lang="en-IN" dirty="0"/>
          </a:p>
        </p:txBody>
      </p:sp>
      <p:sp>
        <p:nvSpPr>
          <p:cNvPr id="8" name="Content Placeholder 2">
            <a:extLst>
              <a:ext uri="{FF2B5EF4-FFF2-40B4-BE49-F238E27FC236}">
                <a16:creationId xmlns:a16="http://schemas.microsoft.com/office/drawing/2014/main" id="{84A5158E-3D0B-2012-5060-DA5428CFC954}"/>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spcAft>
                <a:spcPts val="750"/>
              </a:spcAft>
            </a:pPr>
            <a:r>
              <a:rPr lang="en-IN" sz="1800" b="1" i="0" dirty="0">
                <a:solidFill>
                  <a:srgbClr val="273239"/>
                </a:solidFill>
                <a:effectLst/>
                <a:latin typeface="Nunito" pitchFamily="2" charset="0"/>
              </a:rPr>
              <a:t>Slicers </a:t>
            </a:r>
            <a:r>
              <a:rPr lang="en-IN" sz="1800" b="0" i="0" dirty="0">
                <a:solidFill>
                  <a:srgbClr val="273239"/>
                </a:solidFill>
                <a:effectLst/>
                <a:latin typeface="Nunito" pitchFamily="2" charset="0"/>
              </a:rPr>
              <a:t>are the interactive </a:t>
            </a:r>
            <a:r>
              <a:rPr lang="en-IN" sz="1800" b="1" i="0" dirty="0">
                <a:solidFill>
                  <a:srgbClr val="273239"/>
                </a:solidFill>
                <a:effectLst/>
                <a:latin typeface="Nunito" pitchFamily="2" charset="0"/>
              </a:rPr>
              <a:t>filters </a:t>
            </a:r>
            <a:r>
              <a:rPr lang="en-IN" sz="1800" b="0" i="0" dirty="0">
                <a:solidFill>
                  <a:srgbClr val="273239"/>
                </a:solidFill>
                <a:effectLst/>
                <a:latin typeface="Nunito" pitchFamily="2" charset="0"/>
              </a:rPr>
              <a:t>used to format and </a:t>
            </a:r>
            <a:r>
              <a:rPr lang="en-IN" sz="1800" b="0" i="0" dirty="0" err="1">
                <a:solidFill>
                  <a:srgbClr val="273239"/>
                </a:solidFill>
                <a:effectLst/>
                <a:latin typeface="Nunito" pitchFamily="2" charset="0"/>
              </a:rPr>
              <a:t>analyze</a:t>
            </a:r>
            <a:r>
              <a:rPr lang="en-IN" sz="1800" b="0" i="0" dirty="0">
                <a:solidFill>
                  <a:srgbClr val="273239"/>
                </a:solidFill>
                <a:effectLst/>
                <a:latin typeface="Nunito" pitchFamily="2" charset="0"/>
              </a:rPr>
              <a:t> the parts of the data more effectively. We can create a slicer easily with</a:t>
            </a:r>
            <a:r>
              <a:rPr lang="en-IN" sz="1800" b="1" i="0" dirty="0">
                <a:solidFill>
                  <a:srgbClr val="273239"/>
                </a:solidFill>
                <a:effectLst/>
                <a:latin typeface="Nunito" pitchFamily="2" charset="0"/>
              </a:rPr>
              <a:t> 4 steps</a:t>
            </a:r>
            <a:r>
              <a:rPr lang="en-IN" sz="1800" b="0" i="0" dirty="0">
                <a:solidFill>
                  <a:srgbClr val="273239"/>
                </a:solidFill>
                <a:effectLst/>
                <a:latin typeface="Nunito" pitchFamily="2" charset="0"/>
              </a:rPr>
              <a:t>, as shown in the later stage of the article. We have various options to</a:t>
            </a:r>
            <a:r>
              <a:rPr lang="en-IN" sz="1800" b="1" i="0" dirty="0">
                <a:solidFill>
                  <a:srgbClr val="273239"/>
                </a:solidFill>
                <a:effectLst/>
                <a:latin typeface="Nunito" pitchFamily="2" charset="0"/>
              </a:rPr>
              <a:t> format slicers,</a:t>
            </a:r>
            <a:r>
              <a:rPr lang="en-IN" sz="1800" b="0" i="0" dirty="0">
                <a:solidFill>
                  <a:srgbClr val="273239"/>
                </a:solidFill>
                <a:effectLst/>
                <a:latin typeface="Nunito" pitchFamily="2" charset="0"/>
              </a:rPr>
              <a:t> we can change the value of the</a:t>
            </a:r>
            <a:r>
              <a:rPr lang="en-IN" sz="1800" b="1" i="0" dirty="0">
                <a:solidFill>
                  <a:srgbClr val="273239"/>
                </a:solidFill>
                <a:effectLst/>
                <a:latin typeface="Nunito" pitchFamily="2" charset="0"/>
              </a:rPr>
              <a:t> alt text, title,</a:t>
            </a:r>
            <a:r>
              <a:rPr lang="en-IN" sz="1800" b="0" i="0" dirty="0">
                <a:solidFill>
                  <a:srgbClr val="273239"/>
                </a:solidFill>
                <a:effectLst/>
                <a:latin typeface="Nunito" pitchFamily="2" charset="0"/>
              </a:rPr>
              <a:t> etc. We can also add various options like</a:t>
            </a:r>
            <a:r>
              <a:rPr lang="en-IN" sz="1800" b="1" i="0" dirty="0">
                <a:solidFill>
                  <a:srgbClr val="273239"/>
                </a:solidFill>
                <a:effectLst/>
                <a:latin typeface="Nunito" pitchFamily="2" charset="0"/>
              </a:rPr>
              <a:t> slicer headings, hierarchy distribution, </a:t>
            </a:r>
            <a:r>
              <a:rPr lang="en-IN" sz="1800" b="0" i="0" dirty="0">
                <a:solidFill>
                  <a:srgbClr val="273239"/>
                </a:solidFill>
                <a:effectLst/>
                <a:latin typeface="Nunito" pitchFamily="2" charset="0"/>
              </a:rPr>
              <a:t>and </a:t>
            </a:r>
            <a:r>
              <a:rPr lang="en-IN" sz="1800" b="1" i="0" dirty="0">
                <a:solidFill>
                  <a:srgbClr val="273239"/>
                </a:solidFill>
                <a:effectLst/>
                <a:latin typeface="Nunito" pitchFamily="2" charset="0"/>
              </a:rPr>
              <a:t>multi-select slicers.</a:t>
            </a:r>
            <a:r>
              <a:rPr lang="en-IN" sz="1800" b="0" i="0" dirty="0">
                <a:solidFill>
                  <a:srgbClr val="273239"/>
                </a:solidFill>
                <a:effectLst/>
                <a:latin typeface="Nunito" pitchFamily="2" charset="0"/>
              </a:rPr>
              <a:t> In this article, we will learn how to create and format a slicer in Power BI and explore its various options.</a:t>
            </a:r>
          </a:p>
          <a:p>
            <a:pPr algn="l" fontAlgn="base"/>
            <a:r>
              <a:rPr lang="en-IN" sz="1800" b="1" i="0" dirty="0">
                <a:solidFill>
                  <a:srgbClr val="273239"/>
                </a:solidFill>
                <a:effectLst/>
                <a:latin typeface="Nunito" pitchFamily="2" charset="0"/>
              </a:rPr>
              <a:t>Creating a Slicer In Power BI</a:t>
            </a:r>
          </a:p>
          <a:p>
            <a:pPr algn="l" fontAlgn="base">
              <a:spcAft>
                <a:spcPts val="750"/>
              </a:spcAft>
            </a:pPr>
            <a:r>
              <a:rPr lang="en-IN" sz="1800" b="0" i="0" dirty="0">
                <a:solidFill>
                  <a:srgbClr val="273239"/>
                </a:solidFill>
                <a:effectLst/>
                <a:latin typeface="Nunito" pitchFamily="2" charset="0"/>
              </a:rPr>
              <a:t>We have been given a dataset name </a:t>
            </a:r>
            <a:r>
              <a:rPr lang="en-IN" sz="1800" b="1" i="0" dirty="0">
                <a:solidFill>
                  <a:srgbClr val="273239"/>
                </a:solidFill>
                <a:effectLst/>
                <a:latin typeface="Nunito" pitchFamily="2" charset="0"/>
              </a:rPr>
              <a:t>Employee</a:t>
            </a:r>
            <a:r>
              <a:rPr lang="en-IN" sz="1800" b="0" i="0" dirty="0">
                <a:solidFill>
                  <a:srgbClr val="273239"/>
                </a:solidFill>
                <a:effectLst/>
                <a:latin typeface="Nunito" pitchFamily="2" charset="0"/>
              </a:rPr>
              <a:t>, for this article, we will need only, the </a:t>
            </a:r>
            <a:r>
              <a:rPr lang="en-IN" sz="1800" b="1" i="0" dirty="0">
                <a:solidFill>
                  <a:srgbClr val="273239"/>
                </a:solidFill>
                <a:effectLst/>
                <a:latin typeface="Nunito" pitchFamily="2" charset="0"/>
              </a:rPr>
              <a:t>Employee Name</a:t>
            </a:r>
            <a:r>
              <a:rPr lang="en-IN" sz="1800" b="0" i="0" dirty="0">
                <a:solidFill>
                  <a:srgbClr val="273239"/>
                </a:solidFill>
                <a:effectLst/>
                <a:latin typeface="Nunito" pitchFamily="2" charset="0"/>
              </a:rPr>
              <a:t>, and </a:t>
            </a:r>
            <a:r>
              <a:rPr lang="en-IN" sz="1800" b="1" i="0" dirty="0">
                <a:solidFill>
                  <a:srgbClr val="273239"/>
                </a:solidFill>
                <a:effectLst/>
                <a:latin typeface="Nunito" pitchFamily="2" charset="0"/>
              </a:rPr>
              <a:t>Salary </a:t>
            </a:r>
            <a:r>
              <a:rPr lang="en-IN" sz="1800" b="0" i="0" dirty="0">
                <a:solidFill>
                  <a:srgbClr val="273239"/>
                </a:solidFill>
                <a:effectLst/>
                <a:latin typeface="Nunito" pitchFamily="2" charset="0"/>
              </a:rPr>
              <a:t>columns. Our task is to create a </a:t>
            </a:r>
            <a:r>
              <a:rPr lang="en-IN" sz="1800" b="1" i="0" dirty="0">
                <a:solidFill>
                  <a:srgbClr val="273239"/>
                </a:solidFill>
                <a:effectLst/>
                <a:latin typeface="Nunito" pitchFamily="2" charset="0"/>
              </a:rPr>
              <a:t>Hierarchical </a:t>
            </a:r>
            <a:r>
              <a:rPr lang="en-IN" sz="1800" b="0" i="0" dirty="0">
                <a:solidFill>
                  <a:srgbClr val="273239"/>
                </a:solidFill>
                <a:effectLst/>
                <a:latin typeface="Nunito" pitchFamily="2" charset="0"/>
              </a:rPr>
              <a:t>slicer in Power BI.</a:t>
            </a:r>
          </a:p>
          <a:p>
            <a:pPr marL="0" indent="0">
              <a:buNone/>
            </a:pPr>
            <a:r>
              <a:rPr lang="en-IN" sz="1800" dirty="0"/>
              <a:t/>
            </a:r>
            <a:br>
              <a:rPr lang="en-IN" sz="1800" dirty="0"/>
            </a:br>
            <a:r>
              <a:rPr lang="en-IN" sz="1800" dirty="0"/>
              <a:t/>
            </a:r>
            <a:br>
              <a:rPr lang="en-IN" sz="1800" dirty="0"/>
            </a:br>
            <a:endParaRPr lang="en-IN" sz="1800"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B7A5EC49-F4E5-C16C-A26D-1DEE549CF3A3}"/>
              </a:ext>
            </a:extLst>
          </p:cNvPr>
          <p:cNvPicPr>
            <a:picLocks noChangeAspect="1"/>
          </p:cNvPicPr>
          <p:nvPr/>
        </p:nvPicPr>
        <p:blipFill>
          <a:blip r:embed="rId2"/>
          <a:stretch>
            <a:fillRect/>
          </a:stretch>
        </p:blipFill>
        <p:spPr>
          <a:xfrm>
            <a:off x="3645309" y="4213437"/>
            <a:ext cx="2332703" cy="2467282"/>
          </a:xfrm>
          <a:prstGeom prst="rect">
            <a:avLst/>
          </a:prstGeom>
        </p:spPr>
      </p:pic>
    </p:spTree>
    <p:extLst>
      <p:ext uri="{BB962C8B-B14F-4D97-AF65-F5344CB8AC3E}">
        <p14:creationId xmlns:p14="http://schemas.microsoft.com/office/powerpoint/2010/main" val="264731280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05069-94C9-A908-FDDC-B6F3F5E83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1F1B2-4C71-AA59-F876-A6694490143C}"/>
              </a:ext>
            </a:extLst>
          </p:cNvPr>
          <p:cNvSpPr>
            <a:spLocks noGrp="1"/>
          </p:cNvSpPr>
          <p:nvPr>
            <p:ph type="title"/>
          </p:nvPr>
        </p:nvSpPr>
        <p:spPr/>
        <p:txBody>
          <a:bodyPr>
            <a:noAutofit/>
          </a:bodyPr>
          <a:lstStyle/>
          <a:p>
            <a:pPr algn="l" fontAlgn="base">
              <a:spcAft>
                <a:spcPts val="750"/>
              </a:spcAft>
            </a:pPr>
            <a:r>
              <a:rPr lang="en-IN" sz="2400" b="1" i="0" dirty="0">
                <a:solidFill>
                  <a:srgbClr val="273239"/>
                </a:solidFill>
                <a:effectLst/>
                <a:latin typeface="Nunito" pitchFamily="2" charset="0"/>
              </a:rPr>
              <a:t>Step 1:</a:t>
            </a:r>
            <a:r>
              <a:rPr lang="en-IN" sz="2400" b="0" i="0" dirty="0">
                <a:solidFill>
                  <a:srgbClr val="273239"/>
                </a:solidFill>
                <a:effectLst/>
                <a:latin typeface="Nunito" pitchFamily="2" charset="0"/>
              </a:rPr>
              <a:t> Under the </a:t>
            </a:r>
            <a:r>
              <a:rPr lang="en-IN" sz="2400" b="1" i="0" dirty="0">
                <a:solidFill>
                  <a:srgbClr val="273239"/>
                </a:solidFill>
                <a:effectLst/>
                <a:latin typeface="Nunito" pitchFamily="2" charset="0"/>
              </a:rPr>
              <a:t>visualizations</a:t>
            </a:r>
            <a:r>
              <a:rPr lang="en-IN" sz="2400" b="0" i="0" dirty="0">
                <a:solidFill>
                  <a:srgbClr val="273239"/>
                </a:solidFill>
                <a:effectLst/>
                <a:latin typeface="Nunito" pitchFamily="2" charset="0"/>
              </a:rPr>
              <a:t>, section. Click on the </a:t>
            </a:r>
            <a:r>
              <a:rPr lang="en-IN" sz="2400" b="1" i="0" dirty="0">
                <a:solidFill>
                  <a:srgbClr val="273239"/>
                </a:solidFill>
                <a:effectLst/>
                <a:latin typeface="Nunito" pitchFamily="2" charset="0"/>
              </a:rPr>
              <a:t>Slicer </a:t>
            </a:r>
            <a:r>
              <a:rPr lang="en-IN" sz="2400" b="0" i="0" dirty="0">
                <a:solidFill>
                  <a:srgbClr val="273239"/>
                </a:solidFill>
                <a:effectLst/>
                <a:latin typeface="Nunito" pitchFamily="2" charset="0"/>
              </a:rPr>
              <a:t>option.</a:t>
            </a:r>
            <a:br>
              <a:rPr lang="en-IN" sz="2400" b="0" i="0" dirty="0">
                <a:solidFill>
                  <a:srgbClr val="273239"/>
                </a:solidFill>
                <a:effectLst/>
                <a:latin typeface="Nunito" pitchFamily="2" charset="0"/>
              </a:rPr>
            </a:br>
            <a:r>
              <a:rPr lang="en-IN" sz="2400" dirty="0"/>
              <a:t/>
            </a:r>
            <a:br>
              <a:rPr lang="en-IN" sz="2400" dirty="0"/>
            </a:br>
            <a:endParaRPr lang="en-IN" sz="2400" dirty="0"/>
          </a:p>
        </p:txBody>
      </p:sp>
      <p:sp>
        <p:nvSpPr>
          <p:cNvPr id="8" name="Content Placeholder 2">
            <a:extLst>
              <a:ext uri="{FF2B5EF4-FFF2-40B4-BE49-F238E27FC236}">
                <a16:creationId xmlns:a16="http://schemas.microsoft.com/office/drawing/2014/main" id="{2B0D0456-D425-8C2C-F0CA-5F059316CF51}"/>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IN" sz="1800" dirty="0"/>
              <a:t/>
            </a:r>
            <a:br>
              <a:rPr lang="en-IN" sz="1800" dirty="0"/>
            </a:br>
            <a:r>
              <a:rPr lang="en-IN" sz="1800" dirty="0"/>
              <a:t/>
            </a:r>
            <a:br>
              <a:rPr lang="en-IN" sz="1800" dirty="0"/>
            </a:br>
            <a:endParaRPr lang="en-IN" sz="1800"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50591BF5-3BB0-3515-8308-D47D2C88F85C}"/>
              </a:ext>
            </a:extLst>
          </p:cNvPr>
          <p:cNvPicPr>
            <a:picLocks noChangeAspect="1"/>
          </p:cNvPicPr>
          <p:nvPr/>
        </p:nvPicPr>
        <p:blipFill>
          <a:blip r:embed="rId2"/>
          <a:stretch>
            <a:fillRect/>
          </a:stretch>
        </p:blipFill>
        <p:spPr>
          <a:xfrm>
            <a:off x="3376612" y="1440162"/>
            <a:ext cx="4440033" cy="5132087"/>
          </a:xfrm>
          <a:prstGeom prst="rect">
            <a:avLst/>
          </a:prstGeom>
        </p:spPr>
      </p:pic>
    </p:spTree>
    <p:extLst>
      <p:ext uri="{BB962C8B-B14F-4D97-AF65-F5344CB8AC3E}">
        <p14:creationId xmlns:p14="http://schemas.microsoft.com/office/powerpoint/2010/main" val="3852250999"/>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E04D-C4C1-F483-CD93-1D53683DF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3FEB4-322D-6A28-A777-0EAC12EB1C29}"/>
              </a:ext>
            </a:extLst>
          </p:cNvPr>
          <p:cNvSpPr>
            <a:spLocks noGrp="1"/>
          </p:cNvSpPr>
          <p:nvPr>
            <p:ph type="title"/>
          </p:nvPr>
        </p:nvSpPr>
        <p:spPr/>
        <p:txBody>
          <a:bodyPr>
            <a:noAutofit/>
          </a:bodyPr>
          <a:lstStyle/>
          <a:p>
            <a:pPr algn="l" fontAlgn="base">
              <a:spcAft>
                <a:spcPts val="750"/>
              </a:spcAft>
            </a:pPr>
            <a:r>
              <a:rPr lang="en-IN" sz="2400" b="1" i="0" dirty="0">
                <a:solidFill>
                  <a:srgbClr val="273239"/>
                </a:solidFill>
                <a:effectLst/>
                <a:latin typeface="Nunito" pitchFamily="2" charset="0"/>
              </a:rPr>
              <a:t>Step 2: </a:t>
            </a:r>
            <a:r>
              <a:rPr lang="en-IN" sz="2400" b="0" i="0" dirty="0">
                <a:solidFill>
                  <a:srgbClr val="273239"/>
                </a:solidFill>
                <a:effectLst/>
                <a:latin typeface="Nunito" pitchFamily="2" charset="0"/>
              </a:rPr>
              <a:t>An empty </a:t>
            </a:r>
            <a:r>
              <a:rPr lang="en-IN" sz="2400" b="1" i="0" dirty="0">
                <a:solidFill>
                  <a:srgbClr val="273239"/>
                </a:solidFill>
                <a:effectLst/>
                <a:latin typeface="Nunito" pitchFamily="2" charset="0"/>
              </a:rPr>
              <a:t>slicer </a:t>
            </a:r>
            <a:r>
              <a:rPr lang="en-IN" sz="2400" b="0" i="0" dirty="0">
                <a:solidFill>
                  <a:srgbClr val="273239"/>
                </a:solidFill>
                <a:effectLst/>
                <a:latin typeface="Nunito" pitchFamily="2" charset="0"/>
              </a:rPr>
              <a:t>is created in the report space of Power BI.</a:t>
            </a:r>
            <a:endParaRPr lang="en-IN" sz="2400" dirty="0"/>
          </a:p>
        </p:txBody>
      </p:sp>
      <p:sp>
        <p:nvSpPr>
          <p:cNvPr id="8" name="Content Placeholder 2">
            <a:extLst>
              <a:ext uri="{FF2B5EF4-FFF2-40B4-BE49-F238E27FC236}">
                <a16:creationId xmlns:a16="http://schemas.microsoft.com/office/drawing/2014/main" id="{294326FA-5D25-F010-E87F-245BD4980049}"/>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IN" sz="1800" dirty="0"/>
              <a:t/>
            </a:r>
            <a:br>
              <a:rPr lang="en-IN" sz="1800" dirty="0"/>
            </a:br>
            <a:r>
              <a:rPr lang="en-IN" sz="1800" dirty="0"/>
              <a:t/>
            </a:r>
            <a:br>
              <a:rPr lang="en-IN" sz="1800" dirty="0"/>
            </a:br>
            <a:endParaRPr lang="en-IN" sz="1800"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B83E044B-112C-9B4B-552D-17F540ABA0F0}"/>
              </a:ext>
            </a:extLst>
          </p:cNvPr>
          <p:cNvPicPr>
            <a:picLocks noChangeAspect="1"/>
          </p:cNvPicPr>
          <p:nvPr/>
        </p:nvPicPr>
        <p:blipFill>
          <a:blip r:embed="rId2"/>
          <a:stretch>
            <a:fillRect/>
          </a:stretch>
        </p:blipFill>
        <p:spPr>
          <a:xfrm>
            <a:off x="2824931" y="1371600"/>
            <a:ext cx="6286500" cy="4800600"/>
          </a:xfrm>
          <a:prstGeom prst="rect">
            <a:avLst/>
          </a:prstGeom>
        </p:spPr>
      </p:pic>
    </p:spTree>
    <p:extLst>
      <p:ext uri="{BB962C8B-B14F-4D97-AF65-F5344CB8AC3E}">
        <p14:creationId xmlns:p14="http://schemas.microsoft.com/office/powerpoint/2010/main" val="4069489554"/>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15CC9-8187-75CA-7A78-99CF22F5A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0588C-53E0-8A01-F32A-33C278C5843F}"/>
              </a:ext>
            </a:extLst>
          </p:cNvPr>
          <p:cNvSpPr>
            <a:spLocks noGrp="1"/>
          </p:cNvSpPr>
          <p:nvPr>
            <p:ph type="title"/>
          </p:nvPr>
        </p:nvSpPr>
        <p:spPr/>
        <p:txBody>
          <a:bodyPr>
            <a:noAutofit/>
          </a:bodyPr>
          <a:lstStyle/>
          <a:p>
            <a:pPr algn="l" fontAlgn="base">
              <a:spcAft>
                <a:spcPts val="750"/>
              </a:spcAft>
            </a:pPr>
            <a:r>
              <a:rPr lang="en-IN" sz="2000" b="1" i="0" dirty="0">
                <a:solidFill>
                  <a:srgbClr val="273239"/>
                </a:solidFill>
                <a:effectLst/>
                <a:latin typeface="Nunito" pitchFamily="2" charset="0"/>
              </a:rPr>
              <a:t>Step 3: </a:t>
            </a:r>
            <a:r>
              <a:rPr lang="en-IN" sz="2000" b="0" i="0" dirty="0">
                <a:solidFill>
                  <a:srgbClr val="273239"/>
                </a:solidFill>
                <a:effectLst/>
                <a:latin typeface="Nunito" pitchFamily="2" charset="0"/>
              </a:rPr>
              <a:t>We have only one section, in Power BI slicers i.e. </a:t>
            </a:r>
            <a:r>
              <a:rPr lang="en-IN" sz="2000" b="1" i="0" dirty="0">
                <a:solidFill>
                  <a:srgbClr val="273239"/>
                </a:solidFill>
                <a:effectLst/>
                <a:latin typeface="Nunito" pitchFamily="2" charset="0"/>
              </a:rPr>
              <a:t>Field</a:t>
            </a:r>
            <a:r>
              <a:rPr lang="en-IN" sz="2000" b="0" i="0" dirty="0">
                <a:solidFill>
                  <a:srgbClr val="273239"/>
                </a:solidFill>
                <a:effectLst/>
                <a:latin typeface="Nunito" pitchFamily="2" charset="0"/>
              </a:rPr>
              <a:t>. We can add various columns of our </a:t>
            </a:r>
            <a:r>
              <a:rPr lang="en-IN" sz="2000" b="1" i="0" dirty="0">
                <a:solidFill>
                  <a:srgbClr val="273239"/>
                </a:solidFill>
                <a:effectLst/>
                <a:latin typeface="Nunito" pitchFamily="2" charset="0"/>
              </a:rPr>
              <a:t>dataset </a:t>
            </a:r>
            <a:r>
              <a:rPr lang="en-IN" sz="2000" b="0" i="0" dirty="0">
                <a:solidFill>
                  <a:srgbClr val="273239"/>
                </a:solidFill>
                <a:effectLst/>
                <a:latin typeface="Nunito" pitchFamily="2" charset="0"/>
              </a:rPr>
              <a:t>in the slicer. For example, </a:t>
            </a:r>
            <a:r>
              <a:rPr lang="en-IN" sz="2000" b="1" i="0" dirty="0">
                <a:solidFill>
                  <a:srgbClr val="273239"/>
                </a:solidFill>
                <a:effectLst/>
                <a:latin typeface="Nunito" pitchFamily="2" charset="0"/>
              </a:rPr>
              <a:t>Employee Name </a:t>
            </a:r>
            <a:r>
              <a:rPr lang="en-IN" sz="2000" b="0" i="0" dirty="0">
                <a:solidFill>
                  <a:srgbClr val="273239"/>
                </a:solidFill>
                <a:effectLst/>
                <a:latin typeface="Nunito" pitchFamily="2" charset="0"/>
              </a:rPr>
              <a:t>and </a:t>
            </a:r>
            <a:r>
              <a:rPr lang="en-IN" sz="2000" b="1" i="0" dirty="0">
                <a:solidFill>
                  <a:srgbClr val="273239"/>
                </a:solidFill>
                <a:effectLst/>
                <a:latin typeface="Nunito" pitchFamily="2" charset="0"/>
              </a:rPr>
              <a:t>Salary</a:t>
            </a:r>
            <a:r>
              <a:rPr lang="en-IN" sz="2000" b="0" i="0" dirty="0">
                <a:solidFill>
                  <a:srgbClr val="273239"/>
                </a:solidFill>
                <a:effectLst/>
                <a:latin typeface="Nunito" pitchFamily="2" charset="0"/>
              </a:rPr>
              <a:t>.</a:t>
            </a:r>
            <a:endParaRPr lang="en-IN" sz="2000" dirty="0"/>
          </a:p>
        </p:txBody>
      </p:sp>
      <p:sp>
        <p:nvSpPr>
          <p:cNvPr id="8" name="Content Placeholder 2">
            <a:extLst>
              <a:ext uri="{FF2B5EF4-FFF2-40B4-BE49-F238E27FC236}">
                <a16:creationId xmlns:a16="http://schemas.microsoft.com/office/drawing/2014/main" id="{FE891E5E-3259-BBFB-9BEF-27A2B13C32CF}"/>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en-IN" sz="1800" dirty="0"/>
              <a:t/>
            </a:r>
            <a:br>
              <a:rPr lang="en-IN" sz="1800" dirty="0"/>
            </a:br>
            <a:r>
              <a:rPr lang="en-IN" sz="1800" dirty="0"/>
              <a:t/>
            </a:r>
            <a:br>
              <a:rPr lang="en-IN" sz="1800" dirty="0"/>
            </a:br>
            <a:endParaRPr lang="en-IN" sz="1800"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C7C87666-F98B-981F-C453-D3543F8C93A7}"/>
              </a:ext>
            </a:extLst>
          </p:cNvPr>
          <p:cNvPicPr>
            <a:picLocks noChangeAspect="1"/>
          </p:cNvPicPr>
          <p:nvPr/>
        </p:nvPicPr>
        <p:blipFill>
          <a:blip r:embed="rId2"/>
          <a:stretch>
            <a:fillRect/>
          </a:stretch>
        </p:blipFill>
        <p:spPr>
          <a:xfrm>
            <a:off x="2352982" y="1794695"/>
            <a:ext cx="6286500" cy="4743450"/>
          </a:xfrm>
          <a:prstGeom prst="rect">
            <a:avLst/>
          </a:prstGeom>
        </p:spPr>
      </p:pic>
    </p:spTree>
    <p:extLst>
      <p:ext uri="{BB962C8B-B14F-4D97-AF65-F5344CB8AC3E}">
        <p14:creationId xmlns:p14="http://schemas.microsoft.com/office/powerpoint/2010/main" val="133407897"/>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3DDE3-BF19-010F-AFEF-407D61724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199F0-03CF-5FE1-15C9-FBB0A01C79C0}"/>
              </a:ext>
            </a:extLst>
          </p:cNvPr>
          <p:cNvSpPr>
            <a:spLocks noGrp="1"/>
          </p:cNvSpPr>
          <p:nvPr>
            <p:ph type="title"/>
          </p:nvPr>
        </p:nvSpPr>
        <p:spPr/>
        <p:txBody>
          <a:bodyPr>
            <a:noAutofit/>
          </a:bodyPr>
          <a:lstStyle/>
          <a:p>
            <a:pPr algn="l" fontAlgn="base">
              <a:spcBef>
                <a:spcPts val="975"/>
              </a:spcBef>
            </a:pPr>
            <a:r>
              <a:rPr lang="en-IN" sz="4400" b="1" i="0" dirty="0">
                <a:solidFill>
                  <a:srgbClr val="273239"/>
                </a:solidFill>
                <a:effectLst/>
                <a:latin typeface="Nunito" pitchFamily="2" charset="0"/>
              </a:rPr>
              <a:t>Formatting a Slicer In Power BI</a:t>
            </a:r>
            <a:endParaRPr lang="en-IN" dirty="0"/>
          </a:p>
        </p:txBody>
      </p:sp>
      <p:sp>
        <p:nvSpPr>
          <p:cNvPr id="8" name="Content Placeholder 2">
            <a:extLst>
              <a:ext uri="{FF2B5EF4-FFF2-40B4-BE49-F238E27FC236}">
                <a16:creationId xmlns:a16="http://schemas.microsoft.com/office/drawing/2014/main" id="{4D19DD4E-72AC-A9FA-BD7C-5416166A27C9}"/>
              </a:ext>
            </a:extLst>
          </p:cNvPr>
          <p:cNvSpPr txBox="1">
            <a:spLocks/>
          </p:cNvSpPr>
          <p:nvPr/>
        </p:nvSpPr>
        <p:spPr>
          <a:xfrm>
            <a:off x="1371600" y="1268965"/>
            <a:ext cx="10263673"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spcAft>
                <a:spcPts val="750"/>
              </a:spcAft>
            </a:pPr>
            <a:r>
              <a:rPr lang="en-IN" sz="1800" b="1" i="0" dirty="0">
                <a:solidFill>
                  <a:srgbClr val="273239"/>
                </a:solidFill>
                <a:effectLst/>
                <a:latin typeface="Nunito" pitchFamily="2" charset="0"/>
              </a:rPr>
              <a:t>Formatting a Slicer In Power </a:t>
            </a:r>
            <a:r>
              <a:rPr lang="en-IN" sz="1800" b="1" i="0" dirty="0" err="1">
                <a:solidFill>
                  <a:srgbClr val="273239"/>
                </a:solidFill>
                <a:effectLst/>
                <a:latin typeface="Nunito" pitchFamily="2" charset="0"/>
              </a:rPr>
              <a:t>BICreating</a:t>
            </a:r>
            <a:r>
              <a:rPr lang="en-IN" sz="1800" b="1" i="0" dirty="0">
                <a:solidFill>
                  <a:srgbClr val="273239"/>
                </a:solidFill>
                <a:effectLst/>
                <a:latin typeface="Nunito" pitchFamily="2" charset="0"/>
              </a:rPr>
              <a:t> a Slicer In Power BI</a:t>
            </a:r>
          </a:p>
          <a:p>
            <a:pPr algn="l" fontAlgn="base">
              <a:spcAft>
                <a:spcPts val="750"/>
              </a:spcAft>
            </a:pPr>
            <a:r>
              <a:rPr lang="en-IN" sz="1800" b="0" i="0" dirty="0">
                <a:solidFill>
                  <a:srgbClr val="273239"/>
                </a:solidFill>
                <a:effectLst/>
                <a:latin typeface="Nunito" pitchFamily="2" charset="0"/>
              </a:rPr>
              <a:t>We have been given a dataset name </a:t>
            </a:r>
            <a:r>
              <a:rPr lang="en-IN" sz="1800" b="1" i="0" dirty="0">
                <a:solidFill>
                  <a:srgbClr val="273239"/>
                </a:solidFill>
                <a:effectLst/>
                <a:latin typeface="Nunito" pitchFamily="2" charset="0"/>
              </a:rPr>
              <a:t>Employee</a:t>
            </a:r>
            <a:r>
              <a:rPr lang="en-IN" sz="1800" b="0" i="0" dirty="0">
                <a:solidFill>
                  <a:srgbClr val="273239"/>
                </a:solidFill>
                <a:effectLst/>
                <a:latin typeface="Nunito" pitchFamily="2" charset="0"/>
              </a:rPr>
              <a:t>, for this article, we will need only, the </a:t>
            </a:r>
            <a:r>
              <a:rPr lang="en-IN" sz="1800" b="1" i="0" dirty="0">
                <a:solidFill>
                  <a:srgbClr val="273239"/>
                </a:solidFill>
                <a:effectLst/>
                <a:latin typeface="Nunito" pitchFamily="2" charset="0"/>
              </a:rPr>
              <a:t>Employee Name</a:t>
            </a:r>
            <a:r>
              <a:rPr lang="en-IN" sz="1800" b="0" i="0" dirty="0">
                <a:solidFill>
                  <a:srgbClr val="273239"/>
                </a:solidFill>
                <a:effectLst/>
                <a:latin typeface="Nunito" pitchFamily="2" charset="0"/>
              </a:rPr>
              <a:t>, and </a:t>
            </a:r>
            <a:r>
              <a:rPr lang="en-IN" sz="1800" b="1" i="0" dirty="0">
                <a:solidFill>
                  <a:srgbClr val="273239"/>
                </a:solidFill>
                <a:effectLst/>
                <a:latin typeface="Nunito" pitchFamily="2" charset="0"/>
              </a:rPr>
              <a:t>Salary </a:t>
            </a:r>
            <a:r>
              <a:rPr lang="en-IN" sz="1800" b="0" i="0" dirty="0">
                <a:solidFill>
                  <a:srgbClr val="273239"/>
                </a:solidFill>
                <a:effectLst/>
                <a:latin typeface="Nunito" pitchFamily="2" charset="0"/>
              </a:rPr>
              <a:t>columns. Our task is to create a </a:t>
            </a:r>
            <a:r>
              <a:rPr lang="en-IN" sz="1800" b="1" i="0" dirty="0">
                <a:solidFill>
                  <a:srgbClr val="273239"/>
                </a:solidFill>
                <a:effectLst/>
                <a:latin typeface="Nunito" pitchFamily="2" charset="0"/>
              </a:rPr>
              <a:t>Hierarchical </a:t>
            </a:r>
            <a:r>
              <a:rPr lang="en-IN" sz="1800" b="0" i="0" dirty="0">
                <a:solidFill>
                  <a:srgbClr val="273239"/>
                </a:solidFill>
                <a:effectLst/>
                <a:latin typeface="Nunito" pitchFamily="2" charset="0"/>
              </a:rPr>
              <a:t>slicer in Power BI.</a:t>
            </a:r>
          </a:p>
          <a:p>
            <a:pPr algn="l" fontAlgn="base">
              <a:spcAft>
                <a:spcPts val="750"/>
              </a:spcAft>
            </a:pPr>
            <a:r>
              <a:rPr lang="en-IN" sz="1600" b="1" i="0" dirty="0">
                <a:solidFill>
                  <a:srgbClr val="273239"/>
                </a:solidFill>
                <a:effectLst/>
                <a:latin typeface="Nunito" pitchFamily="2" charset="0"/>
              </a:rPr>
              <a:t>Visual formatting </a:t>
            </a:r>
            <a:r>
              <a:rPr lang="en-IN" sz="1600" b="0" i="0" dirty="0">
                <a:solidFill>
                  <a:srgbClr val="273239"/>
                </a:solidFill>
                <a:effectLst/>
                <a:latin typeface="Nunito" pitchFamily="2" charset="0"/>
              </a:rPr>
              <a:t>comprises </a:t>
            </a:r>
            <a:r>
              <a:rPr lang="en-IN" sz="1600" b="1" i="0" dirty="0">
                <a:solidFill>
                  <a:srgbClr val="273239"/>
                </a:solidFill>
                <a:effectLst/>
                <a:latin typeface="Nunito" pitchFamily="2" charset="0"/>
              </a:rPr>
              <a:t>4 </a:t>
            </a:r>
            <a:r>
              <a:rPr lang="en-IN" sz="1600" b="0" i="0" dirty="0">
                <a:solidFill>
                  <a:srgbClr val="273239"/>
                </a:solidFill>
                <a:effectLst/>
                <a:latin typeface="Nunito" pitchFamily="2" charset="0"/>
              </a:rPr>
              <a:t>options i.e.</a:t>
            </a:r>
            <a:r>
              <a:rPr lang="en-IN" sz="1600" b="1" i="0" dirty="0">
                <a:solidFill>
                  <a:srgbClr val="273239"/>
                </a:solidFill>
                <a:effectLst/>
                <a:latin typeface="Nunito" pitchFamily="2" charset="0"/>
              </a:rPr>
              <a:t> Slicer Settings</a:t>
            </a:r>
            <a:r>
              <a:rPr lang="en-IN" sz="1600" b="0" i="0" dirty="0">
                <a:solidFill>
                  <a:srgbClr val="273239"/>
                </a:solidFill>
                <a:effectLst/>
                <a:latin typeface="Nunito" pitchFamily="2" charset="0"/>
              </a:rPr>
              <a:t>, </a:t>
            </a:r>
            <a:r>
              <a:rPr lang="en-IN" sz="1600" b="1" i="0" dirty="0">
                <a:solidFill>
                  <a:srgbClr val="273239"/>
                </a:solidFill>
                <a:effectLst/>
                <a:latin typeface="Nunito" pitchFamily="2" charset="0"/>
              </a:rPr>
              <a:t>Slicer Header</a:t>
            </a:r>
            <a:r>
              <a:rPr lang="en-IN" sz="1600" b="0" i="0" dirty="0">
                <a:solidFill>
                  <a:srgbClr val="273239"/>
                </a:solidFill>
                <a:effectLst/>
                <a:latin typeface="Nunito" pitchFamily="2" charset="0"/>
              </a:rPr>
              <a:t>, </a:t>
            </a:r>
            <a:r>
              <a:rPr lang="en-IN" sz="1600" b="1" i="0" dirty="0">
                <a:solidFill>
                  <a:srgbClr val="273239"/>
                </a:solidFill>
                <a:effectLst/>
                <a:latin typeface="Nunito" pitchFamily="2" charset="0"/>
              </a:rPr>
              <a:t>Values</a:t>
            </a:r>
            <a:r>
              <a:rPr lang="en-IN" sz="1600" b="0" i="0" dirty="0">
                <a:solidFill>
                  <a:srgbClr val="273239"/>
                </a:solidFill>
                <a:effectLst/>
                <a:latin typeface="Nunito" pitchFamily="2" charset="0"/>
              </a:rPr>
              <a:t>, and </a:t>
            </a:r>
            <a:r>
              <a:rPr lang="en-IN" sz="1600" b="1" i="0" dirty="0">
                <a:solidFill>
                  <a:srgbClr val="273239"/>
                </a:solidFill>
                <a:effectLst/>
                <a:latin typeface="Nunito" pitchFamily="2" charset="0"/>
              </a:rPr>
              <a:t>Hierarchy</a:t>
            </a:r>
            <a:r>
              <a:rPr lang="en-IN" sz="1600" b="0" i="0" dirty="0">
                <a:solidFill>
                  <a:srgbClr val="273239"/>
                </a:solidFill>
                <a:effectLst/>
                <a:latin typeface="Nunito" pitchFamily="2" charset="0"/>
              </a:rPr>
              <a:t>.</a:t>
            </a:r>
          </a:p>
          <a:p>
            <a:pPr marL="0" indent="0">
              <a:buNone/>
            </a:pPr>
            <a:r>
              <a:rPr lang="en-IN" sz="1600" dirty="0"/>
              <a:t/>
            </a:r>
            <a:br>
              <a:rPr lang="en-IN" sz="1600" dirty="0"/>
            </a:br>
            <a:r>
              <a:rPr lang="en-IN" sz="1800" dirty="0"/>
              <a:t/>
            </a:r>
            <a:br>
              <a:rPr lang="en-IN" sz="1800" dirty="0"/>
            </a:br>
            <a:r>
              <a:rPr lang="en-IN" sz="1800" dirty="0"/>
              <a:t/>
            </a:r>
            <a:br>
              <a:rPr lang="en-IN" sz="1800" dirty="0"/>
            </a:br>
            <a:endParaRPr lang="en-IN" sz="1800"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BAB19129-8DB6-2933-7987-DFC6C3CD0946}"/>
              </a:ext>
            </a:extLst>
          </p:cNvPr>
          <p:cNvPicPr>
            <a:picLocks noChangeAspect="1"/>
          </p:cNvPicPr>
          <p:nvPr/>
        </p:nvPicPr>
        <p:blipFill>
          <a:blip r:embed="rId2"/>
          <a:stretch>
            <a:fillRect/>
          </a:stretch>
        </p:blipFill>
        <p:spPr>
          <a:xfrm>
            <a:off x="2883925" y="3168002"/>
            <a:ext cx="5198191" cy="3512717"/>
          </a:xfrm>
          <a:prstGeom prst="rect">
            <a:avLst/>
          </a:prstGeom>
        </p:spPr>
      </p:pic>
    </p:spTree>
    <p:extLst>
      <p:ext uri="{BB962C8B-B14F-4D97-AF65-F5344CB8AC3E}">
        <p14:creationId xmlns:p14="http://schemas.microsoft.com/office/powerpoint/2010/main" val="1850656508"/>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EC9B-1863-42D9-973F-186E69896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9CC8D-CD12-6D12-CA38-64F19FEC707F}"/>
              </a:ext>
            </a:extLst>
          </p:cNvPr>
          <p:cNvSpPr>
            <a:spLocks noGrp="1"/>
          </p:cNvSpPr>
          <p:nvPr>
            <p:ph type="title"/>
          </p:nvPr>
        </p:nvSpPr>
        <p:spPr/>
        <p:txBody>
          <a:bodyPr>
            <a:noAutofit/>
          </a:bodyPr>
          <a:lstStyle/>
          <a:p>
            <a:pPr algn="l" fontAlgn="base">
              <a:spcBef>
                <a:spcPts val="1800"/>
              </a:spcBef>
              <a:spcAft>
                <a:spcPts val="1800"/>
              </a:spcAft>
            </a:pPr>
            <a:r>
              <a:rPr lang="en-IN" b="1" i="0" dirty="0">
                <a:solidFill>
                  <a:srgbClr val="273239"/>
                </a:solidFill>
                <a:effectLst/>
                <a:latin typeface="Nunito" pitchFamily="2" charset="0"/>
              </a:rPr>
              <a:t>Slicer Settings</a:t>
            </a:r>
            <a:br>
              <a:rPr lang="en-IN" b="1" i="0" dirty="0">
                <a:solidFill>
                  <a:srgbClr val="273239"/>
                </a:solidFill>
                <a:effectLst/>
                <a:latin typeface="Nunito" pitchFamily="2" charset="0"/>
              </a:rPr>
            </a:br>
            <a:r>
              <a:rPr lang="en-IN" dirty="0"/>
              <a:t/>
            </a:r>
            <a:br>
              <a:rPr lang="en-IN" dirty="0"/>
            </a:br>
            <a:endParaRPr lang="en-IN" dirty="0"/>
          </a:p>
        </p:txBody>
      </p:sp>
      <p:sp>
        <p:nvSpPr>
          <p:cNvPr id="8" name="Content Placeholder 2">
            <a:extLst>
              <a:ext uri="{FF2B5EF4-FFF2-40B4-BE49-F238E27FC236}">
                <a16:creationId xmlns:a16="http://schemas.microsoft.com/office/drawing/2014/main" id="{100FB830-C2FB-CC2F-15AA-3054B13BEDE5}"/>
              </a:ext>
            </a:extLst>
          </p:cNvPr>
          <p:cNvSpPr txBox="1">
            <a:spLocks/>
          </p:cNvSpPr>
          <p:nvPr/>
        </p:nvSpPr>
        <p:spPr>
          <a:xfrm>
            <a:off x="1371600" y="1326126"/>
            <a:ext cx="9070257" cy="500063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spcAft>
                <a:spcPts val="750"/>
              </a:spcAft>
            </a:pPr>
            <a:r>
              <a:rPr lang="en-IN" sz="1600" b="1" i="0" dirty="0">
                <a:solidFill>
                  <a:srgbClr val="273239"/>
                </a:solidFill>
                <a:effectLst/>
                <a:latin typeface="Nunito" pitchFamily="2" charset="0"/>
              </a:rPr>
              <a:t>Slicer settings, </a:t>
            </a:r>
            <a:r>
              <a:rPr lang="en-IN" sz="1600" b="0" i="0" dirty="0">
                <a:solidFill>
                  <a:srgbClr val="273239"/>
                </a:solidFill>
                <a:effectLst/>
                <a:latin typeface="Nunito" pitchFamily="2" charset="0"/>
              </a:rPr>
              <a:t>provide various options, to select the type of selection we want to apply in the filter. There are </a:t>
            </a:r>
            <a:r>
              <a:rPr lang="en-IN" sz="1600" b="1" i="0" dirty="0">
                <a:solidFill>
                  <a:srgbClr val="273239"/>
                </a:solidFill>
                <a:effectLst/>
                <a:latin typeface="Nunito" pitchFamily="2" charset="0"/>
              </a:rPr>
              <a:t>three </a:t>
            </a:r>
            <a:r>
              <a:rPr lang="en-IN" sz="1600" b="0" i="0" dirty="0">
                <a:solidFill>
                  <a:srgbClr val="273239"/>
                </a:solidFill>
                <a:effectLst/>
                <a:latin typeface="Nunito" pitchFamily="2" charset="0"/>
              </a:rPr>
              <a:t>options i.e.</a:t>
            </a:r>
            <a:r>
              <a:rPr lang="en-IN" sz="1600" b="1" i="0" dirty="0">
                <a:solidFill>
                  <a:srgbClr val="273239"/>
                </a:solidFill>
                <a:effectLst/>
                <a:latin typeface="Nunito" pitchFamily="2" charset="0"/>
              </a:rPr>
              <a:t> Single Select, Multi Select with Ctrl,</a:t>
            </a:r>
            <a:r>
              <a:rPr lang="en-IN" sz="1600" b="0" i="0" dirty="0">
                <a:solidFill>
                  <a:srgbClr val="273239"/>
                </a:solidFill>
                <a:effectLst/>
                <a:latin typeface="Nunito" pitchFamily="2" charset="0"/>
              </a:rPr>
              <a:t> and Show </a:t>
            </a:r>
            <a:r>
              <a:rPr lang="en-IN" sz="1600" b="1" i="0" dirty="0">
                <a:solidFill>
                  <a:srgbClr val="273239"/>
                </a:solidFill>
                <a:effectLst/>
                <a:latin typeface="Nunito" pitchFamily="2" charset="0"/>
              </a:rPr>
              <a:t>“Select all”</a:t>
            </a:r>
            <a:r>
              <a:rPr lang="en-IN" sz="1600" b="0" i="0" dirty="0">
                <a:solidFill>
                  <a:srgbClr val="273239"/>
                </a:solidFill>
                <a:effectLst/>
                <a:latin typeface="Nunito" pitchFamily="2" charset="0"/>
              </a:rPr>
              <a:t> option. The names are self-explanatory.</a:t>
            </a:r>
          </a:p>
          <a:p>
            <a:pPr marL="0" indent="0">
              <a:buNone/>
            </a:pPr>
            <a:endParaRPr lang="en-IN" sz="1800"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846FD3D8-6B55-C561-CCE5-F8673381EE4C}"/>
              </a:ext>
            </a:extLst>
          </p:cNvPr>
          <p:cNvPicPr>
            <a:picLocks noChangeAspect="1"/>
          </p:cNvPicPr>
          <p:nvPr/>
        </p:nvPicPr>
        <p:blipFill>
          <a:blip r:embed="rId2"/>
          <a:stretch>
            <a:fillRect/>
          </a:stretch>
        </p:blipFill>
        <p:spPr>
          <a:xfrm>
            <a:off x="2529963" y="2305050"/>
            <a:ext cx="6286500" cy="4552950"/>
          </a:xfrm>
          <a:prstGeom prst="rect">
            <a:avLst/>
          </a:prstGeom>
        </p:spPr>
      </p:pic>
    </p:spTree>
    <p:extLst>
      <p:ext uri="{BB962C8B-B14F-4D97-AF65-F5344CB8AC3E}">
        <p14:creationId xmlns:p14="http://schemas.microsoft.com/office/powerpoint/2010/main" val="4180415648"/>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76089-B195-4EE5-A4DE-4EFD7E038C94}"/>
              </a:ext>
            </a:extLst>
          </p:cNvPr>
          <p:cNvSpPr>
            <a:spLocks noGrp="1"/>
          </p:cNvSpPr>
          <p:nvPr>
            <p:ph type="title"/>
          </p:nvPr>
        </p:nvSpPr>
        <p:spPr/>
        <p:txBody>
          <a:bodyPr/>
          <a:lstStyle/>
          <a:p>
            <a:r>
              <a:rPr lang="en-US" dirty="0"/>
              <a:t>ACTIVITY</a:t>
            </a:r>
            <a:endParaRPr lang="en-IN" dirty="0"/>
          </a:p>
        </p:txBody>
      </p:sp>
      <p:sp>
        <p:nvSpPr>
          <p:cNvPr id="4" name="Content Placeholder 3">
            <a:extLst>
              <a:ext uri="{FF2B5EF4-FFF2-40B4-BE49-F238E27FC236}">
                <a16:creationId xmlns:a16="http://schemas.microsoft.com/office/drawing/2014/main" id="{ED190353-665C-CAF0-6CE9-265B26176878}"/>
              </a:ext>
            </a:extLst>
          </p:cNvPr>
          <p:cNvSpPr>
            <a:spLocks noGrp="1"/>
          </p:cNvSpPr>
          <p:nvPr>
            <p:ph sz="half" idx="1"/>
          </p:nvPr>
        </p:nvSpPr>
        <p:spPr>
          <a:xfrm>
            <a:off x="1371599" y="1313411"/>
            <a:ext cx="9324753" cy="4553989"/>
          </a:xfrm>
        </p:spPr>
        <p:txBody>
          <a:bodyPr>
            <a:normAutofit/>
          </a:bodyPr>
          <a:lstStyle/>
          <a:p>
            <a:r>
              <a:rPr lang="en-IN" sz="2400" dirty="0"/>
              <a:t>Load data Retail_Sales_Analysis.xlsx</a:t>
            </a:r>
          </a:p>
          <a:p>
            <a:r>
              <a:rPr lang="en-IN" sz="2400" dirty="0"/>
              <a:t>Create visualization which is Key Performance Indicator (KPI) cards on measures like Total Revenue, Average Discount, Profit Margin.</a:t>
            </a:r>
          </a:p>
          <a:p>
            <a:r>
              <a:rPr lang="en-IN" sz="2400" dirty="0"/>
              <a:t>Create visualization for sales by region using bar chart.</a:t>
            </a:r>
          </a:p>
          <a:p>
            <a:r>
              <a:rPr lang="en-IN" sz="2400" dirty="0"/>
              <a:t>Visualize top products by sales using column chart.</a:t>
            </a:r>
          </a:p>
          <a:p>
            <a:r>
              <a:rPr lang="en-IN" sz="2400" dirty="0"/>
              <a:t>Use line chart for visualizing sales trend over time.</a:t>
            </a:r>
          </a:p>
          <a:p>
            <a:endParaRPr lang="en-IN" sz="2400" dirty="0"/>
          </a:p>
          <a:p>
            <a:r>
              <a:rPr lang="en-IN" sz="2400" dirty="0"/>
              <a:t>Enable drill throughs by creating a new page for detailed insights which are product or region specific analysis.</a:t>
            </a:r>
          </a:p>
        </p:txBody>
      </p:sp>
    </p:spTree>
    <p:extLst>
      <p:ext uri="{BB962C8B-B14F-4D97-AF65-F5344CB8AC3E}">
        <p14:creationId xmlns:p14="http://schemas.microsoft.com/office/powerpoint/2010/main" val="121864614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1A6C-2675-C620-A4AB-4AA37A8E3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4C81F-8A0D-F2C2-415D-D63CEE987F36}"/>
              </a:ext>
            </a:extLst>
          </p:cNvPr>
          <p:cNvSpPr>
            <a:spLocks noGrp="1"/>
          </p:cNvSpPr>
          <p:nvPr>
            <p:ph type="title"/>
          </p:nvPr>
        </p:nvSpPr>
        <p:spPr>
          <a:xfrm>
            <a:off x="1295399" y="2686050"/>
            <a:ext cx="10013303" cy="1485900"/>
          </a:xfrm>
        </p:spPr>
        <p:txBody>
          <a:bodyPr>
            <a:normAutofit/>
          </a:bodyPr>
          <a:lstStyle/>
          <a:p>
            <a:r>
              <a:rPr lang="en-US" b="1" dirty="0"/>
              <a:t>Day 16</a:t>
            </a:r>
            <a:r>
              <a:rPr lang="en-US" dirty="0"/>
              <a:t>: </a:t>
            </a:r>
            <a:r>
              <a:rPr lang="en-IN" dirty="0"/>
              <a:t>Power BI – Customizing Interactive Dashboard</a:t>
            </a:r>
            <a:endParaRPr lang="en-US" dirty="0"/>
          </a:p>
        </p:txBody>
      </p:sp>
    </p:spTree>
    <p:extLst>
      <p:ext uri="{BB962C8B-B14F-4D97-AF65-F5344CB8AC3E}">
        <p14:creationId xmlns:p14="http://schemas.microsoft.com/office/powerpoint/2010/main" val="3938722626"/>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DC8A7-CF8E-EF01-778B-D0E75D029A6D}"/>
              </a:ext>
            </a:extLst>
          </p:cNvPr>
          <p:cNvSpPr>
            <a:spLocks noGrp="1"/>
          </p:cNvSpPr>
          <p:nvPr>
            <p:ph type="title"/>
          </p:nvPr>
        </p:nvSpPr>
        <p:spPr>
          <a:xfrm>
            <a:off x="1371600" y="0"/>
            <a:ext cx="10820400" cy="1485900"/>
          </a:xfrm>
        </p:spPr>
        <p:txBody>
          <a:bodyPr/>
          <a:lstStyle/>
          <a:p>
            <a:r>
              <a:rPr lang="en-US" dirty="0"/>
              <a:t>CUSTOMIZING REPORT FOR STAKEHOLDERS</a:t>
            </a:r>
            <a:endParaRPr lang="en-IN" dirty="0"/>
          </a:p>
        </p:txBody>
      </p:sp>
      <p:sp>
        <p:nvSpPr>
          <p:cNvPr id="4" name="Rectangle 1">
            <a:extLst>
              <a:ext uri="{FF2B5EF4-FFF2-40B4-BE49-F238E27FC236}">
                <a16:creationId xmlns:a16="http://schemas.microsoft.com/office/drawing/2014/main" id="{62C9614C-041E-8271-A4FA-0ED5271BF0B6}"/>
              </a:ext>
            </a:extLst>
          </p:cNvPr>
          <p:cNvSpPr>
            <a:spLocks noGrp="1" noChangeArrowheads="1"/>
          </p:cNvSpPr>
          <p:nvPr>
            <p:ph idx="1"/>
          </p:nvPr>
        </p:nvSpPr>
        <p:spPr bwMode="auto">
          <a:xfrm>
            <a:off x="936171" y="522855"/>
            <a:ext cx="110772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Add a Title and Branding</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a </a:t>
            </a:r>
            <a:r>
              <a:rPr kumimoji="0" lang="en-US" altLang="en-US" sz="1600" b="1" i="0" u="none" strike="noStrike" cap="none" normalizeH="0" baseline="0" dirty="0">
                <a:ln>
                  <a:noFill/>
                </a:ln>
                <a:solidFill>
                  <a:schemeClr val="tx1"/>
                </a:solidFill>
                <a:effectLst/>
                <a:latin typeface="Arial" panose="020B0604020202020204" pitchFamily="34" charset="0"/>
              </a:rPr>
              <a:t>Text Box</a:t>
            </a:r>
            <a:r>
              <a:rPr kumimoji="0" lang="en-US" altLang="en-US" sz="1600" b="0" i="0" u="none" strike="noStrike" cap="none" normalizeH="0" baseline="0" dirty="0">
                <a:ln>
                  <a:noFill/>
                </a:ln>
                <a:solidFill>
                  <a:schemeClr val="tx1"/>
                </a:solidFill>
                <a:effectLst/>
                <a:latin typeface="Arial" panose="020B0604020202020204" pitchFamily="34" charset="0"/>
              </a:rPr>
              <a:t> at the top of the report for a title (e.g., "Retail Sales Analysis Dashboard").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your company’s logo or colors for branding: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the </a:t>
            </a:r>
            <a:r>
              <a:rPr kumimoji="0" lang="en-US" altLang="en-US" sz="1600" b="1" i="0" u="none" strike="noStrike" cap="none" normalizeH="0" baseline="0" dirty="0">
                <a:ln>
                  <a:noFill/>
                </a:ln>
                <a:solidFill>
                  <a:schemeClr val="tx1"/>
                </a:solidFill>
                <a:effectLst/>
                <a:latin typeface="Arial" panose="020B0604020202020204" pitchFamily="34" charset="0"/>
              </a:rPr>
              <a:t>Insert</a:t>
            </a:r>
            <a:r>
              <a:rPr kumimoji="0" lang="en-US" altLang="en-US" sz="1600" b="0" i="0" u="none" strike="noStrike" cap="none" normalizeH="0" baseline="0" dirty="0">
                <a:ln>
                  <a:noFill/>
                </a:ln>
                <a:solidFill>
                  <a:schemeClr val="tx1"/>
                </a:solidFill>
                <a:effectLst/>
                <a:latin typeface="Arial" panose="020B0604020202020204" pitchFamily="34" charset="0"/>
              </a:rPr>
              <a:t> tab to add images or shapes.</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Customize Visual Formatting</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Adjust color schemes to make the report more appealing: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contrasting colors for key metrics and trends.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Highlight important visuals like total revenue or top products.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conditional formatting: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For example, format the </a:t>
            </a:r>
            <a:r>
              <a:rPr kumimoji="0" lang="en-US" altLang="en-US" sz="1600" b="0" i="0" u="none" strike="noStrike" cap="none" normalizeH="0" baseline="0" dirty="0">
                <a:ln>
                  <a:noFill/>
                </a:ln>
                <a:solidFill>
                  <a:schemeClr val="tx1"/>
                </a:solidFill>
                <a:effectLst/>
                <a:latin typeface="Arial Unicode MS"/>
              </a:rPr>
              <a:t>Profit Margin</a:t>
            </a:r>
            <a:r>
              <a:rPr kumimoji="0" lang="en-US" altLang="en-US" sz="1600" b="0" i="0" u="none" strike="noStrike" cap="none" normalizeH="0" baseline="0" dirty="0">
                <a:ln>
                  <a:noFill/>
                </a:ln>
                <a:solidFill>
                  <a:schemeClr val="tx1"/>
                </a:solidFill>
                <a:effectLst/>
              </a:rPr>
              <a:t> column in a table visual with red for negative values and green for positive.</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Page Layouts for Different Stakeholders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Executive Summary</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Include high-level KPIs like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Profit Margin</a:t>
            </a:r>
            <a:r>
              <a:rPr kumimoji="0" lang="en-US" altLang="en-US" sz="1600" b="0" i="0" u="none" strike="noStrike" cap="none" normalizeH="0" baseline="0" dirty="0">
                <a:ln>
                  <a:noFill/>
                </a:ln>
                <a:solidFill>
                  <a:schemeClr val="tx1"/>
                </a:solidFill>
                <a:effectLst/>
              </a:rPr>
              <a:t>, and </a:t>
            </a:r>
            <a:r>
              <a:rPr kumimoji="0" lang="en-US" altLang="en-US" sz="1600" b="0" i="0" u="none" strike="noStrike" cap="none" normalizeH="0" baseline="0" dirty="0">
                <a:ln>
                  <a:noFill/>
                </a:ln>
                <a:solidFill>
                  <a:schemeClr val="tx1"/>
                </a:solidFill>
                <a:effectLst/>
                <a:latin typeface="Arial Unicode MS"/>
              </a:rPr>
              <a:t>Sales by Region</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Detailed Analysis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Include breakdowns by product, store, and time for analysts.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Interactive Insights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slicers for dynamic filtering and insights.</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Arial" panose="020B0604020202020204" pitchFamily="34" charset="0"/>
              </a:rPr>
              <a:t>Publish to Power BI Service</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Save and publish your report to the Power BI Service.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Share with stakeholders via a shared workspace or link.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5330926"/>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D6CDC-5EC5-0A58-98D7-CC3DBEC85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00A12-20FB-8543-DC00-2A1CECA5AED5}"/>
              </a:ext>
            </a:extLst>
          </p:cNvPr>
          <p:cNvSpPr>
            <a:spLocks noGrp="1"/>
          </p:cNvSpPr>
          <p:nvPr>
            <p:ph type="title"/>
          </p:nvPr>
        </p:nvSpPr>
        <p:spPr/>
        <p:txBody>
          <a:bodyPr>
            <a:noAutofit/>
          </a:bodyPr>
          <a:lstStyle/>
          <a:p>
            <a:pPr algn="l" fontAlgn="base"/>
            <a:r>
              <a:rPr lang="en-IN" b="1" i="0" dirty="0">
                <a:solidFill>
                  <a:srgbClr val="063227"/>
                </a:solidFill>
                <a:effectLst/>
                <a:latin typeface="Roboto" panose="02000000000000000000" pitchFamily="2" charset="0"/>
              </a:rPr>
              <a:t>Customize Visual Appearance</a:t>
            </a:r>
            <a:br>
              <a:rPr lang="en-IN" b="1" i="0" dirty="0">
                <a:solidFill>
                  <a:srgbClr val="063227"/>
                </a:solidFill>
                <a:effectLst/>
                <a:latin typeface="Roboto" panose="02000000000000000000" pitchFamily="2" charset="0"/>
              </a:rPr>
            </a:br>
            <a:r>
              <a:rPr lang="en-IN" b="0" i="0" dirty="0">
                <a:effectLst/>
                <a:latin typeface="var( --e-global-typography-text-font-family )"/>
              </a:rPr>
              <a:t/>
            </a:r>
            <a:br>
              <a:rPr lang="en-IN" b="0" i="0" dirty="0">
                <a:effectLst/>
                <a:latin typeface="var( --e-global-typography-text-font-family )"/>
              </a:rPr>
            </a:br>
            <a:endParaRPr lang="en-IN" dirty="0"/>
          </a:p>
        </p:txBody>
      </p:sp>
      <p:sp>
        <p:nvSpPr>
          <p:cNvPr id="8" name="Content Placeholder 2">
            <a:extLst>
              <a:ext uri="{FF2B5EF4-FFF2-40B4-BE49-F238E27FC236}">
                <a16:creationId xmlns:a16="http://schemas.microsoft.com/office/drawing/2014/main" id="{4E539E57-AE4D-D720-01ED-62A704BF5360}"/>
              </a:ext>
            </a:extLst>
          </p:cNvPr>
          <p:cNvSpPr txBox="1">
            <a:spLocks/>
          </p:cNvSpPr>
          <p:nvPr/>
        </p:nvSpPr>
        <p:spPr>
          <a:xfrm>
            <a:off x="1371600" y="1632155"/>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r>
              <a:rPr lang="en-IN" sz="1600" b="0" i="0" dirty="0">
                <a:effectLst/>
                <a:latin typeface="var( --e-global-typography-text-font-family )"/>
              </a:rPr>
              <a:t>Begin by clicking on the visualization you want to format. When selected, the Visualization pane on the right side of the Power BI interface will display options specific to the chosen visualization.</a:t>
            </a:r>
          </a:p>
          <a:p>
            <a:pPr algn="l" fontAlgn="base"/>
            <a:r>
              <a:rPr lang="en-IN" sz="1400" b="1" i="0" dirty="0" err="1">
                <a:solidFill>
                  <a:srgbClr val="063227"/>
                </a:solidFill>
                <a:effectLst/>
                <a:latin typeface="Roboto" panose="02000000000000000000" pitchFamily="2" charset="0"/>
              </a:rPr>
              <a:t>Colors</a:t>
            </a:r>
            <a:endParaRPr lang="en-IN" sz="1400" b="1" i="0" dirty="0">
              <a:solidFill>
                <a:srgbClr val="063227"/>
              </a:solidFill>
              <a:effectLst/>
              <a:latin typeface="Roboto" panose="02000000000000000000" pitchFamily="2" charset="0"/>
            </a:endParaRPr>
          </a:p>
          <a:p>
            <a:pPr algn="l" fontAlgn="base"/>
            <a:r>
              <a:rPr lang="en-IN" sz="1400" b="0" i="0" dirty="0">
                <a:effectLst/>
                <a:latin typeface="var( --e-global-typography-text-font-family )"/>
              </a:rPr>
              <a:t>In the “Format” section of the Visualization pane, you can adjust the </a:t>
            </a:r>
            <a:r>
              <a:rPr lang="en-IN" sz="1400" b="0" i="0" dirty="0" err="1">
                <a:effectLst/>
                <a:latin typeface="var( --e-global-typography-text-font-family )"/>
              </a:rPr>
              <a:t>color</a:t>
            </a:r>
            <a:r>
              <a:rPr lang="en-IN" sz="1400" b="0" i="0" dirty="0">
                <a:effectLst/>
                <a:latin typeface="var( --e-global-typography-text-font-family )"/>
              </a:rPr>
              <a:t> scheme of your visualization. Choose from various </a:t>
            </a:r>
            <a:r>
              <a:rPr lang="en-IN" sz="1400" b="0" i="0" dirty="0" err="1">
                <a:effectLst/>
                <a:latin typeface="var( --e-global-typography-text-font-family )"/>
              </a:rPr>
              <a:t>color</a:t>
            </a:r>
            <a:r>
              <a:rPr lang="en-IN" sz="1400" b="0" i="0" dirty="0">
                <a:effectLst/>
                <a:latin typeface="var( --e-global-typography-text-font-family )"/>
              </a:rPr>
              <a:t> palettes or define custom </a:t>
            </a:r>
            <a:r>
              <a:rPr lang="en-IN" sz="1400" b="0" i="0" dirty="0" err="1">
                <a:effectLst/>
                <a:latin typeface="var( --e-global-typography-text-font-family )"/>
              </a:rPr>
              <a:t>colors</a:t>
            </a:r>
            <a:r>
              <a:rPr lang="en-IN" sz="1400" b="0" i="0" dirty="0">
                <a:effectLst/>
                <a:latin typeface="var( --e-global-typography-text-font-family )"/>
              </a:rPr>
              <a:t> to match your report’s theme. Consistent and visually appealing </a:t>
            </a:r>
            <a:r>
              <a:rPr lang="en-IN" sz="1400" b="0" i="0" dirty="0" err="1">
                <a:effectLst/>
                <a:latin typeface="var( --e-global-typography-text-font-family )"/>
              </a:rPr>
              <a:t>color</a:t>
            </a:r>
            <a:r>
              <a:rPr lang="en-IN" sz="1400" b="0" i="0" dirty="0">
                <a:effectLst/>
                <a:latin typeface="var( --e-global-typography-text-font-family )"/>
              </a:rPr>
              <a:t> choices help users understand patterns and associations in the data.</a:t>
            </a:r>
          </a:p>
          <a:p>
            <a:pPr marL="0" indent="0">
              <a:buNone/>
            </a:pPr>
            <a:r>
              <a:rPr lang="en-IN" sz="1400" b="0" i="0" dirty="0">
                <a:solidFill>
                  <a:srgbClr val="67768E"/>
                </a:solidFill>
                <a:effectLst/>
                <a:latin typeface="Inter"/>
              </a:rPr>
              <a:t/>
            </a:r>
            <a:br>
              <a:rPr lang="en-IN" sz="1400" b="0" i="0" dirty="0">
                <a:solidFill>
                  <a:srgbClr val="67768E"/>
                </a:solidFill>
                <a:effectLst/>
                <a:latin typeface="Inter"/>
              </a:rPr>
            </a:br>
            <a:r>
              <a:rPr lang="en-IN" sz="1600" b="0" i="0" dirty="0">
                <a:solidFill>
                  <a:srgbClr val="67768E"/>
                </a:solidFill>
                <a:effectLst/>
                <a:latin typeface="Inter"/>
              </a:rPr>
              <a:t/>
            </a:r>
            <a:br>
              <a:rPr lang="en-IN" sz="1600" b="0" i="0" dirty="0">
                <a:solidFill>
                  <a:srgbClr val="67768E"/>
                </a:solidFill>
                <a:effectLst/>
                <a:latin typeface="Inter"/>
              </a:rPr>
            </a:br>
            <a:endParaRPr lang="en-IN" sz="1800"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CB4321DF-EE4F-35D8-EF81-2CE4221E0A89}"/>
              </a:ext>
            </a:extLst>
          </p:cNvPr>
          <p:cNvPicPr>
            <a:picLocks noChangeAspect="1"/>
          </p:cNvPicPr>
          <p:nvPr/>
        </p:nvPicPr>
        <p:blipFill>
          <a:blip r:embed="rId2"/>
          <a:stretch>
            <a:fillRect/>
          </a:stretch>
        </p:blipFill>
        <p:spPr>
          <a:xfrm>
            <a:off x="4520380" y="3118055"/>
            <a:ext cx="1936955" cy="3525444"/>
          </a:xfrm>
          <a:prstGeom prst="rect">
            <a:avLst/>
          </a:prstGeom>
        </p:spPr>
      </p:pic>
    </p:spTree>
    <p:extLst>
      <p:ext uri="{BB962C8B-B14F-4D97-AF65-F5344CB8AC3E}">
        <p14:creationId xmlns:p14="http://schemas.microsoft.com/office/powerpoint/2010/main" val="3775277144"/>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B721-B430-79F5-7A66-8D922B3EA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CA89F-CDBF-14B3-CA8B-62F348B244C9}"/>
              </a:ext>
            </a:extLst>
          </p:cNvPr>
          <p:cNvSpPr>
            <a:spLocks noGrp="1"/>
          </p:cNvSpPr>
          <p:nvPr>
            <p:ph type="title"/>
          </p:nvPr>
        </p:nvSpPr>
        <p:spPr/>
        <p:txBody>
          <a:bodyPr>
            <a:noAutofit/>
          </a:bodyPr>
          <a:lstStyle/>
          <a:p>
            <a:pPr algn="l" fontAlgn="base"/>
            <a:r>
              <a:rPr lang="en-IN" b="1" i="0" dirty="0">
                <a:solidFill>
                  <a:srgbClr val="063227"/>
                </a:solidFill>
                <a:effectLst/>
                <a:latin typeface="Roboto" panose="02000000000000000000" pitchFamily="2" charset="0"/>
              </a:rPr>
              <a:t>Data Labels</a:t>
            </a:r>
            <a:br>
              <a:rPr lang="en-IN" b="1" i="0" dirty="0">
                <a:solidFill>
                  <a:srgbClr val="063227"/>
                </a:solidFill>
                <a:effectLst/>
                <a:latin typeface="Roboto" panose="02000000000000000000" pitchFamily="2" charset="0"/>
              </a:rPr>
            </a:br>
            <a:r>
              <a:rPr lang="en-IN" b="0" i="0" dirty="0">
                <a:effectLst/>
                <a:latin typeface="var( --e-global-typography-text-font-family )"/>
              </a:rPr>
              <a:t/>
            </a:r>
            <a:br>
              <a:rPr lang="en-IN" b="0" i="0" dirty="0">
                <a:effectLst/>
                <a:latin typeface="var( --e-global-typography-text-font-family )"/>
              </a:rPr>
            </a:br>
            <a:endParaRPr lang="en-IN" dirty="0"/>
          </a:p>
        </p:txBody>
      </p:sp>
      <p:sp>
        <p:nvSpPr>
          <p:cNvPr id="8" name="Content Placeholder 2">
            <a:extLst>
              <a:ext uri="{FF2B5EF4-FFF2-40B4-BE49-F238E27FC236}">
                <a16:creationId xmlns:a16="http://schemas.microsoft.com/office/drawing/2014/main" id="{5190FE4B-0BFE-DAB3-2A4E-A6573F0A6854}"/>
              </a:ext>
            </a:extLst>
          </p:cNvPr>
          <p:cNvSpPr txBox="1">
            <a:spLocks/>
          </p:cNvSpPr>
          <p:nvPr/>
        </p:nvSpPr>
        <p:spPr>
          <a:xfrm>
            <a:off x="1371600" y="1258530"/>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r>
              <a:rPr lang="en-IN" b="0" i="0" dirty="0">
                <a:effectLst/>
                <a:latin typeface="var( --e-global-typography-text-font-family )"/>
              </a:rPr>
              <a:t>Toggle data labels on or off to display actual data values on your visualizations. You can format data labels to show different formats (e.g., currency, percentage) and adjust their position to avoid clutter.</a:t>
            </a:r>
          </a:p>
          <a:p>
            <a:r>
              <a:rPr lang="en-IN" b="0" i="0" dirty="0">
                <a:solidFill>
                  <a:srgbClr val="67768E"/>
                </a:solidFill>
                <a:effectLst/>
                <a:latin typeface="Inter"/>
              </a:rPr>
              <a:t/>
            </a:r>
            <a:br>
              <a:rPr lang="en-IN" b="0" i="0" dirty="0">
                <a:solidFill>
                  <a:srgbClr val="67768E"/>
                </a:solidFill>
                <a:effectLst/>
                <a:latin typeface="Inter"/>
              </a:rPr>
            </a:br>
            <a:endParaRPr lang="en-IN"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3A91502F-D5EB-C965-A9F4-2B1270544557}"/>
              </a:ext>
            </a:extLst>
          </p:cNvPr>
          <p:cNvPicPr>
            <a:picLocks noChangeAspect="1"/>
          </p:cNvPicPr>
          <p:nvPr/>
        </p:nvPicPr>
        <p:blipFill>
          <a:blip r:embed="rId2"/>
          <a:stretch>
            <a:fillRect/>
          </a:stretch>
        </p:blipFill>
        <p:spPr>
          <a:xfrm>
            <a:off x="4470850" y="1892711"/>
            <a:ext cx="2755860" cy="4965289"/>
          </a:xfrm>
          <a:prstGeom prst="rect">
            <a:avLst/>
          </a:prstGeom>
        </p:spPr>
      </p:pic>
    </p:spTree>
    <p:extLst>
      <p:ext uri="{BB962C8B-B14F-4D97-AF65-F5344CB8AC3E}">
        <p14:creationId xmlns:p14="http://schemas.microsoft.com/office/powerpoint/2010/main" val="304490506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A2EF-FB14-39D9-3565-F3A8EBFF6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221FB-5A2F-7BC3-706E-53157D56D0F5}"/>
              </a:ext>
            </a:extLst>
          </p:cNvPr>
          <p:cNvSpPr>
            <a:spLocks noGrp="1"/>
          </p:cNvSpPr>
          <p:nvPr>
            <p:ph type="title"/>
          </p:nvPr>
        </p:nvSpPr>
        <p:spPr/>
        <p:txBody>
          <a:bodyPr>
            <a:noAutofit/>
          </a:bodyPr>
          <a:lstStyle/>
          <a:p>
            <a:pPr algn="l" fontAlgn="base"/>
            <a:r>
              <a:rPr lang="en-IN" b="1" i="0" dirty="0">
                <a:solidFill>
                  <a:srgbClr val="063227"/>
                </a:solidFill>
                <a:effectLst/>
                <a:latin typeface="Roboto" panose="02000000000000000000" pitchFamily="2" charset="0"/>
              </a:rPr>
              <a:t>Axis Titles</a:t>
            </a:r>
            <a:br>
              <a:rPr lang="en-IN" b="1" i="0" dirty="0">
                <a:solidFill>
                  <a:srgbClr val="063227"/>
                </a:solidFill>
                <a:effectLst/>
                <a:latin typeface="Roboto" panose="02000000000000000000" pitchFamily="2" charset="0"/>
              </a:rPr>
            </a:br>
            <a:r>
              <a:rPr lang="en-IN" b="0" i="0" dirty="0">
                <a:effectLst/>
                <a:latin typeface="var( --e-global-typography-text-font-family )"/>
              </a:rPr>
              <a:t/>
            </a:r>
            <a:br>
              <a:rPr lang="en-IN" b="0" i="0" dirty="0">
                <a:effectLst/>
                <a:latin typeface="var( --e-global-typography-text-font-family )"/>
              </a:rPr>
            </a:br>
            <a:endParaRPr lang="en-IN" dirty="0"/>
          </a:p>
        </p:txBody>
      </p:sp>
      <p:sp>
        <p:nvSpPr>
          <p:cNvPr id="8" name="Content Placeholder 2">
            <a:extLst>
              <a:ext uri="{FF2B5EF4-FFF2-40B4-BE49-F238E27FC236}">
                <a16:creationId xmlns:a16="http://schemas.microsoft.com/office/drawing/2014/main" id="{89EFCE0B-E178-30C4-C7ED-5414F9F6E71B}"/>
              </a:ext>
            </a:extLst>
          </p:cNvPr>
          <p:cNvSpPr txBox="1">
            <a:spLocks/>
          </p:cNvSpPr>
          <p:nvPr/>
        </p:nvSpPr>
        <p:spPr>
          <a:xfrm>
            <a:off x="1371600" y="1258530"/>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r>
              <a:rPr lang="en-IN" b="0" i="0" dirty="0">
                <a:effectLst/>
                <a:latin typeface="var( --e-global-typography-text-font-family )"/>
              </a:rPr>
              <a:t>Customize axis titles to give context to your data. Use descriptive titles that provide clarity on the data represented on each axis.</a:t>
            </a:r>
          </a:p>
          <a:p>
            <a:r>
              <a:rPr lang="en-IN" b="0" i="0" dirty="0">
                <a:solidFill>
                  <a:srgbClr val="67768E"/>
                </a:solidFill>
                <a:effectLst/>
                <a:latin typeface="Inter"/>
              </a:rPr>
              <a:t/>
            </a:r>
            <a:br>
              <a:rPr lang="en-IN" b="0" i="0" dirty="0">
                <a:solidFill>
                  <a:srgbClr val="67768E"/>
                </a:solidFill>
                <a:effectLst/>
                <a:latin typeface="Inter"/>
              </a:rPr>
            </a:br>
            <a:r>
              <a:rPr lang="en-IN" b="0" i="0" dirty="0">
                <a:solidFill>
                  <a:srgbClr val="67768E"/>
                </a:solidFill>
                <a:effectLst/>
                <a:latin typeface="Inter"/>
              </a:rPr>
              <a:t/>
            </a:r>
            <a:br>
              <a:rPr lang="en-IN" b="0" i="0" dirty="0">
                <a:solidFill>
                  <a:srgbClr val="67768E"/>
                </a:solidFill>
                <a:effectLst/>
                <a:latin typeface="Inter"/>
              </a:rPr>
            </a:br>
            <a:endParaRPr lang="en-IN"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D32DBBFD-1DED-A7C3-2838-5C69AA600D7A}"/>
              </a:ext>
            </a:extLst>
          </p:cNvPr>
          <p:cNvPicPr>
            <a:picLocks noChangeAspect="1"/>
          </p:cNvPicPr>
          <p:nvPr/>
        </p:nvPicPr>
        <p:blipFill>
          <a:blip r:embed="rId2"/>
          <a:stretch>
            <a:fillRect/>
          </a:stretch>
        </p:blipFill>
        <p:spPr>
          <a:xfrm>
            <a:off x="4866227" y="1982658"/>
            <a:ext cx="2526865" cy="4663947"/>
          </a:xfrm>
          <a:prstGeom prst="rect">
            <a:avLst/>
          </a:prstGeom>
        </p:spPr>
      </p:pic>
    </p:spTree>
    <p:extLst>
      <p:ext uri="{BB962C8B-B14F-4D97-AF65-F5344CB8AC3E}">
        <p14:creationId xmlns:p14="http://schemas.microsoft.com/office/powerpoint/2010/main" val="2122559449"/>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CC6F1-B60C-503C-7666-776214874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CED17-E091-9409-7DD3-F4DDBB12989C}"/>
              </a:ext>
            </a:extLst>
          </p:cNvPr>
          <p:cNvSpPr>
            <a:spLocks noGrp="1"/>
          </p:cNvSpPr>
          <p:nvPr>
            <p:ph type="title"/>
          </p:nvPr>
        </p:nvSpPr>
        <p:spPr/>
        <p:txBody>
          <a:bodyPr>
            <a:noAutofit/>
          </a:bodyPr>
          <a:lstStyle/>
          <a:p>
            <a:pPr algn="l" fontAlgn="base"/>
            <a:r>
              <a:rPr lang="en-IN" b="1" i="0" dirty="0">
                <a:solidFill>
                  <a:srgbClr val="063227"/>
                </a:solidFill>
                <a:effectLst/>
                <a:latin typeface="Roboto" panose="02000000000000000000" pitchFamily="2" charset="0"/>
              </a:rPr>
              <a:t>Legend</a:t>
            </a:r>
            <a:br>
              <a:rPr lang="en-IN" b="1" i="0" dirty="0">
                <a:solidFill>
                  <a:srgbClr val="063227"/>
                </a:solidFill>
                <a:effectLst/>
                <a:latin typeface="Roboto" panose="02000000000000000000" pitchFamily="2" charset="0"/>
              </a:rPr>
            </a:br>
            <a:r>
              <a:rPr lang="en-IN" b="0" i="0" dirty="0">
                <a:effectLst/>
                <a:latin typeface="var( --e-global-typography-text-font-family )"/>
              </a:rPr>
              <a:t/>
            </a:r>
            <a:br>
              <a:rPr lang="en-IN" b="0" i="0" dirty="0">
                <a:effectLst/>
                <a:latin typeface="var( --e-global-typography-text-font-family )"/>
              </a:rPr>
            </a:br>
            <a:endParaRPr lang="en-IN" dirty="0"/>
          </a:p>
        </p:txBody>
      </p:sp>
      <p:sp>
        <p:nvSpPr>
          <p:cNvPr id="8" name="Content Placeholder 2">
            <a:extLst>
              <a:ext uri="{FF2B5EF4-FFF2-40B4-BE49-F238E27FC236}">
                <a16:creationId xmlns:a16="http://schemas.microsoft.com/office/drawing/2014/main" id="{C1FF2728-890C-F254-0C27-E162B7C9B270}"/>
              </a:ext>
            </a:extLst>
          </p:cNvPr>
          <p:cNvSpPr txBox="1">
            <a:spLocks/>
          </p:cNvSpPr>
          <p:nvPr/>
        </p:nvSpPr>
        <p:spPr>
          <a:xfrm>
            <a:off x="1371600" y="1258530"/>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r>
              <a:rPr lang="en-IN" b="0" i="0" dirty="0">
                <a:effectLst/>
                <a:latin typeface="var( --e-global-typography-text-font-family )"/>
              </a:rPr>
              <a:t>Format the legend to help users interpret the meaning of different elements in the visualization. Adjust the position and orientation of the legend to prevent it from overlapping with the data.</a:t>
            </a:r>
          </a:p>
          <a:p>
            <a:r>
              <a:rPr lang="en-IN" b="0" i="0" dirty="0">
                <a:solidFill>
                  <a:srgbClr val="67768E"/>
                </a:solidFill>
                <a:effectLst/>
                <a:latin typeface="Inter"/>
              </a:rPr>
              <a:t/>
            </a:r>
            <a:br>
              <a:rPr lang="en-IN" b="0" i="0" dirty="0">
                <a:solidFill>
                  <a:srgbClr val="67768E"/>
                </a:solidFill>
                <a:effectLst/>
                <a:latin typeface="Inter"/>
              </a:rPr>
            </a:br>
            <a:endParaRPr lang="en-IN" b="0" i="0" dirty="0">
              <a:solidFill>
                <a:srgbClr val="273239"/>
              </a:solidFill>
              <a:effectLst/>
              <a:latin typeface="Nunito" pitchFamily="2" charset="0"/>
            </a:endParaRPr>
          </a:p>
        </p:txBody>
      </p:sp>
      <p:pic>
        <p:nvPicPr>
          <p:cNvPr id="5" name="Picture 4">
            <a:extLst>
              <a:ext uri="{FF2B5EF4-FFF2-40B4-BE49-F238E27FC236}">
                <a16:creationId xmlns:a16="http://schemas.microsoft.com/office/drawing/2014/main" id="{9C5735E9-25BA-1E1B-04C8-1CAD562CFA4B}"/>
              </a:ext>
            </a:extLst>
          </p:cNvPr>
          <p:cNvPicPr>
            <a:picLocks noChangeAspect="1"/>
          </p:cNvPicPr>
          <p:nvPr/>
        </p:nvPicPr>
        <p:blipFill>
          <a:blip r:embed="rId2"/>
          <a:stretch>
            <a:fillRect/>
          </a:stretch>
        </p:blipFill>
        <p:spPr>
          <a:xfrm>
            <a:off x="4375355" y="1923434"/>
            <a:ext cx="1796845" cy="4934566"/>
          </a:xfrm>
          <a:prstGeom prst="rect">
            <a:avLst/>
          </a:prstGeom>
        </p:spPr>
      </p:pic>
    </p:spTree>
    <p:extLst>
      <p:ext uri="{BB962C8B-B14F-4D97-AF65-F5344CB8AC3E}">
        <p14:creationId xmlns:p14="http://schemas.microsoft.com/office/powerpoint/2010/main" val="3779181338"/>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CD1A1-2314-90ED-A96C-5C6630267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924B0-0901-2132-F582-21A5BD77A511}"/>
              </a:ext>
            </a:extLst>
          </p:cNvPr>
          <p:cNvSpPr>
            <a:spLocks noGrp="1"/>
          </p:cNvSpPr>
          <p:nvPr>
            <p:ph type="title"/>
          </p:nvPr>
        </p:nvSpPr>
        <p:spPr/>
        <p:txBody>
          <a:bodyPr>
            <a:noAutofit/>
          </a:bodyPr>
          <a:lstStyle/>
          <a:p>
            <a:pPr algn="l" fontAlgn="base"/>
            <a:r>
              <a:rPr lang="en-IN" b="1" i="0" dirty="0">
                <a:solidFill>
                  <a:srgbClr val="063227"/>
                </a:solidFill>
                <a:effectLst/>
                <a:latin typeface="Roboto" panose="02000000000000000000" pitchFamily="2" charset="0"/>
              </a:rPr>
              <a:t>Background and Borders</a:t>
            </a:r>
            <a:br>
              <a:rPr lang="en-IN" b="1" i="0" dirty="0">
                <a:solidFill>
                  <a:srgbClr val="063227"/>
                </a:solidFill>
                <a:effectLst/>
                <a:latin typeface="Roboto" panose="02000000000000000000" pitchFamily="2" charset="0"/>
              </a:rPr>
            </a:br>
            <a:r>
              <a:rPr lang="en-IN" b="0" i="0" dirty="0">
                <a:effectLst/>
                <a:latin typeface="var( --e-global-typography-text-font-family )"/>
              </a:rPr>
              <a:t/>
            </a:r>
            <a:br>
              <a:rPr lang="en-IN" b="0" i="0" dirty="0">
                <a:effectLst/>
                <a:latin typeface="var( --e-global-typography-text-font-family )"/>
              </a:rPr>
            </a:br>
            <a:endParaRPr lang="en-IN" dirty="0"/>
          </a:p>
        </p:txBody>
      </p:sp>
      <p:sp>
        <p:nvSpPr>
          <p:cNvPr id="8" name="Content Placeholder 2">
            <a:extLst>
              <a:ext uri="{FF2B5EF4-FFF2-40B4-BE49-F238E27FC236}">
                <a16:creationId xmlns:a16="http://schemas.microsoft.com/office/drawing/2014/main" id="{DF97331A-17AD-51AD-172F-F410C59F647B}"/>
              </a:ext>
            </a:extLst>
          </p:cNvPr>
          <p:cNvSpPr txBox="1">
            <a:spLocks/>
          </p:cNvSpPr>
          <p:nvPr/>
        </p:nvSpPr>
        <p:spPr>
          <a:xfrm>
            <a:off x="1371600" y="1258530"/>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r>
              <a:rPr lang="en-IN" b="0" i="0" dirty="0">
                <a:effectLst/>
                <a:latin typeface="var( --e-global-typography-text-font-family )"/>
              </a:rPr>
              <a:t>Format the legend to help users interpret the meaning of different elements in the visualization. Adjust the position and orientation of the legend to prevent it from overlapping with the data.</a:t>
            </a:r>
          </a:p>
          <a:p>
            <a:r>
              <a:rPr lang="en-IN" b="0" i="0" dirty="0">
                <a:solidFill>
                  <a:srgbClr val="67768E"/>
                </a:solidFill>
                <a:effectLst/>
                <a:latin typeface="Inter"/>
              </a:rPr>
              <a:t/>
            </a:r>
            <a:br>
              <a:rPr lang="en-IN" b="0" i="0" dirty="0">
                <a:solidFill>
                  <a:srgbClr val="67768E"/>
                </a:solidFill>
                <a:effectLst/>
                <a:latin typeface="Inter"/>
              </a:rPr>
            </a:br>
            <a:endParaRPr lang="en-IN"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999612E0-9B33-5A00-28A2-F2F68EBC7106}"/>
              </a:ext>
            </a:extLst>
          </p:cNvPr>
          <p:cNvPicPr>
            <a:picLocks noChangeAspect="1"/>
          </p:cNvPicPr>
          <p:nvPr/>
        </p:nvPicPr>
        <p:blipFill>
          <a:blip r:embed="rId2"/>
          <a:stretch>
            <a:fillRect/>
          </a:stretch>
        </p:blipFill>
        <p:spPr>
          <a:xfrm>
            <a:off x="4798142" y="1864374"/>
            <a:ext cx="1374058" cy="4923095"/>
          </a:xfrm>
          <a:prstGeom prst="rect">
            <a:avLst/>
          </a:prstGeom>
        </p:spPr>
      </p:pic>
    </p:spTree>
    <p:extLst>
      <p:ext uri="{BB962C8B-B14F-4D97-AF65-F5344CB8AC3E}">
        <p14:creationId xmlns:p14="http://schemas.microsoft.com/office/powerpoint/2010/main" val="642831528"/>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FF9FD-4644-8D81-8763-16042C0AB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30BCA-915D-A4ED-BD5C-EF149C94B448}"/>
              </a:ext>
            </a:extLst>
          </p:cNvPr>
          <p:cNvSpPr>
            <a:spLocks noGrp="1"/>
          </p:cNvSpPr>
          <p:nvPr>
            <p:ph type="title"/>
          </p:nvPr>
        </p:nvSpPr>
        <p:spPr/>
        <p:txBody>
          <a:bodyPr>
            <a:noAutofit/>
          </a:bodyPr>
          <a:lstStyle/>
          <a:p>
            <a:pPr algn="l" fontAlgn="base"/>
            <a:r>
              <a:rPr lang="en-IN" b="1" i="0" dirty="0">
                <a:solidFill>
                  <a:srgbClr val="063227"/>
                </a:solidFill>
                <a:effectLst/>
                <a:latin typeface="Roboto" panose="02000000000000000000" pitchFamily="2" charset="0"/>
              </a:rPr>
              <a:t>Themes</a:t>
            </a:r>
          </a:p>
        </p:txBody>
      </p:sp>
      <p:sp>
        <p:nvSpPr>
          <p:cNvPr id="8" name="Content Placeholder 2">
            <a:extLst>
              <a:ext uri="{FF2B5EF4-FFF2-40B4-BE49-F238E27FC236}">
                <a16:creationId xmlns:a16="http://schemas.microsoft.com/office/drawing/2014/main" id="{744FE223-09CB-E89F-0E78-A9AF2F82A24E}"/>
              </a:ext>
            </a:extLst>
          </p:cNvPr>
          <p:cNvSpPr txBox="1">
            <a:spLocks/>
          </p:cNvSpPr>
          <p:nvPr/>
        </p:nvSpPr>
        <p:spPr>
          <a:xfrm>
            <a:off x="1371600" y="1258530"/>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r>
              <a:rPr lang="en-IN" sz="2400" b="0" i="0" dirty="0">
                <a:effectLst/>
                <a:latin typeface="var( --e-global-typography-text-font-family )"/>
              </a:rPr>
              <a:t>Themes are a powerful feature in Power BI that allow you to apply consistent formatting and branding across your entire report. They enable you to customize the appearance of visualizations, text elements, and backgrounds, making your report visually appealing and professional. By using themes, you can create a cohesive look and feel for your report and save time by applying the same formatting across multiple pages and visuals.</a:t>
            </a:r>
          </a:p>
          <a:p>
            <a:pPr algn="l" fontAlgn="base"/>
            <a:r>
              <a:rPr lang="en-IN" sz="2400" b="0" i="0" dirty="0">
                <a:effectLst/>
                <a:latin typeface="var( --e-global-typography-text-font-family )"/>
              </a:rPr>
              <a:t>A </a:t>
            </a:r>
            <a:r>
              <a:rPr lang="en-IN" sz="2400" b="1" i="0" dirty="0">
                <a:effectLst/>
                <a:latin typeface="var( --e-global-typography-text-font-family )"/>
              </a:rPr>
              <a:t>theme is a predefined set of </a:t>
            </a:r>
            <a:r>
              <a:rPr lang="en-IN" sz="2400" b="1" i="0" dirty="0" err="1">
                <a:effectLst/>
                <a:latin typeface="var( --e-global-typography-text-font-family )"/>
              </a:rPr>
              <a:t>colors</a:t>
            </a:r>
            <a:r>
              <a:rPr lang="en-IN" sz="2400" b="1" i="0" dirty="0">
                <a:effectLst/>
                <a:latin typeface="var( --e-global-typography-text-font-family )"/>
              </a:rPr>
              <a:t>, fonts, and visual styles</a:t>
            </a:r>
            <a:r>
              <a:rPr lang="en-IN" sz="2400" b="0" i="0" dirty="0">
                <a:effectLst/>
                <a:latin typeface="var( --e-global-typography-text-font-family )"/>
              </a:rPr>
              <a:t> that you can apply to your entire report. Power BI comes with a selection of built-in themes, and you can also create custom themes to match your organization’s branding or report requirements.</a:t>
            </a:r>
          </a:p>
          <a:p>
            <a:pPr marL="0" indent="0">
              <a:buNone/>
            </a:pPr>
            <a:r>
              <a:rPr lang="en-IN" sz="2400" b="0" i="0" dirty="0">
                <a:solidFill>
                  <a:srgbClr val="67768E"/>
                </a:solidFill>
                <a:effectLst/>
                <a:latin typeface="Inter"/>
              </a:rPr>
              <a:t/>
            </a:r>
            <a:br>
              <a:rPr lang="en-IN" sz="2400" b="0" i="0" dirty="0">
                <a:solidFill>
                  <a:srgbClr val="67768E"/>
                </a:solidFill>
                <a:effectLst/>
                <a:latin typeface="Inter"/>
              </a:rPr>
            </a:br>
            <a:endParaRPr lang="en-IN" sz="2400" b="0" i="0" dirty="0">
              <a:solidFill>
                <a:srgbClr val="273239"/>
              </a:solidFill>
              <a:effectLst/>
              <a:latin typeface="Nunito" pitchFamily="2" charset="0"/>
            </a:endParaRPr>
          </a:p>
        </p:txBody>
      </p:sp>
    </p:spTree>
    <p:extLst>
      <p:ext uri="{BB962C8B-B14F-4D97-AF65-F5344CB8AC3E}">
        <p14:creationId xmlns:p14="http://schemas.microsoft.com/office/powerpoint/2010/main" val="1351695527"/>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DA7DD-8309-DD66-EFA9-36F7FCA6F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3C646-2812-1EBD-5AA2-E19E781F1605}"/>
              </a:ext>
            </a:extLst>
          </p:cNvPr>
          <p:cNvSpPr>
            <a:spLocks noGrp="1"/>
          </p:cNvSpPr>
          <p:nvPr>
            <p:ph type="title"/>
          </p:nvPr>
        </p:nvSpPr>
        <p:spPr/>
        <p:txBody>
          <a:bodyPr>
            <a:noAutofit/>
          </a:bodyPr>
          <a:lstStyle/>
          <a:p>
            <a:pPr algn="l" fontAlgn="base"/>
            <a:r>
              <a:rPr lang="en-IN" b="0" i="0" dirty="0">
                <a:solidFill>
                  <a:srgbClr val="282A2F"/>
                </a:solidFill>
                <a:effectLst/>
                <a:latin typeface="Roboto" panose="02000000000000000000" pitchFamily="2" charset="0"/>
              </a:rPr>
              <a:t>To apply a theme</a:t>
            </a:r>
            <a:endParaRPr lang="en-IN" b="1" i="0" dirty="0">
              <a:solidFill>
                <a:srgbClr val="063227"/>
              </a:solidFill>
              <a:effectLst/>
              <a:latin typeface="Roboto" panose="02000000000000000000" pitchFamily="2" charset="0"/>
            </a:endParaRPr>
          </a:p>
        </p:txBody>
      </p:sp>
      <p:sp>
        <p:nvSpPr>
          <p:cNvPr id="8" name="Content Placeholder 2">
            <a:extLst>
              <a:ext uri="{FF2B5EF4-FFF2-40B4-BE49-F238E27FC236}">
                <a16:creationId xmlns:a16="http://schemas.microsoft.com/office/drawing/2014/main" id="{B9FE08CD-322A-AB8F-831A-6D3EB2CB0D2F}"/>
              </a:ext>
            </a:extLst>
          </p:cNvPr>
          <p:cNvSpPr txBox="1">
            <a:spLocks/>
          </p:cNvSpPr>
          <p:nvPr/>
        </p:nvSpPr>
        <p:spPr>
          <a:xfrm>
            <a:off x="1371600" y="1258530"/>
            <a:ext cx="10171471" cy="504856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algn="l" fontAlgn="base">
              <a:buFont typeface="Wingdings" panose="05000000000000000000" pitchFamily="2" charset="2"/>
              <a:buChar char="§"/>
            </a:pPr>
            <a:r>
              <a:rPr lang="en-IN" sz="2000" b="0" i="0" dirty="0">
                <a:effectLst/>
                <a:latin typeface="var( --e-global-typography-text-font-family )"/>
              </a:rPr>
              <a:t>Go to the “View” tab in the Power BI Desktop ribbon.</a:t>
            </a:r>
          </a:p>
          <a:p>
            <a:pPr algn="l" fontAlgn="base">
              <a:buFont typeface="Wingdings" panose="05000000000000000000" pitchFamily="2" charset="2"/>
              <a:buChar char="§"/>
            </a:pPr>
            <a:r>
              <a:rPr lang="en-IN" sz="2000" b="0" i="0" dirty="0">
                <a:effectLst/>
                <a:latin typeface="var( --e-global-typography-text-font-family )"/>
              </a:rPr>
              <a:t>Click on the “Themes” dropdown menu.</a:t>
            </a:r>
          </a:p>
          <a:p>
            <a:pPr algn="l" fontAlgn="base">
              <a:buFont typeface="Wingdings" panose="05000000000000000000" pitchFamily="2" charset="2"/>
              <a:buChar char="§"/>
            </a:pPr>
            <a:r>
              <a:rPr lang="en-IN" sz="2000" b="0" i="0" dirty="0">
                <a:effectLst/>
                <a:latin typeface="var( --e-global-typography-text-font-family )"/>
              </a:rPr>
              <a:t>Choose a built-in theme or click on “Customize current theme” to create a custom theme.</a:t>
            </a:r>
          </a:p>
          <a:p>
            <a:pPr>
              <a:buFont typeface="Wingdings" panose="05000000000000000000" pitchFamily="2" charset="2"/>
              <a:buChar char="§"/>
            </a:pPr>
            <a:endParaRPr lang="en-IN" sz="2000" b="0" i="0" dirty="0">
              <a:solidFill>
                <a:srgbClr val="67768E"/>
              </a:solidFill>
              <a:effectLst/>
              <a:latin typeface="Inter"/>
            </a:endParaRPr>
          </a:p>
          <a:p>
            <a:pPr>
              <a:buFont typeface="Wingdings" panose="05000000000000000000" pitchFamily="2" charset="2"/>
              <a:buChar char="§"/>
            </a:pPr>
            <a:endParaRPr lang="en-IN" dirty="0">
              <a:solidFill>
                <a:srgbClr val="67768E"/>
              </a:solidFill>
              <a:latin typeface="Inter"/>
            </a:endParaRPr>
          </a:p>
          <a:p>
            <a:pPr>
              <a:buFont typeface="Wingdings" panose="05000000000000000000" pitchFamily="2" charset="2"/>
              <a:buChar char="§"/>
            </a:pPr>
            <a:endParaRPr lang="en-IN" sz="2000" b="0" i="0" dirty="0">
              <a:solidFill>
                <a:srgbClr val="67768E"/>
              </a:solidFill>
              <a:effectLst/>
              <a:latin typeface="Inter"/>
            </a:endParaRPr>
          </a:p>
          <a:p>
            <a:pPr>
              <a:buFont typeface="Wingdings" panose="05000000000000000000" pitchFamily="2" charset="2"/>
              <a:buChar char="§"/>
            </a:pPr>
            <a:endParaRPr lang="en-IN" dirty="0">
              <a:solidFill>
                <a:srgbClr val="67768E"/>
              </a:solidFill>
              <a:latin typeface="Inter"/>
            </a:endParaRPr>
          </a:p>
          <a:p>
            <a:pPr>
              <a:buFont typeface="Wingdings" panose="05000000000000000000" pitchFamily="2" charset="2"/>
              <a:buChar char="§"/>
            </a:pPr>
            <a:endParaRPr lang="en-IN" sz="2000" b="0" i="0" dirty="0">
              <a:solidFill>
                <a:srgbClr val="67768E"/>
              </a:solidFill>
              <a:effectLst/>
              <a:latin typeface="Inter"/>
            </a:endParaRPr>
          </a:p>
          <a:p>
            <a:pPr>
              <a:buFont typeface="Wingdings" panose="05000000000000000000" pitchFamily="2" charset="2"/>
              <a:buChar char="§"/>
            </a:pPr>
            <a:endParaRPr lang="en-IN" dirty="0">
              <a:solidFill>
                <a:srgbClr val="67768E"/>
              </a:solidFill>
              <a:latin typeface="Inter"/>
            </a:endParaRPr>
          </a:p>
          <a:p>
            <a:pPr algn="l" fontAlgn="base"/>
            <a:r>
              <a:rPr lang="en-IN" b="0" i="0" dirty="0">
                <a:effectLst/>
                <a:latin typeface="var( --e-global-typography-text-font-family )"/>
              </a:rPr>
              <a:t>Once a theme is applied, all visuals, backgrounds, and text elements in your report will adopt the theme’s formatting. This creates a consistent look throughout the report, enhancing readability and ensuring a polished presentation.</a:t>
            </a:r>
          </a:p>
          <a:p>
            <a:r>
              <a:rPr lang="en-IN" b="0" i="0" dirty="0">
                <a:solidFill>
                  <a:srgbClr val="67768E"/>
                </a:solidFill>
                <a:effectLst/>
                <a:latin typeface="Inter"/>
              </a:rPr>
              <a:t/>
            </a:r>
            <a:br>
              <a:rPr lang="en-IN" b="0" i="0" dirty="0">
                <a:solidFill>
                  <a:srgbClr val="67768E"/>
                </a:solidFill>
                <a:effectLst/>
                <a:latin typeface="Inter"/>
              </a:rPr>
            </a:br>
            <a:r>
              <a:rPr lang="en-IN" sz="2000" b="0" i="0" dirty="0">
                <a:solidFill>
                  <a:srgbClr val="67768E"/>
                </a:solidFill>
                <a:effectLst/>
                <a:latin typeface="Inter"/>
              </a:rPr>
              <a:t/>
            </a:r>
            <a:br>
              <a:rPr lang="en-IN" sz="2000" b="0" i="0" dirty="0">
                <a:solidFill>
                  <a:srgbClr val="67768E"/>
                </a:solidFill>
                <a:effectLst/>
                <a:latin typeface="Inter"/>
              </a:rPr>
            </a:br>
            <a:endParaRPr lang="en-IN" sz="2400" b="0" i="0" dirty="0">
              <a:solidFill>
                <a:srgbClr val="273239"/>
              </a:solidFill>
              <a:effectLst/>
              <a:latin typeface="Nunito" pitchFamily="2" charset="0"/>
            </a:endParaRPr>
          </a:p>
        </p:txBody>
      </p:sp>
      <p:pic>
        <p:nvPicPr>
          <p:cNvPr id="4" name="Picture 3">
            <a:extLst>
              <a:ext uri="{FF2B5EF4-FFF2-40B4-BE49-F238E27FC236}">
                <a16:creationId xmlns:a16="http://schemas.microsoft.com/office/drawing/2014/main" id="{B4F15166-05B1-E360-1DD0-BB6769FD067C}"/>
              </a:ext>
            </a:extLst>
          </p:cNvPr>
          <p:cNvPicPr>
            <a:picLocks noChangeAspect="1"/>
          </p:cNvPicPr>
          <p:nvPr/>
        </p:nvPicPr>
        <p:blipFill>
          <a:blip r:embed="rId2"/>
          <a:stretch>
            <a:fillRect/>
          </a:stretch>
        </p:blipFill>
        <p:spPr>
          <a:xfrm>
            <a:off x="1870865" y="2503705"/>
            <a:ext cx="8450270" cy="2558214"/>
          </a:xfrm>
          <a:prstGeom prst="rect">
            <a:avLst/>
          </a:prstGeom>
        </p:spPr>
      </p:pic>
    </p:spTree>
    <p:extLst>
      <p:ext uri="{BB962C8B-B14F-4D97-AF65-F5344CB8AC3E}">
        <p14:creationId xmlns:p14="http://schemas.microsoft.com/office/powerpoint/2010/main" val="1414936330"/>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B722-15E3-E7C5-E026-D1213B92A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152A35-E74E-A9E9-D91A-0CCF16B10027}"/>
              </a:ext>
            </a:extLst>
          </p:cNvPr>
          <p:cNvSpPr>
            <a:spLocks noGrp="1"/>
          </p:cNvSpPr>
          <p:nvPr>
            <p:ph type="title"/>
          </p:nvPr>
        </p:nvSpPr>
        <p:spPr>
          <a:xfrm>
            <a:off x="1371600" y="0"/>
            <a:ext cx="10820400" cy="1485900"/>
          </a:xfrm>
        </p:spPr>
        <p:txBody>
          <a:bodyPr>
            <a:normAutofit fontScale="90000"/>
          </a:bodyPr>
          <a:lstStyle/>
          <a:p>
            <a:pPr algn="l" fontAlgn="base"/>
            <a:r>
              <a:rPr lang="en-IN" b="1" i="0" dirty="0">
                <a:solidFill>
                  <a:srgbClr val="063227"/>
                </a:solidFill>
                <a:effectLst/>
                <a:latin typeface="Roboto" panose="02000000000000000000" pitchFamily="2" charset="0"/>
              </a:rPr>
              <a:t>Customize Visual Appearance</a:t>
            </a:r>
            <a:br>
              <a:rPr lang="en-IN" b="1" i="0" dirty="0">
                <a:solidFill>
                  <a:srgbClr val="063227"/>
                </a:solidFill>
                <a:effectLst/>
                <a:latin typeface="Roboto" panose="02000000000000000000" pitchFamily="2" charset="0"/>
              </a:rPr>
            </a:br>
            <a:r>
              <a:rPr lang="en-IN" b="0" i="0" dirty="0">
                <a:effectLst/>
                <a:latin typeface="var( --e-global-typography-text-font-family )"/>
              </a:rPr>
              <a:t/>
            </a:r>
            <a:br>
              <a:rPr lang="en-IN" b="0" i="0" dirty="0">
                <a:effectLst/>
                <a:latin typeface="var( --e-global-typography-text-font-family )"/>
              </a:rPr>
            </a:br>
            <a:endParaRPr lang="en-IN" dirty="0"/>
          </a:p>
        </p:txBody>
      </p:sp>
      <p:sp>
        <p:nvSpPr>
          <p:cNvPr id="4" name="Rectangle 1">
            <a:extLst>
              <a:ext uri="{FF2B5EF4-FFF2-40B4-BE49-F238E27FC236}">
                <a16:creationId xmlns:a16="http://schemas.microsoft.com/office/drawing/2014/main" id="{6862B788-6A64-3C00-D9F3-A0E61AF89CDF}"/>
              </a:ext>
            </a:extLst>
          </p:cNvPr>
          <p:cNvSpPr>
            <a:spLocks noGrp="1" noChangeArrowheads="1"/>
          </p:cNvSpPr>
          <p:nvPr>
            <p:ph idx="1"/>
          </p:nvPr>
        </p:nvSpPr>
        <p:spPr bwMode="auto">
          <a:xfrm>
            <a:off x="936171" y="522855"/>
            <a:ext cx="110772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Arial" panose="020B0604020202020204" pitchFamily="34" charset="0"/>
              </a:rPr>
              <a:t>Add a Title and Branding</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a </a:t>
            </a:r>
            <a:r>
              <a:rPr kumimoji="0" lang="en-US" altLang="en-US" sz="1600" b="1" i="0" u="none" strike="noStrike" cap="none" normalizeH="0" baseline="0" dirty="0">
                <a:ln>
                  <a:noFill/>
                </a:ln>
                <a:solidFill>
                  <a:schemeClr val="tx1"/>
                </a:solidFill>
                <a:effectLst/>
                <a:latin typeface="Arial" panose="020B0604020202020204" pitchFamily="34" charset="0"/>
              </a:rPr>
              <a:t>Text Box</a:t>
            </a:r>
            <a:r>
              <a:rPr kumimoji="0" lang="en-US" altLang="en-US" sz="1600" b="0" i="0" u="none" strike="noStrike" cap="none" normalizeH="0" baseline="0" dirty="0">
                <a:ln>
                  <a:noFill/>
                </a:ln>
                <a:solidFill>
                  <a:schemeClr val="tx1"/>
                </a:solidFill>
                <a:effectLst/>
                <a:latin typeface="Arial" panose="020B0604020202020204" pitchFamily="34" charset="0"/>
              </a:rPr>
              <a:t> at the top of the report for a title (e.g., "Retail Sales Analysis Dashboard").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your company’s logo or colors for branding: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the </a:t>
            </a:r>
            <a:r>
              <a:rPr kumimoji="0" lang="en-US" altLang="en-US" sz="1600" b="1" i="0" u="none" strike="noStrike" cap="none" normalizeH="0" baseline="0" dirty="0">
                <a:ln>
                  <a:noFill/>
                </a:ln>
                <a:solidFill>
                  <a:schemeClr val="tx1"/>
                </a:solidFill>
                <a:effectLst/>
                <a:latin typeface="Arial" panose="020B0604020202020204" pitchFamily="34" charset="0"/>
              </a:rPr>
              <a:t>Insert</a:t>
            </a:r>
            <a:r>
              <a:rPr kumimoji="0" lang="en-US" altLang="en-US" sz="1600" b="0" i="0" u="none" strike="noStrike" cap="none" normalizeH="0" baseline="0" dirty="0">
                <a:ln>
                  <a:noFill/>
                </a:ln>
                <a:solidFill>
                  <a:schemeClr val="tx1"/>
                </a:solidFill>
                <a:effectLst/>
                <a:latin typeface="Arial" panose="020B0604020202020204" pitchFamily="34" charset="0"/>
              </a:rPr>
              <a:t> tab to add images or shapes.</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Arial" panose="020B0604020202020204" pitchFamily="34" charset="0"/>
              </a:rPr>
              <a:t>Customize Visual Formatting</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Adjust color schemes to make the report more appealing: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contrasting colors for key metrics and trends.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Highlight important visuals like total revenue or top products.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Use conditional formatting: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For example, format the </a:t>
            </a:r>
            <a:r>
              <a:rPr kumimoji="0" lang="en-US" altLang="en-US" sz="1600" b="0" i="0" u="none" strike="noStrike" cap="none" normalizeH="0" baseline="0" dirty="0">
                <a:ln>
                  <a:noFill/>
                </a:ln>
                <a:solidFill>
                  <a:schemeClr val="tx1"/>
                </a:solidFill>
                <a:effectLst/>
                <a:latin typeface="Arial Unicode MS"/>
              </a:rPr>
              <a:t>Profit Margin</a:t>
            </a:r>
            <a:r>
              <a:rPr kumimoji="0" lang="en-US" altLang="en-US" sz="1600" b="0" i="0" u="none" strike="noStrike" cap="none" normalizeH="0" baseline="0" dirty="0">
                <a:ln>
                  <a:noFill/>
                </a:ln>
                <a:solidFill>
                  <a:schemeClr val="tx1"/>
                </a:solidFill>
                <a:effectLst/>
              </a:rPr>
              <a:t> column in a table visual with red for negative values and green for positive.</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Arial" panose="020B0604020202020204" pitchFamily="34" charset="0"/>
              </a:rPr>
              <a:t>Page Layouts for Different Stakeholders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Executive Summary</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Include high-level KPIs like </a:t>
            </a:r>
            <a:r>
              <a:rPr kumimoji="0" lang="en-US" altLang="en-US" sz="1600" b="0" i="0" u="none" strike="noStrike" cap="none" normalizeH="0" baseline="0" dirty="0">
                <a:ln>
                  <a:noFill/>
                </a:ln>
                <a:solidFill>
                  <a:schemeClr val="tx1"/>
                </a:solidFill>
                <a:effectLst/>
                <a:latin typeface="Arial Unicode MS"/>
              </a:rPr>
              <a:t>Total Revenue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Profit Margin</a:t>
            </a:r>
            <a:r>
              <a:rPr kumimoji="0" lang="en-US" altLang="en-US" sz="1600" b="0" i="0" u="none" strike="noStrike" cap="none" normalizeH="0" baseline="0" dirty="0">
                <a:ln>
                  <a:noFill/>
                </a:ln>
                <a:solidFill>
                  <a:schemeClr val="tx1"/>
                </a:solidFill>
                <a:effectLst/>
              </a:rPr>
              <a:t>, and </a:t>
            </a:r>
            <a:r>
              <a:rPr kumimoji="0" lang="en-US" altLang="en-US" sz="1600" b="0" i="0" u="none" strike="noStrike" cap="none" normalizeH="0" baseline="0" dirty="0">
                <a:ln>
                  <a:noFill/>
                </a:ln>
                <a:solidFill>
                  <a:schemeClr val="tx1"/>
                </a:solidFill>
                <a:effectLst/>
                <a:latin typeface="Arial Unicode MS"/>
              </a:rPr>
              <a:t>Sales by Region</a:t>
            </a: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Detailed Analysis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Include breakdowns by product, store, and time for analysts.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Interactive Insights</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Add slicers for dynamic filtering and insights.</a:t>
            </a:r>
          </a:p>
          <a:p>
            <a:pPr marL="914400" marR="0" lvl="2"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Arial" panose="020B0604020202020204" pitchFamily="34" charset="0"/>
              </a:rPr>
              <a:t>Publish to Power BI Service</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Save and publish your report to the Power BI Service.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Share with stakeholders via a shared workspace or link.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602843"/>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C612-9E5B-7130-23EA-BB3A2C395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D1A7A-0D96-52DE-CDB3-F1E0B0FB268A}"/>
              </a:ext>
            </a:extLst>
          </p:cNvPr>
          <p:cNvSpPr>
            <a:spLocks noGrp="1"/>
          </p:cNvSpPr>
          <p:nvPr>
            <p:ph type="title"/>
          </p:nvPr>
        </p:nvSpPr>
        <p:spPr>
          <a:xfrm>
            <a:off x="1371600" y="0"/>
            <a:ext cx="10820400" cy="1485900"/>
          </a:xfrm>
        </p:spPr>
        <p:txBody>
          <a:bodyPr>
            <a:normAutofit fontScale="90000"/>
          </a:bodyPr>
          <a:lstStyle/>
          <a:p>
            <a:pPr algn="l"/>
            <a:r>
              <a:rPr lang="en-IN" b="1" i="0" dirty="0">
                <a:solidFill>
                  <a:srgbClr val="000000"/>
                </a:solidFill>
                <a:effectLst/>
                <a:latin typeface="Open Sans" panose="020B0606030504020204" pitchFamily="34" charset="0"/>
              </a:rPr>
              <a:t>Export a Power BI report to PowerPoint</a:t>
            </a:r>
            <a:r>
              <a:rPr lang="en-IN" b="1" i="0" dirty="0">
                <a:solidFill>
                  <a:srgbClr val="0078D4"/>
                </a:solidFill>
                <a:effectLst/>
                <a:latin typeface="Open Sans" panose="020B0606030504020204" pitchFamily="34" charset="0"/>
                <a:hlinkClick r:id="rId2"/>
              </a:rPr>
              <a:t>#</a:t>
            </a:r>
            <a:r>
              <a:rPr lang="en-IN" b="1" i="0" dirty="0">
                <a:solidFill>
                  <a:srgbClr val="000000"/>
                </a:solidFill>
                <a:effectLst/>
                <a:latin typeface="Open Sans" panose="020B0606030504020204" pitchFamily="34" charset="0"/>
              </a:rPr>
              <a:t/>
            </a:r>
            <a:br>
              <a:rPr lang="en-IN" b="1" i="0" dirty="0">
                <a:solidFill>
                  <a:srgbClr val="000000"/>
                </a:solidFill>
                <a:effectLst/>
                <a:latin typeface="Open Sans" panose="020B0606030504020204" pitchFamily="34" charset="0"/>
              </a:rPr>
            </a:br>
            <a:r>
              <a:rPr lang="en-IN" dirty="0"/>
              <a:t/>
            </a:r>
            <a:br>
              <a:rPr lang="en-IN" dirty="0"/>
            </a:br>
            <a:endParaRPr lang="en-IN" dirty="0"/>
          </a:p>
        </p:txBody>
      </p:sp>
      <p:sp>
        <p:nvSpPr>
          <p:cNvPr id="3" name="Content Placeholder 2">
            <a:extLst>
              <a:ext uri="{FF2B5EF4-FFF2-40B4-BE49-F238E27FC236}">
                <a16:creationId xmlns:a16="http://schemas.microsoft.com/office/drawing/2014/main" id="{8132CC75-6708-5978-7626-426C8E7D9103}"/>
              </a:ext>
            </a:extLst>
          </p:cNvPr>
          <p:cNvSpPr>
            <a:spLocks noGrp="1"/>
          </p:cNvSpPr>
          <p:nvPr>
            <p:ph idx="1"/>
          </p:nvPr>
        </p:nvSpPr>
        <p:spPr>
          <a:xfrm>
            <a:off x="1371600" y="1807535"/>
            <a:ext cx="9601200" cy="3581400"/>
          </a:xfrm>
        </p:spPr>
        <p:txBody>
          <a:bodyPr/>
          <a:lstStyle/>
          <a:p>
            <a:pPr algn="l"/>
            <a:r>
              <a:rPr lang="en-IN" b="1" i="0" dirty="0">
                <a:solidFill>
                  <a:srgbClr val="000000"/>
                </a:solidFill>
                <a:effectLst/>
                <a:latin typeface="Open Sans" panose="020B0606030504020204" pitchFamily="34" charset="0"/>
              </a:rPr>
              <a:t>1. Log into your Power BI account, </a:t>
            </a:r>
            <a:r>
              <a:rPr lang="en-IN" b="0" i="0" dirty="0">
                <a:solidFill>
                  <a:srgbClr val="000000"/>
                </a:solidFill>
                <a:effectLst/>
                <a:latin typeface="Open Sans" panose="020B0606030504020204" pitchFamily="34" charset="0"/>
              </a:rPr>
              <a:t>select the report you want to export, and click </a:t>
            </a:r>
            <a:r>
              <a:rPr lang="en-IN" b="1" i="0" dirty="0">
                <a:solidFill>
                  <a:srgbClr val="000000"/>
                </a:solidFill>
                <a:effectLst/>
                <a:latin typeface="Open Sans" panose="020B0606030504020204" pitchFamily="34" charset="0"/>
              </a:rPr>
              <a:t>Export &gt; PowerPoint.</a:t>
            </a:r>
            <a:endParaRPr lang="en-IN" b="0" i="0" dirty="0">
              <a:solidFill>
                <a:srgbClr val="000000"/>
              </a:solidFill>
              <a:effectLst/>
              <a:latin typeface="Open Sans" panose="020B0606030504020204" pitchFamily="34" charset="0"/>
            </a:endParaRPr>
          </a:p>
          <a:p>
            <a:pPr marL="0" indent="0">
              <a:buNone/>
            </a:pP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endParaRPr lang="en-IN" dirty="0"/>
          </a:p>
        </p:txBody>
      </p:sp>
      <p:pic>
        <p:nvPicPr>
          <p:cNvPr id="8" name="Picture 7">
            <a:extLst>
              <a:ext uri="{FF2B5EF4-FFF2-40B4-BE49-F238E27FC236}">
                <a16:creationId xmlns:a16="http://schemas.microsoft.com/office/drawing/2014/main" id="{FDBDCB2C-DDA8-EEF3-542E-FF8303DA47D3}"/>
              </a:ext>
            </a:extLst>
          </p:cNvPr>
          <p:cNvPicPr>
            <a:picLocks noChangeAspect="1"/>
          </p:cNvPicPr>
          <p:nvPr/>
        </p:nvPicPr>
        <p:blipFill>
          <a:blip r:embed="rId3"/>
          <a:stretch>
            <a:fillRect/>
          </a:stretch>
        </p:blipFill>
        <p:spPr>
          <a:xfrm>
            <a:off x="1832359" y="2707647"/>
            <a:ext cx="8679682" cy="3002923"/>
          </a:xfrm>
          <a:prstGeom prst="rect">
            <a:avLst/>
          </a:prstGeom>
        </p:spPr>
      </p:pic>
    </p:spTree>
    <p:extLst>
      <p:ext uri="{BB962C8B-B14F-4D97-AF65-F5344CB8AC3E}">
        <p14:creationId xmlns:p14="http://schemas.microsoft.com/office/powerpoint/2010/main" val="947925871"/>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64EDF-DF57-D937-9C31-911195C079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B83F7D-273F-237E-E869-E94C2796B53D}"/>
              </a:ext>
            </a:extLst>
          </p:cNvPr>
          <p:cNvSpPr>
            <a:spLocks noGrp="1"/>
          </p:cNvSpPr>
          <p:nvPr>
            <p:ph idx="1"/>
          </p:nvPr>
        </p:nvSpPr>
        <p:spPr>
          <a:xfrm>
            <a:off x="1371600" y="733647"/>
            <a:ext cx="9601200" cy="4655288"/>
          </a:xfrm>
        </p:spPr>
        <p:txBody>
          <a:bodyPr/>
          <a:lstStyle/>
          <a:p>
            <a:pPr algn="l"/>
            <a:r>
              <a:rPr lang="en-IN" b="0" i="0" dirty="0">
                <a:solidFill>
                  <a:srgbClr val="000000"/>
                </a:solidFill>
                <a:effectLst/>
                <a:latin typeface="Open Sans" panose="020B0606030504020204" pitchFamily="34" charset="0"/>
              </a:rPr>
              <a:t>You will be prompted with multiple choices about your export. Here you can customize values, decide if you want your file to include hidden report tabs, and, if you are interested in only one particular page, export </a:t>
            </a:r>
            <a:r>
              <a:rPr lang="en-IN" b="1" i="0" dirty="0">
                <a:solidFill>
                  <a:srgbClr val="000000"/>
                </a:solidFill>
                <a:effectLst/>
                <a:latin typeface="Open Sans" panose="020B0606030504020204" pitchFamily="34" charset="0"/>
              </a:rPr>
              <a:t>only the page you are currently on</a:t>
            </a:r>
            <a:r>
              <a:rPr lang="en-IN" b="0" i="0" dirty="0">
                <a:solidFill>
                  <a:srgbClr val="000000"/>
                </a:solidFill>
                <a:effectLst/>
                <a:latin typeface="Open Sans" panose="020B0606030504020204" pitchFamily="34" charset="0"/>
              </a:rPr>
              <a:t>.</a:t>
            </a:r>
          </a:p>
          <a:p>
            <a:pPr marL="0" indent="0">
              <a:buNone/>
            </a:pP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endParaRPr lang="en-IN" dirty="0"/>
          </a:p>
        </p:txBody>
      </p:sp>
      <p:pic>
        <p:nvPicPr>
          <p:cNvPr id="7" name="Picture 6">
            <a:extLst>
              <a:ext uri="{FF2B5EF4-FFF2-40B4-BE49-F238E27FC236}">
                <a16:creationId xmlns:a16="http://schemas.microsoft.com/office/drawing/2014/main" id="{4F70BC1D-78DB-0854-7A7C-F04463629853}"/>
              </a:ext>
            </a:extLst>
          </p:cNvPr>
          <p:cNvPicPr>
            <a:picLocks noChangeAspect="1"/>
          </p:cNvPicPr>
          <p:nvPr/>
        </p:nvPicPr>
        <p:blipFill>
          <a:blip r:embed="rId2"/>
          <a:stretch>
            <a:fillRect/>
          </a:stretch>
        </p:blipFill>
        <p:spPr>
          <a:xfrm>
            <a:off x="2241698" y="2501973"/>
            <a:ext cx="7424044" cy="4068947"/>
          </a:xfrm>
          <a:prstGeom prst="rect">
            <a:avLst/>
          </a:prstGeom>
        </p:spPr>
      </p:pic>
    </p:spTree>
    <p:extLst>
      <p:ext uri="{BB962C8B-B14F-4D97-AF65-F5344CB8AC3E}">
        <p14:creationId xmlns:p14="http://schemas.microsoft.com/office/powerpoint/2010/main" val="967356757"/>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64D5-83FC-E3D7-C4D0-8E1A5A9CF5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484EA0-1B80-BFCC-B552-F4B47DCD5F70}"/>
              </a:ext>
            </a:extLst>
          </p:cNvPr>
          <p:cNvSpPr>
            <a:spLocks noGrp="1"/>
          </p:cNvSpPr>
          <p:nvPr>
            <p:ph idx="1"/>
          </p:nvPr>
        </p:nvSpPr>
        <p:spPr>
          <a:xfrm>
            <a:off x="1371600" y="733647"/>
            <a:ext cx="9601200" cy="4655288"/>
          </a:xfrm>
        </p:spPr>
        <p:txBody>
          <a:bodyPr/>
          <a:lstStyle/>
          <a:p>
            <a:pPr algn="l"/>
            <a:r>
              <a:rPr lang="en-IN" b="1" i="0" dirty="0">
                <a:solidFill>
                  <a:srgbClr val="000000"/>
                </a:solidFill>
                <a:effectLst/>
                <a:latin typeface="Open Sans" panose="020B0606030504020204" pitchFamily="34" charset="0"/>
              </a:rPr>
              <a:t> A notification should appear about the exporting process.</a:t>
            </a: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r>
              <a:rPr lang="en-IN" b="0" i="0" dirty="0">
                <a:solidFill>
                  <a:srgbClr val="000000"/>
                </a:solidFill>
                <a:effectLst/>
                <a:latin typeface="Open Sans" panose="020B0606030504020204" pitchFamily="34" charset="0"/>
              </a:rPr>
              <a:t>Once it is done, the PPTX file will begin to download. Open the file after it’s finished.</a:t>
            </a:r>
          </a:p>
          <a:p>
            <a:pPr marL="0" indent="0">
              <a:buNone/>
            </a:pP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endParaRPr lang="en-IN" dirty="0"/>
          </a:p>
        </p:txBody>
      </p:sp>
      <p:pic>
        <p:nvPicPr>
          <p:cNvPr id="4" name="Picture 3">
            <a:extLst>
              <a:ext uri="{FF2B5EF4-FFF2-40B4-BE49-F238E27FC236}">
                <a16:creationId xmlns:a16="http://schemas.microsoft.com/office/drawing/2014/main" id="{387F6484-DEDB-674F-4EDF-F9189CA374C1}"/>
              </a:ext>
            </a:extLst>
          </p:cNvPr>
          <p:cNvPicPr>
            <a:picLocks noChangeAspect="1"/>
          </p:cNvPicPr>
          <p:nvPr/>
        </p:nvPicPr>
        <p:blipFill>
          <a:blip r:embed="rId2"/>
          <a:stretch>
            <a:fillRect/>
          </a:stretch>
        </p:blipFill>
        <p:spPr>
          <a:xfrm>
            <a:off x="2062716" y="1962351"/>
            <a:ext cx="8784708" cy="3194440"/>
          </a:xfrm>
          <a:prstGeom prst="rect">
            <a:avLst/>
          </a:prstGeom>
        </p:spPr>
      </p:pic>
    </p:spTree>
    <p:extLst>
      <p:ext uri="{BB962C8B-B14F-4D97-AF65-F5344CB8AC3E}">
        <p14:creationId xmlns:p14="http://schemas.microsoft.com/office/powerpoint/2010/main" val="2357895748"/>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E0CF1-5800-7DB6-CDC4-09D41FFD11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CABBD8-2090-75BD-4BA5-960BDE966E7B}"/>
              </a:ext>
            </a:extLst>
          </p:cNvPr>
          <p:cNvSpPr>
            <a:spLocks noGrp="1"/>
          </p:cNvSpPr>
          <p:nvPr>
            <p:ph idx="1"/>
          </p:nvPr>
        </p:nvSpPr>
        <p:spPr>
          <a:xfrm>
            <a:off x="1371600" y="733647"/>
            <a:ext cx="9601200" cy="4655288"/>
          </a:xfrm>
        </p:spPr>
        <p:txBody>
          <a:bodyPr/>
          <a:lstStyle/>
          <a:p>
            <a:pPr algn="l"/>
            <a:r>
              <a:rPr lang="en-IN" b="1" i="0" dirty="0">
                <a:solidFill>
                  <a:srgbClr val="000000"/>
                </a:solidFill>
                <a:effectLst/>
                <a:latin typeface="Open Sans" panose="020B0606030504020204" pitchFamily="34" charset="0"/>
              </a:rPr>
              <a:t>3. Open your newly created PowerPoint document and click on Enable Editing to finalize your presentation.</a:t>
            </a:r>
            <a:endParaRPr lang="en-IN" b="0" i="0" dirty="0">
              <a:solidFill>
                <a:srgbClr val="000000"/>
              </a:solidFill>
              <a:effectLst/>
              <a:latin typeface="Open Sans" panose="020B0606030504020204" pitchFamily="34" charset="0"/>
            </a:endParaRPr>
          </a:p>
          <a:p>
            <a:pPr marL="0" indent="0">
              <a:buNone/>
            </a:pP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r>
              <a:rPr lang="en-IN" b="0" i="0" dirty="0">
                <a:solidFill>
                  <a:srgbClr val="000000"/>
                </a:solidFill>
                <a:effectLst/>
                <a:latin typeface="Open Sans" panose="020B0606030504020204" pitchFamily="34" charset="0"/>
              </a:rPr>
              <a:t/>
            </a:r>
            <a:br>
              <a:rPr lang="en-IN" b="0" i="0" dirty="0">
                <a:solidFill>
                  <a:srgbClr val="000000"/>
                </a:solidFill>
                <a:effectLst/>
                <a:latin typeface="Open Sans" panose="020B0606030504020204" pitchFamily="34" charset="0"/>
              </a:rPr>
            </a:br>
            <a:endParaRPr lang="en-IN" dirty="0"/>
          </a:p>
        </p:txBody>
      </p:sp>
      <p:pic>
        <p:nvPicPr>
          <p:cNvPr id="5" name="Picture 4">
            <a:extLst>
              <a:ext uri="{FF2B5EF4-FFF2-40B4-BE49-F238E27FC236}">
                <a16:creationId xmlns:a16="http://schemas.microsoft.com/office/drawing/2014/main" id="{074D2FF5-FFE0-362D-330B-4530CC8C23D8}"/>
              </a:ext>
            </a:extLst>
          </p:cNvPr>
          <p:cNvPicPr>
            <a:picLocks noChangeAspect="1"/>
          </p:cNvPicPr>
          <p:nvPr/>
        </p:nvPicPr>
        <p:blipFill>
          <a:blip r:embed="rId2"/>
          <a:stretch>
            <a:fillRect/>
          </a:stretch>
        </p:blipFill>
        <p:spPr>
          <a:xfrm>
            <a:off x="2037991" y="1690469"/>
            <a:ext cx="8268417" cy="4519052"/>
          </a:xfrm>
          <a:prstGeom prst="rect">
            <a:avLst/>
          </a:prstGeom>
        </p:spPr>
      </p:pic>
    </p:spTree>
    <p:extLst>
      <p:ext uri="{BB962C8B-B14F-4D97-AF65-F5344CB8AC3E}">
        <p14:creationId xmlns:p14="http://schemas.microsoft.com/office/powerpoint/2010/main" val="3943432072"/>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F5940-1E51-D266-9295-B61E06D4BD5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3BDD37-2D1C-1C57-948F-329CCB54A839}"/>
              </a:ext>
            </a:extLst>
          </p:cNvPr>
          <p:cNvSpPr>
            <a:spLocks noGrp="1"/>
          </p:cNvSpPr>
          <p:nvPr>
            <p:ph idx="1"/>
          </p:nvPr>
        </p:nvSpPr>
        <p:spPr>
          <a:xfrm>
            <a:off x="1371600" y="1485900"/>
            <a:ext cx="9601200" cy="4655288"/>
          </a:xfrm>
        </p:spPr>
        <p:txBody>
          <a:bodyPr/>
          <a:lstStyle/>
          <a:p>
            <a:pPr algn="l"/>
            <a:r>
              <a:rPr lang="en-IN" b="0" i="0" dirty="0">
                <a:solidFill>
                  <a:srgbClr val="000000"/>
                </a:solidFill>
                <a:effectLst/>
                <a:latin typeface="Open Sans" panose="020B0606030504020204" pitchFamily="34" charset="0"/>
              </a:rPr>
              <a:t>There are, at the moment, some limitations to this feature, for example:</a:t>
            </a:r>
          </a:p>
          <a:p>
            <a:pPr algn="l">
              <a:buFont typeface="Arial" panose="020B0604020202020204" pitchFamily="34" charset="0"/>
              <a:buChar char="•"/>
            </a:pPr>
            <a:r>
              <a:rPr lang="en-IN" b="0" i="0" dirty="0">
                <a:solidFill>
                  <a:srgbClr val="000000"/>
                </a:solidFill>
                <a:effectLst/>
                <a:latin typeface="Open Sans" panose="020B0606030504020204" pitchFamily="34" charset="0"/>
              </a:rPr>
              <a:t>It is only available in the Power BI service (you cannot do it from the Power BI Desktop).</a:t>
            </a:r>
          </a:p>
          <a:p>
            <a:pPr algn="l">
              <a:buFont typeface="Arial" panose="020B0604020202020204" pitchFamily="34" charset="0"/>
              <a:buChar char="•"/>
            </a:pPr>
            <a:r>
              <a:rPr lang="en-IN" b="0" i="0" dirty="0">
                <a:solidFill>
                  <a:srgbClr val="000000"/>
                </a:solidFill>
                <a:effectLst/>
                <a:latin typeface="Open Sans" panose="020B0606030504020204" pitchFamily="34" charset="0"/>
              </a:rPr>
              <a:t>Exported PowerPoint slides are</a:t>
            </a:r>
            <a:r>
              <a:rPr lang="en-IN" b="1" i="0" dirty="0">
                <a:solidFill>
                  <a:srgbClr val="000000"/>
                </a:solidFill>
                <a:effectLst/>
                <a:latin typeface="Open Sans" panose="020B0606030504020204" pitchFamily="34" charset="0"/>
              </a:rPr>
              <a:t> static pictures</a:t>
            </a:r>
            <a:r>
              <a:rPr lang="en-IN" b="0" i="0" dirty="0">
                <a:solidFill>
                  <a:srgbClr val="000000"/>
                </a:solidFill>
                <a:effectLst/>
                <a:latin typeface="Open Sans" panose="020B0606030504020204" pitchFamily="34" charset="0"/>
              </a:rPr>
              <a:t> (you cannot refresh them in PowerPoint).</a:t>
            </a:r>
          </a:p>
          <a:p>
            <a:pPr algn="l">
              <a:buFont typeface="Arial" panose="020B0604020202020204" pitchFamily="34" charset="0"/>
              <a:buChar char="•"/>
            </a:pPr>
            <a:r>
              <a:rPr lang="en-IN" b="0" i="0" dirty="0">
                <a:solidFill>
                  <a:srgbClr val="000000"/>
                </a:solidFill>
                <a:effectLst/>
                <a:latin typeface="Open Sans" panose="020B0606030504020204" pitchFamily="34" charset="0"/>
              </a:rPr>
              <a:t>You can only export one Power BI report at a time.</a:t>
            </a:r>
          </a:p>
          <a:p>
            <a:pPr algn="l">
              <a:buFont typeface="Arial" panose="020B0604020202020204" pitchFamily="34" charset="0"/>
              <a:buChar char="•"/>
            </a:pPr>
            <a:r>
              <a:rPr lang="en-IN" b="0" i="0" dirty="0">
                <a:solidFill>
                  <a:srgbClr val="000000"/>
                </a:solidFill>
                <a:effectLst/>
                <a:latin typeface="Open Sans" panose="020B0606030504020204" pitchFamily="34" charset="0"/>
              </a:rPr>
              <a:t>The number of pages is limited (only the first 30 pages will be exported).</a:t>
            </a:r>
          </a:p>
          <a:p>
            <a:pPr algn="l">
              <a:buFont typeface="Arial" panose="020B0604020202020204" pitchFamily="34" charset="0"/>
              <a:buChar char="•"/>
            </a:pPr>
            <a:r>
              <a:rPr lang="en-IN" b="0" i="0" dirty="0">
                <a:solidFill>
                  <a:srgbClr val="000000"/>
                </a:solidFill>
                <a:effectLst/>
                <a:latin typeface="Open Sans" panose="020B0606030504020204" pitchFamily="34" charset="0"/>
              </a:rPr>
              <a:t>Only certified custom visuals are supported.</a:t>
            </a:r>
          </a:p>
          <a:p>
            <a:pPr algn="l">
              <a:buFont typeface="Arial" panose="020B0604020202020204" pitchFamily="34" charset="0"/>
              <a:buChar char="•"/>
            </a:pPr>
            <a:r>
              <a:rPr lang="en-IN" b="0" i="0" dirty="0">
                <a:solidFill>
                  <a:srgbClr val="000000"/>
                </a:solidFill>
                <a:effectLst/>
                <a:latin typeface="Open Sans" panose="020B0606030504020204" pitchFamily="34" charset="0"/>
              </a:rPr>
              <a:t>Python visuals, R visuals, and ArcGIS visuals are not supported.</a:t>
            </a:r>
          </a:p>
          <a:p>
            <a:pPr marL="0" indent="0">
              <a:buNone/>
            </a:pPr>
            <a:r>
              <a:rPr lang="en-IN" dirty="0"/>
              <a:t/>
            </a:r>
            <a:br>
              <a:rPr lang="en-IN" dirty="0"/>
            </a:br>
            <a:endParaRPr lang="en-IN" dirty="0"/>
          </a:p>
        </p:txBody>
      </p:sp>
      <p:sp>
        <p:nvSpPr>
          <p:cNvPr id="2" name="Title 1">
            <a:extLst>
              <a:ext uri="{FF2B5EF4-FFF2-40B4-BE49-F238E27FC236}">
                <a16:creationId xmlns:a16="http://schemas.microsoft.com/office/drawing/2014/main" id="{3D456DD5-E9D1-6FC5-981B-E521448BB91F}"/>
              </a:ext>
            </a:extLst>
          </p:cNvPr>
          <p:cNvSpPr>
            <a:spLocks noGrp="1"/>
          </p:cNvSpPr>
          <p:nvPr>
            <p:ph type="title"/>
          </p:nvPr>
        </p:nvSpPr>
        <p:spPr>
          <a:xfrm>
            <a:off x="1371600" y="0"/>
            <a:ext cx="10820400" cy="1485900"/>
          </a:xfrm>
        </p:spPr>
        <p:txBody>
          <a:bodyPr>
            <a:normAutofit/>
          </a:bodyPr>
          <a:lstStyle/>
          <a:p>
            <a:pPr algn="l"/>
            <a:r>
              <a:rPr lang="en-IN" sz="3600" b="1" i="0" dirty="0">
                <a:solidFill>
                  <a:srgbClr val="000000"/>
                </a:solidFill>
                <a:effectLst/>
                <a:latin typeface="Open Sans" panose="020B0606030504020204" pitchFamily="34" charset="0"/>
              </a:rPr>
              <a:t>How to embed Power BI in updatable PowerPoint slides?</a:t>
            </a:r>
            <a:endParaRPr lang="en-IN" sz="3600" dirty="0"/>
          </a:p>
        </p:txBody>
      </p:sp>
    </p:spTree>
    <p:extLst>
      <p:ext uri="{BB962C8B-B14F-4D97-AF65-F5344CB8AC3E}">
        <p14:creationId xmlns:p14="http://schemas.microsoft.com/office/powerpoint/2010/main" val="3661003978"/>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AB877-4AF4-8EB9-CFC0-2C80DCC2F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F33F5-E0D5-B409-5443-0128EE20ECDE}"/>
              </a:ext>
            </a:extLst>
          </p:cNvPr>
          <p:cNvSpPr>
            <a:spLocks noGrp="1"/>
          </p:cNvSpPr>
          <p:nvPr>
            <p:ph type="title"/>
          </p:nvPr>
        </p:nvSpPr>
        <p:spPr/>
        <p:txBody>
          <a:bodyPr/>
          <a:lstStyle/>
          <a:p>
            <a:r>
              <a:rPr lang="en-US" dirty="0"/>
              <a:t>ACTIVITY</a:t>
            </a:r>
            <a:endParaRPr lang="en-IN" dirty="0"/>
          </a:p>
        </p:txBody>
      </p:sp>
      <p:sp>
        <p:nvSpPr>
          <p:cNvPr id="4" name="Content Placeholder 3">
            <a:extLst>
              <a:ext uri="{FF2B5EF4-FFF2-40B4-BE49-F238E27FC236}">
                <a16:creationId xmlns:a16="http://schemas.microsoft.com/office/drawing/2014/main" id="{E58C192A-C4F5-BEAB-9339-BEF6208F4662}"/>
              </a:ext>
            </a:extLst>
          </p:cNvPr>
          <p:cNvSpPr>
            <a:spLocks noGrp="1"/>
          </p:cNvSpPr>
          <p:nvPr>
            <p:ph sz="half" idx="1"/>
          </p:nvPr>
        </p:nvSpPr>
        <p:spPr>
          <a:xfrm>
            <a:off x="1371600" y="1313411"/>
            <a:ext cx="4447786" cy="4553989"/>
          </a:xfrm>
        </p:spPr>
        <p:txBody>
          <a:bodyPr>
            <a:normAutofit fontScale="85000" lnSpcReduction="10000"/>
          </a:bodyPr>
          <a:lstStyle/>
          <a:p>
            <a:r>
              <a:rPr lang="en-IN" dirty="0"/>
              <a:t>Load data Retail_Sales_Analysis.xlsx</a:t>
            </a:r>
          </a:p>
          <a:p>
            <a:r>
              <a:rPr lang="en-IN" dirty="0"/>
              <a:t>Create visualization which is Key Performance Indicator (KPI) cards on measures like Total Revenue, Average Discount, Profit Margin.</a:t>
            </a:r>
          </a:p>
          <a:p>
            <a:r>
              <a:rPr lang="en-IN" dirty="0"/>
              <a:t>Create visualization for sales by region using bar chart.</a:t>
            </a:r>
          </a:p>
          <a:p>
            <a:r>
              <a:rPr lang="en-IN" dirty="0"/>
              <a:t>Visualize top products by sales using column chart.</a:t>
            </a:r>
          </a:p>
          <a:p>
            <a:r>
              <a:rPr lang="en-IN" dirty="0"/>
              <a:t>Use line chart for visualizing sales trend over time.</a:t>
            </a:r>
          </a:p>
          <a:p>
            <a:r>
              <a:rPr lang="en-IN" dirty="0"/>
              <a:t>Develop interactive dashboard at first, by adding filters for interactivity which are region based filtering and date range filtering.</a:t>
            </a:r>
          </a:p>
          <a:p>
            <a:endParaRPr lang="en-IN" dirty="0"/>
          </a:p>
        </p:txBody>
      </p:sp>
      <p:sp>
        <p:nvSpPr>
          <p:cNvPr id="5" name="Content Placeholder 4">
            <a:extLst>
              <a:ext uri="{FF2B5EF4-FFF2-40B4-BE49-F238E27FC236}">
                <a16:creationId xmlns:a16="http://schemas.microsoft.com/office/drawing/2014/main" id="{D6C458C6-E028-4B54-3E98-0E71FA8D6373}"/>
              </a:ext>
            </a:extLst>
          </p:cNvPr>
          <p:cNvSpPr>
            <a:spLocks noGrp="1"/>
          </p:cNvSpPr>
          <p:nvPr>
            <p:ph sz="half" idx="2"/>
          </p:nvPr>
        </p:nvSpPr>
        <p:spPr>
          <a:xfrm>
            <a:off x="6525403" y="1313411"/>
            <a:ext cx="4447786" cy="4553989"/>
          </a:xfrm>
        </p:spPr>
        <p:txBody>
          <a:bodyPr>
            <a:normAutofit fontScale="85000" lnSpcReduction="10000"/>
          </a:bodyPr>
          <a:lstStyle/>
          <a:p>
            <a:r>
              <a:rPr lang="en-IN" dirty="0"/>
              <a:t>Enable drill throughs by creating a new page for detailed insights which are product or region specific analysis.</a:t>
            </a:r>
          </a:p>
          <a:p>
            <a:r>
              <a:rPr lang="en-IN" dirty="0"/>
              <a:t>Customize tooltips for visuals.</a:t>
            </a:r>
          </a:p>
          <a:p>
            <a:r>
              <a:rPr lang="en-IN" dirty="0"/>
              <a:t>Customize reports for stakeholders by designing a clean layout with </a:t>
            </a:r>
            <a:r>
              <a:rPr lang="en-IN" dirty="0" err="1"/>
              <a:t>kpi</a:t>
            </a:r>
            <a:r>
              <a:rPr lang="en-IN" dirty="0"/>
              <a:t>, trends (sales by region, top products) and slicers and filters.</a:t>
            </a:r>
          </a:p>
          <a:p>
            <a:r>
              <a:rPr lang="en-IN" dirty="0"/>
              <a:t>Apply themes and branding.</a:t>
            </a:r>
          </a:p>
          <a:p>
            <a:r>
              <a:rPr lang="en-IN" dirty="0"/>
              <a:t>Do Conditional Formatting on Profit Margin.</a:t>
            </a:r>
          </a:p>
          <a:p>
            <a:r>
              <a:rPr lang="en-IN" dirty="0"/>
              <a:t>Create stakeholder specific pages which are executive summary, detailed reports and interactive insights.</a:t>
            </a:r>
          </a:p>
          <a:p>
            <a:r>
              <a:rPr lang="en-IN" dirty="0"/>
              <a:t>Publish and share the report.</a:t>
            </a:r>
          </a:p>
          <a:p>
            <a:endParaRPr lang="en-IN" dirty="0"/>
          </a:p>
        </p:txBody>
      </p:sp>
    </p:spTree>
    <p:extLst>
      <p:ext uri="{BB962C8B-B14F-4D97-AF65-F5344CB8AC3E}">
        <p14:creationId xmlns:p14="http://schemas.microsoft.com/office/powerpoint/2010/main" val="3448452915"/>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DDBC-21A4-F04C-1F00-463230EA4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13E5D-3C54-FAB8-5200-D4E2DB1C4A8B}"/>
              </a:ext>
            </a:extLst>
          </p:cNvPr>
          <p:cNvSpPr>
            <a:spLocks noGrp="1"/>
          </p:cNvSpPr>
          <p:nvPr>
            <p:ph type="title"/>
          </p:nvPr>
        </p:nvSpPr>
        <p:spPr>
          <a:xfrm>
            <a:off x="1295399" y="2686050"/>
            <a:ext cx="10013303" cy="1485900"/>
          </a:xfrm>
        </p:spPr>
        <p:txBody>
          <a:bodyPr>
            <a:normAutofit/>
          </a:bodyPr>
          <a:lstStyle/>
          <a:p>
            <a:r>
              <a:rPr lang="en-US" b="1" dirty="0"/>
              <a:t>Day 17</a:t>
            </a:r>
            <a:r>
              <a:rPr lang="en-US" dirty="0"/>
              <a:t>: </a:t>
            </a:r>
            <a:r>
              <a:rPr lang="en-IN" dirty="0"/>
              <a:t>Python Basics</a:t>
            </a:r>
            <a:endParaRPr lang="en-US" dirty="0"/>
          </a:p>
        </p:txBody>
      </p:sp>
    </p:spTree>
    <p:extLst>
      <p:ext uri="{BB962C8B-B14F-4D97-AF65-F5344CB8AC3E}">
        <p14:creationId xmlns:p14="http://schemas.microsoft.com/office/powerpoint/2010/main" val="1690390068"/>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4FB44-51CA-FAC9-5AE7-354C45B94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1C5DA-9F5D-086A-6209-B2A80EEF0C70}"/>
              </a:ext>
            </a:extLst>
          </p:cNvPr>
          <p:cNvSpPr>
            <a:spLocks noGrp="1"/>
          </p:cNvSpPr>
          <p:nvPr>
            <p:ph type="title"/>
          </p:nvPr>
        </p:nvSpPr>
        <p:spPr>
          <a:xfrm>
            <a:off x="1371600" y="0"/>
            <a:ext cx="10820400" cy="1485900"/>
          </a:xfrm>
        </p:spPr>
        <p:txBody>
          <a:bodyPr>
            <a:normAutofit/>
          </a:bodyPr>
          <a:lstStyle/>
          <a:p>
            <a:pPr algn="l" fontAlgn="base"/>
            <a:r>
              <a:rPr lang="en-US" dirty="0">
                <a:latin typeface="Open Sans" panose="020B0606030504020204" pitchFamily="34" charset="0"/>
                <a:ea typeface="Open Sans" panose="020B0606030504020204" pitchFamily="34" charset="0"/>
                <a:cs typeface="Open Sans" panose="020B0606030504020204" pitchFamily="34" charset="0"/>
              </a:rPr>
              <a:t>What is Python?</a:t>
            </a:r>
            <a:endParaRPr lang="en-IN" dirty="0"/>
          </a:p>
        </p:txBody>
      </p:sp>
      <p:sp>
        <p:nvSpPr>
          <p:cNvPr id="4" name="Rectangle 1">
            <a:extLst>
              <a:ext uri="{FF2B5EF4-FFF2-40B4-BE49-F238E27FC236}">
                <a16:creationId xmlns:a16="http://schemas.microsoft.com/office/drawing/2014/main" id="{49AF91D9-6F0D-9336-9C77-A1FF97AECA32}"/>
              </a:ext>
            </a:extLst>
          </p:cNvPr>
          <p:cNvSpPr>
            <a:spLocks noGrp="1" noChangeArrowheads="1"/>
          </p:cNvSpPr>
          <p:nvPr>
            <p:ph idx="1"/>
          </p:nvPr>
        </p:nvSpPr>
        <p:spPr bwMode="auto">
          <a:xfrm>
            <a:off x="936172" y="676871"/>
            <a:ext cx="10504462" cy="5939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Python is a popular high-level programming language used in various applications</a:t>
            </a:r>
          </a:p>
          <a:p>
            <a:pPr lvl="1"/>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Python is an easy language to learn because of its simple syntax</a:t>
            </a:r>
          </a:p>
          <a:p>
            <a:pPr lvl="1"/>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rPr>
              <a:t>Python can be used for simple tasks such as plotting or for more complex tasks like machine learning</a:t>
            </a: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1"/>
            <a:endParaRPr lang="en-US" sz="2400" dirty="0">
              <a:latin typeface="Open Sans" panose="020B0606030504020204" pitchFamily="34" charset="0"/>
              <a:ea typeface="Open Sans" panose="020B0606030504020204" pitchFamily="34" charset="0"/>
              <a:cs typeface="Open Sans" panose="020B0606030504020204" pitchFamily="34" charset="0"/>
            </a:endParaRPr>
          </a:p>
        </p:txBody>
      </p:sp>
      <p:pic>
        <p:nvPicPr>
          <p:cNvPr id="3" name="Picture 2" descr="A close up of a logo&#10;&#10;Description automatically generated">
            <a:extLst>
              <a:ext uri="{FF2B5EF4-FFF2-40B4-BE49-F238E27FC236}">
                <a16:creationId xmlns:a16="http://schemas.microsoft.com/office/drawing/2014/main" id="{8B138E1F-DBC4-32DF-8E4C-37B623AF40B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05064" y="3247821"/>
            <a:ext cx="1661057" cy="1606960"/>
          </a:xfrm>
          <a:prstGeom prst="rect">
            <a:avLst/>
          </a:prstGeom>
          <a:noFill/>
          <a:ln>
            <a:noFill/>
          </a:ln>
        </p:spPr>
      </p:pic>
    </p:spTree>
    <p:extLst>
      <p:ext uri="{BB962C8B-B14F-4D97-AF65-F5344CB8AC3E}">
        <p14:creationId xmlns:p14="http://schemas.microsoft.com/office/powerpoint/2010/main" val="3334330516"/>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0D8BD-41FA-73B5-35C0-FACECF03F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75DB8-871D-8C93-46EF-089097811F7F}"/>
              </a:ext>
            </a:extLst>
          </p:cNvPr>
          <p:cNvSpPr>
            <a:spLocks noGrp="1"/>
          </p:cNvSpPr>
          <p:nvPr>
            <p:ph type="title"/>
          </p:nvPr>
        </p:nvSpPr>
        <p:spPr/>
        <p:txBody>
          <a:bodyPr>
            <a:normAutofit/>
          </a:bodyPr>
          <a:lstStyle/>
          <a:p>
            <a:pPr algn="l" fontAlgn="base">
              <a:spcBef>
                <a:spcPts val="1800"/>
              </a:spcBef>
              <a:spcAft>
                <a:spcPts val="1800"/>
              </a:spcAft>
            </a:pPr>
            <a:r>
              <a:rPr lang="en-US" sz="4000" dirty="0">
                <a:latin typeface="Open Sans" panose="020B0606030504020204" pitchFamily="34" charset="0"/>
                <a:ea typeface="Open Sans" panose="020B0606030504020204" pitchFamily="34" charset="0"/>
                <a:cs typeface="Open Sans" panose="020B0606030504020204" pitchFamily="34" charset="0"/>
              </a:rPr>
              <a:t>Variables, Objects, and Classes </a:t>
            </a:r>
            <a:r>
              <a:rPr lang="en-US" sz="4000" dirty="0"/>
              <a:t/>
            </a:r>
            <a:br>
              <a:rPr lang="en-US" sz="4000" dirty="0"/>
            </a:br>
            <a:endParaRPr lang="en-IN" sz="4000" dirty="0"/>
          </a:p>
        </p:txBody>
      </p:sp>
      <p:sp>
        <p:nvSpPr>
          <p:cNvPr id="8" name="Content Placeholder 2">
            <a:extLst>
              <a:ext uri="{FF2B5EF4-FFF2-40B4-BE49-F238E27FC236}">
                <a16:creationId xmlns:a16="http://schemas.microsoft.com/office/drawing/2014/main" id="{4C9CFB6F-AE01-09A9-4DCF-9B75BAC625BD}"/>
              </a:ext>
            </a:extLst>
          </p:cNvPr>
          <p:cNvSpPr txBox="1">
            <a:spLocks/>
          </p:cNvSpPr>
          <p:nvPr/>
        </p:nvSpPr>
        <p:spPr>
          <a:xfrm>
            <a:off x="1371600" y="1744826"/>
            <a:ext cx="9601199" cy="4953686"/>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 </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variable </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is a reference to a value stored in a computer’s memory. </a:t>
            </a:r>
          </a:p>
          <a:p>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Variables can be sorted into a variety of categories (or </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data types</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 such as </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numbers (int/float </a:t>
            </a:r>
            <a:r>
              <a:rPr lang="en-US" sz="2800" b="1" dirty="0" err="1">
                <a:solidFill>
                  <a:schemeClr val="tx1"/>
                </a:solidFill>
                <a:latin typeface="Calibri" panose="020F0502020204030204" pitchFamily="34" charset="0"/>
                <a:ea typeface="Calibri" panose="020F0502020204030204" pitchFamily="34" charset="0"/>
                <a:cs typeface="Calibri" panose="020F0502020204030204" pitchFamily="34" charset="0"/>
              </a:rPr>
              <a:t>etc</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 Boolean values (true/false), </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and </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sequences (strings, lists </a:t>
            </a:r>
            <a:r>
              <a:rPr lang="en-US" sz="2800" b="1" dirty="0" err="1">
                <a:solidFill>
                  <a:schemeClr val="tx1"/>
                </a:solidFill>
                <a:latin typeface="Calibri" panose="020F0502020204030204" pitchFamily="34" charset="0"/>
                <a:ea typeface="Calibri" panose="020F0502020204030204" pitchFamily="34" charset="0"/>
                <a:cs typeface="Calibri" panose="020F0502020204030204" pitchFamily="34" charset="0"/>
              </a:rPr>
              <a:t>etc</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An </a:t>
            </a:r>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object </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is a collection of data from a computer’s memory that can be manipulated. </a:t>
            </a:r>
          </a:p>
          <a:p>
            <a:pPr lvl="1"/>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ALL VARIABLES ARE OBJECTS </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although some objects can be defined by data referred to by multiple variables. </a:t>
            </a:r>
          </a:p>
          <a:p>
            <a:pPr lvl="1"/>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Methods </a:t>
            </a:r>
            <a:r>
              <a:rPr lang="en-US" sz="2800" dirty="0">
                <a:solidFill>
                  <a:schemeClr val="tx1"/>
                </a:solidFill>
                <a:latin typeface="Calibri" panose="020F0502020204030204" pitchFamily="34" charset="0"/>
                <a:ea typeface="Calibri" panose="020F0502020204030204" pitchFamily="34" charset="0"/>
                <a:cs typeface="Calibri" panose="020F0502020204030204" pitchFamily="34" charset="0"/>
              </a:rPr>
              <a:t>are the functions used to act on/alter an object’s data. They describe what your object can “do.”</a:t>
            </a:r>
            <a:endParaRPr lang="en-IN" sz="28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9916616"/>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F1900-6DA5-09F5-64B0-052B87A69D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3D6A8-8C63-B6A5-9335-669F99E6908E}"/>
              </a:ext>
            </a:extLst>
          </p:cNvPr>
          <p:cNvSpPr>
            <a:spLocks noGrp="1"/>
          </p:cNvSpPr>
          <p:nvPr>
            <p:ph type="title"/>
          </p:nvPr>
        </p:nvSpPr>
        <p:spPr/>
        <p:txBody>
          <a:bodyPr>
            <a:normAutofit/>
          </a:bodyPr>
          <a:lstStyle/>
          <a:p>
            <a:pPr algn="l" fontAlgn="base">
              <a:spcBef>
                <a:spcPts val="1800"/>
              </a:spcBef>
              <a:spcAft>
                <a:spcPts val="1800"/>
              </a:spcAft>
            </a:pPr>
            <a:r>
              <a:rPr lang="en-US" sz="4000" dirty="0">
                <a:latin typeface="Calibri" panose="020F0502020204030204" pitchFamily="34" charset="0"/>
                <a:ea typeface="Calibri" panose="020F0502020204030204" pitchFamily="34" charset="0"/>
                <a:cs typeface="Calibri" panose="020F0502020204030204" pitchFamily="34" charset="0"/>
              </a:rPr>
              <a:t>Variables</a:t>
            </a:r>
            <a:r>
              <a:rPr lang="en-US" sz="4000" dirty="0">
                <a:latin typeface="Open Sans" panose="020B0606030504020204" pitchFamily="34" charset="0"/>
                <a:ea typeface="Open Sans" panose="020B0606030504020204" pitchFamily="34" charset="0"/>
                <a:cs typeface="Open Sans" panose="020B0606030504020204" pitchFamily="34" charset="0"/>
              </a:rPr>
              <a:t>, Objects, and Classes (cont.)</a:t>
            </a:r>
            <a:endParaRPr lang="en-IN" sz="4000" dirty="0"/>
          </a:p>
        </p:txBody>
      </p:sp>
      <p:sp>
        <p:nvSpPr>
          <p:cNvPr id="8" name="Content Placeholder 2">
            <a:extLst>
              <a:ext uri="{FF2B5EF4-FFF2-40B4-BE49-F238E27FC236}">
                <a16:creationId xmlns:a16="http://schemas.microsoft.com/office/drawing/2014/main" id="{EFD01DB1-0E0C-8694-0944-2A8D17AA4DFF}"/>
              </a:ext>
            </a:extLst>
          </p:cNvPr>
          <p:cNvSpPr txBox="1">
            <a:spLocks/>
          </p:cNvSpPr>
          <p:nvPr/>
        </p:nvSpPr>
        <p:spPr>
          <a:xfrm>
            <a:off x="1371600" y="1744826"/>
            <a:ext cx="9601199" cy="4953686"/>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class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is a collection of objects who share the same set of variables/methods. </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 definition of the class provides a blueprint for all the objects within it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instances</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Instances may share the same variables (color, size, shape, etc.), but they do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NOT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share the same values for each variable (blue/red/pink, small/large, square/circular etc.)</a:t>
            </a:r>
          </a:p>
          <a:p>
            <a:endParaRPr lang="en-US" dirty="0"/>
          </a:p>
        </p:txBody>
      </p:sp>
      <p:pic>
        <p:nvPicPr>
          <p:cNvPr id="3" name="Picture 1" descr="page3image60866976">
            <a:extLst>
              <a:ext uri="{FF2B5EF4-FFF2-40B4-BE49-F238E27FC236}">
                <a16:creationId xmlns:a16="http://schemas.microsoft.com/office/drawing/2014/main" id="{389EFECF-CBD0-8551-0952-B072FC5A70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5463" y="4427070"/>
            <a:ext cx="2490537" cy="17451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CB7BDE-BC6B-1FF7-4941-521261789EEF}"/>
              </a:ext>
            </a:extLst>
          </p:cNvPr>
          <p:cNvSpPr txBox="1"/>
          <p:nvPr/>
        </p:nvSpPr>
        <p:spPr>
          <a:xfrm>
            <a:off x="6301943" y="4356386"/>
            <a:ext cx="997389" cy="600164"/>
          </a:xfrm>
          <a:prstGeom prst="rect">
            <a:avLst/>
          </a:prstGeom>
          <a:solidFill>
            <a:srgbClr val="00B0F0"/>
          </a:solidFill>
        </p:spPr>
        <p:txBody>
          <a:bodyPr wrap="non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Instance #1</a:t>
            </a:r>
          </a:p>
          <a:p>
            <a:r>
              <a:rPr lang="en-US" sz="1100" b="1" dirty="0">
                <a:latin typeface="Open Sans" panose="020B0606030504020204" pitchFamily="34" charset="0"/>
                <a:ea typeface="Open Sans" panose="020B0606030504020204" pitchFamily="34" charset="0"/>
                <a:cs typeface="Open Sans" panose="020B0606030504020204" pitchFamily="34" charset="0"/>
              </a:rPr>
              <a:t>Color</a:t>
            </a:r>
            <a:r>
              <a:rPr lang="en-US" sz="1100" dirty="0">
                <a:latin typeface="Open Sans" panose="020B0606030504020204" pitchFamily="34" charset="0"/>
                <a:ea typeface="Open Sans" panose="020B0606030504020204" pitchFamily="34" charset="0"/>
                <a:cs typeface="Open Sans" panose="020B0606030504020204" pitchFamily="34" charset="0"/>
              </a:rPr>
              <a:t>: Pink</a:t>
            </a:r>
          </a:p>
          <a:p>
            <a:r>
              <a:rPr lang="en-US" sz="1100" b="1" dirty="0">
                <a:latin typeface="Open Sans" panose="020B0606030504020204" pitchFamily="34" charset="0"/>
                <a:ea typeface="Open Sans" panose="020B0606030504020204" pitchFamily="34" charset="0"/>
                <a:cs typeface="Open Sans" panose="020B0606030504020204" pitchFamily="34" charset="0"/>
              </a:rPr>
              <a:t>Name</a:t>
            </a:r>
            <a:r>
              <a:rPr lang="en-US" sz="1100" dirty="0">
                <a:latin typeface="Open Sans" panose="020B0606030504020204" pitchFamily="34" charset="0"/>
                <a:ea typeface="Open Sans" panose="020B0606030504020204" pitchFamily="34" charset="0"/>
                <a:cs typeface="Open Sans" panose="020B0606030504020204" pitchFamily="34" charset="0"/>
              </a:rPr>
              <a:t>: Polo</a:t>
            </a:r>
          </a:p>
        </p:txBody>
      </p:sp>
      <p:sp>
        <p:nvSpPr>
          <p:cNvPr id="5" name="TextBox 4">
            <a:extLst>
              <a:ext uri="{FF2B5EF4-FFF2-40B4-BE49-F238E27FC236}">
                <a16:creationId xmlns:a16="http://schemas.microsoft.com/office/drawing/2014/main" id="{1BAC724E-57C4-D057-6DD0-4454F0D408C6}"/>
              </a:ext>
            </a:extLst>
          </p:cNvPr>
          <p:cNvSpPr txBox="1"/>
          <p:nvPr/>
        </p:nvSpPr>
        <p:spPr>
          <a:xfrm>
            <a:off x="6277740" y="4957478"/>
            <a:ext cx="997389" cy="600164"/>
          </a:xfrm>
          <a:prstGeom prst="rect">
            <a:avLst/>
          </a:prstGeom>
          <a:solidFill>
            <a:srgbClr val="92D050"/>
          </a:solidFill>
        </p:spPr>
        <p:txBody>
          <a:bodyPr wrap="non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Instance #2</a:t>
            </a:r>
          </a:p>
          <a:p>
            <a:r>
              <a:rPr lang="en-US" sz="1100" b="1" dirty="0">
                <a:latin typeface="Open Sans" panose="020B0606030504020204" pitchFamily="34" charset="0"/>
                <a:ea typeface="Open Sans" panose="020B0606030504020204" pitchFamily="34" charset="0"/>
                <a:cs typeface="Open Sans" panose="020B0606030504020204" pitchFamily="34" charset="0"/>
              </a:rPr>
              <a:t>Color</a:t>
            </a:r>
            <a:r>
              <a:rPr lang="en-US" sz="1100" dirty="0">
                <a:latin typeface="Open Sans" panose="020B0606030504020204" pitchFamily="34" charset="0"/>
                <a:ea typeface="Open Sans" panose="020B0606030504020204" pitchFamily="34" charset="0"/>
                <a:cs typeface="Open Sans" panose="020B0606030504020204" pitchFamily="34" charset="0"/>
              </a:rPr>
              <a:t>: Red</a:t>
            </a:r>
          </a:p>
          <a:p>
            <a:r>
              <a:rPr lang="en-US" sz="1100" b="1" dirty="0">
                <a:latin typeface="Open Sans" panose="020B0606030504020204" pitchFamily="34" charset="0"/>
                <a:ea typeface="Open Sans" panose="020B0606030504020204" pitchFamily="34" charset="0"/>
                <a:cs typeface="Open Sans" panose="020B0606030504020204" pitchFamily="34" charset="0"/>
              </a:rPr>
              <a:t>Name</a:t>
            </a:r>
            <a:r>
              <a:rPr lang="en-US" sz="1100" dirty="0">
                <a:latin typeface="Open Sans" panose="020B0606030504020204" pitchFamily="34" charset="0"/>
                <a:ea typeface="Open Sans" panose="020B0606030504020204" pitchFamily="34" charset="0"/>
                <a:cs typeface="Open Sans" panose="020B0606030504020204" pitchFamily="34" charset="0"/>
              </a:rPr>
              <a:t>: Mini</a:t>
            </a:r>
          </a:p>
        </p:txBody>
      </p:sp>
      <p:sp>
        <p:nvSpPr>
          <p:cNvPr id="6" name="TextBox 5">
            <a:extLst>
              <a:ext uri="{FF2B5EF4-FFF2-40B4-BE49-F238E27FC236}">
                <a16:creationId xmlns:a16="http://schemas.microsoft.com/office/drawing/2014/main" id="{7F461CCF-F2E0-1097-2FFA-077DF8AB283A}"/>
              </a:ext>
            </a:extLst>
          </p:cNvPr>
          <p:cNvSpPr txBox="1"/>
          <p:nvPr/>
        </p:nvSpPr>
        <p:spPr>
          <a:xfrm>
            <a:off x="6253537" y="5570758"/>
            <a:ext cx="1091966" cy="600164"/>
          </a:xfrm>
          <a:prstGeom prst="rect">
            <a:avLst/>
          </a:prstGeom>
          <a:solidFill>
            <a:srgbClr val="0070C0"/>
          </a:solidFill>
        </p:spPr>
        <p:txBody>
          <a:bodyPr wrap="none" rtlCol="0">
            <a:spAutoFit/>
          </a:bodyPr>
          <a:lstStyle/>
          <a:p>
            <a:r>
              <a:rPr lang="en-US" sz="1100" b="1" dirty="0">
                <a:latin typeface="Open Sans" panose="020B0606030504020204" pitchFamily="34" charset="0"/>
                <a:ea typeface="Open Sans" panose="020B0606030504020204" pitchFamily="34" charset="0"/>
                <a:cs typeface="Open Sans" panose="020B0606030504020204" pitchFamily="34" charset="0"/>
              </a:rPr>
              <a:t>Instance #3</a:t>
            </a:r>
          </a:p>
          <a:p>
            <a:r>
              <a:rPr lang="en-US" sz="1100" b="1" dirty="0">
                <a:latin typeface="Open Sans" panose="020B0606030504020204" pitchFamily="34" charset="0"/>
                <a:ea typeface="Open Sans" panose="020B0606030504020204" pitchFamily="34" charset="0"/>
                <a:cs typeface="Open Sans" panose="020B0606030504020204" pitchFamily="34" charset="0"/>
              </a:rPr>
              <a:t>Color</a:t>
            </a:r>
            <a:r>
              <a:rPr lang="en-US" sz="1100" dirty="0">
                <a:latin typeface="Open Sans" panose="020B0606030504020204" pitchFamily="34" charset="0"/>
                <a:ea typeface="Open Sans" panose="020B0606030504020204" pitchFamily="34" charset="0"/>
                <a:cs typeface="Open Sans" panose="020B0606030504020204" pitchFamily="34" charset="0"/>
              </a:rPr>
              <a:t>: Blue</a:t>
            </a:r>
          </a:p>
          <a:p>
            <a:r>
              <a:rPr lang="en-US" sz="1100" b="1" dirty="0">
                <a:latin typeface="Open Sans" panose="020B0606030504020204" pitchFamily="34" charset="0"/>
                <a:ea typeface="Open Sans" panose="020B0606030504020204" pitchFamily="34" charset="0"/>
                <a:cs typeface="Open Sans" panose="020B0606030504020204" pitchFamily="34" charset="0"/>
              </a:rPr>
              <a:t>Name</a:t>
            </a:r>
            <a:r>
              <a:rPr lang="en-US" sz="1100" dirty="0">
                <a:latin typeface="Open Sans" panose="020B0606030504020204" pitchFamily="34" charset="0"/>
                <a:ea typeface="Open Sans" panose="020B0606030504020204" pitchFamily="34" charset="0"/>
                <a:cs typeface="Open Sans" panose="020B0606030504020204" pitchFamily="34" charset="0"/>
              </a:rPr>
              <a:t>: Beetle</a:t>
            </a:r>
          </a:p>
        </p:txBody>
      </p:sp>
    </p:spTree>
    <p:extLst>
      <p:ext uri="{BB962C8B-B14F-4D97-AF65-F5344CB8AC3E}">
        <p14:creationId xmlns:p14="http://schemas.microsoft.com/office/powerpoint/2010/main" val="3213999489"/>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093CC-C6F4-2679-6664-943CC299F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92292-0989-9F55-E3EA-B3EBA3F47DCB}"/>
              </a:ext>
            </a:extLst>
          </p:cNvPr>
          <p:cNvSpPr>
            <a:spLocks noGrp="1"/>
          </p:cNvSpPr>
          <p:nvPr>
            <p:ph type="title"/>
          </p:nvPr>
        </p:nvSpPr>
        <p:spPr/>
        <p:txBody>
          <a:bodyPr>
            <a:normAutofit/>
          </a:bodyPr>
          <a:lstStyle/>
          <a:p>
            <a:pPr algn="l" fontAlgn="base">
              <a:spcBef>
                <a:spcPts val="1800"/>
              </a:spcBef>
              <a:spcAft>
                <a:spcPts val="1800"/>
              </a:spcAft>
            </a:pPr>
            <a:r>
              <a:rPr lang="en-US" sz="4000" dirty="0">
                <a:latin typeface="Calibri" panose="020F0502020204030204" pitchFamily="34" charset="0"/>
                <a:ea typeface="Calibri" panose="020F0502020204030204" pitchFamily="34" charset="0"/>
                <a:cs typeface="Calibri" panose="020F0502020204030204" pitchFamily="34" charset="0"/>
              </a:rPr>
              <a:t>Basic Syntax Rules </a:t>
            </a:r>
            <a:br>
              <a:rPr lang="en-US" sz="4000" dirty="0">
                <a:latin typeface="Calibri" panose="020F0502020204030204" pitchFamily="34" charset="0"/>
                <a:ea typeface="Calibri" panose="020F0502020204030204" pitchFamily="34" charset="0"/>
                <a:cs typeface="Calibri" panose="020F0502020204030204" pitchFamily="34" charset="0"/>
              </a:rPr>
            </a:br>
            <a:endParaRPr lang="en-IN" sz="4000" dirty="0">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2">
            <a:extLst>
              <a:ext uri="{FF2B5EF4-FFF2-40B4-BE49-F238E27FC236}">
                <a16:creationId xmlns:a16="http://schemas.microsoft.com/office/drawing/2014/main" id="{9AC13D16-4417-F0D8-26C3-5C415B650865}"/>
              </a:ext>
            </a:extLst>
          </p:cNvPr>
          <p:cNvSpPr txBox="1">
            <a:spLocks/>
          </p:cNvSpPr>
          <p:nvPr/>
        </p:nvSpPr>
        <p:spPr>
          <a:xfrm>
            <a:off x="1371600" y="1414130"/>
            <a:ext cx="9601199" cy="528438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name of your variable (</a:t>
            </a:r>
            <a:r>
              <a:rPr lang="en-US" b="1" dirty="0" err="1">
                <a:solidFill>
                  <a:srgbClr val="8D64AA"/>
                </a:solidFill>
                <a:latin typeface="Calibri" panose="020F0502020204030204" pitchFamily="34" charset="0"/>
                <a:ea typeface="Calibri" panose="020F0502020204030204" pitchFamily="34" charset="0"/>
                <a:cs typeface="Calibri" panose="020F0502020204030204" pitchFamily="34" charset="0"/>
              </a:rPr>
              <a:t>myInt</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etc.) is placed on the left of the “=“ operator.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Most variable names are in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camel case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where the first word begins with a lowercase letter and any subsequent words are capitalized</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Variable names may also appear in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snake case</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where all words are lowercase, with underscores between words </a:t>
            </a:r>
          </a:p>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assignment operator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sets the variable name equal to the memory location where your value is found. </a:t>
            </a:r>
          </a:p>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value of your variable (</a:t>
            </a:r>
            <a:r>
              <a:rPr lang="en-US" b="1" dirty="0">
                <a:solidFill>
                  <a:srgbClr val="6091BA"/>
                </a:solidFill>
                <a:latin typeface="Calibri" panose="020F0502020204030204" pitchFamily="34" charset="0"/>
                <a:ea typeface="Calibri" panose="020F0502020204030204" pitchFamily="34" charset="0"/>
                <a:cs typeface="Calibri" panose="020F0502020204030204" pitchFamily="34" charset="0"/>
              </a:rPr>
              <a:t>“Hello, World”</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is placed on the right of the “=“ operator.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type of this value does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NOT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need to be stated but its format must abide by a given object type (as shown).</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3" name="Picture 2" descr="page4image54542912">
            <a:extLst>
              <a:ext uri="{FF2B5EF4-FFF2-40B4-BE49-F238E27FC236}">
                <a16:creationId xmlns:a16="http://schemas.microsoft.com/office/drawing/2014/main" id="{FA17FE3B-F87F-F84B-F6EF-D4460D1CA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999" y="5508502"/>
            <a:ext cx="3194050" cy="134949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
            <a:extLst>
              <a:ext uri="{FF2B5EF4-FFF2-40B4-BE49-F238E27FC236}">
                <a16:creationId xmlns:a16="http://schemas.microsoft.com/office/drawing/2014/main" id="{F83D4549-C51E-67D9-295F-B995B2004E88}"/>
              </a:ext>
            </a:extLst>
          </p:cNvPr>
          <p:cNvSpPr>
            <a:spLocks noChangeArrowheads="1"/>
          </p:cNvSpPr>
          <p:nvPr/>
        </p:nvSpPr>
        <p:spPr bwMode="auto">
          <a:xfrm>
            <a:off x="3753111" y="5444587"/>
            <a:ext cx="3194050" cy="147732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8D64AA"/>
                </a:solidFill>
                <a:effectLst/>
                <a:latin typeface="Calibri" panose="020F0502020204030204" pitchFamily="34" charset="0"/>
                <a:ea typeface="Calibri" panose="020F0502020204030204" pitchFamily="34" charset="0"/>
                <a:cs typeface="Calibri" panose="020F0502020204030204" pitchFamily="34" charset="0"/>
              </a:rPr>
              <a:t>myString</a:t>
            </a:r>
            <a:r>
              <a:rPr kumimoji="0" lang="en-US" altLang="en-US" b="0" i="0" u="none" strike="noStrike" cap="none" normalizeH="0" baseline="0" dirty="0">
                <a:ln>
                  <a:noFill/>
                </a:ln>
                <a:solidFill>
                  <a:srgbClr val="8D64AA"/>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rgbClr val="6091BA"/>
                </a:solidFill>
                <a:effectLst/>
                <a:latin typeface="Calibri" panose="020F0502020204030204" pitchFamily="34" charset="0"/>
                <a:ea typeface="Calibri" panose="020F0502020204030204" pitchFamily="34" charset="0"/>
                <a:cs typeface="Calibri" panose="020F0502020204030204" pitchFamily="34" charset="0"/>
              </a:rPr>
              <a:t>“Hello, World” </a:t>
            </a:r>
            <a:r>
              <a:rPr kumimoji="0" lang="en-US" altLang="en-US" b="0" i="0" u="none" strike="noStrike" cap="none" normalizeH="0" baseline="0" dirty="0" err="1">
                <a:ln>
                  <a:noFill/>
                </a:ln>
                <a:solidFill>
                  <a:srgbClr val="8D64AA"/>
                </a:solidFill>
                <a:effectLst/>
                <a:latin typeface="Calibri" panose="020F0502020204030204" pitchFamily="34" charset="0"/>
                <a:ea typeface="Calibri" panose="020F0502020204030204" pitchFamily="34" charset="0"/>
                <a:cs typeface="Calibri" panose="020F0502020204030204" pitchFamily="34" charset="0"/>
              </a:rPr>
              <a:t>myInt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a:t>
            </a:r>
            <a:r>
              <a:rPr kumimoji="0" lang="en-US" altLang="en-US" b="0" i="0" u="none" strike="noStrike" cap="none" normalizeH="0" baseline="0" dirty="0">
                <a:ln>
                  <a:noFill/>
                </a:ln>
                <a:solidFill>
                  <a:srgbClr val="6091BA"/>
                </a:solidFill>
                <a:effectLst/>
                <a:latin typeface="Calibri" panose="020F0502020204030204" pitchFamily="34" charset="0"/>
                <a:ea typeface="Calibri" panose="020F0502020204030204" pitchFamily="34" charset="0"/>
                <a:cs typeface="Calibri" panose="020F0502020204030204" pitchFamily="34" charset="0"/>
              </a:rPr>
              <a:t>7</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r>
            <a:b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b="0" i="0" u="none" strike="noStrike" cap="none" normalizeH="0" baseline="0" dirty="0" err="1">
                <a:ln>
                  <a:noFill/>
                </a:ln>
                <a:solidFill>
                  <a:srgbClr val="8D64AA"/>
                </a:solidFill>
                <a:effectLst/>
                <a:latin typeface="Calibri" panose="020F0502020204030204" pitchFamily="34" charset="0"/>
                <a:ea typeface="Calibri" panose="020F0502020204030204" pitchFamily="34" charset="0"/>
                <a:cs typeface="Calibri" panose="020F0502020204030204" pitchFamily="34" charset="0"/>
              </a:rPr>
              <a:t>myFloat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a:t>
            </a:r>
            <a:r>
              <a:rPr kumimoji="0" lang="en-US" altLang="en-US" b="0" i="0" u="none" strike="noStrike" cap="none" normalizeH="0" baseline="0" dirty="0">
                <a:ln>
                  <a:noFill/>
                </a:ln>
                <a:solidFill>
                  <a:srgbClr val="6091BA"/>
                </a:solidFill>
                <a:effectLst/>
                <a:latin typeface="Calibri" panose="020F0502020204030204" pitchFamily="34" charset="0"/>
                <a:ea typeface="Calibri" panose="020F0502020204030204" pitchFamily="34" charset="0"/>
                <a:cs typeface="Calibri" panose="020F0502020204030204" pitchFamily="34" charset="0"/>
              </a:rPr>
              <a:t>7.0</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r>
            <a:b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b="0" i="0" u="none" strike="noStrike" cap="none" normalizeH="0" baseline="0" dirty="0" err="1">
                <a:ln>
                  <a:noFill/>
                </a:ln>
                <a:solidFill>
                  <a:srgbClr val="8D64AA"/>
                </a:solidFill>
                <a:effectLst/>
                <a:latin typeface="Calibri" panose="020F0502020204030204" pitchFamily="34" charset="0"/>
                <a:ea typeface="Calibri" panose="020F0502020204030204" pitchFamily="34" charset="0"/>
                <a:cs typeface="Calibri" panose="020F0502020204030204" pitchFamily="34" charset="0"/>
              </a:rPr>
              <a:t>myList</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a:t>
            </a:r>
            <a:r>
              <a:rPr kumimoji="0" lang="en-US" altLang="en-US" b="0" i="0" u="none" strike="noStrike" cap="none" normalizeH="0" baseline="0" dirty="0">
                <a:ln>
                  <a:noFill/>
                </a:ln>
                <a:solidFill>
                  <a:srgbClr val="6091BA"/>
                </a:solidFill>
                <a:effectLst/>
                <a:latin typeface="Calibri" panose="020F0502020204030204" pitchFamily="34" charset="0"/>
                <a:ea typeface="Calibri" panose="020F0502020204030204" pitchFamily="34" charset="0"/>
                <a:cs typeface="Calibri" panose="020F0502020204030204" pitchFamily="34" charset="0"/>
              </a:rPr>
              <a:t>[7, 8, 9] </a:t>
            </a:r>
            <a:r>
              <a:rPr kumimoji="0" lang="en-US" altLang="en-US" b="0" i="0" u="none" strike="noStrike" cap="none" normalizeH="0" baseline="0" dirty="0" err="1">
                <a:ln>
                  <a:noFill/>
                </a:ln>
                <a:solidFill>
                  <a:srgbClr val="8D64AA"/>
                </a:solidFill>
                <a:effectLst/>
                <a:latin typeface="Calibri" panose="020F0502020204030204" pitchFamily="34" charset="0"/>
                <a:ea typeface="Calibri" panose="020F0502020204030204" pitchFamily="34" charset="0"/>
                <a:cs typeface="Calibri" panose="020F0502020204030204" pitchFamily="34" charset="0"/>
              </a:rPr>
              <a:t>myBoolean</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a:t>
            </a:r>
            <a:r>
              <a:rPr kumimoji="0" lang="en-US" altLang="en-US" b="0" i="0" u="none" strike="noStrike" cap="none" normalizeH="0" baseline="0" dirty="0">
                <a:ln>
                  <a:noFill/>
                </a:ln>
                <a:solidFill>
                  <a:srgbClr val="6091BA"/>
                </a:solidFill>
                <a:effectLst/>
                <a:latin typeface="Calibri" panose="020F0502020204030204" pitchFamily="34" charset="0"/>
                <a:ea typeface="Calibri" panose="020F0502020204030204" pitchFamily="34" charset="0"/>
                <a:cs typeface="Calibri" panose="020F0502020204030204" pitchFamily="34" charset="0"/>
              </a:rPr>
              <a:t>true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kumimoji="0" lang="en-US" altLang="en-US" sz="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5855938"/>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3076E-4E68-76E9-A4CB-2394C7A1E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BFFB8-BB8B-40F0-94CB-FD0C52F8B505}"/>
              </a:ext>
            </a:extLst>
          </p:cNvPr>
          <p:cNvSpPr>
            <a:spLocks noGrp="1"/>
          </p:cNvSpPr>
          <p:nvPr>
            <p:ph type="title"/>
          </p:nvPr>
        </p:nvSpPr>
        <p:spPr/>
        <p:txBody>
          <a:bodyPr>
            <a:normAutofit/>
          </a:bodyPr>
          <a:lstStyle/>
          <a:p>
            <a:pPr algn="l" fontAlgn="base">
              <a:spcBef>
                <a:spcPts val="1800"/>
              </a:spcBef>
              <a:spcAft>
                <a:spcPts val="1800"/>
              </a:spcAft>
            </a:pPr>
            <a:r>
              <a:rPr lang="en-US" sz="2400" dirty="0">
                <a:latin typeface="Open Sans" panose="020B0606030504020204" pitchFamily="34" charset="0"/>
                <a:ea typeface="Open Sans" panose="020B0606030504020204" pitchFamily="34" charset="0"/>
                <a:cs typeface="Open Sans" panose="020B0606030504020204" pitchFamily="34" charset="0"/>
              </a:rPr>
              <a:t>Basic Syntax Rules </a:t>
            </a:r>
            <a:endParaRPr lang="en-IN" sz="4000" dirty="0"/>
          </a:p>
        </p:txBody>
      </p:sp>
      <p:sp>
        <p:nvSpPr>
          <p:cNvPr id="8" name="Content Placeholder 2">
            <a:extLst>
              <a:ext uri="{FF2B5EF4-FFF2-40B4-BE49-F238E27FC236}">
                <a16:creationId xmlns:a16="http://schemas.microsoft.com/office/drawing/2014/main" id="{D7796D55-F421-9A7E-1A80-2731CE3475DE}"/>
              </a:ext>
            </a:extLst>
          </p:cNvPr>
          <p:cNvSpPr txBox="1">
            <a:spLocks/>
          </p:cNvSpPr>
          <p:nvPr/>
        </p:nvSpPr>
        <p:spPr>
          <a:xfrm>
            <a:off x="1371600" y="1414130"/>
            <a:ext cx="9601199" cy="528438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Function Syntax </a:t>
            </a:r>
          </a:p>
          <a:p>
            <a:pPr lvl="1"/>
            <a:r>
              <a:rPr lang="en-US" b="1" dirty="0">
                <a:solidFill>
                  <a:srgbClr val="F8A81B"/>
                </a:solidFill>
                <a:latin typeface="Calibri" panose="020F0502020204030204" pitchFamily="34" charset="0"/>
                <a:ea typeface="Calibri" panose="020F0502020204030204" pitchFamily="34" charset="0"/>
                <a:cs typeface="Calibri" panose="020F0502020204030204" pitchFamily="34" charset="0"/>
              </a:rPr>
              <a:t>def</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indicates that you are defining a new function. </a:t>
            </a:r>
          </a:p>
          <a:p>
            <a:pPr lvl="1"/>
            <a:r>
              <a:rPr lang="en-US" b="1" dirty="0">
                <a:solidFill>
                  <a:srgbClr val="6091BA"/>
                </a:solidFill>
                <a:latin typeface="Calibri" panose="020F0502020204030204" pitchFamily="34" charset="0"/>
                <a:ea typeface="Calibri" panose="020F0502020204030204" pitchFamily="34" charset="0"/>
                <a:cs typeface="Calibri" panose="020F0502020204030204" pitchFamily="34" charset="0"/>
              </a:rPr>
              <a:t>function()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refers to the name of your function. By convention, this name is typically lowercase and represents a verb/action. </a:t>
            </a:r>
          </a:p>
          <a:p>
            <a:pPr lvl="1"/>
            <a:r>
              <a:rPr lang="en-US" b="1" dirty="0" err="1">
                <a:solidFill>
                  <a:srgbClr val="A0CC3A"/>
                </a:solidFill>
                <a:latin typeface="Calibri" panose="020F0502020204030204" pitchFamily="34" charset="0"/>
                <a:ea typeface="Calibri" panose="020F0502020204030204" pitchFamily="34" charset="0"/>
                <a:cs typeface="Calibri" panose="020F0502020204030204" pitchFamily="34" charset="0"/>
              </a:rPr>
              <a:t>a,b</a:t>
            </a:r>
            <a:r>
              <a:rPr lang="en-US" b="1" dirty="0">
                <a:solidFill>
                  <a:srgbClr val="A0CC3A"/>
                </a:solidFill>
                <a:latin typeface="Calibri" panose="020F0502020204030204" pitchFamily="34" charset="0"/>
                <a:ea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refers to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parameters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(values or variables) that can be used within the statements of your function’s definition (......). If your function has no parameters, an empty parenthetical () is used.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a:t>
            </a:r>
            <a:r>
              <a:rPr lang="en-US" b="1" dirty="0">
                <a:solidFill>
                  <a:srgbClr val="8D64AA"/>
                </a:solidFill>
                <a:latin typeface="Calibri" panose="020F0502020204030204" pitchFamily="34" charset="0"/>
                <a:ea typeface="Calibri" panose="020F0502020204030204" pitchFamily="34" charset="0"/>
                <a:cs typeface="Calibri" panose="020F0502020204030204" pitchFamily="34" charset="0"/>
              </a:rPr>
              <a:t>return</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statement is an optional statement that will return a value for your function to your original call.</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5" descr="page5image54627904">
            <a:extLst>
              <a:ext uri="{FF2B5EF4-FFF2-40B4-BE49-F238E27FC236}">
                <a16:creationId xmlns:a16="http://schemas.microsoft.com/office/drawing/2014/main" id="{7882D727-44BF-94CA-8DBF-53BA4BE51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5319" y="5013568"/>
            <a:ext cx="2857500" cy="13843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C40399C-0FE1-1D41-844D-221BB35D3AE9}"/>
              </a:ext>
            </a:extLst>
          </p:cNvPr>
          <p:cNvSpPr/>
          <p:nvPr/>
        </p:nvSpPr>
        <p:spPr>
          <a:xfrm>
            <a:off x="4464675" y="5275963"/>
            <a:ext cx="2672769" cy="1754326"/>
          </a:xfrm>
          <a:prstGeom prst="rect">
            <a:avLst/>
          </a:prstGeom>
        </p:spPr>
        <p:txBody>
          <a:bodyPr wrap="square">
            <a:spAutoFit/>
          </a:bodyPr>
          <a:lstStyle/>
          <a:p>
            <a:pPr lvl="0" eaLnBrk="0" fontAlgn="base" hangingPunct="0">
              <a:spcBef>
                <a:spcPct val="0"/>
              </a:spcBef>
              <a:spcAft>
                <a:spcPct val="0"/>
              </a:spcAft>
              <a:buClrTx/>
            </a:pPr>
            <a:r>
              <a:rPr lang="en-US" altLang="en-US" sz="1600" dirty="0">
                <a:solidFill>
                  <a:srgbClr val="F8A81B"/>
                </a:solidFill>
                <a:latin typeface="Open Sans" panose="020B0606030504020204" pitchFamily="34" charset="0"/>
                <a:ea typeface="Open Sans" panose="020B0606030504020204" pitchFamily="34" charset="0"/>
                <a:cs typeface="Open Sans" panose="020B0606030504020204" pitchFamily="34" charset="0"/>
              </a:rPr>
              <a:t>def</a:t>
            </a:r>
            <a:r>
              <a:rPr lang="en-US" altLang="en-US" sz="1600"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US" altLang="en-US" sz="1600" dirty="0">
                <a:solidFill>
                  <a:srgbClr val="6091BA"/>
                </a:solidFill>
                <a:latin typeface="Open Sans" panose="020B0606030504020204" pitchFamily="34" charset="0"/>
                <a:ea typeface="Open Sans" panose="020B0606030504020204" pitchFamily="34" charset="0"/>
                <a:cs typeface="Open Sans" panose="020B0606030504020204" pitchFamily="34" charset="0"/>
              </a:rPr>
              <a:t>function</a:t>
            </a:r>
            <a:r>
              <a:rPr lang="en-US" altLang="en-US" sz="1600" dirty="0">
                <a:solidFill>
                  <a:srgbClr val="4270C1"/>
                </a:solidFill>
                <a:latin typeface="Open Sans" panose="020B0606030504020204" pitchFamily="34" charset="0"/>
                <a:ea typeface="Open Sans" panose="020B0606030504020204" pitchFamily="34" charset="0"/>
                <a:cs typeface="Open Sans" panose="020B0606030504020204" pitchFamily="34" charset="0"/>
              </a:rPr>
              <a:t>(</a:t>
            </a:r>
            <a:r>
              <a:rPr lang="en-US" altLang="en-US" sz="1600" dirty="0">
                <a:solidFill>
                  <a:srgbClr val="A0CC3A"/>
                </a:solidFill>
                <a:latin typeface="Open Sans" panose="020B0606030504020204" pitchFamily="34" charset="0"/>
                <a:ea typeface="Open Sans" panose="020B0606030504020204" pitchFamily="34" charset="0"/>
                <a:cs typeface="Open Sans" panose="020B0606030504020204" pitchFamily="34" charset="0"/>
              </a:rPr>
              <a:t>a, b</a:t>
            </a: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lvl="0" eaLnBrk="0" fontAlgn="base" hangingPunct="0">
              <a:spcBef>
                <a:spcPct val="0"/>
              </a:spcBef>
              <a:spcAft>
                <a:spcPct val="0"/>
              </a:spcAft>
              <a:buClrTx/>
            </a:pPr>
            <a:r>
              <a:rPr lang="en-US" altLang="en-US" sz="1600"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US" altLang="en-US" sz="1600" dirty="0">
                <a:solidFill>
                  <a:srgbClr val="6DAA44"/>
                </a:solidFill>
                <a:latin typeface="Open Sans" panose="020B0606030504020204" pitchFamily="34" charset="0"/>
                <a:ea typeface="Open Sans" panose="020B0606030504020204" pitchFamily="34" charset="0"/>
                <a:cs typeface="Open Sans" panose="020B0606030504020204" pitchFamily="34" charset="0"/>
              </a:rPr>
              <a:t>...... </a:t>
            </a:r>
            <a:endPar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lvl="0" eaLnBrk="0" fontAlgn="base" hangingPunct="0">
              <a:spcBef>
                <a:spcPct val="0"/>
              </a:spcBef>
              <a:spcAft>
                <a:spcPct val="0"/>
              </a:spcAft>
              <a:buClrTx/>
            </a:pPr>
            <a:r>
              <a:rPr lang="en-US" altLang="en-US" sz="1600" dirty="0">
                <a:solidFill>
                  <a:srgbClr val="FFBF00"/>
                </a:solidFill>
                <a:latin typeface="Open Sans" panose="020B0606030504020204" pitchFamily="34" charset="0"/>
                <a:ea typeface="Open Sans" panose="020B0606030504020204" pitchFamily="34" charset="0"/>
                <a:cs typeface="Open Sans" panose="020B0606030504020204" pitchFamily="34" charset="0"/>
              </a:rPr>
              <a:t>	</a:t>
            </a:r>
            <a:r>
              <a:rPr lang="en-US" altLang="en-US" sz="1600" dirty="0">
                <a:solidFill>
                  <a:srgbClr val="8D64AA"/>
                </a:solidFill>
                <a:latin typeface="Open Sans" panose="020B0606030504020204" pitchFamily="34" charset="0"/>
                <a:ea typeface="Open Sans" panose="020B0606030504020204" pitchFamily="34" charset="0"/>
                <a:cs typeface="Open Sans" panose="020B0606030504020204" pitchFamily="34" charset="0"/>
              </a:rPr>
              <a:t>return</a:t>
            </a:r>
            <a:r>
              <a:rPr lang="en-US" altLang="en-US" sz="1600" dirty="0">
                <a:solidFill>
                  <a:srgbClr val="FFBF00"/>
                </a:solidFill>
                <a:latin typeface="Open Sans" panose="020B0606030504020204" pitchFamily="34" charset="0"/>
                <a:ea typeface="Open Sans" panose="020B0606030504020204" pitchFamily="34" charset="0"/>
                <a:cs typeface="Open Sans" panose="020B0606030504020204" pitchFamily="34" charset="0"/>
              </a:rPr>
              <a:t> </a:t>
            </a:r>
            <a:r>
              <a:rPr lang="en-US" altLang="en-US" sz="1600" dirty="0">
                <a:solidFill>
                  <a:srgbClr val="A0CC3A"/>
                </a:solidFill>
                <a:latin typeface="Open Sans" panose="020B0606030504020204" pitchFamily="34" charset="0"/>
                <a:ea typeface="Open Sans" panose="020B0606030504020204" pitchFamily="34" charset="0"/>
                <a:cs typeface="Open Sans" panose="020B0606030504020204" pitchFamily="34" charset="0"/>
              </a:rPr>
              <a:t>a</a:t>
            </a:r>
            <a:r>
              <a:rPr lang="en-US" altLang="en-US" sz="1600" dirty="0">
                <a:solidFill>
                  <a:srgbClr val="6DAA44"/>
                </a:solidFill>
                <a:latin typeface="Open Sans" panose="020B0606030504020204" pitchFamily="34" charset="0"/>
                <a:ea typeface="Open Sans" panose="020B0606030504020204" pitchFamily="34" charset="0"/>
                <a:cs typeface="Open Sans" panose="020B0606030504020204" pitchFamily="34" charset="0"/>
              </a:rPr>
              <a:t> </a:t>
            </a:r>
            <a:r>
              <a:rPr lang="en-US" alt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altLang="en-US" sz="1600" dirty="0">
                <a:solidFill>
                  <a:srgbClr val="A0CC3A"/>
                </a:solidFill>
                <a:latin typeface="Open Sans" panose="020B0606030504020204" pitchFamily="34" charset="0"/>
                <a:ea typeface="Open Sans" panose="020B0606030504020204" pitchFamily="34" charset="0"/>
                <a:cs typeface="Open Sans" panose="020B0606030504020204" pitchFamily="34" charset="0"/>
              </a:rPr>
              <a:t>b</a:t>
            </a:r>
          </a:p>
          <a:p>
            <a:pPr lvl="0" eaLnBrk="0" fontAlgn="base" hangingPunct="0">
              <a:spcBef>
                <a:spcPct val="0"/>
              </a:spcBef>
              <a:spcAft>
                <a:spcPct val="0"/>
              </a:spcAft>
              <a:buClrTx/>
            </a:pPr>
            <a:r>
              <a:rPr lang="en-US" altLang="en-US" sz="6000" dirty="0">
                <a:solidFill>
                  <a:schemeClr val="tx1"/>
                </a:solidFill>
                <a:latin typeface="Arial" panose="020B0604020202020204" pitchFamily="34" charset="0"/>
              </a:rPr>
              <a:t>    </a:t>
            </a:r>
            <a:r>
              <a:rPr lang="en-US" altLang="en-US" sz="1100" dirty="0">
                <a:solidFill>
                  <a:schemeClr val="tx1"/>
                </a:solidFill>
                <a:latin typeface="Arial" panose="020B0604020202020204" pitchFamily="34" charset="0"/>
              </a:rPr>
              <a:t> </a:t>
            </a:r>
          </a:p>
        </p:txBody>
      </p:sp>
    </p:spTree>
    <p:extLst>
      <p:ext uri="{BB962C8B-B14F-4D97-AF65-F5344CB8AC3E}">
        <p14:creationId xmlns:p14="http://schemas.microsoft.com/office/powerpoint/2010/main" val="3703223672"/>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2ADC6-7ECD-0890-0CF3-3A2892FE8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9D40D-A9CF-86BB-878E-493732F51B62}"/>
              </a:ext>
            </a:extLst>
          </p:cNvPr>
          <p:cNvSpPr>
            <a:spLocks noGrp="1"/>
          </p:cNvSpPr>
          <p:nvPr>
            <p:ph type="title"/>
          </p:nvPr>
        </p:nvSpPr>
        <p:spPr/>
        <p:txBody>
          <a:bodyPr>
            <a:normAutofit/>
          </a:bodyPr>
          <a:lstStyle/>
          <a:p>
            <a:pPr algn="l" fontAlgn="base">
              <a:spcBef>
                <a:spcPts val="1800"/>
              </a:spcBef>
              <a:spcAft>
                <a:spcPts val="1800"/>
              </a:spcAft>
            </a:pPr>
            <a:r>
              <a:rPr lang="en-US" sz="4000" dirty="0">
                <a:latin typeface="Calibri" panose="020F0502020204030204" pitchFamily="34" charset="0"/>
                <a:ea typeface="Calibri" panose="020F0502020204030204" pitchFamily="34" charset="0"/>
                <a:cs typeface="Calibri" panose="020F0502020204030204" pitchFamily="34" charset="0"/>
              </a:rPr>
              <a:t>Basic Syntax Rules (cont.)</a:t>
            </a:r>
            <a:endParaRPr lang="en-IN" sz="4000" dirty="0">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2">
            <a:extLst>
              <a:ext uri="{FF2B5EF4-FFF2-40B4-BE49-F238E27FC236}">
                <a16:creationId xmlns:a16="http://schemas.microsoft.com/office/drawing/2014/main" id="{922FC9F9-9645-A221-DCFB-49752D976589}"/>
              </a:ext>
            </a:extLst>
          </p:cNvPr>
          <p:cNvSpPr txBox="1">
            <a:spLocks/>
          </p:cNvSpPr>
          <p:nvPr/>
        </p:nvSpPr>
        <p:spPr>
          <a:xfrm>
            <a:off x="1371600" y="1414130"/>
            <a:ext cx="9601199" cy="528438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Calling a function</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Call the function by referring to its name (</a:t>
            </a:r>
            <a:r>
              <a:rPr lang="en-US" b="1" dirty="0">
                <a:solidFill>
                  <a:srgbClr val="6091BA"/>
                </a:solidFill>
                <a:latin typeface="Calibri" panose="020F0502020204030204" pitchFamily="34" charset="0"/>
                <a:ea typeface="Calibri" panose="020F0502020204030204" pitchFamily="34" charset="0"/>
                <a:cs typeface="Calibri" panose="020F0502020204030204" pitchFamily="34" charset="0"/>
              </a:rPr>
              <a:t>function()</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and by placing</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any necessary arguments (</a:t>
            </a:r>
            <a:r>
              <a:rPr lang="en-US" b="1" dirty="0">
                <a:solidFill>
                  <a:srgbClr val="A0CC3A"/>
                </a:solidFill>
                <a:latin typeface="Calibri" panose="020F0502020204030204" pitchFamily="34" charset="0"/>
                <a:ea typeface="Calibri" panose="020F0502020204030204" pitchFamily="34" charset="0"/>
                <a:cs typeface="Calibri" panose="020F0502020204030204" pitchFamily="34" charset="0"/>
              </a:rPr>
              <a:t>1, 2</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within the parenthesis separated by</a:t>
            </a:r>
            <a:b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commas. </a:t>
            </a:r>
            <a:r>
              <a:rPr lang="en-US" dirty="0" err="1">
                <a:solidFill>
                  <a:schemeClr val="tx1"/>
                </a:solidFill>
                <a:latin typeface="Calibri" panose="020F0502020204030204" pitchFamily="34" charset="0"/>
                <a:ea typeface="Calibri" panose="020F0502020204030204" pitchFamily="34" charset="0"/>
                <a:cs typeface="Calibri" panose="020F0502020204030204" pitchFamily="34" charset="0"/>
              </a:rPr>
              <a:t>myValue</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 function(1, 2)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If you wish, you can set your function call equal to a variable (</a:t>
            </a:r>
            <a:r>
              <a:rPr lang="en-US" b="1" dirty="0" err="1">
                <a:solidFill>
                  <a:srgbClr val="F8A81B"/>
                </a:solidFill>
                <a:latin typeface="Calibri" panose="020F0502020204030204" pitchFamily="34" charset="0"/>
                <a:ea typeface="Calibri" panose="020F0502020204030204" pitchFamily="34" charset="0"/>
                <a:cs typeface="Calibri" panose="020F0502020204030204" pitchFamily="34" charset="0"/>
              </a:rPr>
              <a:t>myValue</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The value returned by the function will be assigned to your variable name. </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1" descr="page5image54627712">
            <a:extLst>
              <a:ext uri="{FF2B5EF4-FFF2-40B4-BE49-F238E27FC236}">
                <a16:creationId xmlns:a16="http://schemas.microsoft.com/office/drawing/2014/main" id="{3EADF5CE-79D1-C90E-D5D7-F40E58C2E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2267" y="4686301"/>
            <a:ext cx="5357184" cy="349099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5963D1F-D88D-9B20-7CDA-96D5EDE1102F}"/>
              </a:ext>
            </a:extLst>
          </p:cNvPr>
          <p:cNvSpPr/>
          <p:nvPr/>
        </p:nvSpPr>
        <p:spPr>
          <a:xfrm>
            <a:off x="3849108" y="5035035"/>
            <a:ext cx="3177940" cy="369332"/>
          </a:xfrm>
          <a:prstGeom prst="rect">
            <a:avLst/>
          </a:prstGeom>
        </p:spPr>
        <p:txBody>
          <a:bodyPr wrap="square">
            <a:spAutoFit/>
          </a:bodyPr>
          <a:lstStyle/>
          <a:p>
            <a:r>
              <a:rPr lang="en-US" sz="1800" dirty="0" err="1">
                <a:solidFill>
                  <a:srgbClr val="F8A81B"/>
                </a:solidFill>
                <a:latin typeface="Open Sans" panose="020B0606030504020204" pitchFamily="34" charset="0"/>
                <a:ea typeface="Open Sans" panose="020B0606030504020204" pitchFamily="34" charset="0"/>
                <a:cs typeface="Open Sans" panose="020B0606030504020204" pitchFamily="34" charset="0"/>
              </a:rPr>
              <a:t>myValue</a:t>
            </a:r>
            <a:r>
              <a:rPr lang="en-US" sz="1800" dirty="0">
                <a:solidFill>
                  <a:srgbClr val="FFBF00"/>
                </a:solidFill>
                <a:latin typeface="Open Sans" panose="020B0606030504020204" pitchFamily="34" charset="0"/>
                <a:ea typeface="Open Sans" panose="020B0606030504020204" pitchFamily="34" charset="0"/>
                <a:cs typeface="Open Sans" panose="020B0606030504020204" pitchFamily="34" charset="0"/>
              </a:rPr>
              <a:t> </a:t>
            </a:r>
            <a:r>
              <a:rPr lang="en-US" sz="1800" dirty="0">
                <a:latin typeface="Open Sans" panose="020B0606030504020204" pitchFamily="34" charset="0"/>
                <a:ea typeface="Open Sans" panose="020B0606030504020204" pitchFamily="34" charset="0"/>
                <a:cs typeface="Open Sans" panose="020B0606030504020204" pitchFamily="34" charset="0"/>
              </a:rPr>
              <a:t>= </a:t>
            </a:r>
            <a:r>
              <a:rPr lang="en-US" sz="1800" dirty="0">
                <a:solidFill>
                  <a:srgbClr val="6091BA"/>
                </a:solidFill>
                <a:latin typeface="Open Sans" panose="020B0606030504020204" pitchFamily="34" charset="0"/>
                <a:ea typeface="Open Sans" panose="020B0606030504020204" pitchFamily="34" charset="0"/>
                <a:cs typeface="Open Sans" panose="020B0606030504020204" pitchFamily="34" charset="0"/>
              </a:rPr>
              <a:t>function</a:t>
            </a:r>
            <a:r>
              <a:rPr lang="en-US" sz="1800" dirty="0">
                <a:solidFill>
                  <a:srgbClr val="4270C1"/>
                </a:solidFill>
                <a:latin typeface="Open Sans" panose="020B0606030504020204" pitchFamily="34" charset="0"/>
                <a:ea typeface="Open Sans" panose="020B0606030504020204" pitchFamily="34" charset="0"/>
                <a:cs typeface="Open Sans" panose="020B0606030504020204" pitchFamily="34" charset="0"/>
              </a:rPr>
              <a:t>(</a:t>
            </a:r>
            <a:r>
              <a:rPr lang="en-US" sz="1800" dirty="0">
                <a:solidFill>
                  <a:srgbClr val="A0CC3A"/>
                </a:solidFill>
                <a:latin typeface="Open Sans" panose="020B0606030504020204" pitchFamily="34" charset="0"/>
                <a:ea typeface="Open Sans" panose="020B0606030504020204" pitchFamily="34" charset="0"/>
                <a:cs typeface="Open Sans" panose="020B0606030504020204" pitchFamily="34" charset="0"/>
              </a:rPr>
              <a:t>1, 2</a:t>
            </a:r>
            <a:r>
              <a:rPr lang="en-US" sz="1800" dirty="0">
                <a:solidFill>
                  <a:srgbClr val="4270C1"/>
                </a:solidFill>
                <a:latin typeface="Open Sans" panose="020B0606030504020204" pitchFamily="34" charset="0"/>
                <a:ea typeface="Open Sans" panose="020B0606030504020204" pitchFamily="34" charset="0"/>
                <a:cs typeface="Open Sans" panose="020B0606030504020204" pitchFamily="34" charset="0"/>
              </a:rPr>
              <a:t>) </a:t>
            </a:r>
            <a:endParaRPr lang="en-US" sz="1800" dirty="0">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56681102"/>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5EFA8-DFEA-F0E1-541D-5B0596A5D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8D9A6-D937-B1A0-0938-EF3876E4C550}"/>
              </a:ext>
            </a:extLst>
          </p:cNvPr>
          <p:cNvSpPr>
            <a:spLocks noGrp="1"/>
          </p:cNvSpPr>
          <p:nvPr>
            <p:ph type="title"/>
          </p:nvPr>
        </p:nvSpPr>
        <p:spPr/>
        <p:txBody>
          <a:bodyPr>
            <a:normAutofit/>
          </a:bodyPr>
          <a:lstStyle/>
          <a:p>
            <a:pPr algn="l" fontAlgn="base">
              <a:spcBef>
                <a:spcPts val="1800"/>
              </a:spcBef>
              <a:spcAft>
                <a:spcPts val="1800"/>
              </a:spcAft>
            </a:pPr>
            <a:r>
              <a:rPr lang="en-US" sz="4000" dirty="0">
                <a:latin typeface="Open Sans" panose="020B0606030504020204" pitchFamily="34" charset="0"/>
                <a:ea typeface="Open Sans" panose="020B0606030504020204" pitchFamily="34" charset="0"/>
                <a:cs typeface="Open Sans" panose="020B0606030504020204" pitchFamily="34" charset="0"/>
              </a:rPr>
              <a:t>Common Data Types and Operators</a:t>
            </a:r>
            <a:endParaRPr lang="en-IN" sz="4000" dirty="0">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2">
            <a:extLst>
              <a:ext uri="{FF2B5EF4-FFF2-40B4-BE49-F238E27FC236}">
                <a16:creationId xmlns:a16="http://schemas.microsoft.com/office/drawing/2014/main" id="{21970CB3-C6B4-16FA-2F82-8F9051F36944}"/>
              </a:ext>
            </a:extLst>
          </p:cNvPr>
          <p:cNvSpPr txBox="1">
            <a:spLocks/>
          </p:cNvSpPr>
          <p:nvPr/>
        </p:nvSpPr>
        <p:spPr>
          <a:xfrm>
            <a:off x="1371600" y="1414130"/>
            <a:ext cx="9601199" cy="528438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A </a:t>
            </a:r>
            <a:r>
              <a:rPr lang="en-US" sz="2000" b="1" dirty="0">
                <a:solidFill>
                  <a:schemeClr val="tx1"/>
                </a:solidFill>
                <a:latin typeface="Open Sans" panose="020B0606030504020204" pitchFamily="34" charset="0"/>
                <a:ea typeface="Open Sans" panose="020B0606030504020204" pitchFamily="34" charset="0"/>
                <a:cs typeface="Open Sans" panose="020B0606030504020204" pitchFamily="34" charset="0"/>
              </a:rPr>
              <a:t>data type </a:t>
            </a: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is a means of classifying a value and determining what operations can be performed on it. All objects have a data type. </a:t>
            </a:r>
          </a:p>
          <a:p>
            <a:r>
              <a:rPr lang="en-US" sz="2000" b="1" dirty="0">
                <a:solidFill>
                  <a:schemeClr val="tx1"/>
                </a:solidFill>
                <a:latin typeface="Open Sans" panose="020B0606030504020204" pitchFamily="34" charset="0"/>
                <a:ea typeface="Open Sans" panose="020B0606030504020204" pitchFamily="34" charset="0"/>
                <a:cs typeface="Open Sans" panose="020B0606030504020204" pitchFamily="34" charset="0"/>
              </a:rPr>
              <a:t>Operators </a:t>
            </a:r>
            <a:r>
              <a:rPr lang="en-US" sz="2000" dirty="0">
                <a:solidFill>
                  <a:schemeClr val="tx1"/>
                </a:solidFill>
                <a:latin typeface="Open Sans" panose="020B0606030504020204" pitchFamily="34" charset="0"/>
                <a:ea typeface="Open Sans" panose="020B0606030504020204" pitchFamily="34" charset="0"/>
                <a:cs typeface="Open Sans" panose="020B0606030504020204" pitchFamily="34" charset="0"/>
              </a:rPr>
              <a:t>are symbols used carry out specific functions/computations.</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1" descr="page6image60921744">
            <a:extLst>
              <a:ext uri="{FF2B5EF4-FFF2-40B4-BE49-F238E27FC236}">
                <a16:creationId xmlns:a16="http://schemas.microsoft.com/office/drawing/2014/main" id="{A41C2A1C-EC39-980B-43FC-979FCBE32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599" y="2659671"/>
            <a:ext cx="5306148" cy="357619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age6image60925696">
            <a:extLst>
              <a:ext uri="{FF2B5EF4-FFF2-40B4-BE49-F238E27FC236}">
                <a16:creationId xmlns:a16="http://schemas.microsoft.com/office/drawing/2014/main" id="{D8E4F56A-D66A-46CC-AD9F-19868E58A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8045" y="2659671"/>
            <a:ext cx="4793626" cy="368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4865"/>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577C0-36B2-AB20-1936-0BEAF5BA2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5AE16-429C-0EE9-F5D9-CFA215FC9B64}"/>
              </a:ext>
            </a:extLst>
          </p:cNvPr>
          <p:cNvSpPr>
            <a:spLocks noGrp="1"/>
          </p:cNvSpPr>
          <p:nvPr>
            <p:ph type="title"/>
          </p:nvPr>
        </p:nvSpPr>
        <p:spPr/>
        <p:txBody>
          <a:bodyPr>
            <a:normAutofit/>
          </a:bodyPr>
          <a:lstStyle/>
          <a:p>
            <a:pPr algn="l" fontAlgn="base">
              <a:spcBef>
                <a:spcPts val="1800"/>
              </a:spcBef>
              <a:spcAft>
                <a:spcPts val="1800"/>
              </a:spcAft>
            </a:pPr>
            <a:r>
              <a:rPr lang="en-US" sz="2400" dirty="0">
                <a:latin typeface="Calibri" panose="020F0502020204030204" pitchFamily="34" charset="0"/>
                <a:ea typeface="Calibri" panose="020F0502020204030204" pitchFamily="34" charset="0"/>
                <a:cs typeface="Calibri" panose="020F0502020204030204" pitchFamily="34" charset="0"/>
              </a:rPr>
              <a:t>Input/Output</a:t>
            </a:r>
            <a:endParaRPr lang="en-IN" sz="4000" dirty="0">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2">
            <a:extLst>
              <a:ext uri="{FF2B5EF4-FFF2-40B4-BE49-F238E27FC236}">
                <a16:creationId xmlns:a16="http://schemas.microsoft.com/office/drawing/2014/main" id="{460EB93D-EDC5-0BF6-19D8-1522A7F8ECFE}"/>
              </a:ext>
            </a:extLst>
          </p:cNvPr>
          <p:cNvSpPr txBox="1">
            <a:spLocks/>
          </p:cNvSpPr>
          <p:nvPr/>
        </p:nvSpPr>
        <p:spPr>
          <a:xfrm>
            <a:off x="1371600" y="1414130"/>
            <a:ext cx="9601199" cy="528438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Input functions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input()</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allow users of a program to place values into programming code.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parameter for an input function is called a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prompt</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This is a string (this can be indicated by “” or ‘’) such as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“Enter a number: “ </a:t>
            </a: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user’s response to the prompt will be returned to the input statement call as a string. To use this value as any other data type, it must be converted with another function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int()</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Print functions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print()</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allow programs to output strings to users on a given interface.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parameter of this function is of any type. All types will automatically be converted to strings.</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1" descr="page7image54530944">
            <a:extLst>
              <a:ext uri="{FF2B5EF4-FFF2-40B4-BE49-F238E27FC236}">
                <a16:creationId xmlns:a16="http://schemas.microsoft.com/office/drawing/2014/main" id="{F4CC6759-DB43-A573-0654-A55E17571E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7990" y="4915871"/>
            <a:ext cx="3388397" cy="14573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4EEBEBE-E08A-AC5E-50AC-58D708F31786}"/>
              </a:ext>
            </a:extLst>
          </p:cNvPr>
          <p:cNvSpPr/>
          <p:nvPr/>
        </p:nvSpPr>
        <p:spPr>
          <a:xfrm>
            <a:off x="3557990" y="5167504"/>
            <a:ext cx="4572000" cy="954107"/>
          </a:xfrm>
          <a:prstGeom prst="rect">
            <a:avLst/>
          </a:prstGeom>
        </p:spPr>
        <p:txBody>
          <a:bodyPr>
            <a:spAutoFit/>
          </a:bodyPr>
          <a:lstStyle/>
          <a:p>
            <a:pPr lvl="0" eaLnBrk="0" fontAlgn="base" hangingPunct="0">
              <a:spcBef>
                <a:spcPct val="0"/>
              </a:spcBef>
              <a:spcAft>
                <a:spcPct val="0"/>
              </a:spcAft>
              <a:buClrTx/>
            </a:pPr>
            <a:r>
              <a:rPr lang="en-US" altLang="en-US" dirty="0" err="1">
                <a:solidFill>
                  <a:schemeClr val="tx1"/>
                </a:solidFill>
                <a:latin typeface="Open Sans" panose="020B0606030504020204" pitchFamily="34" charset="0"/>
                <a:ea typeface="Open Sans" panose="020B0606030504020204" pitchFamily="34" charset="0"/>
                <a:cs typeface="Open Sans" panose="020B0606030504020204" pitchFamily="34" charset="0"/>
              </a:rPr>
              <a:t>xString</a:t>
            </a:r>
            <a: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US" altLang="en-US" dirty="0">
                <a:solidFill>
                  <a:srgbClr val="8D64AA"/>
                </a:solidFill>
                <a:latin typeface="Open Sans" panose="020B0606030504020204" pitchFamily="34" charset="0"/>
                <a:ea typeface="Open Sans" panose="020B0606030504020204" pitchFamily="34" charset="0"/>
                <a:cs typeface="Open Sans" panose="020B0606030504020204" pitchFamily="34" charset="0"/>
              </a:rPr>
              <a:t>input(</a:t>
            </a:r>
            <a:r>
              <a:rPr lang="en-US" altLang="en-US" dirty="0">
                <a:solidFill>
                  <a:srgbClr val="6091BA"/>
                </a:solidFill>
                <a:latin typeface="Open Sans" panose="020B0606030504020204" pitchFamily="34" charset="0"/>
                <a:ea typeface="Open Sans" panose="020B0606030504020204" pitchFamily="34" charset="0"/>
                <a:cs typeface="Open Sans" panose="020B0606030504020204" pitchFamily="34" charset="0"/>
              </a:rPr>
              <a:t>“Enter a number: “</a:t>
            </a:r>
            <a:r>
              <a:rPr lang="en-US" altLang="en-US" dirty="0">
                <a:solidFill>
                  <a:srgbClr val="8D64AA"/>
                </a:solidFill>
                <a:latin typeface="Open Sans" panose="020B0606030504020204" pitchFamily="34" charset="0"/>
                <a:ea typeface="Open Sans" panose="020B0606030504020204" pitchFamily="34" charset="0"/>
                <a:cs typeface="Open Sans" panose="020B0606030504020204" pitchFamily="34" charset="0"/>
              </a:rPr>
              <a:t>) </a:t>
            </a:r>
          </a:p>
          <a:p>
            <a:pPr lvl="0" eaLnBrk="0" fontAlgn="base" hangingPunct="0">
              <a:spcBef>
                <a:spcPct val="0"/>
              </a:spcBef>
              <a:spcAft>
                <a:spcPct val="0"/>
              </a:spcAft>
              <a:buClrTx/>
            </a:pPr>
            <a: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x = </a:t>
            </a:r>
            <a:r>
              <a:rPr lang="en-US" altLang="en-US" dirty="0">
                <a:solidFill>
                  <a:srgbClr val="A0CC3A"/>
                </a:solidFill>
                <a:latin typeface="Open Sans" panose="020B0606030504020204" pitchFamily="34" charset="0"/>
                <a:ea typeface="Open Sans" panose="020B0606030504020204" pitchFamily="34" charset="0"/>
                <a:cs typeface="Open Sans" panose="020B0606030504020204" pitchFamily="34" charset="0"/>
              </a:rPr>
              <a:t>int</a:t>
            </a:r>
            <a:r>
              <a:rPr lang="en-US" altLang="en-US" dirty="0">
                <a:solidFill>
                  <a:srgbClr val="6DAA44"/>
                </a:solidFill>
                <a:latin typeface="Open Sans" panose="020B0606030504020204" pitchFamily="34" charset="0"/>
                <a:ea typeface="Open Sans" panose="020B0606030504020204" pitchFamily="34" charset="0"/>
                <a:cs typeface="Open Sans" panose="020B0606030504020204" pitchFamily="34" charset="0"/>
              </a:rPr>
              <a:t>(</a:t>
            </a:r>
            <a:r>
              <a:rPr lang="en-US" altLang="en-US" dirty="0" err="1">
                <a:solidFill>
                  <a:schemeClr val="tx1"/>
                </a:solidFill>
                <a:latin typeface="Open Sans" panose="020B0606030504020204" pitchFamily="34" charset="0"/>
                <a:ea typeface="Open Sans" panose="020B0606030504020204" pitchFamily="34" charset="0"/>
                <a:cs typeface="Open Sans" panose="020B0606030504020204" pitchFamily="34" charset="0"/>
              </a:rPr>
              <a:t>xString</a:t>
            </a:r>
            <a:r>
              <a:rPr lang="en-US" altLang="en-US" dirty="0">
                <a:solidFill>
                  <a:srgbClr val="6DAA44"/>
                </a:solidFill>
                <a:latin typeface="Open Sans" panose="020B0606030504020204" pitchFamily="34" charset="0"/>
                <a:ea typeface="Open Sans" panose="020B0606030504020204" pitchFamily="34" charset="0"/>
                <a:cs typeface="Open Sans" panose="020B0606030504020204" pitchFamily="34" charset="0"/>
              </a:rPr>
              <a:t>)</a:t>
            </a:r>
            <a:br>
              <a:rPr lang="en-US" altLang="en-US" dirty="0">
                <a:solidFill>
                  <a:srgbClr val="6DAA44"/>
                </a:solidFill>
                <a:latin typeface="Open Sans" panose="020B0606030504020204" pitchFamily="34" charset="0"/>
                <a:ea typeface="Open Sans" panose="020B0606030504020204" pitchFamily="34" charset="0"/>
                <a:cs typeface="Open Sans" panose="020B0606030504020204" pitchFamily="34" charset="0"/>
              </a:rPr>
            </a:br>
            <a: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y=x+2</a:t>
            </a:r>
            <a:b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br>
            <a:r>
              <a:rPr lang="en-US" altLang="en-US" dirty="0">
                <a:solidFill>
                  <a:srgbClr val="F8A81B"/>
                </a:solidFill>
                <a:latin typeface="Open Sans" panose="020B0606030504020204" pitchFamily="34" charset="0"/>
                <a:ea typeface="Open Sans" panose="020B0606030504020204" pitchFamily="34" charset="0"/>
                <a:cs typeface="Open Sans" panose="020B0606030504020204" pitchFamily="34" charset="0"/>
              </a:rPr>
              <a:t>print</a:t>
            </a:r>
            <a: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(y</a:t>
            </a:r>
            <a:r>
              <a:rPr lang="en-US" altLang="en-US" dirty="0">
                <a:solidFill>
                  <a:srgbClr val="F8A81B"/>
                </a:solidFill>
                <a:latin typeface="Open Sans" panose="020B0606030504020204" pitchFamily="34" charset="0"/>
                <a:ea typeface="Open Sans" panose="020B0606030504020204" pitchFamily="34" charset="0"/>
                <a:cs typeface="Open Sans" panose="020B0606030504020204" pitchFamily="34" charset="0"/>
              </a:rPr>
              <a:t>)</a:t>
            </a:r>
            <a:endParaRPr lang="en-US" altLang="en-US" sz="200" dirty="0">
              <a:solidFill>
                <a:srgbClr val="F8A81B"/>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27626309"/>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979E-1E76-B725-14C0-042CF9029B9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DED1B0F-1D86-694E-3DF6-1470E7179F7F}"/>
              </a:ext>
            </a:extLst>
          </p:cNvPr>
          <p:cNvSpPr>
            <a:spLocks noGrp="1"/>
          </p:cNvSpPr>
          <p:nvPr>
            <p:ph type="title"/>
          </p:nvPr>
        </p:nvSpPr>
        <p:spPr>
          <a:xfrm>
            <a:off x="1704565" y="551351"/>
            <a:ext cx="8520600" cy="572700"/>
          </a:xfrm>
        </p:spPr>
        <p:txBody>
          <a:bodyPr>
            <a:normAutofit fontScale="90000"/>
          </a:bodyPr>
          <a:lstStyle/>
          <a:p>
            <a:r>
              <a:rPr lang="en-US" dirty="0">
                <a:latin typeface="Open Sans" panose="020B0606030504020204" pitchFamily="34" charset="0"/>
                <a:ea typeface="Open Sans" panose="020B0606030504020204" pitchFamily="34" charset="0"/>
                <a:cs typeface="Open Sans" panose="020B0606030504020204" pitchFamily="34" charset="0"/>
              </a:rPr>
              <a:t>If-else Statements</a:t>
            </a:r>
          </a:p>
        </p:txBody>
      </p:sp>
      <p:sp>
        <p:nvSpPr>
          <p:cNvPr id="9" name="Text Placeholder 2">
            <a:extLst>
              <a:ext uri="{FF2B5EF4-FFF2-40B4-BE49-F238E27FC236}">
                <a16:creationId xmlns:a16="http://schemas.microsoft.com/office/drawing/2014/main" id="{D9D54D6C-66F0-5246-1B68-742085AC9831}"/>
              </a:ext>
            </a:extLst>
          </p:cNvPr>
          <p:cNvSpPr txBox="1">
            <a:spLocks/>
          </p:cNvSpPr>
          <p:nvPr/>
        </p:nvSpPr>
        <p:spPr>
          <a:xfrm>
            <a:off x="1467293" y="1258801"/>
            <a:ext cx="7017488" cy="5386548"/>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If-else statements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allow programmers to adapt the function of their code based on a given condition. </a:t>
            </a:r>
          </a:p>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If a given condition (i.e</a:t>
            </a:r>
            <a:r>
              <a:rPr lang="en-US" dirty="0">
                <a:solidFill>
                  <a:srgbClr val="6091BA"/>
                </a:solidFill>
                <a:latin typeface="Open Sans" panose="020B0606030504020204" pitchFamily="34" charset="0"/>
                <a:ea typeface="Open Sans" panose="020B0606030504020204" pitchFamily="34" charset="0"/>
                <a:cs typeface="Open Sans" panose="020B0606030504020204" pitchFamily="34" charset="0"/>
              </a:rPr>
              <a:t>. </a:t>
            </a:r>
            <a:r>
              <a:rPr lang="en-US" b="1" dirty="0">
                <a:solidFill>
                  <a:srgbClr val="6091BA"/>
                </a:solidFill>
                <a:latin typeface="Open Sans" panose="020B0606030504020204" pitchFamily="34" charset="0"/>
                <a:ea typeface="Open Sans" panose="020B0606030504020204" pitchFamily="34" charset="0"/>
                <a:cs typeface="Open Sans" panose="020B0606030504020204" pitchFamily="34" charset="0"/>
              </a:rPr>
              <a:t>x % 2 == 0</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is true, then the statements following the if statement (</a:t>
            </a:r>
            <a:r>
              <a:rPr lang="en-US" b="1" dirty="0">
                <a:solidFill>
                  <a:srgbClr val="FF0000"/>
                </a:solidFill>
                <a:latin typeface="Open Sans" panose="020B0606030504020204" pitchFamily="34" charset="0"/>
                <a:ea typeface="Open Sans" panose="020B0606030504020204" pitchFamily="34" charset="0"/>
                <a:cs typeface="Open Sans" panose="020B0606030504020204" pitchFamily="34" charset="0"/>
              </a:rPr>
              <a:t>if</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will be executed. If the condition is false, the statements following the else statement (</a:t>
            </a:r>
            <a:r>
              <a:rPr lang="en-US" b="1" dirty="0">
                <a:solidFill>
                  <a:srgbClr val="8D64AA"/>
                </a:solidFill>
                <a:latin typeface="Open Sans" panose="020B0606030504020204" pitchFamily="34" charset="0"/>
                <a:ea typeface="Open Sans" panose="020B0606030504020204" pitchFamily="34" charset="0"/>
                <a:cs typeface="Open Sans" panose="020B0606030504020204" pitchFamily="34" charset="0"/>
              </a:rPr>
              <a:t>else</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will be executed. </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 condition is tested using the Boolean operators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(is equal to),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(is not equal to),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and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(used to test multiple conditions), and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or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(used to test if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AT LEAST ONE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condition is true). </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Additionally,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else-if statements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US" b="1" dirty="0" err="1">
                <a:solidFill>
                  <a:srgbClr val="A0CC3A"/>
                </a:solidFill>
                <a:latin typeface="Open Sans" panose="020B0606030504020204" pitchFamily="34" charset="0"/>
                <a:ea typeface="Open Sans" panose="020B0606030504020204" pitchFamily="34" charset="0"/>
                <a:cs typeface="Open Sans" panose="020B0606030504020204" pitchFamily="34" charset="0"/>
              </a:rPr>
              <a:t>elif</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can be used to provide unique coding statements for multiple conditions. </a:t>
            </a:r>
          </a:p>
          <a:p>
            <a:endParaRPr lang="en-US" dirty="0"/>
          </a:p>
        </p:txBody>
      </p:sp>
      <p:pic>
        <p:nvPicPr>
          <p:cNvPr id="10" name="Picture 4" descr="page8image54900032">
            <a:extLst>
              <a:ext uri="{FF2B5EF4-FFF2-40B4-BE49-F238E27FC236}">
                <a16:creationId xmlns:a16="http://schemas.microsoft.com/office/drawing/2014/main" id="{D2AB0E25-BC02-33C7-A6AD-5C6E97C9E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3688" y="1650566"/>
            <a:ext cx="3022953" cy="241488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01B0FC8D-85E7-7DCA-12E9-D74A63B81B61}"/>
              </a:ext>
            </a:extLst>
          </p:cNvPr>
          <p:cNvSpPr/>
          <p:nvPr/>
        </p:nvSpPr>
        <p:spPr>
          <a:xfrm>
            <a:off x="8782851" y="1953681"/>
            <a:ext cx="3022953" cy="1815882"/>
          </a:xfrm>
          <a:prstGeom prst="rect">
            <a:avLst/>
          </a:prstGeom>
        </p:spPr>
        <p:txBody>
          <a:bodyPr wrap="square">
            <a:spAutoFit/>
          </a:bodyPr>
          <a:lstStyle/>
          <a:p>
            <a:pPr lvl="0" eaLnBrk="0" fontAlgn="base" hangingPunct="0">
              <a:spcBef>
                <a:spcPct val="0"/>
              </a:spcBef>
              <a:spcAft>
                <a:spcPct val="0"/>
              </a:spcAft>
              <a:buClrTx/>
            </a:pPr>
            <a:r>
              <a:rPr lang="en-US" altLang="en-US" dirty="0" err="1">
                <a:solidFill>
                  <a:schemeClr val="tx1"/>
                </a:solidFill>
                <a:latin typeface="Calibri" panose="020F0502020204030204" pitchFamily="34" charset="0"/>
              </a:rPr>
              <a:t>xString</a:t>
            </a:r>
            <a:r>
              <a:rPr lang="en-US" altLang="en-US" dirty="0">
                <a:solidFill>
                  <a:schemeClr val="tx1"/>
                </a:solidFill>
                <a:latin typeface="Calibri" panose="020F0502020204030204" pitchFamily="34" charset="0"/>
              </a:rPr>
              <a:t> = input(“Enter a number: “) </a:t>
            </a:r>
          </a:p>
          <a:p>
            <a:pPr lvl="0" eaLnBrk="0" fontAlgn="base" hangingPunct="0">
              <a:spcBef>
                <a:spcPct val="0"/>
              </a:spcBef>
              <a:spcAft>
                <a:spcPct val="0"/>
              </a:spcAft>
              <a:buClrTx/>
            </a:pPr>
            <a:r>
              <a:rPr lang="en-US" altLang="en-US" dirty="0">
                <a:solidFill>
                  <a:schemeClr val="tx1"/>
                </a:solidFill>
                <a:latin typeface="Calibri" panose="020F0502020204030204" pitchFamily="34" charset="0"/>
              </a:rPr>
              <a:t>x = int(</a:t>
            </a:r>
            <a:r>
              <a:rPr lang="en-US" altLang="en-US" dirty="0" err="1">
                <a:solidFill>
                  <a:schemeClr val="tx1"/>
                </a:solidFill>
                <a:latin typeface="Calibri" panose="020F0502020204030204" pitchFamily="34" charset="0"/>
              </a:rPr>
              <a:t>xString</a:t>
            </a:r>
            <a:r>
              <a:rPr lang="en-US" altLang="en-US" dirty="0">
                <a:solidFill>
                  <a:schemeClr val="tx1"/>
                </a:solidFill>
                <a:latin typeface="Calibri" panose="020F0502020204030204" pitchFamily="34" charset="0"/>
              </a:rPr>
              <a:t>) </a:t>
            </a:r>
            <a:endParaRPr lang="en-US" altLang="en-US" sz="400" dirty="0">
              <a:solidFill>
                <a:schemeClr val="tx1"/>
              </a:solidFill>
            </a:endParaRPr>
          </a:p>
          <a:p>
            <a:pPr lvl="0" eaLnBrk="0" fontAlgn="base" hangingPunct="0">
              <a:spcBef>
                <a:spcPct val="0"/>
              </a:spcBef>
              <a:spcAft>
                <a:spcPct val="0"/>
              </a:spcAft>
              <a:buClrTx/>
            </a:pPr>
            <a:r>
              <a:rPr lang="en-US" altLang="en-US" dirty="0">
                <a:solidFill>
                  <a:srgbClr val="F8A81B"/>
                </a:solidFill>
                <a:latin typeface="Calibri" panose="020F0502020204030204" pitchFamily="34" charset="0"/>
              </a:rPr>
              <a:t>if</a:t>
            </a:r>
            <a:r>
              <a:rPr lang="en-US" altLang="en-US" dirty="0">
                <a:solidFill>
                  <a:srgbClr val="FF0000"/>
                </a:solidFill>
                <a:latin typeface="Calibri" panose="020F0502020204030204" pitchFamily="34" charset="0"/>
              </a:rPr>
              <a:t> </a:t>
            </a:r>
            <a:r>
              <a:rPr lang="en-US" altLang="en-US" dirty="0">
                <a:solidFill>
                  <a:srgbClr val="6091BA"/>
                </a:solidFill>
                <a:latin typeface="Calibri" panose="020F0502020204030204" pitchFamily="34" charset="0"/>
              </a:rPr>
              <a:t>x % 2 == 0</a:t>
            </a:r>
            <a:r>
              <a:rPr lang="en-US" altLang="en-US" dirty="0">
                <a:solidFill>
                  <a:srgbClr val="FF0000"/>
                </a:solidFill>
                <a:latin typeface="Calibri" panose="020F0502020204030204" pitchFamily="34" charset="0"/>
              </a:rPr>
              <a:t>:</a:t>
            </a:r>
            <a:br>
              <a:rPr lang="en-US" altLang="en-US" dirty="0">
                <a:solidFill>
                  <a:srgbClr val="FF0000"/>
                </a:solidFill>
                <a:latin typeface="Calibri" panose="020F0502020204030204" pitchFamily="34" charset="0"/>
              </a:rPr>
            </a:br>
            <a:r>
              <a:rPr lang="en-US" altLang="en-US" dirty="0">
                <a:solidFill>
                  <a:srgbClr val="FF0000"/>
                </a:solidFill>
                <a:latin typeface="Calibri" panose="020F0502020204030204" pitchFamily="34" charset="0"/>
              </a:rPr>
              <a:t>    </a:t>
            </a:r>
            <a:r>
              <a:rPr lang="en-US" altLang="en-US" dirty="0">
                <a:solidFill>
                  <a:schemeClr val="tx1"/>
                </a:solidFill>
                <a:latin typeface="Calibri" panose="020F0502020204030204" pitchFamily="34" charset="0"/>
              </a:rPr>
              <a:t>print(“This is an even number”) </a:t>
            </a:r>
            <a:endParaRPr lang="en-US" altLang="en-US" sz="400" dirty="0">
              <a:solidFill>
                <a:schemeClr val="tx1"/>
              </a:solidFill>
            </a:endParaRPr>
          </a:p>
          <a:p>
            <a:pPr lvl="0" eaLnBrk="0" fontAlgn="base" hangingPunct="0">
              <a:spcBef>
                <a:spcPct val="0"/>
              </a:spcBef>
              <a:spcAft>
                <a:spcPct val="0"/>
              </a:spcAft>
              <a:buClrTx/>
            </a:pPr>
            <a:r>
              <a:rPr lang="en-US" altLang="en-US" dirty="0" err="1">
                <a:solidFill>
                  <a:srgbClr val="A0CC3A"/>
                </a:solidFill>
                <a:latin typeface="Calibri" panose="020F0502020204030204" pitchFamily="34" charset="0"/>
              </a:rPr>
              <a:t>elif</a:t>
            </a:r>
            <a:r>
              <a:rPr lang="en-US" altLang="en-US" dirty="0">
                <a:solidFill>
                  <a:srgbClr val="6DAA44"/>
                </a:solidFill>
                <a:latin typeface="Calibri" panose="020F0502020204030204" pitchFamily="34" charset="0"/>
              </a:rPr>
              <a:t> </a:t>
            </a:r>
            <a:r>
              <a:rPr lang="en-US" altLang="en-US" dirty="0">
                <a:solidFill>
                  <a:srgbClr val="6091BA"/>
                </a:solidFill>
                <a:latin typeface="Calibri" panose="020F0502020204030204" pitchFamily="34" charset="0"/>
              </a:rPr>
              <a:t>x == 0</a:t>
            </a:r>
            <a:r>
              <a:rPr lang="en-US" altLang="en-US" dirty="0">
                <a:solidFill>
                  <a:srgbClr val="6DAA44"/>
                </a:solidFill>
                <a:latin typeface="Calibri" panose="020F0502020204030204" pitchFamily="34" charset="0"/>
              </a:rPr>
              <a:t>:</a:t>
            </a:r>
            <a:br>
              <a:rPr lang="en-US" altLang="en-US" dirty="0">
                <a:solidFill>
                  <a:srgbClr val="6DAA44"/>
                </a:solidFill>
                <a:latin typeface="Calibri" panose="020F0502020204030204" pitchFamily="34" charset="0"/>
              </a:rPr>
            </a:br>
            <a:r>
              <a:rPr lang="en-US" altLang="en-US" dirty="0">
                <a:solidFill>
                  <a:srgbClr val="6DAA44"/>
                </a:solidFill>
                <a:latin typeface="Calibri" panose="020F0502020204030204" pitchFamily="34" charset="0"/>
              </a:rPr>
              <a:t>    </a:t>
            </a:r>
            <a:r>
              <a:rPr lang="en-US" altLang="en-US" dirty="0">
                <a:solidFill>
                  <a:schemeClr val="tx1"/>
                </a:solidFill>
                <a:latin typeface="Calibri" panose="020F0502020204030204" pitchFamily="34" charset="0"/>
              </a:rPr>
              <a:t>print(“This number equals 0”) </a:t>
            </a:r>
            <a:endParaRPr lang="en-US" altLang="en-US" sz="400" dirty="0">
              <a:solidFill>
                <a:schemeClr val="tx1"/>
              </a:solidFill>
              <a:latin typeface="Calibri" panose="020F0502020204030204" pitchFamily="34" charset="0"/>
            </a:endParaRPr>
          </a:p>
          <a:p>
            <a:pPr lvl="0" eaLnBrk="0" fontAlgn="base" hangingPunct="0">
              <a:spcBef>
                <a:spcPct val="0"/>
              </a:spcBef>
              <a:spcAft>
                <a:spcPct val="0"/>
              </a:spcAft>
              <a:buClrTx/>
            </a:pPr>
            <a:r>
              <a:rPr lang="en-US" altLang="en-US" dirty="0">
                <a:solidFill>
                  <a:srgbClr val="8D64AA"/>
                </a:solidFill>
                <a:latin typeface="Calibri" panose="020F0502020204030204" pitchFamily="34" charset="0"/>
              </a:rPr>
              <a:t>else</a:t>
            </a:r>
            <a:r>
              <a:rPr lang="en-US" altLang="en-US" dirty="0">
                <a:solidFill>
                  <a:schemeClr val="tx1"/>
                </a:solidFill>
                <a:latin typeface="Calibri" panose="020F0502020204030204" pitchFamily="34" charset="0"/>
              </a:rPr>
              <a:t>:</a:t>
            </a:r>
          </a:p>
          <a:p>
            <a:pPr lvl="0" eaLnBrk="0" fontAlgn="base" hangingPunct="0">
              <a:spcBef>
                <a:spcPct val="0"/>
              </a:spcBef>
              <a:spcAft>
                <a:spcPct val="0"/>
              </a:spcAft>
              <a:buClrTx/>
            </a:pPr>
            <a:r>
              <a:rPr lang="en-US" altLang="en-US" dirty="0">
                <a:solidFill>
                  <a:schemeClr val="tx1"/>
                </a:solidFill>
                <a:latin typeface="Calibri" panose="020F0502020204030204" pitchFamily="34" charset="0"/>
              </a:rPr>
              <a:t>    print(“This is an odd number”)</a:t>
            </a:r>
          </a:p>
        </p:txBody>
      </p:sp>
    </p:spTree>
    <p:extLst>
      <p:ext uri="{BB962C8B-B14F-4D97-AF65-F5344CB8AC3E}">
        <p14:creationId xmlns:p14="http://schemas.microsoft.com/office/powerpoint/2010/main" val="204732746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FD7AD-C1E9-05EF-05AE-F71213E14CC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B6AF391-1C47-F467-6B65-AE361B9D1510}"/>
              </a:ext>
            </a:extLst>
          </p:cNvPr>
          <p:cNvSpPr>
            <a:spLocks noGrp="1"/>
          </p:cNvSpPr>
          <p:nvPr>
            <p:ph type="title"/>
          </p:nvPr>
        </p:nvSpPr>
        <p:spPr>
          <a:xfrm>
            <a:off x="1842788" y="413128"/>
            <a:ext cx="8520600" cy="572700"/>
          </a:xfrm>
        </p:spPr>
        <p:txBody>
          <a:bodyPr>
            <a:normAutofit fontScale="90000"/>
          </a:bodyPr>
          <a:lstStyle/>
          <a:p>
            <a:r>
              <a:rPr lang="en-US" dirty="0">
                <a:latin typeface="Open Sans" panose="020B0606030504020204" pitchFamily="34" charset="0"/>
                <a:ea typeface="Open Sans" panose="020B0606030504020204" pitchFamily="34" charset="0"/>
                <a:cs typeface="Open Sans" panose="020B0606030504020204" pitchFamily="34" charset="0"/>
              </a:rPr>
              <a:t>For Loops</a:t>
            </a:r>
          </a:p>
        </p:txBody>
      </p:sp>
      <p:sp>
        <p:nvSpPr>
          <p:cNvPr id="4" name="Text Placeholder 2">
            <a:extLst>
              <a:ext uri="{FF2B5EF4-FFF2-40B4-BE49-F238E27FC236}">
                <a16:creationId xmlns:a16="http://schemas.microsoft.com/office/drawing/2014/main" id="{6951D1C5-F9E7-E532-F13F-9A049D5F80D8}"/>
              </a:ext>
            </a:extLst>
          </p:cNvPr>
          <p:cNvSpPr txBox="1">
            <a:spLocks/>
          </p:cNvSpPr>
          <p:nvPr/>
        </p:nvSpPr>
        <p:spPr>
          <a:xfrm>
            <a:off x="1265274" y="1120578"/>
            <a:ext cx="6655982" cy="5067572"/>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For loops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perform the same task (iterate) for the number of times specified by an </a:t>
            </a:r>
            <a:r>
              <a:rPr lang="en-US"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iterable</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(something that can be evaluated repeatedly such as a list, string, or range). </a:t>
            </a:r>
          </a:p>
          <a:p>
            <a:r>
              <a:rPr lang="en-US" b="1" dirty="0">
                <a:solidFill>
                  <a:srgbClr val="F8A81B"/>
                </a:solidFill>
                <a:latin typeface="Open Sans" panose="020B0606030504020204" pitchFamily="34" charset="0"/>
                <a:ea typeface="Open Sans" panose="020B0606030504020204" pitchFamily="34" charset="0"/>
                <a:cs typeface="Open Sans" panose="020B0606030504020204" pitchFamily="34" charset="0"/>
              </a:rPr>
              <a:t>for</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defines the for loop </a:t>
            </a:r>
          </a:p>
          <a:p>
            <a:r>
              <a:rPr lang="en-US" b="1" dirty="0">
                <a:solidFill>
                  <a:srgbClr val="6091BA"/>
                </a:solidFill>
                <a:latin typeface="Open Sans" panose="020B0606030504020204" pitchFamily="34" charset="0"/>
                <a:ea typeface="Open Sans" panose="020B0606030504020204" pitchFamily="34" charset="0"/>
                <a:cs typeface="Open Sans" panose="020B0606030504020204" pitchFamily="34" charset="0"/>
              </a:rPr>
              <a:t>x</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is the variable defining the number of times the statements within the loop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print(</a:t>
            </a:r>
            <a:r>
              <a:rPr lang="en-US"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myInt</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are executed. </a:t>
            </a:r>
          </a:p>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 </a:t>
            </a:r>
            <a:r>
              <a:rPr lang="en-US" b="1" dirty="0">
                <a:solidFill>
                  <a:srgbClr val="A0CC3A"/>
                </a:solidFill>
                <a:latin typeface="Open Sans" panose="020B0606030504020204" pitchFamily="34" charset="0"/>
                <a:ea typeface="Open Sans" panose="020B0606030504020204" pitchFamily="34" charset="0"/>
                <a:cs typeface="Open Sans" panose="020B0606030504020204" pitchFamily="34" charset="0"/>
              </a:rPr>
              <a:t>range(start, stop, step)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function is often used to define x. </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 starting value is defined by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start</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the final value is defined by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stop – 1</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and the magnitude at which x changes between loops is defined by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step</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r>
              <a:rPr lang="en-US" b="1" dirty="0">
                <a:solidFill>
                  <a:srgbClr val="8D64AA"/>
                </a:solidFill>
                <a:latin typeface="Open Sans" panose="020B0606030504020204" pitchFamily="34" charset="0"/>
                <a:ea typeface="Open Sans" panose="020B0606030504020204" pitchFamily="34" charset="0"/>
                <a:cs typeface="Open Sans" panose="020B0606030504020204" pitchFamily="34" charset="0"/>
              </a:rPr>
              <a:t>in</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is a Boolean operator that returns true if the given value (x) is found within a given list, string, range etc. </a:t>
            </a:r>
          </a:p>
          <a:p>
            <a:pPr marL="114300" indent="0">
              <a:buFont typeface="Franklin Gothic Book" panose="020B0503020102020204" pitchFamily="34" charset="0"/>
              <a:buNone/>
            </a:pPr>
            <a:endParaRPr lang="en-US" dirty="0"/>
          </a:p>
        </p:txBody>
      </p:sp>
      <p:pic>
        <p:nvPicPr>
          <p:cNvPr id="5" name="Picture 1" descr="page9image54538048">
            <a:extLst>
              <a:ext uri="{FF2B5EF4-FFF2-40B4-BE49-F238E27FC236}">
                <a16:creationId xmlns:a16="http://schemas.microsoft.com/office/drawing/2014/main" id="{250C3020-7C9B-47DF-2FAB-336B3BC64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5694" y="845702"/>
            <a:ext cx="3960362" cy="282253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FA0F1B68-AC4F-BD91-741E-D0103F08FA90}"/>
              </a:ext>
            </a:extLst>
          </p:cNvPr>
          <p:cNvSpPr>
            <a:spLocks noChangeArrowheads="1"/>
          </p:cNvSpPr>
          <p:nvPr/>
        </p:nvSpPr>
        <p:spPr bwMode="auto">
          <a:xfrm>
            <a:off x="8075694" y="2044011"/>
            <a:ext cx="4579913" cy="146193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myString</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input(“Enter a number: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myInt</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 int(</a:t>
            </a:r>
            <a:r>
              <a:rPr kumimoji="0" lang="en-US" altLang="en-US" b="0" i="0" u="none" strike="noStrike" cap="none" normalizeH="0" baseline="0" dirty="0" err="1">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myString</a:t>
            </a:r>
            <a:r>
              <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eaLnBrk="0" fontAlgn="base" hangingPunct="0">
              <a:spcBef>
                <a:spcPct val="0"/>
              </a:spcBef>
              <a:spcAft>
                <a:spcPct val="0"/>
              </a:spcAft>
              <a:buClrTx/>
            </a:pPr>
            <a:r>
              <a:rPr lang="en-US" altLang="en-US" dirty="0">
                <a:solidFill>
                  <a:srgbClr val="F8A81B"/>
                </a:solidFill>
                <a:latin typeface="Open Sans" panose="020B0606030504020204" pitchFamily="34" charset="0"/>
                <a:ea typeface="Open Sans" panose="020B0606030504020204" pitchFamily="34" charset="0"/>
                <a:cs typeface="Open Sans" panose="020B0606030504020204" pitchFamily="34" charset="0"/>
              </a:rPr>
              <a:t>for</a:t>
            </a:r>
            <a:r>
              <a:rPr lang="en-US" altLang="en-US" dirty="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US" altLang="en-US" dirty="0">
                <a:solidFill>
                  <a:srgbClr val="6091BA"/>
                </a:solidFill>
                <a:latin typeface="Open Sans" panose="020B0606030504020204" pitchFamily="34" charset="0"/>
                <a:ea typeface="Open Sans" panose="020B0606030504020204" pitchFamily="34" charset="0"/>
                <a:cs typeface="Open Sans" panose="020B0606030504020204" pitchFamily="34" charset="0"/>
              </a:rPr>
              <a:t>x</a:t>
            </a:r>
            <a:r>
              <a:rPr lang="en-US" altLang="en-US" dirty="0">
                <a:solidFill>
                  <a:srgbClr val="4270C1"/>
                </a:solidFill>
                <a:latin typeface="Open Sans" panose="020B0606030504020204" pitchFamily="34" charset="0"/>
                <a:ea typeface="Open Sans" panose="020B0606030504020204" pitchFamily="34" charset="0"/>
                <a:cs typeface="Open Sans" panose="020B0606030504020204" pitchFamily="34" charset="0"/>
              </a:rPr>
              <a:t> </a:t>
            </a:r>
            <a:r>
              <a:rPr lang="en-US" altLang="en-US" dirty="0">
                <a:solidFill>
                  <a:srgbClr val="8D64AA"/>
                </a:solidFill>
                <a:latin typeface="Open Sans" panose="020B0606030504020204" pitchFamily="34" charset="0"/>
                <a:ea typeface="Open Sans" panose="020B0606030504020204" pitchFamily="34" charset="0"/>
                <a:cs typeface="Open Sans" panose="020B0606030504020204" pitchFamily="34" charset="0"/>
              </a:rPr>
              <a:t>in</a:t>
            </a:r>
            <a:r>
              <a:rPr lang="en-US" altLang="en-US" dirty="0">
                <a:solidFill>
                  <a:srgbClr val="FFBF00"/>
                </a:solidFill>
                <a:latin typeface="Open Sans" panose="020B0606030504020204" pitchFamily="34" charset="0"/>
                <a:ea typeface="Open Sans" panose="020B0606030504020204" pitchFamily="34" charset="0"/>
                <a:cs typeface="Open Sans" panose="020B0606030504020204" pitchFamily="34" charset="0"/>
              </a:rPr>
              <a:t> </a:t>
            </a:r>
            <a:r>
              <a:rPr lang="en-US" altLang="en-US" dirty="0">
                <a:solidFill>
                  <a:srgbClr val="A0CC3A"/>
                </a:solidFill>
                <a:latin typeface="Open Sans" panose="020B0606030504020204" pitchFamily="34" charset="0"/>
                <a:ea typeface="Open Sans" panose="020B0606030504020204" pitchFamily="34" charset="0"/>
                <a:cs typeface="Open Sans" panose="020B0606030504020204" pitchFamily="34" charset="0"/>
              </a:rPr>
              <a:t>range(0, 5, 1): </a:t>
            </a:r>
            <a: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print(</a:t>
            </a:r>
            <a:r>
              <a:rPr lang="en-US" altLang="en-US" dirty="0" err="1">
                <a:solidFill>
                  <a:schemeClr val="tx1"/>
                </a:solidFill>
                <a:latin typeface="Open Sans" panose="020B0606030504020204" pitchFamily="34" charset="0"/>
                <a:ea typeface="Open Sans" panose="020B0606030504020204" pitchFamily="34" charset="0"/>
                <a:cs typeface="Open Sans" panose="020B0606030504020204" pitchFamily="34" charset="0"/>
              </a:rPr>
              <a:t>myInt</a:t>
            </a:r>
            <a:r>
              <a:rPr lang="en-US" alt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endParaRPr lang="en-US" altLang="en-US" sz="3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5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65146597"/>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17106-51AC-2A12-2EF4-7E1EB233CECC}"/>
            </a:ext>
          </a:extLst>
        </p:cNvPr>
        <p:cNvGrpSpPr/>
        <p:nvPr/>
      </p:nvGrpSpPr>
      <p:grpSpPr>
        <a:xfrm>
          <a:off x="0" y="0"/>
          <a:ext cx="0" cy="0"/>
          <a:chOff x="0" y="0"/>
          <a:chExt cx="0" cy="0"/>
        </a:xfrm>
      </p:grpSpPr>
      <p:pic>
        <p:nvPicPr>
          <p:cNvPr id="7" name="Picture 2" descr="page10image54649088">
            <a:extLst>
              <a:ext uri="{FF2B5EF4-FFF2-40B4-BE49-F238E27FC236}">
                <a16:creationId xmlns:a16="http://schemas.microsoft.com/office/drawing/2014/main" id="{79E7CA2B-5710-D018-82C1-65759CAE0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0920" y="968546"/>
            <a:ext cx="3150665" cy="2623313"/>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B7A3621D-D7B7-AEA0-0EC2-0451341BF582}"/>
              </a:ext>
            </a:extLst>
          </p:cNvPr>
          <p:cNvSpPr>
            <a:spLocks noGrp="1"/>
          </p:cNvSpPr>
          <p:nvPr>
            <p:ph type="title"/>
          </p:nvPr>
        </p:nvSpPr>
        <p:spPr>
          <a:xfrm>
            <a:off x="1460016" y="402495"/>
            <a:ext cx="8520600" cy="572700"/>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While Loops</a:t>
            </a:r>
          </a:p>
        </p:txBody>
      </p:sp>
      <p:sp>
        <p:nvSpPr>
          <p:cNvPr id="9" name="Text Placeholder 2">
            <a:extLst>
              <a:ext uri="{FF2B5EF4-FFF2-40B4-BE49-F238E27FC236}">
                <a16:creationId xmlns:a16="http://schemas.microsoft.com/office/drawing/2014/main" id="{5D7790E9-A311-8D72-8876-2A0ECC97ED5A}"/>
              </a:ext>
            </a:extLst>
          </p:cNvPr>
          <p:cNvSpPr txBox="1">
            <a:spLocks/>
          </p:cNvSpPr>
          <p:nvPr/>
        </p:nvSpPr>
        <p:spPr>
          <a:xfrm>
            <a:off x="1460016" y="1109945"/>
            <a:ext cx="6854644" cy="534556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While loops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are statements that iterate so long as a given Boolean condition is met. </a:t>
            </a:r>
          </a:p>
          <a:p>
            <a:pPr lvl="1"/>
            <a:r>
              <a:rPr lang="en-US" b="1" dirty="0">
                <a:solidFill>
                  <a:srgbClr val="F8A81B"/>
                </a:solidFill>
                <a:latin typeface="Calibri" panose="020F0502020204030204" pitchFamily="34" charset="0"/>
                <a:ea typeface="Calibri" panose="020F0502020204030204" pitchFamily="34" charset="0"/>
                <a:cs typeface="Calibri" panose="020F0502020204030204" pitchFamily="34" charset="0"/>
              </a:rPr>
              <a:t>x</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variable determining whether or not the condition is met) is defined and manipulated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OUTSIDE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of the header of the while loop (</a:t>
            </a:r>
            <a:r>
              <a:rPr lang="en-US" b="1" dirty="0">
                <a:solidFill>
                  <a:srgbClr val="6091BA"/>
                </a:solidFill>
                <a:latin typeface="Calibri" panose="020F0502020204030204" pitchFamily="34" charset="0"/>
                <a:ea typeface="Calibri" panose="020F0502020204030204" pitchFamily="34" charset="0"/>
                <a:cs typeface="Calibri" panose="020F0502020204030204" pitchFamily="34" charset="0"/>
              </a:rPr>
              <a:t>while</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a:t>
            </a:r>
          </a:p>
          <a:p>
            <a:pPr lvl="1"/>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The condition (</a:t>
            </a:r>
            <a:r>
              <a:rPr lang="en-US" b="1" dirty="0">
                <a:solidFill>
                  <a:srgbClr val="A0CC3A"/>
                </a:solidFill>
                <a:latin typeface="Calibri" panose="020F0502020204030204" pitchFamily="34" charset="0"/>
                <a:ea typeface="Calibri" panose="020F0502020204030204" pitchFamily="34" charset="0"/>
                <a:cs typeface="Calibri" panose="020F0502020204030204" pitchFamily="34" charset="0"/>
              </a:rPr>
              <a:t>x &lt; 5</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is a statement containing a Boolean variable. </a:t>
            </a:r>
          </a:p>
          <a:p>
            <a:pPr lvl="1"/>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break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is a statement used to exit the current for/while loop. </a:t>
            </a:r>
          </a:p>
          <a:p>
            <a:pPr lvl="1"/>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continue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is a statement used to reject all statements in the current for/while loop iteration and return to the beginning of the loop. </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1" descr="page10image60862240">
            <a:extLst>
              <a:ext uri="{FF2B5EF4-FFF2-40B4-BE49-F238E27FC236}">
                <a16:creationId xmlns:a16="http://schemas.microsoft.com/office/drawing/2014/main" id="{5CEECFD4-1951-0C6E-2036-C78EA7167A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2166" y="4105994"/>
            <a:ext cx="3170712" cy="262331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7C797487-F63D-7100-04D8-41EF84F03818}"/>
              </a:ext>
            </a:extLst>
          </p:cNvPr>
          <p:cNvSpPr/>
          <p:nvPr/>
        </p:nvSpPr>
        <p:spPr>
          <a:xfrm>
            <a:off x="8820920" y="1367012"/>
            <a:ext cx="2933204" cy="1384995"/>
          </a:xfrm>
          <a:prstGeom prst="rect">
            <a:avLst/>
          </a:prstGeom>
        </p:spPr>
        <p:txBody>
          <a:bodyPr wrap="square">
            <a:spAutoFit/>
          </a:bodyPr>
          <a:lstStyle/>
          <a:p>
            <a:r>
              <a:rPr lang="en-US" dirty="0" err="1">
                <a:latin typeface="Calibri" panose="020F0502020204030204" pitchFamily="34" charset="0"/>
              </a:rPr>
              <a:t>myString</a:t>
            </a:r>
            <a:r>
              <a:rPr lang="en-US" dirty="0">
                <a:latin typeface="Calibri" panose="020F0502020204030204" pitchFamily="34" charset="0"/>
              </a:rPr>
              <a:t> = input(“Enter a number: “) </a:t>
            </a:r>
          </a:p>
          <a:p>
            <a:r>
              <a:rPr lang="en-US" dirty="0" err="1">
                <a:latin typeface="Calibri" panose="020F0502020204030204" pitchFamily="34" charset="0"/>
              </a:rPr>
              <a:t>myInt</a:t>
            </a:r>
            <a:r>
              <a:rPr lang="en-US" dirty="0">
                <a:latin typeface="Calibri" panose="020F0502020204030204" pitchFamily="34" charset="0"/>
              </a:rPr>
              <a:t> = int(</a:t>
            </a:r>
            <a:r>
              <a:rPr lang="en-US" dirty="0" err="1">
                <a:latin typeface="Calibri" panose="020F0502020204030204" pitchFamily="34" charset="0"/>
              </a:rPr>
              <a:t>myString</a:t>
            </a:r>
            <a:r>
              <a:rPr lang="en-US" dirty="0">
                <a:latin typeface="Calibri" panose="020F0502020204030204" pitchFamily="34" charset="0"/>
              </a:rPr>
              <a:t>) </a:t>
            </a:r>
            <a:endParaRPr lang="en-US" dirty="0"/>
          </a:p>
          <a:p>
            <a:r>
              <a:rPr lang="en-US" dirty="0">
                <a:solidFill>
                  <a:srgbClr val="F8A81B"/>
                </a:solidFill>
                <a:latin typeface="Calibri" panose="020F0502020204030204" pitchFamily="34" charset="0"/>
              </a:rPr>
              <a:t>x</a:t>
            </a:r>
            <a:r>
              <a:rPr lang="en-US" dirty="0">
                <a:solidFill>
                  <a:srgbClr val="FF0000"/>
                </a:solidFill>
                <a:latin typeface="Calibri" panose="020F0502020204030204" pitchFamily="34" charset="0"/>
              </a:rPr>
              <a:t> </a:t>
            </a:r>
            <a:r>
              <a:rPr lang="en-US" dirty="0">
                <a:latin typeface="Calibri" panose="020F0502020204030204" pitchFamily="34" charset="0"/>
              </a:rPr>
              <a:t>= 0</a:t>
            </a:r>
            <a:br>
              <a:rPr lang="en-US" dirty="0">
                <a:latin typeface="Calibri" panose="020F0502020204030204" pitchFamily="34" charset="0"/>
              </a:rPr>
            </a:br>
            <a:r>
              <a:rPr lang="en-US" dirty="0">
                <a:solidFill>
                  <a:srgbClr val="6091BA"/>
                </a:solidFill>
                <a:latin typeface="Calibri" panose="020F0502020204030204" pitchFamily="34" charset="0"/>
              </a:rPr>
              <a:t>while</a:t>
            </a:r>
            <a:r>
              <a:rPr lang="en-US" dirty="0">
                <a:solidFill>
                  <a:srgbClr val="4270C1"/>
                </a:solidFill>
                <a:latin typeface="Calibri" panose="020F0502020204030204" pitchFamily="34" charset="0"/>
              </a:rPr>
              <a:t> </a:t>
            </a:r>
            <a:r>
              <a:rPr lang="en-US" dirty="0">
                <a:solidFill>
                  <a:srgbClr val="A0CC3A"/>
                </a:solidFill>
                <a:latin typeface="Calibri" panose="020F0502020204030204" pitchFamily="34" charset="0"/>
              </a:rPr>
              <a:t>x &lt; 5</a:t>
            </a:r>
            <a:r>
              <a:rPr lang="en-US" dirty="0">
                <a:solidFill>
                  <a:srgbClr val="4270C1"/>
                </a:solidFill>
                <a:latin typeface="Calibri" panose="020F0502020204030204" pitchFamily="34" charset="0"/>
              </a:rPr>
              <a:t>: </a:t>
            </a:r>
            <a:endParaRPr lang="en-US" dirty="0"/>
          </a:p>
          <a:p>
            <a:r>
              <a:rPr lang="en-US" dirty="0">
                <a:latin typeface="Calibri" panose="020F0502020204030204" pitchFamily="34" charset="0"/>
              </a:rPr>
              <a:t>    print(</a:t>
            </a:r>
            <a:r>
              <a:rPr lang="en-US" dirty="0" err="1">
                <a:latin typeface="Calibri" panose="020F0502020204030204" pitchFamily="34" charset="0"/>
              </a:rPr>
              <a:t>myInt</a:t>
            </a:r>
            <a:r>
              <a:rPr lang="en-US" dirty="0">
                <a:latin typeface="Calibri" panose="020F0502020204030204" pitchFamily="34" charset="0"/>
              </a:rPr>
              <a:t>) </a:t>
            </a:r>
          </a:p>
          <a:p>
            <a:r>
              <a:rPr lang="en-US" dirty="0">
                <a:latin typeface="Calibri" panose="020F0502020204030204" pitchFamily="34" charset="0"/>
              </a:rPr>
              <a:t>    x= x +1 </a:t>
            </a:r>
            <a:endParaRPr lang="en-US" dirty="0">
              <a:effectLst/>
            </a:endParaRPr>
          </a:p>
        </p:txBody>
      </p:sp>
    </p:spTree>
    <p:extLst>
      <p:ext uri="{BB962C8B-B14F-4D97-AF65-F5344CB8AC3E}">
        <p14:creationId xmlns:p14="http://schemas.microsoft.com/office/powerpoint/2010/main" val="1505988002"/>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A0AC3-FDAE-E645-CBCD-72C4C54AE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EA552-FC98-8039-ECC0-CFD9F009CE94}"/>
              </a:ext>
            </a:extLst>
          </p:cNvPr>
          <p:cNvSpPr>
            <a:spLocks noGrp="1"/>
          </p:cNvSpPr>
          <p:nvPr>
            <p:ph type="title"/>
          </p:nvPr>
        </p:nvSpPr>
        <p:spPr>
          <a:xfrm>
            <a:off x="1295399" y="2686050"/>
            <a:ext cx="10013303" cy="1485900"/>
          </a:xfrm>
        </p:spPr>
        <p:txBody>
          <a:bodyPr>
            <a:normAutofit/>
          </a:bodyPr>
          <a:lstStyle/>
          <a:p>
            <a:r>
              <a:rPr lang="en-US" b="1" dirty="0"/>
              <a:t>Day 18</a:t>
            </a:r>
            <a:r>
              <a:rPr lang="en-US" dirty="0"/>
              <a:t>: </a:t>
            </a:r>
            <a:r>
              <a:rPr lang="en-IN" dirty="0"/>
              <a:t>Python NumPy and </a:t>
            </a:r>
            <a:r>
              <a:rPr lang="en-IN" dirty="0" err="1"/>
              <a:t>Modeling</a:t>
            </a:r>
            <a:endParaRPr lang="en-US" dirty="0"/>
          </a:p>
        </p:txBody>
      </p:sp>
    </p:spTree>
    <p:extLst>
      <p:ext uri="{BB962C8B-B14F-4D97-AF65-F5344CB8AC3E}">
        <p14:creationId xmlns:p14="http://schemas.microsoft.com/office/powerpoint/2010/main" val="456370074"/>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DA9B-424B-8EE0-8D2B-CFB2C505F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A1EEC9-299F-E982-C7D2-BA4F40800F79}"/>
              </a:ext>
            </a:extLst>
          </p:cNvPr>
          <p:cNvSpPr>
            <a:spLocks noGrp="1"/>
          </p:cNvSpPr>
          <p:nvPr>
            <p:ph type="title"/>
          </p:nvPr>
        </p:nvSpPr>
        <p:spPr/>
        <p:txBody>
          <a:bodyPr>
            <a:normAutofit/>
          </a:bodyPr>
          <a:lstStyle/>
          <a:p>
            <a:pPr algn="l" fontAlgn="base">
              <a:spcBef>
                <a:spcPts val="1800"/>
              </a:spcBef>
              <a:spcAft>
                <a:spcPts val="1800"/>
              </a:spcAft>
            </a:pPr>
            <a:r>
              <a:rPr lang="en-GB" sz="4000" dirty="0"/>
              <a:t>Numerical Python (NumPy)</a:t>
            </a:r>
            <a:endParaRPr lang="en-IN" sz="4000" dirty="0"/>
          </a:p>
        </p:txBody>
      </p:sp>
      <p:sp>
        <p:nvSpPr>
          <p:cNvPr id="8" name="Content Placeholder 2">
            <a:extLst>
              <a:ext uri="{FF2B5EF4-FFF2-40B4-BE49-F238E27FC236}">
                <a16:creationId xmlns:a16="http://schemas.microsoft.com/office/drawing/2014/main" id="{F0F1B938-61C7-ABA2-2D91-5B8B9CDF1BB0}"/>
              </a:ext>
            </a:extLst>
          </p:cNvPr>
          <p:cNvSpPr txBox="1">
            <a:spLocks/>
          </p:cNvSpPr>
          <p:nvPr/>
        </p:nvSpPr>
        <p:spPr>
          <a:xfrm>
            <a:off x="1371600" y="1744826"/>
            <a:ext cx="9601199" cy="541175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NumPy is the most foundational package for numerical computing in Python.</a:t>
            </a:r>
          </a:p>
          <a:p>
            <a:r>
              <a:rPr lang="en-GB" dirty="0"/>
              <a:t>If you are going to work on data analysis or machine learning projects, then having a solid understanding of NumPy is nearly mandatory.</a:t>
            </a:r>
          </a:p>
          <a:p>
            <a:r>
              <a:rPr lang="en-GB" dirty="0"/>
              <a:t>Indeed, many other libraries, such as pandas and scikit-learn, use NumPy’s array objects as the </a:t>
            </a:r>
            <a:r>
              <a:rPr lang="en-GB" i="1" dirty="0"/>
              <a:t>lingua franca </a:t>
            </a:r>
            <a:r>
              <a:rPr lang="en-GB" dirty="0"/>
              <a:t>for data exchange.</a:t>
            </a:r>
          </a:p>
          <a:p>
            <a:r>
              <a:rPr lang="en-GB" dirty="0"/>
              <a:t>One of the reasons as to why NumPy is so important for numerical computations is because it is designed for efficiency with large arrays of data. The reasons for this include:</a:t>
            </a:r>
          </a:p>
          <a:p>
            <a:pPr marL="0" indent="0">
              <a:buNone/>
            </a:pPr>
            <a:r>
              <a:rPr lang="en-GB" dirty="0"/>
              <a:t>	- It stores data internally in a continuous block of memory, 	independent of other in-built Python objects.</a:t>
            </a:r>
          </a:p>
          <a:p>
            <a:pPr marL="0" indent="0">
              <a:buNone/>
            </a:pPr>
            <a:r>
              <a:rPr lang="en-GB" dirty="0"/>
              <a:t>	- It performs complex computations on entire arrays without the 	need for </a:t>
            </a:r>
            <a:r>
              <a:rPr lang="en-GB" dirty="0" err="1">
                <a:latin typeface="Agency FB" panose="020B0503020202020204" pitchFamily="34" charset="0"/>
              </a:rPr>
              <a:t>for</a:t>
            </a:r>
            <a:r>
              <a:rPr lang="en-GB" dirty="0">
                <a:latin typeface="Agency FB" panose="020B0503020202020204" pitchFamily="34" charset="0"/>
              </a:rPr>
              <a:t> </a:t>
            </a:r>
            <a:r>
              <a:rPr lang="en-GB" dirty="0"/>
              <a:t>loops.</a:t>
            </a:r>
            <a:endParaRPr lang="en-IN" b="0" i="0" dirty="0">
              <a:solidFill>
                <a:srgbClr val="273239"/>
              </a:solidFill>
              <a:effectLst/>
              <a:latin typeface="Nunito" pitchFamily="2" charset="0"/>
            </a:endParaRPr>
          </a:p>
        </p:txBody>
      </p:sp>
    </p:spTree>
    <p:extLst>
      <p:ext uri="{BB962C8B-B14F-4D97-AF65-F5344CB8AC3E}">
        <p14:creationId xmlns:p14="http://schemas.microsoft.com/office/powerpoint/2010/main" val="1176032346"/>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5A392-A7E9-75D7-CB1C-DDB4C6DE0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3EEEA-12CE-E1F2-B480-D93E6ACD3A1D}"/>
              </a:ext>
            </a:extLst>
          </p:cNvPr>
          <p:cNvSpPr>
            <a:spLocks noGrp="1"/>
          </p:cNvSpPr>
          <p:nvPr>
            <p:ph type="title"/>
          </p:nvPr>
        </p:nvSpPr>
        <p:spPr/>
        <p:txBody>
          <a:bodyPr>
            <a:normAutofit/>
          </a:bodyPr>
          <a:lstStyle/>
          <a:p>
            <a:pPr algn="l" fontAlgn="base">
              <a:spcBef>
                <a:spcPts val="1800"/>
              </a:spcBef>
              <a:spcAft>
                <a:spcPts val="1800"/>
              </a:spcAft>
            </a:pPr>
            <a:r>
              <a:rPr lang="en-GB" sz="4000" dirty="0"/>
              <a:t>What you’ll find in NumPy</a:t>
            </a:r>
            <a:endParaRPr lang="en-IN" sz="4000" dirty="0"/>
          </a:p>
        </p:txBody>
      </p:sp>
      <p:sp>
        <p:nvSpPr>
          <p:cNvPr id="8" name="Content Placeholder 2">
            <a:extLst>
              <a:ext uri="{FF2B5EF4-FFF2-40B4-BE49-F238E27FC236}">
                <a16:creationId xmlns:a16="http://schemas.microsoft.com/office/drawing/2014/main" id="{A55D87D8-F0CE-E06C-C69A-F04770E6A59F}"/>
              </a:ext>
            </a:extLst>
          </p:cNvPr>
          <p:cNvSpPr txBox="1">
            <a:spLocks/>
          </p:cNvSpPr>
          <p:nvPr/>
        </p:nvSpPr>
        <p:spPr>
          <a:xfrm>
            <a:off x="1371601" y="1782145"/>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err="1"/>
              <a:t>ndarray</a:t>
            </a:r>
            <a:r>
              <a:rPr lang="en-GB" dirty="0"/>
              <a:t>: an efficient multidimensional array providing fast array-orientated arithmetic operations and flexible </a:t>
            </a:r>
            <a:r>
              <a:rPr lang="en-GB" i="1" dirty="0"/>
              <a:t>broadcasting</a:t>
            </a:r>
            <a:r>
              <a:rPr lang="en-GB" dirty="0"/>
              <a:t> capabilities.</a:t>
            </a:r>
          </a:p>
          <a:p>
            <a:r>
              <a:rPr lang="en-GB" dirty="0"/>
              <a:t>Mathematical functions for fast operations on entire arrays of data without having to write loops.</a:t>
            </a:r>
          </a:p>
          <a:p>
            <a:r>
              <a:rPr lang="en-GB" dirty="0"/>
              <a:t>Tools for reading/writing array data to disk and working with memory-mapped files.</a:t>
            </a:r>
          </a:p>
          <a:p>
            <a:r>
              <a:rPr lang="en-GB" dirty="0"/>
              <a:t>Linear algebra, random number generation, and Fourier transform capabilities.</a:t>
            </a:r>
          </a:p>
          <a:p>
            <a:r>
              <a:rPr lang="en-GB" dirty="0"/>
              <a:t>A C API for connecting NumPy with libraries written in C, C++, and FORTRAN. This is why Python is the language of choice for wrapping legacy codebases.</a:t>
            </a:r>
          </a:p>
        </p:txBody>
      </p:sp>
    </p:spTree>
    <p:extLst>
      <p:ext uri="{BB962C8B-B14F-4D97-AF65-F5344CB8AC3E}">
        <p14:creationId xmlns:p14="http://schemas.microsoft.com/office/powerpoint/2010/main" val="1372497314"/>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D078E-548C-C607-C1E0-28D38FA3B1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FF157-66C7-76BF-43C6-91514CC9FE6E}"/>
              </a:ext>
            </a:extLst>
          </p:cNvPr>
          <p:cNvSpPr>
            <a:spLocks noGrp="1"/>
          </p:cNvSpPr>
          <p:nvPr>
            <p:ph type="title"/>
          </p:nvPr>
        </p:nvSpPr>
        <p:spPr/>
        <p:txBody>
          <a:bodyPr>
            <a:normAutofit/>
          </a:bodyPr>
          <a:lstStyle/>
          <a:p>
            <a:pPr algn="l" fontAlgn="base">
              <a:spcBef>
                <a:spcPts val="1800"/>
              </a:spcBef>
              <a:spcAft>
                <a:spcPts val="1800"/>
              </a:spcAft>
            </a:pPr>
            <a:r>
              <a:rPr lang="en-GB" sz="4000" dirty="0"/>
              <a:t>The NumPy </a:t>
            </a:r>
            <a:r>
              <a:rPr lang="en-GB" sz="4000" dirty="0" err="1"/>
              <a:t>ndarray</a:t>
            </a:r>
            <a:r>
              <a:rPr lang="en-GB" sz="4000" dirty="0"/>
              <a:t>: A multi-dimensional array object</a:t>
            </a:r>
            <a:endParaRPr lang="en-IN" sz="4000" dirty="0"/>
          </a:p>
        </p:txBody>
      </p:sp>
      <p:sp>
        <p:nvSpPr>
          <p:cNvPr id="8" name="Content Placeholder 2">
            <a:extLst>
              <a:ext uri="{FF2B5EF4-FFF2-40B4-BE49-F238E27FC236}">
                <a16:creationId xmlns:a16="http://schemas.microsoft.com/office/drawing/2014/main" id="{AE1B0410-C430-B0C2-CA92-B7006D9B48C0}"/>
              </a:ext>
            </a:extLst>
          </p:cNvPr>
          <p:cNvSpPr txBox="1">
            <a:spLocks/>
          </p:cNvSpPr>
          <p:nvPr/>
        </p:nvSpPr>
        <p:spPr>
          <a:xfrm>
            <a:off x="1371600" y="2439955"/>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The NumPy </a:t>
            </a:r>
            <a:r>
              <a:rPr lang="en-GB" dirty="0" err="1"/>
              <a:t>ndarray</a:t>
            </a:r>
            <a:r>
              <a:rPr lang="en-GB" dirty="0"/>
              <a:t> object is a fast and flexible container for large data sets in Python.</a:t>
            </a:r>
          </a:p>
          <a:p>
            <a:r>
              <a:rPr lang="en-GB" dirty="0"/>
              <a:t>NumPy arrays are a bit like Python lists, but are still a very different beast at the same time.</a:t>
            </a:r>
          </a:p>
          <a:p>
            <a:r>
              <a:rPr lang="en-GB" dirty="0"/>
              <a:t>Arrays enable you to store multiple items of the same data type. It is the facilities around the array object that makes NumPy so convenient for performing math and data manipulations.</a:t>
            </a:r>
          </a:p>
        </p:txBody>
      </p:sp>
    </p:spTree>
    <p:extLst>
      <p:ext uri="{BB962C8B-B14F-4D97-AF65-F5344CB8AC3E}">
        <p14:creationId xmlns:p14="http://schemas.microsoft.com/office/powerpoint/2010/main" val="3196659316"/>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CDA94-C4F9-F830-A021-48F334744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2E5CC7-B25D-C729-DF48-F992AB983909}"/>
              </a:ext>
            </a:extLst>
          </p:cNvPr>
          <p:cNvSpPr>
            <a:spLocks noGrp="1"/>
          </p:cNvSpPr>
          <p:nvPr>
            <p:ph type="title"/>
          </p:nvPr>
        </p:nvSpPr>
        <p:spPr/>
        <p:txBody>
          <a:bodyPr>
            <a:normAutofit/>
          </a:bodyPr>
          <a:lstStyle/>
          <a:p>
            <a:pPr algn="l" fontAlgn="base">
              <a:spcBef>
                <a:spcPts val="1800"/>
              </a:spcBef>
              <a:spcAft>
                <a:spcPts val="1800"/>
              </a:spcAft>
            </a:pPr>
            <a:r>
              <a:rPr lang="en-GB" sz="4000" dirty="0" err="1"/>
              <a:t>Ndarray</a:t>
            </a:r>
            <a:r>
              <a:rPr lang="en-GB" sz="4000" dirty="0"/>
              <a:t> vs. lists</a:t>
            </a:r>
            <a:endParaRPr lang="en-IN" sz="4000" dirty="0"/>
          </a:p>
        </p:txBody>
      </p:sp>
      <p:sp>
        <p:nvSpPr>
          <p:cNvPr id="8" name="Content Placeholder 2">
            <a:extLst>
              <a:ext uri="{FF2B5EF4-FFF2-40B4-BE49-F238E27FC236}">
                <a16:creationId xmlns:a16="http://schemas.microsoft.com/office/drawing/2014/main" id="{3EA30C08-B5AD-E5BF-2238-B0E56C930D3D}"/>
              </a:ext>
            </a:extLst>
          </p:cNvPr>
          <p:cNvSpPr txBox="1">
            <a:spLocks/>
          </p:cNvSpPr>
          <p:nvPr/>
        </p:nvSpPr>
        <p:spPr>
          <a:xfrm>
            <a:off x="1371600" y="2439955"/>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By now, you are familiar with Python lists and how incredibly useful they are.</a:t>
            </a:r>
          </a:p>
          <a:p>
            <a:r>
              <a:rPr lang="en-GB" dirty="0"/>
              <a:t>So, you may be asking yourself:</a:t>
            </a:r>
            <a:br>
              <a:rPr lang="en-GB" dirty="0"/>
            </a:br>
            <a:r>
              <a:rPr lang="en-GB" dirty="0"/>
              <a:t/>
            </a:r>
            <a:br>
              <a:rPr lang="en-GB" dirty="0"/>
            </a:br>
            <a:r>
              <a:rPr lang="en-GB" dirty="0"/>
              <a:t>“</a:t>
            </a:r>
            <a:r>
              <a:rPr lang="en-GB" i="1" dirty="0"/>
              <a:t>I can store numbers and other objects in a Python list and do all sorts of computations and manipulations through list comprehensions, for-loops etc. What do I need a NumPy array for?”</a:t>
            </a:r>
            <a:br>
              <a:rPr lang="en-GB" i="1" dirty="0"/>
            </a:br>
            <a:endParaRPr lang="en-GB" i="1" dirty="0"/>
          </a:p>
          <a:p>
            <a:r>
              <a:rPr lang="en-GB" dirty="0"/>
              <a:t>There are very significant advantages of using NumPy arrays overs lists.</a:t>
            </a:r>
          </a:p>
        </p:txBody>
      </p:sp>
    </p:spTree>
    <p:extLst>
      <p:ext uri="{BB962C8B-B14F-4D97-AF65-F5344CB8AC3E}">
        <p14:creationId xmlns:p14="http://schemas.microsoft.com/office/powerpoint/2010/main" val="2384709141"/>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5A44F-60A9-3088-F88A-5C44C59F5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4BC3A-5990-3F1F-FCE8-6B097CE3AFFB}"/>
              </a:ext>
            </a:extLst>
          </p:cNvPr>
          <p:cNvSpPr>
            <a:spLocks noGrp="1"/>
          </p:cNvSpPr>
          <p:nvPr>
            <p:ph type="title"/>
          </p:nvPr>
        </p:nvSpPr>
        <p:spPr/>
        <p:txBody>
          <a:bodyPr>
            <a:normAutofit/>
          </a:bodyPr>
          <a:lstStyle/>
          <a:p>
            <a:pPr algn="l" fontAlgn="base">
              <a:spcBef>
                <a:spcPts val="1800"/>
              </a:spcBef>
              <a:spcAft>
                <a:spcPts val="1800"/>
              </a:spcAft>
            </a:pPr>
            <a:r>
              <a:rPr lang="en-GB" sz="4000" dirty="0"/>
              <a:t>Creating a NumPy array</a:t>
            </a:r>
            <a:endParaRPr lang="en-IN" sz="4000" dirty="0"/>
          </a:p>
        </p:txBody>
      </p:sp>
      <p:sp>
        <p:nvSpPr>
          <p:cNvPr id="8" name="Content Placeholder 2">
            <a:extLst>
              <a:ext uri="{FF2B5EF4-FFF2-40B4-BE49-F238E27FC236}">
                <a16:creationId xmlns:a16="http://schemas.microsoft.com/office/drawing/2014/main" id="{C6071A48-F0EF-A007-03FB-2053F3F1FEAB}"/>
              </a:ext>
            </a:extLst>
          </p:cNvPr>
          <p:cNvSpPr txBox="1">
            <a:spLocks/>
          </p:cNvSpPr>
          <p:nvPr/>
        </p:nvSpPr>
        <p:spPr>
          <a:xfrm>
            <a:off x="1371601" y="1702836"/>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To understand these advantages, lets create an array.</a:t>
            </a:r>
          </a:p>
          <a:p>
            <a:r>
              <a:rPr lang="en-GB" dirty="0"/>
              <a:t>One of the most common, of the many, ways to create a NumPy array is to create one from a list by passing it to the </a:t>
            </a:r>
            <a:r>
              <a:rPr lang="en-GB" dirty="0" err="1">
                <a:latin typeface="Agency FB" panose="020B0503020202020204" pitchFamily="34" charset="0"/>
              </a:rPr>
              <a:t>np.array</a:t>
            </a:r>
            <a:r>
              <a:rPr lang="en-GB" dirty="0">
                <a:latin typeface="Agency FB" panose="020B0503020202020204" pitchFamily="34" charset="0"/>
              </a:rPr>
              <a:t>() </a:t>
            </a:r>
            <a:r>
              <a:rPr lang="en-GB" dirty="0"/>
              <a:t>function.</a:t>
            </a:r>
          </a:p>
        </p:txBody>
      </p:sp>
      <p:pic>
        <p:nvPicPr>
          <p:cNvPr id="3" name="Picture 2">
            <a:extLst>
              <a:ext uri="{FF2B5EF4-FFF2-40B4-BE49-F238E27FC236}">
                <a16:creationId xmlns:a16="http://schemas.microsoft.com/office/drawing/2014/main" id="{DB1D4FB7-92B3-4B16-F08E-F2CE70AAF57B}"/>
              </a:ext>
            </a:extLst>
          </p:cNvPr>
          <p:cNvPicPr>
            <a:picLocks noChangeAspect="1"/>
          </p:cNvPicPr>
          <p:nvPr/>
        </p:nvPicPr>
        <p:blipFill>
          <a:blip r:embed="rId2"/>
          <a:stretch>
            <a:fillRect/>
          </a:stretch>
        </p:blipFill>
        <p:spPr>
          <a:xfrm>
            <a:off x="7359203" y="3552427"/>
            <a:ext cx="3412766" cy="1256348"/>
          </a:xfrm>
          <a:prstGeom prst="rect">
            <a:avLst/>
          </a:prstGeom>
        </p:spPr>
      </p:pic>
      <p:sp>
        <p:nvSpPr>
          <p:cNvPr id="4" name="TextBox 5">
            <a:extLst>
              <a:ext uri="{FF2B5EF4-FFF2-40B4-BE49-F238E27FC236}">
                <a16:creationId xmlns:a16="http://schemas.microsoft.com/office/drawing/2014/main" id="{6B3580B7-9A01-0077-8503-D7F1807DAE33}"/>
              </a:ext>
            </a:extLst>
          </p:cNvPr>
          <p:cNvSpPr txBox="1"/>
          <p:nvPr/>
        </p:nvSpPr>
        <p:spPr>
          <a:xfrm>
            <a:off x="1371600" y="3438331"/>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5" name="TextBox 6">
            <a:extLst>
              <a:ext uri="{FF2B5EF4-FFF2-40B4-BE49-F238E27FC236}">
                <a16:creationId xmlns:a16="http://schemas.microsoft.com/office/drawing/2014/main" id="{F344AC13-5266-E6E1-7BC3-00E923E14F0F}"/>
              </a:ext>
            </a:extLst>
          </p:cNvPr>
          <p:cNvSpPr txBox="1"/>
          <p:nvPr/>
        </p:nvSpPr>
        <p:spPr>
          <a:xfrm>
            <a:off x="6629400" y="3483305"/>
            <a:ext cx="72980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pic>
        <p:nvPicPr>
          <p:cNvPr id="6" name="Picture 5">
            <a:extLst>
              <a:ext uri="{FF2B5EF4-FFF2-40B4-BE49-F238E27FC236}">
                <a16:creationId xmlns:a16="http://schemas.microsoft.com/office/drawing/2014/main" id="{0657A2F5-6842-AF98-DAB8-DFF565B34B3D}"/>
              </a:ext>
            </a:extLst>
          </p:cNvPr>
          <p:cNvPicPr>
            <a:picLocks noChangeAspect="1"/>
          </p:cNvPicPr>
          <p:nvPr/>
        </p:nvPicPr>
        <p:blipFill>
          <a:blip r:embed="rId3"/>
          <a:stretch>
            <a:fillRect/>
          </a:stretch>
        </p:blipFill>
        <p:spPr>
          <a:xfrm>
            <a:off x="1795461" y="3552426"/>
            <a:ext cx="3473205" cy="1878947"/>
          </a:xfrm>
          <a:prstGeom prst="rect">
            <a:avLst/>
          </a:prstGeom>
        </p:spPr>
      </p:pic>
    </p:spTree>
    <p:extLst>
      <p:ext uri="{BB962C8B-B14F-4D97-AF65-F5344CB8AC3E}">
        <p14:creationId xmlns:p14="http://schemas.microsoft.com/office/powerpoint/2010/main" val="1539503569"/>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08B6-CF9F-28DF-02A8-E9A6BF788D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5387689-1963-A302-C504-6F1AE7121F3E}"/>
              </a:ext>
            </a:extLst>
          </p:cNvPr>
          <p:cNvSpPr>
            <a:spLocks noGrp="1"/>
          </p:cNvSpPr>
          <p:nvPr/>
        </p:nvSpPr>
        <p:spPr>
          <a:xfrm>
            <a:off x="825816" y="66262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Inspecting a </a:t>
            </a:r>
            <a:r>
              <a:rPr lang="en-GB" dirty="0" err="1"/>
              <a:t>NumPy</a:t>
            </a:r>
            <a:r>
              <a:rPr lang="en-GB" dirty="0"/>
              <a:t> array</a:t>
            </a:r>
          </a:p>
        </p:txBody>
      </p:sp>
      <p:sp>
        <p:nvSpPr>
          <p:cNvPr id="6" name="Content Placeholder 2">
            <a:extLst>
              <a:ext uri="{FF2B5EF4-FFF2-40B4-BE49-F238E27FC236}">
                <a16:creationId xmlns:a16="http://schemas.microsoft.com/office/drawing/2014/main" id="{425C09C0-A50B-D046-319C-A3840DD7F24E}"/>
              </a:ext>
            </a:extLst>
          </p:cNvPr>
          <p:cNvSpPr>
            <a:spLocks noGrp="1"/>
          </p:cNvSpPr>
          <p:nvPr/>
        </p:nvSpPr>
        <p:spPr>
          <a:xfrm>
            <a:off x="825816" y="2123122"/>
            <a:ext cx="10515600" cy="8947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There are a range of functions built into </a:t>
            </a:r>
            <a:r>
              <a:rPr lang="en-GB" dirty="0" err="1"/>
              <a:t>NumPy</a:t>
            </a:r>
            <a:r>
              <a:rPr lang="en-GB" dirty="0"/>
              <a:t> that allow you to inspect different aspects of an array:</a:t>
            </a:r>
          </a:p>
        </p:txBody>
      </p:sp>
      <p:pic>
        <p:nvPicPr>
          <p:cNvPr id="10" name="Picture 9">
            <a:extLst>
              <a:ext uri="{FF2B5EF4-FFF2-40B4-BE49-F238E27FC236}">
                <a16:creationId xmlns:a16="http://schemas.microsoft.com/office/drawing/2014/main" id="{51387387-0D32-32B7-3068-B0040979A6E3}"/>
              </a:ext>
            </a:extLst>
          </p:cNvPr>
          <p:cNvPicPr>
            <a:picLocks noChangeAspect="1"/>
          </p:cNvPicPr>
          <p:nvPr/>
        </p:nvPicPr>
        <p:blipFill>
          <a:blip r:embed="rId2"/>
          <a:stretch>
            <a:fillRect/>
          </a:stretch>
        </p:blipFill>
        <p:spPr>
          <a:xfrm>
            <a:off x="825817" y="3475989"/>
            <a:ext cx="6999468" cy="2719388"/>
          </a:xfrm>
          <a:prstGeom prst="rect">
            <a:avLst/>
          </a:prstGeom>
        </p:spPr>
      </p:pic>
      <p:pic>
        <p:nvPicPr>
          <p:cNvPr id="11" name="Picture 10">
            <a:extLst>
              <a:ext uri="{FF2B5EF4-FFF2-40B4-BE49-F238E27FC236}">
                <a16:creationId xmlns:a16="http://schemas.microsoft.com/office/drawing/2014/main" id="{DB2B7621-A2B2-BF79-E9E8-A505F3C9FCCE}"/>
              </a:ext>
            </a:extLst>
          </p:cNvPr>
          <p:cNvPicPr>
            <a:picLocks noChangeAspect="1"/>
          </p:cNvPicPr>
          <p:nvPr/>
        </p:nvPicPr>
        <p:blipFill>
          <a:blip r:embed="rId3"/>
          <a:stretch>
            <a:fillRect/>
          </a:stretch>
        </p:blipFill>
        <p:spPr>
          <a:xfrm>
            <a:off x="8131811" y="4316571"/>
            <a:ext cx="3799971" cy="1832610"/>
          </a:xfrm>
          <a:prstGeom prst="rect">
            <a:avLst/>
          </a:prstGeom>
        </p:spPr>
      </p:pic>
      <p:sp>
        <p:nvSpPr>
          <p:cNvPr id="12" name="TextBox 5">
            <a:extLst>
              <a:ext uri="{FF2B5EF4-FFF2-40B4-BE49-F238E27FC236}">
                <a16:creationId xmlns:a16="http://schemas.microsoft.com/office/drawing/2014/main" id="{9257FABD-E028-CA10-0540-23E8765DBE05}"/>
              </a:ext>
            </a:extLst>
          </p:cNvPr>
          <p:cNvSpPr txBox="1"/>
          <p:nvPr/>
        </p:nvSpPr>
        <p:spPr>
          <a:xfrm>
            <a:off x="260219" y="3515995"/>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3" name="TextBox 6">
            <a:extLst>
              <a:ext uri="{FF2B5EF4-FFF2-40B4-BE49-F238E27FC236}">
                <a16:creationId xmlns:a16="http://schemas.microsoft.com/office/drawing/2014/main" id="{1DEDDF41-D508-D63C-024B-41872659702F}"/>
              </a:ext>
            </a:extLst>
          </p:cNvPr>
          <p:cNvSpPr txBox="1"/>
          <p:nvPr/>
        </p:nvSpPr>
        <p:spPr>
          <a:xfrm>
            <a:off x="7766910" y="3793351"/>
            <a:ext cx="72980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3412748692"/>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DC6C2-5340-359D-34F0-99622F787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2FB95-D4DB-FF01-547A-92B42AE49829}"/>
              </a:ext>
            </a:extLst>
          </p:cNvPr>
          <p:cNvSpPr>
            <a:spLocks noGrp="1"/>
          </p:cNvSpPr>
          <p:nvPr>
            <p:ph type="title"/>
          </p:nvPr>
        </p:nvSpPr>
        <p:spPr/>
        <p:txBody>
          <a:bodyPr>
            <a:normAutofit/>
          </a:bodyPr>
          <a:lstStyle/>
          <a:p>
            <a:pPr algn="l" fontAlgn="base">
              <a:spcBef>
                <a:spcPts val="1800"/>
              </a:spcBef>
              <a:spcAft>
                <a:spcPts val="1800"/>
              </a:spcAft>
            </a:pPr>
            <a:r>
              <a:rPr lang="en-GB" sz="4000" dirty="0"/>
              <a:t>Differences between lists and </a:t>
            </a:r>
            <a:r>
              <a:rPr lang="en-GB" sz="4000" dirty="0" err="1"/>
              <a:t>ndarrays</a:t>
            </a:r>
            <a:endParaRPr lang="en-IN" sz="4000" dirty="0"/>
          </a:p>
        </p:txBody>
      </p:sp>
      <p:sp>
        <p:nvSpPr>
          <p:cNvPr id="8" name="Content Placeholder 2">
            <a:extLst>
              <a:ext uri="{FF2B5EF4-FFF2-40B4-BE49-F238E27FC236}">
                <a16:creationId xmlns:a16="http://schemas.microsoft.com/office/drawing/2014/main" id="{108616AD-575D-06DF-1841-9AA79BD4D56F}"/>
              </a:ext>
            </a:extLst>
          </p:cNvPr>
          <p:cNvSpPr txBox="1">
            <a:spLocks/>
          </p:cNvSpPr>
          <p:nvPr/>
        </p:nvSpPr>
        <p:spPr>
          <a:xfrm>
            <a:off x="1371601" y="1702836"/>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The key difference between an array and a list is that arrays are designed to handle vectorised operations while a python lists are not.</a:t>
            </a:r>
          </a:p>
          <a:p>
            <a:r>
              <a:rPr lang="en-GB" dirty="0"/>
              <a:t>That means, if you apply a function, it is performed on every item in the array, rather than on the whole array object.</a:t>
            </a:r>
          </a:p>
        </p:txBody>
      </p:sp>
    </p:spTree>
    <p:extLst>
      <p:ext uri="{BB962C8B-B14F-4D97-AF65-F5344CB8AC3E}">
        <p14:creationId xmlns:p14="http://schemas.microsoft.com/office/powerpoint/2010/main" val="1988796704"/>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9755D-B2A1-0E15-C34A-9BC5EA0CF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9CEC1-6E45-DD1D-8FAA-E60BDACE3F7B}"/>
              </a:ext>
            </a:extLst>
          </p:cNvPr>
          <p:cNvSpPr>
            <a:spLocks noGrp="1"/>
          </p:cNvSpPr>
          <p:nvPr>
            <p:ph type="title"/>
          </p:nvPr>
        </p:nvSpPr>
        <p:spPr/>
        <p:txBody>
          <a:bodyPr>
            <a:normAutofit/>
          </a:bodyPr>
          <a:lstStyle/>
          <a:p>
            <a:pPr algn="l" fontAlgn="base">
              <a:spcBef>
                <a:spcPts val="1800"/>
              </a:spcBef>
              <a:spcAft>
                <a:spcPts val="1800"/>
              </a:spcAft>
            </a:pPr>
            <a:r>
              <a:rPr lang="en-GB" sz="4000" dirty="0"/>
              <a:t>Pandas</a:t>
            </a:r>
            <a:endParaRPr lang="en-IN" sz="4000" dirty="0"/>
          </a:p>
        </p:txBody>
      </p:sp>
      <p:sp>
        <p:nvSpPr>
          <p:cNvPr id="8" name="Content Placeholder 2">
            <a:extLst>
              <a:ext uri="{FF2B5EF4-FFF2-40B4-BE49-F238E27FC236}">
                <a16:creationId xmlns:a16="http://schemas.microsoft.com/office/drawing/2014/main" id="{6E7D6E26-762D-B90E-E372-081B9BB655EB}"/>
              </a:ext>
            </a:extLst>
          </p:cNvPr>
          <p:cNvSpPr txBox="1">
            <a:spLocks/>
          </p:cNvSpPr>
          <p:nvPr/>
        </p:nvSpPr>
        <p:spPr>
          <a:xfrm>
            <a:off x="1295400" y="1786812"/>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Pandas, like NumPy, is one of the most popular Python libraries for data analysis.</a:t>
            </a:r>
          </a:p>
          <a:p>
            <a:r>
              <a:rPr lang="en-GB" dirty="0"/>
              <a:t>It is a high-level abstraction over low-level NumPy, which is written in pure C.</a:t>
            </a:r>
          </a:p>
          <a:p>
            <a:r>
              <a:rPr lang="en-GB" dirty="0"/>
              <a:t>Pandas provides high-performance, easy-to-use data structures and data analysis tools.</a:t>
            </a:r>
          </a:p>
          <a:p>
            <a:r>
              <a:rPr lang="en-GB" dirty="0"/>
              <a:t>There are two main structures used by pandas; </a:t>
            </a:r>
            <a:r>
              <a:rPr lang="en-GB" i="1" dirty="0"/>
              <a:t>data frames </a:t>
            </a:r>
            <a:r>
              <a:rPr lang="en-GB" dirty="0"/>
              <a:t>and </a:t>
            </a:r>
            <a:r>
              <a:rPr lang="en-GB" i="1" dirty="0"/>
              <a:t>series</a:t>
            </a:r>
            <a:r>
              <a:rPr lang="en-GB" dirty="0"/>
              <a:t>.</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21944322"/>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694CE-C8CA-B623-7A2C-D5B46BB7F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87D1B-788A-1240-D8B1-38B041E62A2D}"/>
              </a:ext>
            </a:extLst>
          </p:cNvPr>
          <p:cNvSpPr>
            <a:spLocks noGrp="1"/>
          </p:cNvSpPr>
          <p:nvPr>
            <p:ph type="title"/>
          </p:nvPr>
        </p:nvSpPr>
        <p:spPr/>
        <p:txBody>
          <a:bodyPr>
            <a:normAutofit/>
          </a:bodyPr>
          <a:lstStyle/>
          <a:p>
            <a:pPr algn="l" fontAlgn="base">
              <a:spcBef>
                <a:spcPts val="1800"/>
              </a:spcBef>
              <a:spcAft>
                <a:spcPts val="1800"/>
              </a:spcAft>
            </a:pPr>
            <a:r>
              <a:rPr lang="en-GB" sz="4000" dirty="0"/>
              <a:t>Indices in a pandas series</a:t>
            </a:r>
            <a:endParaRPr lang="en-IN" sz="4000" dirty="0"/>
          </a:p>
        </p:txBody>
      </p:sp>
      <p:sp>
        <p:nvSpPr>
          <p:cNvPr id="8" name="Content Placeholder 2">
            <a:extLst>
              <a:ext uri="{FF2B5EF4-FFF2-40B4-BE49-F238E27FC236}">
                <a16:creationId xmlns:a16="http://schemas.microsoft.com/office/drawing/2014/main" id="{D4876D4B-489F-AC0B-E883-91772AA0DB84}"/>
              </a:ext>
            </a:extLst>
          </p:cNvPr>
          <p:cNvSpPr txBox="1">
            <a:spLocks/>
          </p:cNvSpPr>
          <p:nvPr/>
        </p:nvSpPr>
        <p:spPr>
          <a:xfrm>
            <a:off x="1295400" y="1786812"/>
            <a:ext cx="9601199" cy="3732245"/>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en-GB" dirty="0"/>
              <a:t>A pandas series is similar to a list, but differs in the fact that a series associates a label with each element. This makes it look like a dictionary.</a:t>
            </a:r>
          </a:p>
          <a:p>
            <a:r>
              <a:rPr lang="en-GB" dirty="0"/>
              <a:t>If an index is not explicitly provided by the user, pandas creates a </a:t>
            </a:r>
            <a:r>
              <a:rPr lang="en-GB" dirty="0" err="1">
                <a:latin typeface="Agency FB" panose="020B0503020202020204" pitchFamily="34" charset="0"/>
              </a:rPr>
              <a:t>RangeIndex</a:t>
            </a:r>
            <a:r>
              <a:rPr lang="en-GB" dirty="0">
                <a:latin typeface="Agency FB" panose="020B0503020202020204" pitchFamily="34" charset="0"/>
              </a:rPr>
              <a:t> </a:t>
            </a:r>
            <a:r>
              <a:rPr lang="en-GB" dirty="0"/>
              <a:t>ranging from 0 to </a:t>
            </a:r>
            <a:r>
              <a:rPr lang="en-GB" i="1" dirty="0"/>
              <a:t>N</a:t>
            </a:r>
            <a:r>
              <a:rPr lang="en-GB" dirty="0"/>
              <a:t>-1.</a:t>
            </a:r>
          </a:p>
          <a:p>
            <a:r>
              <a:rPr lang="en-GB" dirty="0"/>
              <a:t>Each series object also has a data type.</a:t>
            </a:r>
          </a:p>
          <a:p>
            <a:pPr marL="0" indent="0">
              <a:buNone/>
            </a:pPr>
            <a:endParaRPr lang="en-GB" dirty="0"/>
          </a:p>
        </p:txBody>
      </p:sp>
      <p:pic>
        <p:nvPicPr>
          <p:cNvPr id="7" name="Picture 6">
            <a:extLst>
              <a:ext uri="{FF2B5EF4-FFF2-40B4-BE49-F238E27FC236}">
                <a16:creationId xmlns:a16="http://schemas.microsoft.com/office/drawing/2014/main" id="{B2F10D2F-4E66-B369-BC13-438DAE033F81}"/>
              </a:ext>
            </a:extLst>
          </p:cNvPr>
          <p:cNvPicPr>
            <a:picLocks noChangeAspect="1"/>
          </p:cNvPicPr>
          <p:nvPr/>
        </p:nvPicPr>
        <p:blipFill>
          <a:blip r:embed="rId2"/>
          <a:stretch>
            <a:fillRect/>
          </a:stretch>
        </p:blipFill>
        <p:spPr>
          <a:xfrm>
            <a:off x="1691640" y="4020432"/>
            <a:ext cx="5992910" cy="1002030"/>
          </a:xfrm>
          <a:prstGeom prst="rect">
            <a:avLst/>
          </a:prstGeom>
        </p:spPr>
      </p:pic>
      <p:pic>
        <p:nvPicPr>
          <p:cNvPr id="9" name="Picture 8">
            <a:extLst>
              <a:ext uri="{FF2B5EF4-FFF2-40B4-BE49-F238E27FC236}">
                <a16:creationId xmlns:a16="http://schemas.microsoft.com/office/drawing/2014/main" id="{7FDED0B4-ACE6-1A53-93A1-2EE8321EDB3A}"/>
              </a:ext>
            </a:extLst>
          </p:cNvPr>
          <p:cNvPicPr>
            <a:picLocks noChangeAspect="1"/>
          </p:cNvPicPr>
          <p:nvPr/>
        </p:nvPicPr>
        <p:blipFill>
          <a:blip r:embed="rId3"/>
          <a:stretch>
            <a:fillRect/>
          </a:stretch>
        </p:blipFill>
        <p:spPr>
          <a:xfrm>
            <a:off x="9106852" y="4191405"/>
            <a:ext cx="1548757" cy="1722597"/>
          </a:xfrm>
          <a:prstGeom prst="rect">
            <a:avLst/>
          </a:prstGeom>
        </p:spPr>
      </p:pic>
      <p:sp>
        <p:nvSpPr>
          <p:cNvPr id="10" name="TextBox 5">
            <a:extLst>
              <a:ext uri="{FF2B5EF4-FFF2-40B4-BE49-F238E27FC236}">
                <a16:creationId xmlns:a16="http://schemas.microsoft.com/office/drawing/2014/main" id="{5C2C36FD-D7D8-82F6-CF69-2F17170A2B47}"/>
              </a:ext>
            </a:extLst>
          </p:cNvPr>
          <p:cNvSpPr txBox="1"/>
          <p:nvPr/>
        </p:nvSpPr>
        <p:spPr>
          <a:xfrm>
            <a:off x="1295400" y="3929795"/>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1" name="TextBox 6">
            <a:extLst>
              <a:ext uri="{FF2B5EF4-FFF2-40B4-BE49-F238E27FC236}">
                <a16:creationId xmlns:a16="http://schemas.microsoft.com/office/drawing/2014/main" id="{0F6B29B0-AC6F-5D13-3787-7EBE9604362F}"/>
              </a:ext>
            </a:extLst>
          </p:cNvPr>
          <p:cNvSpPr txBox="1"/>
          <p:nvPr/>
        </p:nvSpPr>
        <p:spPr>
          <a:xfrm>
            <a:off x="8348176" y="4020432"/>
            <a:ext cx="595957"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2805300919"/>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F24B5-D66F-7AA5-2660-21F3E1E66D5C}"/>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38EE81A-ADBF-6D03-DCE6-C07DDC6C9E60}"/>
              </a:ext>
            </a:extLst>
          </p:cNvPr>
          <p:cNvSpPr>
            <a:spLocks noGrp="1"/>
          </p:cNvSpPr>
          <p:nvPr/>
        </p:nvSpPr>
        <p:spPr>
          <a:xfrm>
            <a:off x="848415" y="699758"/>
            <a:ext cx="10515600" cy="1260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As you may suspect by this point, a series has ways to extract all of the values in the series, as well as individual elements by index.</a:t>
            </a:r>
          </a:p>
        </p:txBody>
      </p:sp>
      <p:pic>
        <p:nvPicPr>
          <p:cNvPr id="6" name="Picture 5">
            <a:extLst>
              <a:ext uri="{FF2B5EF4-FFF2-40B4-BE49-F238E27FC236}">
                <a16:creationId xmlns:a16="http://schemas.microsoft.com/office/drawing/2014/main" id="{2493CF41-E850-9EFF-89E9-1DC2978F0C18}"/>
              </a:ext>
            </a:extLst>
          </p:cNvPr>
          <p:cNvPicPr>
            <a:picLocks noChangeAspect="1"/>
          </p:cNvPicPr>
          <p:nvPr/>
        </p:nvPicPr>
        <p:blipFill>
          <a:blip r:embed="rId2"/>
          <a:stretch>
            <a:fillRect/>
          </a:stretch>
        </p:blipFill>
        <p:spPr>
          <a:xfrm>
            <a:off x="1360672" y="2050870"/>
            <a:ext cx="5992710" cy="1542098"/>
          </a:xfrm>
          <a:prstGeom prst="rect">
            <a:avLst/>
          </a:prstGeom>
        </p:spPr>
      </p:pic>
      <p:pic>
        <p:nvPicPr>
          <p:cNvPr id="12" name="Picture 11">
            <a:extLst>
              <a:ext uri="{FF2B5EF4-FFF2-40B4-BE49-F238E27FC236}">
                <a16:creationId xmlns:a16="http://schemas.microsoft.com/office/drawing/2014/main" id="{985F8174-14AA-7E21-D654-206D1BD0B3F7}"/>
              </a:ext>
            </a:extLst>
          </p:cNvPr>
          <p:cNvPicPr>
            <a:picLocks noChangeAspect="1"/>
          </p:cNvPicPr>
          <p:nvPr/>
        </p:nvPicPr>
        <p:blipFill>
          <a:blip r:embed="rId3"/>
          <a:stretch>
            <a:fillRect/>
          </a:stretch>
        </p:blipFill>
        <p:spPr>
          <a:xfrm>
            <a:off x="8664630" y="2226784"/>
            <a:ext cx="2820353" cy="960120"/>
          </a:xfrm>
          <a:prstGeom prst="rect">
            <a:avLst/>
          </a:prstGeom>
        </p:spPr>
      </p:pic>
      <p:sp>
        <p:nvSpPr>
          <p:cNvPr id="13" name="TextBox 5">
            <a:extLst>
              <a:ext uri="{FF2B5EF4-FFF2-40B4-BE49-F238E27FC236}">
                <a16:creationId xmlns:a16="http://schemas.microsoft.com/office/drawing/2014/main" id="{87F7D17A-1478-7CF8-00ED-1BB5E5107524}"/>
              </a:ext>
            </a:extLst>
          </p:cNvPr>
          <p:cNvSpPr txBox="1"/>
          <p:nvPr/>
        </p:nvSpPr>
        <p:spPr>
          <a:xfrm>
            <a:off x="848415" y="1960233"/>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4" name="TextBox 6">
            <a:extLst>
              <a:ext uri="{FF2B5EF4-FFF2-40B4-BE49-F238E27FC236}">
                <a16:creationId xmlns:a16="http://schemas.microsoft.com/office/drawing/2014/main" id="{BDE93743-95CC-7012-DF0C-953F2FC2698D}"/>
              </a:ext>
            </a:extLst>
          </p:cNvPr>
          <p:cNvSpPr txBox="1"/>
          <p:nvPr/>
        </p:nvSpPr>
        <p:spPr>
          <a:xfrm>
            <a:off x="7901191" y="2050870"/>
            <a:ext cx="595957"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
        <p:nvSpPr>
          <p:cNvPr id="15" name="Content Placeholder 2">
            <a:extLst>
              <a:ext uri="{FF2B5EF4-FFF2-40B4-BE49-F238E27FC236}">
                <a16:creationId xmlns:a16="http://schemas.microsoft.com/office/drawing/2014/main" id="{5D1F3EF4-9F6E-E7DF-EC18-3ECDB3335009}"/>
              </a:ext>
            </a:extLst>
          </p:cNvPr>
          <p:cNvSpPr txBox="1">
            <a:spLocks/>
          </p:cNvSpPr>
          <p:nvPr/>
        </p:nvSpPr>
        <p:spPr>
          <a:xfrm>
            <a:off x="848415" y="3804740"/>
            <a:ext cx="10515600" cy="624374"/>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can also provide an index manually.</a:t>
            </a:r>
          </a:p>
        </p:txBody>
      </p:sp>
      <p:pic>
        <p:nvPicPr>
          <p:cNvPr id="16" name="Picture 15">
            <a:extLst>
              <a:ext uri="{FF2B5EF4-FFF2-40B4-BE49-F238E27FC236}">
                <a16:creationId xmlns:a16="http://schemas.microsoft.com/office/drawing/2014/main" id="{BA44B2BD-097A-5BD8-2D67-0330DDC44F0C}"/>
              </a:ext>
            </a:extLst>
          </p:cNvPr>
          <p:cNvPicPr>
            <a:picLocks noChangeAspect="1"/>
          </p:cNvPicPr>
          <p:nvPr/>
        </p:nvPicPr>
        <p:blipFill>
          <a:blip r:embed="rId4"/>
          <a:stretch>
            <a:fillRect/>
          </a:stretch>
        </p:blipFill>
        <p:spPr>
          <a:xfrm>
            <a:off x="989814" y="4326264"/>
            <a:ext cx="10250270" cy="1424137"/>
          </a:xfrm>
          <a:prstGeom prst="rect">
            <a:avLst/>
          </a:prstGeom>
        </p:spPr>
      </p:pic>
      <p:pic>
        <p:nvPicPr>
          <p:cNvPr id="17" name="Picture 16">
            <a:extLst>
              <a:ext uri="{FF2B5EF4-FFF2-40B4-BE49-F238E27FC236}">
                <a16:creationId xmlns:a16="http://schemas.microsoft.com/office/drawing/2014/main" id="{ECE06597-3401-0071-F2AE-BCB87755ED02}"/>
              </a:ext>
            </a:extLst>
          </p:cNvPr>
          <p:cNvPicPr>
            <a:picLocks noChangeAspect="1"/>
          </p:cNvPicPr>
          <p:nvPr/>
        </p:nvPicPr>
        <p:blipFill>
          <a:blip r:embed="rId5"/>
          <a:stretch>
            <a:fillRect/>
          </a:stretch>
        </p:blipFill>
        <p:spPr>
          <a:xfrm>
            <a:off x="8689719" y="5228877"/>
            <a:ext cx="2674296" cy="929365"/>
          </a:xfrm>
          <a:prstGeom prst="rect">
            <a:avLst/>
          </a:prstGeom>
        </p:spPr>
      </p:pic>
      <p:sp>
        <p:nvSpPr>
          <p:cNvPr id="18" name="TextBox 11">
            <a:extLst>
              <a:ext uri="{FF2B5EF4-FFF2-40B4-BE49-F238E27FC236}">
                <a16:creationId xmlns:a16="http://schemas.microsoft.com/office/drawing/2014/main" id="{EBA14D07-496A-B964-0FE8-DDCE25513505}"/>
              </a:ext>
            </a:extLst>
          </p:cNvPr>
          <p:cNvSpPr txBox="1"/>
          <p:nvPr/>
        </p:nvSpPr>
        <p:spPr>
          <a:xfrm>
            <a:off x="707016" y="4227709"/>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9" name="TextBox 12">
            <a:extLst>
              <a:ext uri="{FF2B5EF4-FFF2-40B4-BE49-F238E27FC236}">
                <a16:creationId xmlns:a16="http://schemas.microsoft.com/office/drawing/2014/main" id="{A7D54C00-B096-9707-75C0-260DC794E4A6}"/>
              </a:ext>
            </a:extLst>
          </p:cNvPr>
          <p:cNvSpPr txBox="1"/>
          <p:nvPr/>
        </p:nvSpPr>
        <p:spPr>
          <a:xfrm>
            <a:off x="7901191" y="5106064"/>
            <a:ext cx="702030"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388484192"/>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7F88E-18F1-A921-1C5C-21A49406E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4D4D2-760A-B980-1F55-F10EC84A6991}"/>
              </a:ext>
            </a:extLst>
          </p:cNvPr>
          <p:cNvSpPr>
            <a:spLocks noGrp="1"/>
          </p:cNvSpPr>
          <p:nvPr/>
        </p:nvSpPr>
        <p:spPr>
          <a:xfrm>
            <a:off x="720090" y="5213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Filtering and maths operations</a:t>
            </a:r>
          </a:p>
        </p:txBody>
      </p:sp>
      <p:sp>
        <p:nvSpPr>
          <p:cNvPr id="3" name="Content Placeholder 2">
            <a:extLst>
              <a:ext uri="{FF2B5EF4-FFF2-40B4-BE49-F238E27FC236}">
                <a16:creationId xmlns:a16="http://schemas.microsoft.com/office/drawing/2014/main" id="{8D83D0E8-D679-8114-5533-E20CE7A2BD06}"/>
              </a:ext>
            </a:extLst>
          </p:cNvPr>
          <p:cNvSpPr>
            <a:spLocks noGrp="1"/>
          </p:cNvSpPr>
          <p:nvPr/>
        </p:nvSpPr>
        <p:spPr>
          <a:xfrm>
            <a:off x="720090" y="1981834"/>
            <a:ext cx="10515600" cy="688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Filtering and maths operations are easy with </a:t>
            </a:r>
            <a:r>
              <a:rPr lang="en-GB" dirty="0">
                <a:latin typeface="Agency FB" panose="020B0503020202020204" pitchFamily="34" charset="0"/>
              </a:rPr>
              <a:t>Pandas</a:t>
            </a:r>
            <a:r>
              <a:rPr lang="en-GB" dirty="0"/>
              <a:t> as well.</a:t>
            </a:r>
          </a:p>
        </p:txBody>
      </p:sp>
      <p:pic>
        <p:nvPicPr>
          <p:cNvPr id="4" name="Picture 3">
            <a:extLst>
              <a:ext uri="{FF2B5EF4-FFF2-40B4-BE49-F238E27FC236}">
                <a16:creationId xmlns:a16="http://schemas.microsoft.com/office/drawing/2014/main" id="{E8A927E4-4393-57B5-D7DA-EC06E6442A9B}"/>
              </a:ext>
            </a:extLst>
          </p:cNvPr>
          <p:cNvPicPr>
            <a:picLocks noChangeAspect="1"/>
          </p:cNvPicPr>
          <p:nvPr/>
        </p:nvPicPr>
        <p:blipFill>
          <a:blip r:embed="rId2"/>
          <a:stretch>
            <a:fillRect/>
          </a:stretch>
        </p:blipFill>
        <p:spPr>
          <a:xfrm>
            <a:off x="1083205" y="2805746"/>
            <a:ext cx="7847250" cy="1533843"/>
          </a:xfrm>
          <a:prstGeom prst="rect">
            <a:avLst/>
          </a:prstGeom>
        </p:spPr>
      </p:pic>
      <p:pic>
        <p:nvPicPr>
          <p:cNvPr id="7" name="Picture 6">
            <a:extLst>
              <a:ext uri="{FF2B5EF4-FFF2-40B4-BE49-F238E27FC236}">
                <a16:creationId xmlns:a16="http://schemas.microsoft.com/office/drawing/2014/main" id="{757B0022-644C-3ABF-2B3C-5404E45820F5}"/>
              </a:ext>
            </a:extLst>
          </p:cNvPr>
          <p:cNvPicPr>
            <a:picLocks noChangeAspect="1"/>
          </p:cNvPicPr>
          <p:nvPr/>
        </p:nvPicPr>
        <p:blipFill>
          <a:blip r:embed="rId3"/>
          <a:stretch>
            <a:fillRect/>
          </a:stretch>
        </p:blipFill>
        <p:spPr>
          <a:xfrm>
            <a:off x="9866947" y="2805746"/>
            <a:ext cx="1604963" cy="3530919"/>
          </a:xfrm>
          <a:prstGeom prst="rect">
            <a:avLst/>
          </a:prstGeom>
        </p:spPr>
      </p:pic>
      <p:sp>
        <p:nvSpPr>
          <p:cNvPr id="8" name="TextBox 5">
            <a:extLst>
              <a:ext uri="{FF2B5EF4-FFF2-40B4-BE49-F238E27FC236}">
                <a16:creationId xmlns:a16="http://schemas.microsoft.com/office/drawing/2014/main" id="{838ED950-F448-A7C3-A32C-321F2CCCE05C}"/>
              </a:ext>
            </a:extLst>
          </p:cNvPr>
          <p:cNvSpPr txBox="1"/>
          <p:nvPr/>
        </p:nvSpPr>
        <p:spPr>
          <a:xfrm>
            <a:off x="720090" y="2670809"/>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9" name="TextBox 6">
            <a:extLst>
              <a:ext uri="{FF2B5EF4-FFF2-40B4-BE49-F238E27FC236}">
                <a16:creationId xmlns:a16="http://schemas.microsoft.com/office/drawing/2014/main" id="{C42038FC-7A7D-31EE-A62B-AE4BC22D0B74}"/>
              </a:ext>
            </a:extLst>
          </p:cNvPr>
          <p:cNvSpPr txBox="1"/>
          <p:nvPr/>
        </p:nvSpPr>
        <p:spPr>
          <a:xfrm>
            <a:off x="9270990" y="2675551"/>
            <a:ext cx="595957"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1168986155"/>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22CDF-980A-E0D4-D961-5335A8C37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C565C-A024-9BA1-87FB-1E8E7E461222}"/>
              </a:ext>
            </a:extLst>
          </p:cNvPr>
          <p:cNvSpPr>
            <a:spLocks noGrp="1"/>
          </p:cNvSpPr>
          <p:nvPr/>
        </p:nvSpPr>
        <p:spPr>
          <a:xfrm>
            <a:off x="720090" y="5213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Pandas data frame</a:t>
            </a:r>
          </a:p>
        </p:txBody>
      </p:sp>
      <p:sp>
        <p:nvSpPr>
          <p:cNvPr id="5" name="Content Placeholder 2">
            <a:extLst>
              <a:ext uri="{FF2B5EF4-FFF2-40B4-BE49-F238E27FC236}">
                <a16:creationId xmlns:a16="http://schemas.microsoft.com/office/drawing/2014/main" id="{869A1F99-AA9E-C351-9DAC-438608DE560D}"/>
              </a:ext>
            </a:extLst>
          </p:cNvPr>
          <p:cNvSpPr>
            <a:spLocks noGrp="1"/>
          </p:cNvSpPr>
          <p:nvPr/>
        </p:nvSpPr>
        <p:spPr>
          <a:xfrm>
            <a:off x="838200" y="1862026"/>
            <a:ext cx="10515600" cy="20148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Simplistically, a data frame is a table, with rows and columns.</a:t>
            </a:r>
          </a:p>
          <a:p>
            <a:r>
              <a:rPr lang="en-GB" dirty="0"/>
              <a:t>Each column in a data frame is a series object.</a:t>
            </a:r>
          </a:p>
          <a:p>
            <a:r>
              <a:rPr lang="en-GB" dirty="0"/>
              <a:t>Rows consist of elements inside series.</a:t>
            </a:r>
          </a:p>
        </p:txBody>
      </p:sp>
      <p:pic>
        <p:nvPicPr>
          <p:cNvPr id="6" name="table">
            <a:extLst>
              <a:ext uri="{FF2B5EF4-FFF2-40B4-BE49-F238E27FC236}">
                <a16:creationId xmlns:a16="http://schemas.microsoft.com/office/drawing/2014/main" id="{009EA661-353F-9D74-C49B-BFEA6477D456}"/>
              </a:ext>
            </a:extLst>
          </p:cNvPr>
          <p:cNvPicPr>
            <a:picLocks noChangeAspect="1"/>
          </p:cNvPicPr>
          <p:nvPr/>
        </p:nvPicPr>
        <p:blipFill>
          <a:blip r:embed="rId2"/>
          <a:stretch>
            <a:fillRect/>
          </a:stretch>
        </p:blipFill>
        <p:spPr>
          <a:xfrm>
            <a:off x="1376162" y="4150142"/>
            <a:ext cx="8128000" cy="1483360"/>
          </a:xfrm>
          <a:prstGeom prst="rect">
            <a:avLst/>
          </a:prstGeom>
        </p:spPr>
      </p:pic>
    </p:spTree>
    <p:extLst>
      <p:ext uri="{BB962C8B-B14F-4D97-AF65-F5344CB8AC3E}">
        <p14:creationId xmlns:p14="http://schemas.microsoft.com/office/powerpoint/2010/main" val="92767711"/>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9B7FE-A190-1847-39DA-E47CFDC3D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0BE3E-B213-27D8-612E-90C94A20AD98}"/>
              </a:ext>
            </a:extLst>
          </p:cNvPr>
          <p:cNvSpPr>
            <a:spLocks noGrp="1"/>
          </p:cNvSpPr>
          <p:nvPr/>
        </p:nvSpPr>
        <p:spPr>
          <a:xfrm>
            <a:off x="720090" y="5213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Creating a Pandas data frame</a:t>
            </a:r>
          </a:p>
        </p:txBody>
      </p:sp>
      <p:sp>
        <p:nvSpPr>
          <p:cNvPr id="3" name="Content Placeholder 2">
            <a:extLst>
              <a:ext uri="{FF2B5EF4-FFF2-40B4-BE49-F238E27FC236}">
                <a16:creationId xmlns:a16="http://schemas.microsoft.com/office/drawing/2014/main" id="{123E3ABF-AF06-F639-F81C-97B9E261F675}"/>
              </a:ext>
            </a:extLst>
          </p:cNvPr>
          <p:cNvSpPr>
            <a:spLocks noGrp="1"/>
          </p:cNvSpPr>
          <p:nvPr/>
        </p:nvSpPr>
        <p:spPr>
          <a:xfrm>
            <a:off x="838200" y="1884681"/>
            <a:ext cx="10515600" cy="5289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gency FB" panose="020B0503020202020204" pitchFamily="34" charset="0"/>
              </a:rPr>
              <a:t>Pandas</a:t>
            </a:r>
            <a:r>
              <a:rPr lang="en-GB" dirty="0"/>
              <a:t> data frames can be constructed using Python dictionaries.</a:t>
            </a:r>
          </a:p>
        </p:txBody>
      </p:sp>
      <p:pic>
        <p:nvPicPr>
          <p:cNvPr id="4" name="Picture 3">
            <a:extLst>
              <a:ext uri="{FF2B5EF4-FFF2-40B4-BE49-F238E27FC236}">
                <a16:creationId xmlns:a16="http://schemas.microsoft.com/office/drawing/2014/main" id="{9C4DEE71-9E90-11F4-5184-B6E7B26AA664}"/>
              </a:ext>
            </a:extLst>
          </p:cNvPr>
          <p:cNvPicPr>
            <a:picLocks noChangeAspect="1"/>
          </p:cNvPicPr>
          <p:nvPr/>
        </p:nvPicPr>
        <p:blipFill>
          <a:blip r:embed="rId2"/>
          <a:stretch>
            <a:fillRect/>
          </a:stretch>
        </p:blipFill>
        <p:spPr>
          <a:xfrm>
            <a:off x="1787842" y="2548573"/>
            <a:ext cx="8077354" cy="1876743"/>
          </a:xfrm>
          <a:prstGeom prst="rect">
            <a:avLst/>
          </a:prstGeom>
        </p:spPr>
      </p:pic>
      <p:pic>
        <p:nvPicPr>
          <p:cNvPr id="7" name="Picture 6">
            <a:extLst>
              <a:ext uri="{FF2B5EF4-FFF2-40B4-BE49-F238E27FC236}">
                <a16:creationId xmlns:a16="http://schemas.microsoft.com/office/drawing/2014/main" id="{5B3AD8B6-B968-9DC0-AA89-F6C9F070C973}"/>
              </a:ext>
            </a:extLst>
          </p:cNvPr>
          <p:cNvPicPr>
            <a:picLocks noChangeAspect="1"/>
          </p:cNvPicPr>
          <p:nvPr/>
        </p:nvPicPr>
        <p:blipFill>
          <a:blip r:embed="rId3"/>
          <a:stretch>
            <a:fillRect/>
          </a:stretch>
        </p:blipFill>
        <p:spPr>
          <a:xfrm>
            <a:off x="1787842" y="4560253"/>
            <a:ext cx="5287441" cy="1776413"/>
          </a:xfrm>
          <a:prstGeom prst="rect">
            <a:avLst/>
          </a:prstGeom>
        </p:spPr>
      </p:pic>
      <p:sp>
        <p:nvSpPr>
          <p:cNvPr id="8" name="TextBox 7">
            <a:extLst>
              <a:ext uri="{FF2B5EF4-FFF2-40B4-BE49-F238E27FC236}">
                <a16:creationId xmlns:a16="http://schemas.microsoft.com/office/drawing/2014/main" id="{85FF2E76-AE38-1F9F-3E00-11ADB6A28883}"/>
              </a:ext>
            </a:extLst>
          </p:cNvPr>
          <p:cNvSpPr txBox="1"/>
          <p:nvPr/>
        </p:nvSpPr>
        <p:spPr>
          <a:xfrm>
            <a:off x="1222245" y="2413636"/>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9" name="TextBox 8">
            <a:extLst>
              <a:ext uri="{FF2B5EF4-FFF2-40B4-BE49-F238E27FC236}">
                <a16:creationId xmlns:a16="http://schemas.microsoft.com/office/drawing/2014/main" id="{DD397993-7FD8-02A1-BCE0-9FC5780707DC}"/>
              </a:ext>
            </a:extLst>
          </p:cNvPr>
          <p:cNvSpPr txBox="1"/>
          <p:nvPr/>
        </p:nvSpPr>
        <p:spPr>
          <a:xfrm>
            <a:off x="1051209" y="4560253"/>
            <a:ext cx="73663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4181064292"/>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3976E-DB0F-5DFA-4F4C-AD953BC2AD7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2FAE987-D913-0154-6251-AB9DB888AD9A}"/>
              </a:ext>
            </a:extLst>
          </p:cNvPr>
          <p:cNvSpPr>
            <a:spLocks noGrp="1"/>
          </p:cNvSpPr>
          <p:nvPr/>
        </p:nvSpPr>
        <p:spPr>
          <a:xfrm>
            <a:off x="838200" y="632212"/>
            <a:ext cx="10515600" cy="183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 </a:t>
            </a:r>
            <a:r>
              <a:rPr lang="en-GB" dirty="0">
                <a:latin typeface="Agency FB" panose="020B0503020202020204" pitchFamily="34" charset="0"/>
              </a:rPr>
              <a:t>Pandas</a:t>
            </a:r>
            <a:r>
              <a:rPr lang="en-GB" dirty="0"/>
              <a:t> data frame object as two indices; a column index and row index.</a:t>
            </a:r>
          </a:p>
          <a:p>
            <a:r>
              <a:rPr lang="en-GB" dirty="0"/>
              <a:t>Again, if you do not provide one, </a:t>
            </a:r>
            <a:r>
              <a:rPr lang="en-GB" dirty="0">
                <a:latin typeface="Agency FB" panose="020B0503020202020204" pitchFamily="34" charset="0"/>
              </a:rPr>
              <a:t>Pandas</a:t>
            </a:r>
            <a:r>
              <a:rPr lang="en-GB" dirty="0"/>
              <a:t> will create a </a:t>
            </a:r>
            <a:r>
              <a:rPr lang="en-GB" dirty="0" err="1">
                <a:latin typeface="Agency FB" panose="020B0503020202020204" pitchFamily="34" charset="0"/>
              </a:rPr>
              <a:t>RangeIndex</a:t>
            </a:r>
            <a:r>
              <a:rPr lang="en-GB" dirty="0">
                <a:latin typeface="Agency FB" panose="020B0503020202020204" pitchFamily="34" charset="0"/>
              </a:rPr>
              <a:t> </a:t>
            </a:r>
            <a:r>
              <a:rPr lang="en-GB" dirty="0"/>
              <a:t>from 0 to </a:t>
            </a:r>
            <a:r>
              <a:rPr lang="en-GB" i="1" dirty="0"/>
              <a:t>N</a:t>
            </a:r>
            <a:r>
              <a:rPr lang="en-GB" dirty="0"/>
              <a:t>-1.</a:t>
            </a:r>
          </a:p>
        </p:txBody>
      </p:sp>
      <p:pic>
        <p:nvPicPr>
          <p:cNvPr id="3" name="Picture 2">
            <a:extLst>
              <a:ext uri="{FF2B5EF4-FFF2-40B4-BE49-F238E27FC236}">
                <a16:creationId xmlns:a16="http://schemas.microsoft.com/office/drawing/2014/main" id="{58A3F29C-01C2-85AF-D7F1-131A530B3921}"/>
              </a:ext>
            </a:extLst>
          </p:cNvPr>
          <p:cNvPicPr>
            <a:picLocks noChangeAspect="1"/>
          </p:cNvPicPr>
          <p:nvPr/>
        </p:nvPicPr>
        <p:blipFill>
          <a:blip r:embed="rId2"/>
          <a:stretch>
            <a:fillRect/>
          </a:stretch>
        </p:blipFill>
        <p:spPr>
          <a:xfrm>
            <a:off x="1544002" y="2571522"/>
            <a:ext cx="8556554" cy="2373630"/>
          </a:xfrm>
          <a:prstGeom prst="rect">
            <a:avLst/>
          </a:prstGeom>
        </p:spPr>
      </p:pic>
      <p:pic>
        <p:nvPicPr>
          <p:cNvPr id="4" name="Picture 3">
            <a:extLst>
              <a:ext uri="{FF2B5EF4-FFF2-40B4-BE49-F238E27FC236}">
                <a16:creationId xmlns:a16="http://schemas.microsoft.com/office/drawing/2014/main" id="{B13F176C-2A9F-6331-559C-64DFA137400C}"/>
              </a:ext>
            </a:extLst>
          </p:cNvPr>
          <p:cNvPicPr>
            <a:picLocks noChangeAspect="1"/>
          </p:cNvPicPr>
          <p:nvPr/>
        </p:nvPicPr>
        <p:blipFill>
          <a:blip r:embed="rId3"/>
          <a:stretch>
            <a:fillRect/>
          </a:stretch>
        </p:blipFill>
        <p:spPr>
          <a:xfrm>
            <a:off x="1544002" y="5302815"/>
            <a:ext cx="8634925" cy="922973"/>
          </a:xfrm>
          <a:prstGeom prst="rect">
            <a:avLst/>
          </a:prstGeom>
        </p:spPr>
      </p:pic>
      <p:sp>
        <p:nvSpPr>
          <p:cNvPr id="7" name="TextBox 5">
            <a:extLst>
              <a:ext uri="{FF2B5EF4-FFF2-40B4-BE49-F238E27FC236}">
                <a16:creationId xmlns:a16="http://schemas.microsoft.com/office/drawing/2014/main" id="{9B90BEEB-E260-9DA8-3616-EACD54092A4F}"/>
              </a:ext>
            </a:extLst>
          </p:cNvPr>
          <p:cNvSpPr txBox="1"/>
          <p:nvPr/>
        </p:nvSpPr>
        <p:spPr>
          <a:xfrm>
            <a:off x="1009236" y="2432457"/>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8" name="TextBox 6">
            <a:extLst>
              <a:ext uri="{FF2B5EF4-FFF2-40B4-BE49-F238E27FC236}">
                <a16:creationId xmlns:a16="http://schemas.microsoft.com/office/drawing/2014/main" id="{231CC064-66B1-D937-1925-91DC1D52C3D0}"/>
              </a:ext>
            </a:extLst>
          </p:cNvPr>
          <p:cNvSpPr txBox="1"/>
          <p:nvPr/>
        </p:nvSpPr>
        <p:spPr>
          <a:xfrm>
            <a:off x="1009236" y="5069652"/>
            <a:ext cx="73663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802711648"/>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601EB-D0EC-380B-4E0C-108AD00E47F9}"/>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5C0106B-493F-1BA3-A919-768B674E124C}"/>
              </a:ext>
            </a:extLst>
          </p:cNvPr>
          <p:cNvSpPr>
            <a:spLocks noGrp="1"/>
          </p:cNvSpPr>
          <p:nvPr/>
        </p:nvSpPr>
        <p:spPr>
          <a:xfrm>
            <a:off x="746760" y="371540"/>
            <a:ext cx="10515600" cy="122437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There are numerous ways to provide row indices explicitly.</a:t>
            </a:r>
          </a:p>
          <a:p>
            <a:r>
              <a:rPr lang="en-GB" dirty="0"/>
              <a:t>For example, you could provide an index when creating a data frame:</a:t>
            </a:r>
          </a:p>
        </p:txBody>
      </p:sp>
      <p:pic>
        <p:nvPicPr>
          <p:cNvPr id="6" name="Picture 5">
            <a:extLst>
              <a:ext uri="{FF2B5EF4-FFF2-40B4-BE49-F238E27FC236}">
                <a16:creationId xmlns:a16="http://schemas.microsoft.com/office/drawing/2014/main" id="{52F0DAAB-1AB5-1C03-D93A-A9CB77AB1A6E}"/>
              </a:ext>
            </a:extLst>
          </p:cNvPr>
          <p:cNvPicPr>
            <a:picLocks noChangeAspect="1"/>
          </p:cNvPicPr>
          <p:nvPr/>
        </p:nvPicPr>
        <p:blipFill>
          <a:blip r:embed="rId2"/>
          <a:stretch>
            <a:fillRect/>
          </a:stretch>
        </p:blipFill>
        <p:spPr>
          <a:xfrm>
            <a:off x="1248298" y="1766329"/>
            <a:ext cx="6118418" cy="1567415"/>
          </a:xfrm>
          <a:prstGeom prst="rect">
            <a:avLst/>
          </a:prstGeom>
        </p:spPr>
      </p:pic>
      <p:pic>
        <p:nvPicPr>
          <p:cNvPr id="9" name="Picture 8">
            <a:extLst>
              <a:ext uri="{FF2B5EF4-FFF2-40B4-BE49-F238E27FC236}">
                <a16:creationId xmlns:a16="http://schemas.microsoft.com/office/drawing/2014/main" id="{D04843A1-6214-971A-BB31-E0774D021823}"/>
              </a:ext>
            </a:extLst>
          </p:cNvPr>
          <p:cNvPicPr>
            <a:picLocks noChangeAspect="1"/>
          </p:cNvPicPr>
          <p:nvPr/>
        </p:nvPicPr>
        <p:blipFill>
          <a:blip r:embed="rId3"/>
          <a:stretch>
            <a:fillRect/>
          </a:stretch>
        </p:blipFill>
        <p:spPr>
          <a:xfrm>
            <a:off x="7983319" y="1831731"/>
            <a:ext cx="3489314" cy="1050836"/>
          </a:xfrm>
          <a:prstGeom prst="rect">
            <a:avLst/>
          </a:prstGeom>
        </p:spPr>
      </p:pic>
      <p:sp>
        <p:nvSpPr>
          <p:cNvPr id="10" name="TextBox 7">
            <a:extLst>
              <a:ext uri="{FF2B5EF4-FFF2-40B4-BE49-F238E27FC236}">
                <a16:creationId xmlns:a16="http://schemas.microsoft.com/office/drawing/2014/main" id="{73C60633-7832-8EBA-709C-0CC277D60574}"/>
              </a:ext>
            </a:extLst>
          </p:cNvPr>
          <p:cNvSpPr txBox="1"/>
          <p:nvPr/>
        </p:nvSpPr>
        <p:spPr>
          <a:xfrm>
            <a:off x="746760" y="1595911"/>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1" name="TextBox 8">
            <a:extLst>
              <a:ext uri="{FF2B5EF4-FFF2-40B4-BE49-F238E27FC236}">
                <a16:creationId xmlns:a16="http://schemas.microsoft.com/office/drawing/2014/main" id="{862FFA20-C366-73B8-5847-E31DFF002842}"/>
              </a:ext>
            </a:extLst>
          </p:cNvPr>
          <p:cNvSpPr txBox="1"/>
          <p:nvPr/>
        </p:nvSpPr>
        <p:spPr>
          <a:xfrm>
            <a:off x="7246686" y="1595911"/>
            <a:ext cx="73663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pic>
        <p:nvPicPr>
          <p:cNvPr id="12" name="Picture 11">
            <a:extLst>
              <a:ext uri="{FF2B5EF4-FFF2-40B4-BE49-F238E27FC236}">
                <a16:creationId xmlns:a16="http://schemas.microsoft.com/office/drawing/2014/main" id="{E3AE4517-2148-ED7F-9F87-145C8691FABF}"/>
              </a:ext>
            </a:extLst>
          </p:cNvPr>
          <p:cNvPicPr>
            <a:picLocks noChangeAspect="1"/>
          </p:cNvPicPr>
          <p:nvPr/>
        </p:nvPicPr>
        <p:blipFill>
          <a:blip r:embed="rId4"/>
          <a:stretch>
            <a:fillRect/>
          </a:stretch>
        </p:blipFill>
        <p:spPr>
          <a:xfrm>
            <a:off x="1248298" y="4549590"/>
            <a:ext cx="4896154" cy="1830544"/>
          </a:xfrm>
          <a:prstGeom prst="rect">
            <a:avLst/>
          </a:prstGeom>
        </p:spPr>
      </p:pic>
      <p:sp>
        <p:nvSpPr>
          <p:cNvPr id="13" name="TextBox 10">
            <a:extLst>
              <a:ext uri="{FF2B5EF4-FFF2-40B4-BE49-F238E27FC236}">
                <a16:creationId xmlns:a16="http://schemas.microsoft.com/office/drawing/2014/main" id="{A46EDDE2-30F6-251B-ED89-815B69B17D42}"/>
              </a:ext>
            </a:extLst>
          </p:cNvPr>
          <p:cNvSpPr txBox="1"/>
          <p:nvPr/>
        </p:nvSpPr>
        <p:spPr>
          <a:xfrm>
            <a:off x="746760" y="3291371"/>
            <a:ext cx="7277516" cy="95410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GB" sz="2800" dirty="0"/>
              <a:t>or do it during runtime.</a:t>
            </a:r>
          </a:p>
          <a:p>
            <a:pPr marL="285750" indent="-285750">
              <a:buFont typeface="Arial" panose="020B0604020202020204" pitchFamily="34" charset="0"/>
              <a:buChar char="•"/>
            </a:pPr>
            <a:r>
              <a:rPr lang="en-GB" sz="2800" dirty="0"/>
              <a:t>Here, I also named the index ‘country code’.</a:t>
            </a:r>
          </a:p>
        </p:txBody>
      </p:sp>
      <p:pic>
        <p:nvPicPr>
          <p:cNvPr id="14" name="Picture 13">
            <a:extLst>
              <a:ext uri="{FF2B5EF4-FFF2-40B4-BE49-F238E27FC236}">
                <a16:creationId xmlns:a16="http://schemas.microsoft.com/office/drawing/2014/main" id="{329B9813-F634-D072-07E3-0A51082DCBEC}"/>
              </a:ext>
            </a:extLst>
          </p:cNvPr>
          <p:cNvPicPr>
            <a:picLocks noChangeAspect="1"/>
          </p:cNvPicPr>
          <p:nvPr/>
        </p:nvPicPr>
        <p:blipFill>
          <a:blip r:embed="rId5"/>
          <a:stretch>
            <a:fillRect/>
          </a:stretch>
        </p:blipFill>
        <p:spPr>
          <a:xfrm>
            <a:off x="7842996" y="3968297"/>
            <a:ext cx="4349004" cy="2411837"/>
          </a:xfrm>
          <a:prstGeom prst="rect">
            <a:avLst/>
          </a:prstGeom>
        </p:spPr>
      </p:pic>
      <p:sp>
        <p:nvSpPr>
          <p:cNvPr id="15" name="TextBox 12">
            <a:extLst>
              <a:ext uri="{FF2B5EF4-FFF2-40B4-BE49-F238E27FC236}">
                <a16:creationId xmlns:a16="http://schemas.microsoft.com/office/drawing/2014/main" id="{1FF680C4-BBCA-0D2F-3B8E-4AE0C5EBB6CD}"/>
              </a:ext>
            </a:extLst>
          </p:cNvPr>
          <p:cNvSpPr txBox="1"/>
          <p:nvPr/>
        </p:nvSpPr>
        <p:spPr>
          <a:xfrm>
            <a:off x="799308" y="4376347"/>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6" name="TextBox 13">
            <a:extLst>
              <a:ext uri="{FF2B5EF4-FFF2-40B4-BE49-F238E27FC236}">
                <a16:creationId xmlns:a16="http://schemas.microsoft.com/office/drawing/2014/main" id="{A39E00B4-5A75-92FE-FA68-3C9A373ED26F}"/>
              </a:ext>
            </a:extLst>
          </p:cNvPr>
          <p:cNvSpPr txBox="1"/>
          <p:nvPr/>
        </p:nvSpPr>
        <p:spPr>
          <a:xfrm>
            <a:off x="7106363" y="4026370"/>
            <a:ext cx="73663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4214503909"/>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DC920-39A1-20CE-FE97-0576A681D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CC8DA-B40D-7471-EC79-3126B37DE663}"/>
              </a:ext>
            </a:extLst>
          </p:cNvPr>
          <p:cNvSpPr>
            <a:spLocks noGrp="1"/>
          </p:cNvSpPr>
          <p:nvPr/>
        </p:nvSpPr>
        <p:spPr>
          <a:xfrm>
            <a:off x="931420" y="29622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Filtering</a:t>
            </a:r>
          </a:p>
        </p:txBody>
      </p:sp>
      <p:sp>
        <p:nvSpPr>
          <p:cNvPr id="3" name="Content Placeholder 2">
            <a:extLst>
              <a:ext uri="{FF2B5EF4-FFF2-40B4-BE49-F238E27FC236}">
                <a16:creationId xmlns:a16="http://schemas.microsoft.com/office/drawing/2014/main" id="{F788AB82-5DE4-E2B8-59F5-4923A88F0766}"/>
              </a:ext>
            </a:extLst>
          </p:cNvPr>
          <p:cNvSpPr>
            <a:spLocks noGrp="1"/>
          </p:cNvSpPr>
          <p:nvPr/>
        </p:nvSpPr>
        <p:spPr>
          <a:xfrm>
            <a:off x="931420" y="1756728"/>
            <a:ext cx="10515600" cy="7346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Filtering is performed using so-called Boolean arrays.</a:t>
            </a:r>
          </a:p>
        </p:txBody>
      </p:sp>
      <p:pic>
        <p:nvPicPr>
          <p:cNvPr id="4" name="Picture 3">
            <a:extLst>
              <a:ext uri="{FF2B5EF4-FFF2-40B4-BE49-F238E27FC236}">
                <a16:creationId xmlns:a16="http://schemas.microsoft.com/office/drawing/2014/main" id="{D242390D-02CC-D818-5E61-3B73D75B8064}"/>
              </a:ext>
            </a:extLst>
          </p:cNvPr>
          <p:cNvPicPr>
            <a:picLocks noChangeAspect="1"/>
          </p:cNvPicPr>
          <p:nvPr/>
        </p:nvPicPr>
        <p:blipFill>
          <a:blip r:embed="rId2"/>
          <a:stretch>
            <a:fillRect/>
          </a:stretch>
        </p:blipFill>
        <p:spPr>
          <a:xfrm>
            <a:off x="1190500" y="2491423"/>
            <a:ext cx="5600700" cy="350044"/>
          </a:xfrm>
          <a:prstGeom prst="rect">
            <a:avLst/>
          </a:prstGeom>
        </p:spPr>
      </p:pic>
      <p:pic>
        <p:nvPicPr>
          <p:cNvPr id="7" name="Picture 6">
            <a:extLst>
              <a:ext uri="{FF2B5EF4-FFF2-40B4-BE49-F238E27FC236}">
                <a16:creationId xmlns:a16="http://schemas.microsoft.com/office/drawing/2014/main" id="{C10F2812-C4C9-F6AA-F7A2-B92A15521061}"/>
              </a:ext>
            </a:extLst>
          </p:cNvPr>
          <p:cNvPicPr>
            <a:picLocks noChangeAspect="1"/>
          </p:cNvPicPr>
          <p:nvPr/>
        </p:nvPicPr>
        <p:blipFill>
          <a:blip r:embed="rId3"/>
          <a:stretch>
            <a:fillRect/>
          </a:stretch>
        </p:blipFill>
        <p:spPr>
          <a:xfrm>
            <a:off x="8063748" y="2124075"/>
            <a:ext cx="4026171" cy="1304925"/>
          </a:xfrm>
          <a:prstGeom prst="rect">
            <a:avLst/>
          </a:prstGeom>
        </p:spPr>
      </p:pic>
    </p:spTree>
    <p:extLst>
      <p:ext uri="{BB962C8B-B14F-4D97-AF65-F5344CB8AC3E}">
        <p14:creationId xmlns:p14="http://schemas.microsoft.com/office/powerpoint/2010/main" val="4280538002"/>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FE7A9-7F57-64AF-0AFB-73F5371243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5EF45A2-8AB0-E090-706B-0D88B99DC9C9}"/>
              </a:ext>
            </a:extLst>
          </p:cNvPr>
          <p:cNvSpPr>
            <a:spLocks noGrp="1"/>
          </p:cNvSpPr>
          <p:nvPr/>
        </p:nvSpPr>
        <p:spPr>
          <a:xfrm>
            <a:off x="1016520" y="62978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Deleting columns</a:t>
            </a:r>
          </a:p>
        </p:txBody>
      </p:sp>
      <p:sp>
        <p:nvSpPr>
          <p:cNvPr id="6" name="Content Placeholder 2">
            <a:extLst>
              <a:ext uri="{FF2B5EF4-FFF2-40B4-BE49-F238E27FC236}">
                <a16:creationId xmlns:a16="http://schemas.microsoft.com/office/drawing/2014/main" id="{C04AB649-8074-C3DB-619B-E09A88725A83}"/>
              </a:ext>
            </a:extLst>
          </p:cNvPr>
          <p:cNvSpPr>
            <a:spLocks noGrp="1"/>
          </p:cNvSpPr>
          <p:nvPr/>
        </p:nvSpPr>
        <p:spPr>
          <a:xfrm>
            <a:off x="1016520" y="2090287"/>
            <a:ext cx="10515600" cy="6203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can delete a column using the </a:t>
            </a:r>
            <a:r>
              <a:rPr lang="en-GB" dirty="0">
                <a:latin typeface="Agency FB" panose="020B0503020202020204" pitchFamily="34" charset="0"/>
              </a:rPr>
              <a:t>drop() </a:t>
            </a:r>
            <a:r>
              <a:rPr lang="en-GB" dirty="0"/>
              <a:t>function.</a:t>
            </a:r>
          </a:p>
        </p:txBody>
      </p:sp>
      <p:pic>
        <p:nvPicPr>
          <p:cNvPr id="8" name="Picture 7">
            <a:extLst>
              <a:ext uri="{FF2B5EF4-FFF2-40B4-BE49-F238E27FC236}">
                <a16:creationId xmlns:a16="http://schemas.microsoft.com/office/drawing/2014/main" id="{DC222FA9-1F2D-E499-A218-04EABE9E28E0}"/>
              </a:ext>
            </a:extLst>
          </p:cNvPr>
          <p:cNvPicPr>
            <a:picLocks noChangeAspect="1"/>
          </p:cNvPicPr>
          <p:nvPr/>
        </p:nvPicPr>
        <p:blipFill>
          <a:blip r:embed="rId2"/>
          <a:stretch>
            <a:fillRect/>
          </a:stretch>
        </p:blipFill>
        <p:spPr>
          <a:xfrm>
            <a:off x="1470862" y="2845619"/>
            <a:ext cx="1199198" cy="266488"/>
          </a:xfrm>
          <a:prstGeom prst="rect">
            <a:avLst/>
          </a:prstGeom>
        </p:spPr>
      </p:pic>
      <p:pic>
        <p:nvPicPr>
          <p:cNvPr id="9" name="Picture 8">
            <a:extLst>
              <a:ext uri="{FF2B5EF4-FFF2-40B4-BE49-F238E27FC236}">
                <a16:creationId xmlns:a16="http://schemas.microsoft.com/office/drawing/2014/main" id="{5FFC2216-61C1-D06B-E3EE-8DE8EC042E20}"/>
              </a:ext>
            </a:extLst>
          </p:cNvPr>
          <p:cNvPicPr>
            <a:picLocks noChangeAspect="1"/>
          </p:cNvPicPr>
          <p:nvPr/>
        </p:nvPicPr>
        <p:blipFill>
          <a:blip r:embed="rId3"/>
          <a:stretch>
            <a:fillRect/>
          </a:stretch>
        </p:blipFill>
        <p:spPr>
          <a:xfrm>
            <a:off x="5769708" y="2710682"/>
            <a:ext cx="5210920" cy="1443990"/>
          </a:xfrm>
          <a:prstGeom prst="rect">
            <a:avLst/>
          </a:prstGeom>
        </p:spPr>
      </p:pic>
      <p:pic>
        <p:nvPicPr>
          <p:cNvPr id="10" name="Picture 9">
            <a:extLst>
              <a:ext uri="{FF2B5EF4-FFF2-40B4-BE49-F238E27FC236}">
                <a16:creationId xmlns:a16="http://schemas.microsoft.com/office/drawing/2014/main" id="{F07BB385-17E6-F54F-EC2C-005BE24FA6A2}"/>
              </a:ext>
            </a:extLst>
          </p:cNvPr>
          <p:cNvPicPr>
            <a:picLocks noChangeAspect="1"/>
          </p:cNvPicPr>
          <p:nvPr/>
        </p:nvPicPr>
        <p:blipFill>
          <a:blip r:embed="rId4"/>
          <a:stretch>
            <a:fillRect/>
          </a:stretch>
        </p:blipFill>
        <p:spPr>
          <a:xfrm>
            <a:off x="1417383" y="4732839"/>
            <a:ext cx="5624561" cy="587375"/>
          </a:xfrm>
          <a:prstGeom prst="rect">
            <a:avLst/>
          </a:prstGeom>
        </p:spPr>
      </p:pic>
      <p:pic>
        <p:nvPicPr>
          <p:cNvPr id="11" name="Picture 10">
            <a:extLst>
              <a:ext uri="{FF2B5EF4-FFF2-40B4-BE49-F238E27FC236}">
                <a16:creationId xmlns:a16="http://schemas.microsoft.com/office/drawing/2014/main" id="{34219DA0-AAA3-56C8-9E4F-7B23F5497965}"/>
              </a:ext>
            </a:extLst>
          </p:cNvPr>
          <p:cNvPicPr>
            <a:picLocks noChangeAspect="1"/>
          </p:cNvPicPr>
          <p:nvPr/>
        </p:nvPicPr>
        <p:blipFill>
          <a:blip r:embed="rId5"/>
          <a:stretch>
            <a:fillRect/>
          </a:stretch>
        </p:blipFill>
        <p:spPr>
          <a:xfrm>
            <a:off x="7607541" y="4493459"/>
            <a:ext cx="4200507" cy="1543368"/>
          </a:xfrm>
          <a:prstGeom prst="rect">
            <a:avLst/>
          </a:prstGeom>
        </p:spPr>
      </p:pic>
      <p:sp>
        <p:nvSpPr>
          <p:cNvPr id="12" name="TextBox 7">
            <a:extLst>
              <a:ext uri="{FF2B5EF4-FFF2-40B4-BE49-F238E27FC236}">
                <a16:creationId xmlns:a16="http://schemas.microsoft.com/office/drawing/2014/main" id="{E8200455-B854-5A3A-E65D-94B94D4FC019}"/>
              </a:ext>
            </a:extLst>
          </p:cNvPr>
          <p:cNvSpPr txBox="1"/>
          <p:nvPr/>
        </p:nvSpPr>
        <p:spPr>
          <a:xfrm>
            <a:off x="905265" y="2738335"/>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3" name="TextBox 8">
            <a:extLst>
              <a:ext uri="{FF2B5EF4-FFF2-40B4-BE49-F238E27FC236}">
                <a16:creationId xmlns:a16="http://schemas.microsoft.com/office/drawing/2014/main" id="{D05C6D0B-6ADE-8B86-75CB-4EB6842BF3A9}"/>
              </a:ext>
            </a:extLst>
          </p:cNvPr>
          <p:cNvSpPr txBox="1"/>
          <p:nvPr/>
        </p:nvSpPr>
        <p:spPr>
          <a:xfrm>
            <a:off x="5033075" y="2759269"/>
            <a:ext cx="73663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
        <p:nvSpPr>
          <p:cNvPr id="14" name="TextBox 9">
            <a:extLst>
              <a:ext uri="{FF2B5EF4-FFF2-40B4-BE49-F238E27FC236}">
                <a16:creationId xmlns:a16="http://schemas.microsoft.com/office/drawing/2014/main" id="{6EDC24C8-6F55-0F2C-146F-E046E9638470}"/>
              </a:ext>
            </a:extLst>
          </p:cNvPr>
          <p:cNvSpPr txBox="1"/>
          <p:nvPr/>
        </p:nvSpPr>
        <p:spPr>
          <a:xfrm>
            <a:off x="851786" y="4564103"/>
            <a:ext cx="565597"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In:</a:t>
            </a:r>
          </a:p>
        </p:txBody>
      </p:sp>
      <p:sp>
        <p:nvSpPr>
          <p:cNvPr id="15" name="TextBox 10">
            <a:extLst>
              <a:ext uri="{FF2B5EF4-FFF2-40B4-BE49-F238E27FC236}">
                <a16:creationId xmlns:a16="http://schemas.microsoft.com/office/drawing/2014/main" id="{3A223F92-8223-520F-C9BD-E44C03F8072C}"/>
              </a:ext>
            </a:extLst>
          </p:cNvPr>
          <p:cNvSpPr txBox="1"/>
          <p:nvPr/>
        </p:nvSpPr>
        <p:spPr>
          <a:xfrm>
            <a:off x="6956426" y="4585235"/>
            <a:ext cx="736633"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800" dirty="0">
                <a:solidFill>
                  <a:schemeClr val="accent5">
                    <a:lumMod val="75000"/>
                  </a:schemeClr>
                </a:solidFill>
                <a:latin typeface="Agency FB" panose="020B0503020202020204" pitchFamily="34" charset="0"/>
              </a:rPr>
              <a:t>Out:</a:t>
            </a:r>
          </a:p>
        </p:txBody>
      </p:sp>
    </p:spTree>
    <p:extLst>
      <p:ext uri="{BB962C8B-B14F-4D97-AF65-F5344CB8AC3E}">
        <p14:creationId xmlns:p14="http://schemas.microsoft.com/office/powerpoint/2010/main" val="3027681875"/>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23900-0FA2-DE79-E884-10067CCB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57F7A-C5AA-361C-C566-F66B932BC554}"/>
              </a:ext>
            </a:extLst>
          </p:cNvPr>
          <p:cNvSpPr>
            <a:spLocks noGrp="1"/>
          </p:cNvSpPr>
          <p:nvPr/>
        </p:nvSpPr>
        <p:spPr>
          <a:xfrm>
            <a:off x="997688" y="45697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Reading from and writing to a file</a:t>
            </a:r>
          </a:p>
        </p:txBody>
      </p:sp>
      <p:sp>
        <p:nvSpPr>
          <p:cNvPr id="3" name="Content Placeholder 2">
            <a:extLst>
              <a:ext uri="{FF2B5EF4-FFF2-40B4-BE49-F238E27FC236}">
                <a16:creationId xmlns:a16="http://schemas.microsoft.com/office/drawing/2014/main" id="{7ECD4FA9-A34C-47BA-8F7A-8CEC461737BB}"/>
              </a:ext>
            </a:extLst>
          </p:cNvPr>
          <p:cNvSpPr>
            <a:spLocks noGrp="1"/>
          </p:cNvSpPr>
          <p:nvPr/>
        </p:nvSpPr>
        <p:spPr>
          <a:xfrm>
            <a:off x="997688" y="1917477"/>
            <a:ext cx="10515600" cy="414083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Agency FB" panose="020B0503020202020204" pitchFamily="34" charset="0"/>
              </a:rPr>
              <a:t>Pandas</a:t>
            </a:r>
            <a:r>
              <a:rPr lang="en-GB" dirty="0"/>
              <a:t> supports many popular file formats including CSV, XML, HTML, Excel, SQL, JSON, etc.</a:t>
            </a:r>
          </a:p>
          <a:p>
            <a:r>
              <a:rPr lang="en-GB" dirty="0"/>
              <a:t>Out of all of these, CSV is the file format that you will work with the most.</a:t>
            </a:r>
          </a:p>
          <a:p>
            <a:r>
              <a:rPr lang="en-GB" dirty="0"/>
              <a:t>You can read in the data from a CSV file using the </a:t>
            </a:r>
            <a:r>
              <a:rPr lang="en-GB" dirty="0" err="1">
                <a:latin typeface="Agency FB" panose="020B0503020202020204" pitchFamily="34" charset="0"/>
              </a:rPr>
              <a:t>read_csv</a:t>
            </a:r>
            <a:r>
              <a:rPr lang="en-GB" dirty="0">
                <a:latin typeface="Agency FB" panose="020B0503020202020204" pitchFamily="34" charset="0"/>
              </a:rPr>
              <a:t>() </a:t>
            </a:r>
            <a:r>
              <a:rPr lang="en-GB" dirty="0"/>
              <a:t>function.</a:t>
            </a:r>
          </a:p>
          <a:p>
            <a:endParaRPr lang="en-GB" dirty="0"/>
          </a:p>
          <a:p>
            <a:endParaRPr lang="en-GB" dirty="0"/>
          </a:p>
          <a:p>
            <a:r>
              <a:rPr lang="en-GB" dirty="0"/>
              <a:t>Similarly, you can write a data frame to a csv file with the </a:t>
            </a:r>
            <a:r>
              <a:rPr lang="en-GB" dirty="0" err="1">
                <a:latin typeface="Agency FB" panose="020B0503020202020204" pitchFamily="34" charset="0"/>
              </a:rPr>
              <a:t>to_csv</a:t>
            </a:r>
            <a:r>
              <a:rPr lang="en-GB" dirty="0">
                <a:latin typeface="Agency FB" panose="020B0503020202020204" pitchFamily="34" charset="0"/>
              </a:rPr>
              <a:t>() </a:t>
            </a:r>
            <a:r>
              <a:rPr lang="en-GB" dirty="0"/>
              <a:t>function.</a:t>
            </a:r>
          </a:p>
          <a:p>
            <a:pPr marL="0" indent="0">
              <a:buNone/>
            </a:pPr>
            <a:endParaRPr lang="en-GB" dirty="0"/>
          </a:p>
        </p:txBody>
      </p:sp>
      <p:pic>
        <p:nvPicPr>
          <p:cNvPr id="4" name="Picture 3">
            <a:extLst>
              <a:ext uri="{FF2B5EF4-FFF2-40B4-BE49-F238E27FC236}">
                <a16:creationId xmlns:a16="http://schemas.microsoft.com/office/drawing/2014/main" id="{445F0B39-E6AB-7882-39CD-819AA9657A93}"/>
              </a:ext>
            </a:extLst>
          </p:cNvPr>
          <p:cNvPicPr>
            <a:picLocks noChangeAspect="1"/>
          </p:cNvPicPr>
          <p:nvPr/>
        </p:nvPicPr>
        <p:blipFill>
          <a:blip r:embed="rId2"/>
          <a:stretch>
            <a:fillRect/>
          </a:stretch>
        </p:blipFill>
        <p:spPr>
          <a:xfrm>
            <a:off x="2358655" y="5800660"/>
            <a:ext cx="5425837" cy="515303"/>
          </a:xfrm>
          <a:prstGeom prst="rect">
            <a:avLst/>
          </a:prstGeom>
        </p:spPr>
      </p:pic>
      <p:pic>
        <p:nvPicPr>
          <p:cNvPr id="7" name="Picture 6">
            <a:extLst>
              <a:ext uri="{FF2B5EF4-FFF2-40B4-BE49-F238E27FC236}">
                <a16:creationId xmlns:a16="http://schemas.microsoft.com/office/drawing/2014/main" id="{6D222FBB-48B3-B4D1-647E-15E8D7561C44}"/>
              </a:ext>
            </a:extLst>
          </p:cNvPr>
          <p:cNvPicPr>
            <a:picLocks noChangeAspect="1"/>
          </p:cNvPicPr>
          <p:nvPr/>
        </p:nvPicPr>
        <p:blipFill>
          <a:blip r:embed="rId3"/>
          <a:stretch>
            <a:fillRect/>
          </a:stretch>
        </p:blipFill>
        <p:spPr>
          <a:xfrm>
            <a:off x="2358655" y="4155372"/>
            <a:ext cx="8719138" cy="492443"/>
          </a:xfrm>
          <a:prstGeom prst="rect">
            <a:avLst/>
          </a:prstGeom>
        </p:spPr>
      </p:pic>
    </p:spTree>
    <p:extLst>
      <p:ext uri="{BB962C8B-B14F-4D97-AF65-F5344CB8AC3E}">
        <p14:creationId xmlns:p14="http://schemas.microsoft.com/office/powerpoint/2010/main" val="3362662519"/>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30B06-A504-8CDA-9204-19FACA3C865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C39D0B4-9BDE-0134-67E0-D6D997956418}"/>
              </a:ext>
            </a:extLst>
          </p:cNvPr>
          <p:cNvSpPr>
            <a:spLocks noGrp="1"/>
          </p:cNvSpPr>
          <p:nvPr/>
        </p:nvSpPr>
        <p:spPr>
          <a:xfrm>
            <a:off x="838200" y="38233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Exploratory data analysis (EDA)</a:t>
            </a:r>
          </a:p>
        </p:txBody>
      </p:sp>
      <p:sp>
        <p:nvSpPr>
          <p:cNvPr id="6" name="Content Placeholder 2">
            <a:extLst>
              <a:ext uri="{FF2B5EF4-FFF2-40B4-BE49-F238E27FC236}">
                <a16:creationId xmlns:a16="http://schemas.microsoft.com/office/drawing/2014/main" id="{103B9A3E-1D23-E7F3-4B5C-13BBC63FE000}"/>
              </a:ext>
            </a:extLst>
          </p:cNvPr>
          <p:cNvSpPr>
            <a:spLocks noGrp="1"/>
          </p:cNvSpPr>
          <p:nvPr/>
        </p:nvSpPr>
        <p:spPr>
          <a:xfrm>
            <a:off x="838200" y="1842830"/>
            <a:ext cx="10515600" cy="4632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Exploring your data is a crucial step in data analysis. It involves:</a:t>
            </a:r>
          </a:p>
          <a:p>
            <a:r>
              <a:rPr lang="en-GB" dirty="0"/>
              <a:t>Organising the data set</a:t>
            </a:r>
          </a:p>
          <a:p>
            <a:r>
              <a:rPr lang="en-GB" dirty="0"/>
              <a:t>Plotting aspects of the data set</a:t>
            </a:r>
          </a:p>
          <a:p>
            <a:r>
              <a:rPr lang="en-GB" dirty="0"/>
              <a:t>Maybe producing some numerical summaries; central tendency and spread, etc.</a:t>
            </a:r>
          </a:p>
          <a:p>
            <a:pPr marL="0" indent="0">
              <a:buNone/>
            </a:pPr>
            <a:endParaRPr lang="en-GB" dirty="0"/>
          </a:p>
          <a:p>
            <a:pPr marL="0" indent="0" algn="ctr">
              <a:buNone/>
            </a:pPr>
            <a:r>
              <a:rPr lang="en-GB" i="1" dirty="0"/>
              <a:t>“Exploratory data analysis can never be the whole story, but nothing else can serve as the foundation stone.”</a:t>
            </a:r>
            <a:br>
              <a:rPr lang="en-GB" i="1" dirty="0"/>
            </a:br>
            <a:r>
              <a:rPr lang="en-GB" i="1" dirty="0"/>
              <a:t>- John Tukey.</a:t>
            </a:r>
          </a:p>
        </p:txBody>
      </p:sp>
    </p:spTree>
    <p:extLst>
      <p:ext uri="{BB962C8B-B14F-4D97-AF65-F5344CB8AC3E}">
        <p14:creationId xmlns:p14="http://schemas.microsoft.com/office/powerpoint/2010/main" val="203575125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D1C4B-F233-053D-D4C8-E68DD1460F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6B435-FC87-C938-0163-DC50B0B8C2A7}"/>
              </a:ext>
            </a:extLst>
          </p:cNvPr>
          <p:cNvSpPr>
            <a:spLocks noGrp="1"/>
          </p:cNvSpPr>
          <p:nvPr/>
        </p:nvSpPr>
        <p:spPr>
          <a:xfrm>
            <a:off x="838200" y="1987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Examine the data set</a:t>
            </a:r>
          </a:p>
        </p:txBody>
      </p:sp>
      <p:pic>
        <p:nvPicPr>
          <p:cNvPr id="3" name="Picture 2">
            <a:extLst>
              <a:ext uri="{FF2B5EF4-FFF2-40B4-BE49-F238E27FC236}">
                <a16:creationId xmlns:a16="http://schemas.microsoft.com/office/drawing/2014/main" id="{170A6935-2D61-7464-6D56-38D1A94A52B6}"/>
              </a:ext>
            </a:extLst>
          </p:cNvPr>
          <p:cNvPicPr>
            <a:picLocks noChangeAspect="1"/>
          </p:cNvPicPr>
          <p:nvPr/>
        </p:nvPicPr>
        <p:blipFill>
          <a:blip r:embed="rId2"/>
          <a:stretch>
            <a:fillRect/>
          </a:stretch>
        </p:blipFill>
        <p:spPr>
          <a:xfrm>
            <a:off x="921616" y="1334365"/>
            <a:ext cx="2662093" cy="310147"/>
          </a:xfrm>
          <a:prstGeom prst="rect">
            <a:avLst/>
          </a:prstGeom>
        </p:spPr>
      </p:pic>
      <p:pic>
        <p:nvPicPr>
          <p:cNvPr id="4" name="Picture 3">
            <a:extLst>
              <a:ext uri="{FF2B5EF4-FFF2-40B4-BE49-F238E27FC236}">
                <a16:creationId xmlns:a16="http://schemas.microsoft.com/office/drawing/2014/main" id="{30DDBEB5-6638-3B95-655E-2C2D3C2E4618}"/>
              </a:ext>
            </a:extLst>
          </p:cNvPr>
          <p:cNvPicPr>
            <a:picLocks noChangeAspect="1"/>
          </p:cNvPicPr>
          <p:nvPr/>
        </p:nvPicPr>
        <p:blipFill>
          <a:blip r:embed="rId3"/>
          <a:stretch>
            <a:fillRect/>
          </a:stretch>
        </p:blipFill>
        <p:spPr>
          <a:xfrm>
            <a:off x="942540" y="1644512"/>
            <a:ext cx="10411260" cy="2133455"/>
          </a:xfrm>
          <a:prstGeom prst="rect">
            <a:avLst/>
          </a:prstGeom>
        </p:spPr>
      </p:pic>
      <p:pic>
        <p:nvPicPr>
          <p:cNvPr id="7" name="Picture 6">
            <a:extLst>
              <a:ext uri="{FF2B5EF4-FFF2-40B4-BE49-F238E27FC236}">
                <a16:creationId xmlns:a16="http://schemas.microsoft.com/office/drawing/2014/main" id="{70E83599-874D-810A-6190-28B4ABB1BB6D}"/>
              </a:ext>
            </a:extLst>
          </p:cNvPr>
          <p:cNvPicPr>
            <a:picLocks noChangeAspect="1"/>
          </p:cNvPicPr>
          <p:nvPr/>
        </p:nvPicPr>
        <p:blipFill>
          <a:blip r:embed="rId4"/>
          <a:stretch>
            <a:fillRect/>
          </a:stretch>
        </p:blipFill>
        <p:spPr>
          <a:xfrm>
            <a:off x="942540" y="3972820"/>
            <a:ext cx="3324940" cy="285737"/>
          </a:xfrm>
          <a:prstGeom prst="rect">
            <a:avLst/>
          </a:prstGeom>
        </p:spPr>
      </p:pic>
      <p:pic>
        <p:nvPicPr>
          <p:cNvPr id="8" name="Picture 7">
            <a:extLst>
              <a:ext uri="{FF2B5EF4-FFF2-40B4-BE49-F238E27FC236}">
                <a16:creationId xmlns:a16="http://schemas.microsoft.com/office/drawing/2014/main" id="{7E854AC4-9F87-B1B6-E96C-4751FEC4BE6A}"/>
              </a:ext>
            </a:extLst>
          </p:cNvPr>
          <p:cNvPicPr>
            <a:picLocks noChangeAspect="1"/>
          </p:cNvPicPr>
          <p:nvPr/>
        </p:nvPicPr>
        <p:blipFill>
          <a:blip r:embed="rId5"/>
          <a:stretch>
            <a:fillRect/>
          </a:stretch>
        </p:blipFill>
        <p:spPr>
          <a:xfrm>
            <a:off x="942540" y="4378630"/>
            <a:ext cx="9730037" cy="2280644"/>
          </a:xfrm>
          <a:prstGeom prst="rect">
            <a:avLst/>
          </a:prstGeom>
        </p:spPr>
      </p:pic>
    </p:spTree>
    <p:extLst>
      <p:ext uri="{BB962C8B-B14F-4D97-AF65-F5344CB8AC3E}">
        <p14:creationId xmlns:p14="http://schemas.microsoft.com/office/powerpoint/2010/main" val="3164404144"/>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E235D-C879-FACF-C977-BB320BABFAE1}"/>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7B02702-19BC-BFD0-2136-9074397F0767}"/>
              </a:ext>
            </a:extLst>
          </p:cNvPr>
          <p:cNvSpPr>
            <a:spLocks noGrp="1"/>
          </p:cNvSpPr>
          <p:nvPr/>
        </p:nvSpPr>
        <p:spPr>
          <a:xfrm>
            <a:off x="914400" y="1116419"/>
            <a:ext cx="5616676" cy="43712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GB" dirty="0"/>
              <a:t>We could spend time staring at these numbers, but that is unlikely to offer us any form of insight.</a:t>
            </a:r>
          </a:p>
          <a:p>
            <a:pPr marL="285750" indent="-285750"/>
            <a:r>
              <a:rPr lang="en-GB" dirty="0"/>
              <a:t>We could begin by conducting all of our statistical tests.</a:t>
            </a:r>
          </a:p>
          <a:p>
            <a:pPr marL="285750" indent="-285750"/>
            <a:r>
              <a:rPr lang="en-GB" dirty="0"/>
              <a:t>However, a good field commander never goes into battle without first doing a recognisance of the terrain…</a:t>
            </a:r>
          </a:p>
          <a:p>
            <a:r>
              <a:rPr lang="en-GB" dirty="0"/>
              <a:t>This is exactly what EDA is for…</a:t>
            </a:r>
          </a:p>
          <a:p>
            <a:pPr marL="0" indent="0">
              <a:buNone/>
            </a:pPr>
            <a:endParaRPr lang="en-GB" dirty="0"/>
          </a:p>
        </p:txBody>
      </p:sp>
      <p:pic>
        <p:nvPicPr>
          <p:cNvPr id="3" name="Picture 2">
            <a:extLst>
              <a:ext uri="{FF2B5EF4-FFF2-40B4-BE49-F238E27FC236}">
                <a16:creationId xmlns:a16="http://schemas.microsoft.com/office/drawing/2014/main" id="{925D6C2C-AC1C-BA2D-FD83-CBC0AE433497}"/>
              </a:ext>
            </a:extLst>
          </p:cNvPr>
          <p:cNvPicPr>
            <a:picLocks noChangeAspect="1"/>
          </p:cNvPicPr>
          <p:nvPr/>
        </p:nvPicPr>
        <p:blipFill>
          <a:blip r:embed="rId2"/>
          <a:stretch>
            <a:fillRect/>
          </a:stretch>
        </p:blipFill>
        <p:spPr>
          <a:xfrm>
            <a:off x="6670873" y="1165343"/>
            <a:ext cx="5521128" cy="4124101"/>
          </a:xfrm>
          <a:prstGeom prst="rect">
            <a:avLst/>
          </a:prstGeom>
        </p:spPr>
      </p:pic>
    </p:spTree>
    <p:extLst>
      <p:ext uri="{BB962C8B-B14F-4D97-AF65-F5344CB8AC3E}">
        <p14:creationId xmlns:p14="http://schemas.microsoft.com/office/powerpoint/2010/main" val="3873153032"/>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DBEB7-B3C8-DAF1-92B5-D23F7A90D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AC59A7-B0C8-861D-179A-DD5F334AA3C1}"/>
              </a:ext>
            </a:extLst>
          </p:cNvPr>
          <p:cNvSpPr>
            <a:spLocks noGrp="1"/>
          </p:cNvSpPr>
          <p:nvPr/>
        </p:nvSpPr>
        <p:spPr>
          <a:xfrm>
            <a:off x="828254" y="3665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Plotting a histogram in Python</a:t>
            </a:r>
          </a:p>
        </p:txBody>
      </p:sp>
      <p:pic>
        <p:nvPicPr>
          <p:cNvPr id="3" name="Picture 2">
            <a:extLst>
              <a:ext uri="{FF2B5EF4-FFF2-40B4-BE49-F238E27FC236}">
                <a16:creationId xmlns:a16="http://schemas.microsoft.com/office/drawing/2014/main" id="{34BA662F-3CA6-0CCA-54EC-FD81E88734A3}"/>
              </a:ext>
            </a:extLst>
          </p:cNvPr>
          <p:cNvPicPr>
            <a:picLocks noChangeAspect="1"/>
          </p:cNvPicPr>
          <p:nvPr/>
        </p:nvPicPr>
        <p:blipFill>
          <a:blip r:embed="rId2"/>
          <a:stretch>
            <a:fillRect/>
          </a:stretch>
        </p:blipFill>
        <p:spPr>
          <a:xfrm>
            <a:off x="6504909" y="2392326"/>
            <a:ext cx="5288850" cy="4099091"/>
          </a:xfrm>
          <a:prstGeom prst="rect">
            <a:avLst/>
          </a:prstGeom>
        </p:spPr>
      </p:pic>
      <p:pic>
        <p:nvPicPr>
          <p:cNvPr id="4" name="Picture 3">
            <a:extLst>
              <a:ext uri="{FF2B5EF4-FFF2-40B4-BE49-F238E27FC236}">
                <a16:creationId xmlns:a16="http://schemas.microsoft.com/office/drawing/2014/main" id="{8CD8FE3F-BC04-0F36-6AFB-936E8D49C53E}"/>
              </a:ext>
            </a:extLst>
          </p:cNvPr>
          <p:cNvPicPr>
            <a:picLocks noChangeAspect="1"/>
          </p:cNvPicPr>
          <p:nvPr/>
        </p:nvPicPr>
        <p:blipFill>
          <a:blip r:embed="rId3"/>
          <a:stretch>
            <a:fillRect/>
          </a:stretch>
        </p:blipFill>
        <p:spPr>
          <a:xfrm>
            <a:off x="847180" y="2615608"/>
            <a:ext cx="5689077" cy="814665"/>
          </a:xfrm>
          <a:prstGeom prst="rect">
            <a:avLst/>
          </a:prstGeom>
        </p:spPr>
      </p:pic>
    </p:spTree>
    <p:extLst>
      <p:ext uri="{BB962C8B-B14F-4D97-AF65-F5344CB8AC3E}">
        <p14:creationId xmlns:p14="http://schemas.microsoft.com/office/powerpoint/2010/main" val="3130423800"/>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E2A4E-D138-7E2A-100D-75EB29B4E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CE1330-1499-9D50-A867-235F1920FADF}"/>
              </a:ext>
            </a:extLst>
          </p:cNvPr>
          <p:cNvSpPr>
            <a:spLocks noGrp="1"/>
          </p:cNvSpPr>
          <p:nvPr/>
        </p:nvSpPr>
        <p:spPr>
          <a:xfrm>
            <a:off x="838200" y="29605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Bins</a:t>
            </a:r>
          </a:p>
        </p:txBody>
      </p:sp>
      <p:sp>
        <p:nvSpPr>
          <p:cNvPr id="3" name="Content Placeholder 2">
            <a:extLst>
              <a:ext uri="{FF2B5EF4-FFF2-40B4-BE49-F238E27FC236}">
                <a16:creationId xmlns:a16="http://schemas.microsoft.com/office/drawing/2014/main" id="{A2CE5211-063E-4C50-75A7-EACBCA6E4453}"/>
              </a:ext>
            </a:extLst>
          </p:cNvPr>
          <p:cNvSpPr>
            <a:spLocks noGrp="1"/>
          </p:cNvSpPr>
          <p:nvPr/>
        </p:nvSpPr>
        <p:spPr>
          <a:xfrm>
            <a:off x="838200" y="1287000"/>
            <a:ext cx="10515600" cy="21856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t>You may have noticed the two histograms we’ve seen so far look different, despite using the </a:t>
            </a:r>
            <a:r>
              <a:rPr lang="en-GB" sz="2400" b="1" dirty="0"/>
              <a:t>exact</a:t>
            </a:r>
            <a:r>
              <a:rPr lang="en-GB" sz="2400" dirty="0"/>
              <a:t> same data.</a:t>
            </a:r>
          </a:p>
          <a:p>
            <a:r>
              <a:rPr lang="en-GB" sz="2400" dirty="0"/>
              <a:t>This is because they have different bin values.</a:t>
            </a:r>
          </a:p>
          <a:p>
            <a:r>
              <a:rPr lang="en-GB" sz="2400" dirty="0"/>
              <a:t>The left graph used the default bins generated by </a:t>
            </a:r>
            <a:r>
              <a:rPr lang="en-GB" sz="2400" dirty="0" err="1">
                <a:latin typeface="Agency FB" panose="020B0503020202020204" pitchFamily="34" charset="0"/>
              </a:rPr>
              <a:t>plt.hist</a:t>
            </a:r>
            <a:r>
              <a:rPr lang="en-GB" sz="2400" dirty="0">
                <a:latin typeface="Agency FB" panose="020B0503020202020204" pitchFamily="34" charset="0"/>
              </a:rPr>
              <a:t>()</a:t>
            </a:r>
            <a:r>
              <a:rPr lang="en-GB" sz="2400" dirty="0"/>
              <a:t>, while the one on the right used bins that I specified.</a:t>
            </a:r>
          </a:p>
        </p:txBody>
      </p:sp>
      <p:pic>
        <p:nvPicPr>
          <p:cNvPr id="4" name="Picture 3">
            <a:extLst>
              <a:ext uri="{FF2B5EF4-FFF2-40B4-BE49-F238E27FC236}">
                <a16:creationId xmlns:a16="http://schemas.microsoft.com/office/drawing/2014/main" id="{D80C112D-B28F-8850-E4C6-A06D63EF7A92}"/>
              </a:ext>
            </a:extLst>
          </p:cNvPr>
          <p:cNvPicPr>
            <a:picLocks noChangeAspect="1"/>
          </p:cNvPicPr>
          <p:nvPr/>
        </p:nvPicPr>
        <p:blipFill>
          <a:blip r:embed="rId2"/>
          <a:stretch>
            <a:fillRect/>
          </a:stretch>
        </p:blipFill>
        <p:spPr>
          <a:xfrm>
            <a:off x="1854904" y="3646406"/>
            <a:ext cx="3759047" cy="2807884"/>
          </a:xfrm>
          <a:prstGeom prst="rect">
            <a:avLst/>
          </a:prstGeom>
        </p:spPr>
      </p:pic>
      <p:pic>
        <p:nvPicPr>
          <p:cNvPr id="5" name="Picture 4">
            <a:extLst>
              <a:ext uri="{FF2B5EF4-FFF2-40B4-BE49-F238E27FC236}">
                <a16:creationId xmlns:a16="http://schemas.microsoft.com/office/drawing/2014/main" id="{8E12A7BD-84C3-F48B-AAB1-19593714172C}"/>
              </a:ext>
            </a:extLst>
          </p:cNvPr>
          <p:cNvPicPr>
            <a:picLocks noChangeAspect="1"/>
          </p:cNvPicPr>
          <p:nvPr/>
        </p:nvPicPr>
        <p:blipFill>
          <a:blip r:embed="rId3"/>
          <a:stretch>
            <a:fillRect/>
          </a:stretch>
        </p:blipFill>
        <p:spPr>
          <a:xfrm>
            <a:off x="6366075" y="3538753"/>
            <a:ext cx="3900669" cy="3023190"/>
          </a:xfrm>
          <a:prstGeom prst="rect">
            <a:avLst/>
          </a:prstGeom>
        </p:spPr>
      </p:pic>
    </p:spTree>
    <p:extLst>
      <p:ext uri="{BB962C8B-B14F-4D97-AF65-F5344CB8AC3E}">
        <p14:creationId xmlns:p14="http://schemas.microsoft.com/office/powerpoint/2010/main" val="69034456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20E4F-F707-09E5-33E1-A300EF019687}"/>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74982E4E-43A1-5320-DED1-F398ECE2FE92}"/>
              </a:ext>
            </a:extLst>
          </p:cNvPr>
          <p:cNvSpPr>
            <a:spLocks noGrp="1"/>
          </p:cNvSpPr>
          <p:nvPr/>
        </p:nvSpPr>
        <p:spPr>
          <a:xfrm>
            <a:off x="753404" y="48455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There are a couple of ways to manipulate bins in </a:t>
            </a:r>
            <a:r>
              <a:rPr lang="en-GB" dirty="0" err="1">
                <a:latin typeface="Agency FB" panose="020B0503020202020204" pitchFamily="34" charset="0"/>
              </a:rPr>
              <a:t>matplotlib</a:t>
            </a:r>
            <a:r>
              <a:rPr lang="en-GB" dirty="0"/>
              <a:t>.</a:t>
            </a:r>
          </a:p>
          <a:p>
            <a:r>
              <a:rPr lang="en-GB" dirty="0"/>
              <a:t>Here, I specified where the edges of the bars of the histogram are; the bin edges.</a:t>
            </a:r>
          </a:p>
        </p:txBody>
      </p:sp>
      <p:pic>
        <p:nvPicPr>
          <p:cNvPr id="3" name="Picture 2">
            <a:extLst>
              <a:ext uri="{FF2B5EF4-FFF2-40B4-BE49-F238E27FC236}">
                <a16:creationId xmlns:a16="http://schemas.microsoft.com/office/drawing/2014/main" id="{27669771-656C-98B5-CDD1-72DE688F8810}"/>
              </a:ext>
            </a:extLst>
          </p:cNvPr>
          <p:cNvPicPr>
            <a:picLocks noChangeAspect="1"/>
          </p:cNvPicPr>
          <p:nvPr/>
        </p:nvPicPr>
        <p:blipFill>
          <a:blip r:embed="rId2"/>
          <a:stretch>
            <a:fillRect/>
          </a:stretch>
        </p:blipFill>
        <p:spPr>
          <a:xfrm>
            <a:off x="922997" y="2120701"/>
            <a:ext cx="7413626" cy="1079038"/>
          </a:xfrm>
          <a:prstGeom prst="rect">
            <a:avLst/>
          </a:prstGeom>
        </p:spPr>
      </p:pic>
      <p:pic>
        <p:nvPicPr>
          <p:cNvPr id="4" name="Picture 3">
            <a:extLst>
              <a:ext uri="{FF2B5EF4-FFF2-40B4-BE49-F238E27FC236}">
                <a16:creationId xmlns:a16="http://schemas.microsoft.com/office/drawing/2014/main" id="{A2E56725-0929-E44C-1BFE-6105D71C4232}"/>
              </a:ext>
            </a:extLst>
          </p:cNvPr>
          <p:cNvPicPr>
            <a:picLocks noChangeAspect="1"/>
          </p:cNvPicPr>
          <p:nvPr/>
        </p:nvPicPr>
        <p:blipFill>
          <a:blip r:embed="rId3"/>
          <a:stretch>
            <a:fillRect/>
          </a:stretch>
        </p:blipFill>
        <p:spPr>
          <a:xfrm>
            <a:off x="6899392" y="2992688"/>
            <a:ext cx="4539205" cy="3380762"/>
          </a:xfrm>
          <a:prstGeom prst="rect">
            <a:avLst/>
          </a:prstGeom>
        </p:spPr>
      </p:pic>
    </p:spTree>
    <p:extLst>
      <p:ext uri="{BB962C8B-B14F-4D97-AF65-F5344CB8AC3E}">
        <p14:creationId xmlns:p14="http://schemas.microsoft.com/office/powerpoint/2010/main" val="1140222817"/>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48A3-4AE2-801C-BAAF-C9C7B0A70743}"/>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1BE00031-4435-5541-6C62-F9A6A7940EDD}"/>
              </a:ext>
            </a:extLst>
          </p:cNvPr>
          <p:cNvSpPr>
            <a:spLocks noGrp="1"/>
          </p:cNvSpPr>
          <p:nvPr/>
        </p:nvSpPr>
        <p:spPr>
          <a:xfrm>
            <a:off x="967563" y="622175"/>
            <a:ext cx="108558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could also specify the number of bins, and </a:t>
            </a:r>
            <a:r>
              <a:rPr lang="en-GB" dirty="0" err="1">
                <a:latin typeface="Agency FB" panose="020B0503020202020204" pitchFamily="34" charset="0"/>
              </a:rPr>
              <a:t>Matplotlib</a:t>
            </a:r>
            <a:r>
              <a:rPr lang="en-GB" dirty="0"/>
              <a:t> will automatically generate a number of evenly spaced bins.</a:t>
            </a:r>
          </a:p>
        </p:txBody>
      </p:sp>
      <p:pic>
        <p:nvPicPr>
          <p:cNvPr id="6" name="Picture 5">
            <a:extLst>
              <a:ext uri="{FF2B5EF4-FFF2-40B4-BE49-F238E27FC236}">
                <a16:creationId xmlns:a16="http://schemas.microsoft.com/office/drawing/2014/main" id="{27D4E259-50A5-1AD1-60D7-276D6D912CF7}"/>
              </a:ext>
            </a:extLst>
          </p:cNvPr>
          <p:cNvPicPr>
            <a:picLocks noChangeAspect="1"/>
          </p:cNvPicPr>
          <p:nvPr/>
        </p:nvPicPr>
        <p:blipFill>
          <a:blip r:embed="rId2"/>
          <a:stretch>
            <a:fillRect/>
          </a:stretch>
        </p:blipFill>
        <p:spPr>
          <a:xfrm>
            <a:off x="865286" y="2121025"/>
            <a:ext cx="5022003" cy="703283"/>
          </a:xfrm>
          <a:prstGeom prst="rect">
            <a:avLst/>
          </a:prstGeom>
        </p:spPr>
      </p:pic>
      <p:pic>
        <p:nvPicPr>
          <p:cNvPr id="7" name="Picture 6">
            <a:extLst>
              <a:ext uri="{FF2B5EF4-FFF2-40B4-BE49-F238E27FC236}">
                <a16:creationId xmlns:a16="http://schemas.microsoft.com/office/drawing/2014/main" id="{8E7AC4B2-7914-81D3-F0B9-BE9E550090DF}"/>
              </a:ext>
            </a:extLst>
          </p:cNvPr>
          <p:cNvPicPr>
            <a:picLocks noChangeAspect="1"/>
          </p:cNvPicPr>
          <p:nvPr/>
        </p:nvPicPr>
        <p:blipFill>
          <a:blip r:embed="rId3"/>
          <a:stretch>
            <a:fillRect/>
          </a:stretch>
        </p:blipFill>
        <p:spPr>
          <a:xfrm>
            <a:off x="5945088" y="2121025"/>
            <a:ext cx="5381625" cy="4114800"/>
          </a:xfrm>
          <a:prstGeom prst="rect">
            <a:avLst/>
          </a:prstGeom>
        </p:spPr>
      </p:pic>
    </p:spTree>
    <p:extLst>
      <p:ext uri="{BB962C8B-B14F-4D97-AF65-F5344CB8AC3E}">
        <p14:creationId xmlns:p14="http://schemas.microsoft.com/office/powerpoint/2010/main" val="887589221"/>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96A9D-C09D-D307-B355-5F5BACEA4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2D31F-D278-8186-A06B-F3F7DEF7B271}"/>
              </a:ext>
            </a:extLst>
          </p:cNvPr>
          <p:cNvSpPr>
            <a:spLocks noGrp="1"/>
          </p:cNvSpPr>
          <p:nvPr/>
        </p:nvSpPr>
        <p:spPr>
          <a:xfrm>
            <a:off x="720090" y="521334"/>
            <a:ext cx="10515600" cy="2264396"/>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200" dirty="0"/>
              <a:t>Exercise :</a:t>
            </a:r>
          </a:p>
          <a:p>
            <a:endParaRPr lang="en-GB" dirty="0"/>
          </a:p>
          <a:p>
            <a:endParaRPr lang="en-GB" dirty="0"/>
          </a:p>
          <a:p>
            <a:endParaRPr lang="en-GB" dirty="0"/>
          </a:p>
          <a:p>
            <a:endParaRPr lang="en-GB" dirty="0"/>
          </a:p>
          <a:p>
            <a:r>
              <a:rPr lang="en-GB" sz="3300" dirty="0"/>
              <a:t>Create Final Interactive Dashboard using Retail Excel data and Power BI like below </a:t>
            </a:r>
          </a:p>
          <a:p>
            <a:endParaRPr lang="en-GB" dirty="0"/>
          </a:p>
        </p:txBody>
      </p:sp>
      <p:pic>
        <p:nvPicPr>
          <p:cNvPr id="6" name="Picture 5">
            <a:extLst>
              <a:ext uri="{FF2B5EF4-FFF2-40B4-BE49-F238E27FC236}">
                <a16:creationId xmlns:a16="http://schemas.microsoft.com/office/drawing/2014/main" id="{1708D17F-CDBA-080B-BE56-AAF71C5C2741}"/>
              </a:ext>
            </a:extLst>
          </p:cNvPr>
          <p:cNvPicPr>
            <a:picLocks noChangeAspect="1"/>
          </p:cNvPicPr>
          <p:nvPr/>
        </p:nvPicPr>
        <p:blipFill>
          <a:blip r:embed="rId2"/>
          <a:srcRect l="5906" t="6357" r="2064" b="3721"/>
          <a:stretch/>
        </p:blipFill>
        <p:spPr>
          <a:xfrm>
            <a:off x="1272984" y="2910955"/>
            <a:ext cx="7169267" cy="3940371"/>
          </a:xfrm>
          <a:prstGeom prst="rect">
            <a:avLst/>
          </a:prstGeom>
        </p:spPr>
      </p:pic>
    </p:spTree>
    <p:extLst>
      <p:ext uri="{BB962C8B-B14F-4D97-AF65-F5344CB8AC3E}">
        <p14:creationId xmlns:p14="http://schemas.microsoft.com/office/powerpoint/2010/main" val="557256520"/>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C9811-F576-3AAF-E166-313541F478F9}"/>
              </a:ext>
            </a:extLst>
          </p:cNvPr>
          <p:cNvSpPr>
            <a:spLocks noGrp="1"/>
          </p:cNvSpPr>
          <p:nvPr>
            <p:ph type="ctrTitle"/>
          </p:nvPr>
        </p:nvSpPr>
        <p:spPr/>
        <p:txBody>
          <a:bodyPr/>
          <a:lstStyle/>
          <a:p>
            <a:r>
              <a:rPr lang="en-US" sz="4400" dirty="0"/>
              <a:t>Participants to create DA&amp; VI WITH their own Data and present</a:t>
            </a:r>
          </a:p>
        </p:txBody>
      </p:sp>
      <p:sp>
        <p:nvSpPr>
          <p:cNvPr id="4" name="TextBox 3">
            <a:extLst>
              <a:ext uri="{FF2B5EF4-FFF2-40B4-BE49-F238E27FC236}">
                <a16:creationId xmlns:a16="http://schemas.microsoft.com/office/drawing/2014/main" id="{4B16AA3F-FF37-1524-9F72-3C4B438FACEF}"/>
              </a:ext>
            </a:extLst>
          </p:cNvPr>
          <p:cNvSpPr txBox="1"/>
          <p:nvPr/>
        </p:nvSpPr>
        <p:spPr>
          <a:xfrm>
            <a:off x="2740541" y="1223871"/>
            <a:ext cx="6307765" cy="707886"/>
          </a:xfrm>
          <a:prstGeom prst="rect">
            <a:avLst/>
          </a:prstGeom>
          <a:noFill/>
        </p:spPr>
        <p:txBody>
          <a:bodyPr wrap="square">
            <a:spAutoFit/>
          </a:bodyPr>
          <a:lstStyle/>
          <a:p>
            <a:r>
              <a:rPr lang="en-GB" sz="4000" dirty="0"/>
              <a:t>Activity to do</a:t>
            </a:r>
            <a:endParaRPr lang="en-IN" sz="4000" dirty="0"/>
          </a:p>
        </p:txBody>
      </p:sp>
    </p:spTree>
    <p:extLst>
      <p:ext uri="{BB962C8B-B14F-4D97-AF65-F5344CB8AC3E}">
        <p14:creationId xmlns:p14="http://schemas.microsoft.com/office/powerpoint/2010/main" val="2085762607"/>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6FCFB-B66C-42D7-8B1A-210C7DE14752}"/>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452E6760-8F7B-AF10-4E9E-AE57C30973E7}"/>
              </a:ext>
            </a:extLst>
          </p:cNvPr>
          <p:cNvSpPr>
            <a:spLocks noGrp="1"/>
          </p:cNvSpPr>
          <p:nvPr>
            <p:ph type="body" idx="1"/>
          </p:nvPr>
        </p:nvSpPr>
        <p:spPr/>
        <p:txBody>
          <a:bodyPr/>
          <a:lstStyle/>
          <a:p>
            <a:r>
              <a:rPr lang="en-US" dirty="0"/>
              <a:t>End of the session</a:t>
            </a:r>
          </a:p>
        </p:txBody>
      </p:sp>
    </p:spTree>
    <p:extLst>
      <p:ext uri="{BB962C8B-B14F-4D97-AF65-F5344CB8AC3E}">
        <p14:creationId xmlns:p14="http://schemas.microsoft.com/office/powerpoint/2010/main" val="186164068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8255</TotalTime>
  <Words>21399</Words>
  <Application>Microsoft Office PowerPoint</Application>
  <PresentationFormat>Widescreen</PresentationFormat>
  <Paragraphs>2064</Paragraphs>
  <Slides>353</Slides>
  <Notes>9</Notes>
  <HiddenSlides>0</HiddenSlides>
  <MMClips>0</MMClips>
  <ScaleCrop>false</ScaleCrop>
  <HeadingPairs>
    <vt:vector size="8" baseType="variant">
      <vt:variant>
        <vt:lpstr>Fonts Used</vt:lpstr>
      </vt:variant>
      <vt:variant>
        <vt:i4>34</vt:i4>
      </vt:variant>
      <vt:variant>
        <vt:lpstr>Theme</vt:lpstr>
      </vt:variant>
      <vt:variant>
        <vt:i4>1</vt:i4>
      </vt:variant>
      <vt:variant>
        <vt:lpstr>Embedded OLE Servers</vt:lpstr>
      </vt:variant>
      <vt:variant>
        <vt:i4>1</vt:i4>
      </vt:variant>
      <vt:variant>
        <vt:lpstr>Slide Titles</vt:lpstr>
      </vt:variant>
      <vt:variant>
        <vt:i4>353</vt:i4>
      </vt:variant>
    </vt:vector>
  </HeadingPairs>
  <TitlesOfParts>
    <vt:vector size="389" baseType="lpstr">
      <vt:lpstr>SimSun</vt:lpstr>
      <vt:lpstr>adobe-clean</vt:lpstr>
      <vt:lpstr>Agency FB</vt:lpstr>
      <vt:lpstr>-apple-system</vt:lpstr>
      <vt:lpstr>Arial</vt:lpstr>
      <vt:lpstr>Arial Unicode MS</vt:lpstr>
      <vt:lpstr>BlinkMacSystemFont</vt:lpstr>
      <vt:lpstr>Bookman Old Style</vt:lpstr>
      <vt:lpstr>Calibri</vt:lpstr>
      <vt:lpstr>Consolas</vt:lpstr>
      <vt:lpstr>Courier New</vt:lpstr>
      <vt:lpstr>Franklin Gothic Book</vt:lpstr>
      <vt:lpstr>Georgia</vt:lpstr>
      <vt:lpstr>Google Sans</vt:lpstr>
      <vt:lpstr>inherit</vt:lpstr>
      <vt:lpstr>Inter</vt:lpstr>
      <vt:lpstr>Libre Franklin</vt:lpstr>
      <vt:lpstr>Montserrat</vt:lpstr>
      <vt:lpstr>Mulish</vt:lpstr>
      <vt:lpstr>Noto Sans Symbols</vt:lpstr>
      <vt:lpstr>Nunito</vt:lpstr>
      <vt:lpstr>Open Sans</vt:lpstr>
      <vt:lpstr>Poppins</vt:lpstr>
      <vt:lpstr>Roboto</vt:lpstr>
      <vt:lpstr>Satoshi-Bold</vt:lpstr>
      <vt:lpstr>Satoshi-Medium</vt:lpstr>
      <vt:lpstr>Satoshi-Regular</vt:lpstr>
      <vt:lpstr>Segoe UI</vt:lpstr>
      <vt:lpstr>Source Sans 3</vt:lpstr>
      <vt:lpstr>Source Sans Pro</vt:lpstr>
      <vt:lpstr>TradeGothic</vt:lpstr>
      <vt:lpstr>var( --e-global-typography-text-font-family )</vt:lpstr>
      <vt:lpstr>Verdana</vt:lpstr>
      <vt:lpstr>Wingdings</vt:lpstr>
      <vt:lpstr>Crop</vt:lpstr>
      <vt:lpstr>Worksheet</vt:lpstr>
      <vt:lpstr>Advanced Data Analytics &amp; Visualization</vt:lpstr>
      <vt:lpstr>Day 1:  learning objectives, syllabus, takeaways, and setting expectations. Foundations of Data Analytics</vt:lpstr>
      <vt:lpstr>Introduction</vt:lpstr>
      <vt:lpstr>Foundations of Data Analytics</vt:lpstr>
      <vt:lpstr>PowerPoint Presentation</vt:lpstr>
      <vt:lpstr>Uses of Data Analytics in Modern World</vt:lpstr>
      <vt:lpstr>Data Analytics as a Domain – About the Subject</vt:lpstr>
      <vt:lpstr>Process of Data Analysis</vt:lpstr>
      <vt:lpstr>Tools used for Data Analytics </vt:lpstr>
      <vt:lpstr>About software we will be using(to update)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Day 2: Foundations of Data Analytics with EXCEL - data analytics importance, and application areas. </vt:lpstr>
      <vt:lpstr>Data analytics importance, and application areas.</vt:lpstr>
      <vt:lpstr>Importance of Data Analytics</vt:lpstr>
      <vt:lpstr>Importance of Data Analysis involves inspecting, transforming, and modelling data to discover useful information, inform conclusions, and support decision-making. It encompasses a range of techniques and tools used to interpret raw data, identify patterns, and extract actionable insights</vt:lpstr>
      <vt:lpstr>Informed Decision-Making</vt:lpstr>
      <vt:lpstr>Improving Business Efficiency</vt:lpstr>
      <vt:lpstr>Identifying Market Trends</vt:lpstr>
      <vt:lpstr>Enhancing Customer Experience</vt:lpstr>
      <vt:lpstr>Driving Innovation</vt:lpstr>
      <vt:lpstr>Evidence-Based Research</vt:lpstr>
      <vt:lpstr>Mitigating Risks</vt:lpstr>
      <vt:lpstr>Fostering Competitive Advantage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Real-World Data Analytics Applications Examples  </vt:lpstr>
      <vt:lpstr>Real-World Data Analytics Applications Examples  </vt:lpstr>
      <vt:lpstr>Real-World Data Analytics Applications Examples  </vt:lpstr>
      <vt:lpstr>Real-World Data Analytics Applications Examples  </vt:lpstr>
      <vt:lpstr>Understand the Data File:</vt:lpstr>
      <vt:lpstr>Sample Excel Data</vt:lpstr>
      <vt:lpstr>Day 3: Cleaning and formatting data using Excel</vt:lpstr>
      <vt:lpstr>PowerPoint Presentation</vt:lpstr>
      <vt:lpstr>Data Analytics with EXCEL</vt:lpstr>
      <vt:lpstr>Cleaning and formatting data using Excel</vt:lpstr>
      <vt:lpstr>Cleaning and formatting data using Excel</vt:lpstr>
      <vt:lpstr>PowerPoint Presentation</vt:lpstr>
      <vt:lpstr>PowerPoint Presentation</vt:lpstr>
      <vt:lpstr>Conditional Formatting: An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3 – Split Text into Multiple Cells</vt:lpstr>
      <vt:lpstr>PowerPoint Presentation</vt:lpstr>
      <vt:lpstr>PowerPoint Presentation</vt:lpstr>
      <vt:lpstr>PowerPoint Presentation</vt:lpstr>
      <vt:lpstr>PowerPoint Presentation</vt:lpstr>
      <vt:lpstr>PowerPoint Presentation</vt:lpstr>
      <vt:lpstr>PowerPoint Presentation</vt:lpstr>
      <vt:lpstr>Day 4: handling missing values, and outlier detection in  EXCEL</vt:lpstr>
      <vt:lpstr>Method 1 – Using Combination of IF and COUNTIF Functions  </vt:lpstr>
      <vt:lpstr>PowerPoint Presentation</vt:lpstr>
      <vt:lpstr>PowerPoint Presentation</vt:lpstr>
      <vt:lpstr>Method 2 – Combining IF, ISNA, and MATCH Functions  </vt:lpstr>
      <vt:lpstr>PowerPoint Presentation</vt:lpstr>
      <vt:lpstr>PowerPoint Presentation</vt:lpstr>
      <vt:lpstr>Method 3 – Applying IF, ISNA, and VLOOKUP Functions in Conjunction  </vt:lpstr>
      <vt:lpstr>PowerPoint Presentation</vt:lpstr>
      <vt:lpstr>PowerPoint Presentation</vt:lpstr>
      <vt:lpstr>Method 4 – Transforming Data with Formulas</vt:lpstr>
      <vt:lpstr>Changing to Upper Case</vt:lpstr>
      <vt:lpstr>PowerPoint Presentation</vt:lpstr>
      <vt:lpstr>Changing to Lower Case</vt:lpstr>
      <vt:lpstr>PowerPoint Presentation</vt:lpstr>
      <vt:lpstr>Changing to Proper Case</vt:lpstr>
      <vt:lpstr>Method 5 – Remove Extra Spaces</vt:lpstr>
      <vt:lpstr>PowerPoint Presentation</vt:lpstr>
      <vt:lpstr>PowerPoint Presentation</vt:lpstr>
      <vt:lpstr>Method 6 – Convert Values  </vt:lpstr>
      <vt:lpstr>PowerPoint Presentation</vt:lpstr>
      <vt:lpstr>Method 7 – Join Columns</vt:lpstr>
      <vt:lpstr>PowerPoint Presentation</vt:lpstr>
      <vt:lpstr>Day 5: Pivot Tables for data Analysis in  EXCEL</vt:lpstr>
      <vt:lpstr>Pivot Tables in Excel  </vt:lpstr>
      <vt:lpstr>Uses in Pivot Tables</vt:lpstr>
      <vt:lpstr>PowerPoint Presentation</vt:lpstr>
      <vt:lpstr>PowerPoint Presentation</vt:lpstr>
      <vt:lpstr>Drag fields   </vt:lpstr>
      <vt:lpstr>PowerPoint Presentation</vt:lpstr>
      <vt:lpstr>Sort a Pivot Table  </vt:lpstr>
      <vt:lpstr>Filter a Pivot Table  </vt:lpstr>
      <vt:lpstr>Change Summary Calculation</vt:lpstr>
      <vt:lpstr>PowerPoint Presentation</vt:lpstr>
      <vt:lpstr>Two-dimensional Pivot Table  </vt:lpstr>
      <vt:lpstr>PowerPoint Presentation</vt:lpstr>
      <vt:lpstr> Nesting Multiple Fields  </vt:lpstr>
      <vt:lpstr>Steps</vt:lpstr>
      <vt:lpstr>Steps</vt:lpstr>
      <vt:lpstr>Use of Slicer in Pivot Table  </vt:lpstr>
      <vt:lpstr>Use of Slicer in Pivot Table  </vt:lpstr>
      <vt:lpstr>Use of Slicer in Pivot Table  </vt:lpstr>
      <vt:lpstr>Use of Slicer in Pivot Table  </vt:lpstr>
      <vt:lpstr>Pivot Chart  </vt:lpstr>
      <vt:lpstr>Day 6: Formulas for data Analysis in  EXCEL</vt:lpstr>
      <vt:lpstr>Basic formulas in Excel</vt:lpstr>
      <vt:lpstr>Wok on Each and every Formula and discuss about usage.</vt:lpstr>
      <vt:lpstr>Formulas for data Analysis</vt:lpstr>
      <vt:lpstr>Wok on Each and every Formula and discuss about usage.</vt:lpstr>
      <vt:lpstr>SUM FUNCTION</vt:lpstr>
      <vt:lpstr>Example 1 – Calculating a Sum with Numeric Criteria Using the SUMIF Function</vt:lpstr>
      <vt:lpstr>PowerPoint Presentation</vt:lpstr>
      <vt:lpstr>Work and investigate all other Sum functions</vt:lpstr>
      <vt:lpstr>COUNT FUNCTION</vt:lpstr>
      <vt:lpstr>Example 1 – COUNTIF Formula for Numbers  </vt:lpstr>
      <vt:lpstr>Example 1 – COUNTIF Formula for Numbers  </vt:lpstr>
      <vt:lpstr>Activity to do</vt:lpstr>
      <vt:lpstr>Day 7: SQL- Data Base Management System understanding</vt:lpstr>
      <vt:lpstr>Uses of SQL in Data Analytics</vt:lpstr>
      <vt:lpstr>Why use SQL ?</vt:lpstr>
      <vt:lpstr>Basics - Data and DBMS</vt:lpstr>
      <vt:lpstr>Advantages of Database Management System  </vt:lpstr>
      <vt:lpstr>Advantages of Database Management System  </vt:lpstr>
      <vt:lpstr>Advantages of Database Management System  </vt:lpstr>
      <vt:lpstr>Advantages of Database Management System  </vt:lpstr>
      <vt:lpstr>Basics - DBMS vs R-DBMS</vt:lpstr>
      <vt:lpstr>Database and their Components</vt:lpstr>
      <vt:lpstr>    Evaluation DBMS</vt:lpstr>
      <vt:lpstr>PowerPoint Presentation</vt:lpstr>
      <vt:lpstr>(iii) Relational DBMS: Stores data in tabular structure. Ex: Oracle, MY SQL, MS SQL Server</vt:lpstr>
      <vt:lpstr>PowerPoint Presentation</vt:lpstr>
      <vt:lpstr>Relational database</vt:lpstr>
      <vt:lpstr>Entity Relationship Diagram</vt:lpstr>
      <vt:lpstr>Relational database Advantages</vt:lpstr>
      <vt:lpstr>Relational database Disadvantages</vt:lpstr>
      <vt:lpstr>Day 8: SQL- queries, grouping, and exporting data</vt:lpstr>
      <vt:lpstr>PowerPoint Presentation</vt:lpstr>
      <vt:lpstr>DDL – Data Definition Language</vt:lpstr>
      <vt:lpstr>What are SQL Data Types?  </vt:lpstr>
      <vt:lpstr>Numeric Data Types  </vt:lpstr>
      <vt:lpstr>String Data Types  </vt:lpstr>
      <vt:lpstr>SQL CREATE TABLE Statement  </vt:lpstr>
      <vt:lpstr>CREATE TABLE in SQL  </vt:lpstr>
      <vt:lpstr>Insert Data in SQL </vt:lpstr>
      <vt:lpstr>Output:</vt:lpstr>
      <vt:lpstr>DROP TABLE in SQL  </vt:lpstr>
      <vt:lpstr>DROP TABLE in SQL    </vt:lpstr>
      <vt:lpstr>Data Query Language (DQL) </vt:lpstr>
      <vt:lpstr>DML – Data Manipulation Language</vt:lpstr>
      <vt:lpstr>Important SQL Commands</vt:lpstr>
      <vt:lpstr>SQL Operators</vt:lpstr>
      <vt:lpstr>DCL – Data Control Language</vt:lpstr>
      <vt:lpstr>TCL – Transaction Control Language</vt:lpstr>
      <vt:lpstr>Hands On Exercise with DQL Statements - SELECT </vt:lpstr>
      <vt:lpstr>SQL SELECT Statement Activity</vt:lpstr>
      <vt:lpstr>Day 9: SQL- Aggregate functions</vt:lpstr>
      <vt:lpstr>SQL aggregate function</vt:lpstr>
      <vt:lpstr>MIN() - returns the smallest value within the selected column </vt:lpstr>
      <vt:lpstr>MAX() - returns the largest value within the selected column </vt:lpstr>
      <vt:lpstr>COUNT() - returns the number of rows in a set</vt:lpstr>
      <vt:lpstr>SUM() - returns the total sum of a numerical column</vt:lpstr>
      <vt:lpstr>AVG() - returns the average value of a numerical column</vt:lpstr>
      <vt:lpstr>SQL GROUP BY Statement </vt:lpstr>
      <vt:lpstr>VAR() / VARIANCE() Function  </vt:lpstr>
      <vt:lpstr>STDDEV() / STDDEV_POP() Function</vt:lpstr>
      <vt:lpstr>PERCENTILE_CONT() Function</vt:lpstr>
      <vt:lpstr>CORR() Function  </vt:lpstr>
      <vt:lpstr>COVAR_POP() Function  </vt:lpstr>
      <vt:lpstr>COVAR_POP() Function  </vt:lpstr>
      <vt:lpstr>DATE() Function  </vt:lpstr>
      <vt:lpstr>Activity to do</vt:lpstr>
      <vt:lpstr>Day 10: Data Analytics Visualization Using Power BI</vt:lpstr>
      <vt:lpstr>PowerPoint Presentation</vt:lpstr>
      <vt:lpstr>PowerPoint Presentation</vt:lpstr>
      <vt:lpstr>PowerPoint Presentation</vt:lpstr>
      <vt:lpstr>PowerPoint Presentation</vt:lpstr>
      <vt:lpstr>PowerPoint Presentation</vt:lpstr>
      <vt:lpstr>PowerPoint Presentation</vt:lpstr>
      <vt:lpstr>What is Power BI?</vt:lpstr>
      <vt:lpstr>Power BI Architecture</vt:lpstr>
      <vt:lpstr>PowerPoint Presentation</vt:lpstr>
      <vt:lpstr>ETL vs ELT</vt:lpstr>
      <vt:lpstr>Features of Power BI</vt:lpstr>
      <vt:lpstr>Advanced Features of Power BI</vt:lpstr>
      <vt:lpstr>Components of Power BI</vt:lpstr>
      <vt:lpstr>Benefits of Power BI</vt:lpstr>
      <vt:lpstr>Use Cases for Power BI</vt:lpstr>
      <vt:lpstr>Open Questions for Discussion</vt:lpstr>
      <vt:lpstr>PowerPoint Presentation</vt:lpstr>
      <vt:lpstr>Day 11: Power BI – Data Processing  ETL Process</vt:lpstr>
      <vt:lpstr>Installing Power BI</vt:lpstr>
      <vt:lpstr>Data and Dataset</vt:lpstr>
      <vt:lpstr>Data Sources in Power BI</vt:lpstr>
      <vt:lpstr>Types of Data used in Power BI</vt:lpstr>
      <vt:lpstr>Best Practices for Missing Data Handling </vt:lpstr>
      <vt:lpstr>DATA VISUALIZATION</vt:lpstr>
      <vt:lpstr>DASHBOARD VISUALIZATION</vt:lpstr>
      <vt:lpstr>DATA CLEANING</vt:lpstr>
      <vt:lpstr>Inspection of Data and Remove Duplicates</vt:lpstr>
      <vt:lpstr>Correct Data Types and Standardize and Format Text</vt:lpstr>
      <vt:lpstr>FINAL STEPS IN DATA CLEANING</vt:lpstr>
      <vt:lpstr>HANDLING MISSING DATA</vt:lpstr>
      <vt:lpstr>HANDLING OPTIONS FOR MISSING VALUES</vt:lpstr>
      <vt:lpstr>Options for Handling Missing Values</vt:lpstr>
      <vt:lpstr>Advanced Handling Techniques</vt:lpstr>
      <vt:lpstr>Table Structure Dataset: Retail Sales Analysis</vt:lpstr>
      <vt:lpstr>Example Activity</vt:lpstr>
      <vt:lpstr>Example Activity</vt:lpstr>
      <vt:lpstr>Exercise </vt:lpstr>
      <vt:lpstr>Day 12: Power BI – Relationship between Tables and Create data Model</vt:lpstr>
      <vt:lpstr>CREATING RELATIONSHIP BETWEEN TABLES</vt:lpstr>
      <vt:lpstr>CREATING AND SETTING RELATIONSHIP</vt:lpstr>
      <vt:lpstr>VALIDATE AND USE RELATIONSHIP IN REPORTS</vt:lpstr>
      <vt:lpstr>How to establish relationships when importing data in Power BI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and Best Practices</vt:lpstr>
      <vt:lpstr>Example Activity</vt:lpstr>
      <vt:lpstr>Day 13: Power BI – DAX functions</vt:lpstr>
      <vt:lpstr>DAX</vt:lpstr>
      <vt:lpstr>DAX Aggregate and Text Functions</vt:lpstr>
      <vt:lpstr>DAX- FORMULA FOR CALCULATION</vt:lpstr>
      <vt:lpstr>Calculating Column and Measure</vt:lpstr>
      <vt:lpstr>How to Create Measures in Power BI?  </vt:lpstr>
      <vt:lpstr>PowerPoint Presentation</vt:lpstr>
      <vt:lpstr>PowerPoint Presentation</vt:lpstr>
      <vt:lpstr>PowerPoint Presentation</vt:lpstr>
      <vt:lpstr>PowerPoint Presentation</vt:lpstr>
      <vt:lpstr>PowerPoint Presentation</vt:lpstr>
      <vt:lpstr>PowerPoint Presentation</vt:lpstr>
      <vt:lpstr>Date and Time Functions   </vt:lpstr>
      <vt:lpstr>Information Functions  </vt:lpstr>
      <vt:lpstr>Logical Functions  </vt:lpstr>
      <vt:lpstr>Mathematical and Trigonometric Functions:  </vt:lpstr>
      <vt:lpstr>Text Functions  </vt:lpstr>
      <vt:lpstr>Statistical Functions</vt:lpstr>
      <vt:lpstr>Table Manipulation Functions</vt:lpstr>
      <vt:lpstr>Example Activity</vt:lpstr>
      <vt:lpstr>Activity</vt:lpstr>
      <vt:lpstr>Day 14: Power BI – Visualization</vt:lpstr>
      <vt:lpstr>CREATING DATA VISUALIZATION </vt:lpstr>
      <vt:lpstr>Charts </vt:lpstr>
      <vt:lpstr>Bar and Column Charts    </vt:lpstr>
      <vt:lpstr>Line Charts  </vt:lpstr>
      <vt:lpstr>Pie and Donut Charts  </vt:lpstr>
      <vt:lpstr>Area Charts  </vt:lpstr>
      <vt:lpstr>Scatter and Bubble Charts  </vt:lpstr>
      <vt:lpstr>Treemaps</vt:lpstr>
      <vt:lpstr>Waterfall Charts  </vt:lpstr>
      <vt:lpstr>Heatmaps</vt:lpstr>
      <vt:lpstr>Gauge Charts  </vt:lpstr>
      <vt:lpstr>Power BI - Individual Custom Visualizations Types  </vt:lpstr>
      <vt:lpstr>Power BI - Individual Custom Visualizations Types  </vt:lpstr>
      <vt:lpstr>Power BI - Individual Custom Visualizations Types  </vt:lpstr>
      <vt:lpstr>Power BI - Individual Custom Visualizations Types  </vt:lpstr>
      <vt:lpstr>Power BI - Individual Custom Visualizations Types  </vt:lpstr>
      <vt:lpstr>Power BI - Individual Custom Visualizations Types  </vt:lpstr>
      <vt:lpstr>Power BI - Individual Custom Visualizations Types  </vt:lpstr>
      <vt:lpstr>Power BI - Individual Custom Visualizations Types  </vt:lpstr>
      <vt:lpstr>Power BI - Individual Custom Visualizations Types  </vt:lpstr>
      <vt:lpstr>Power BI - Individual Custom Visualizations Types  </vt:lpstr>
      <vt:lpstr>Activity to do</vt:lpstr>
      <vt:lpstr>Day 15: Power BI – Interactive Dashboard Creation and Visualization</vt:lpstr>
      <vt:lpstr>DEVELOPING INTERACTIVE DASHBOARD</vt:lpstr>
      <vt:lpstr>Understanding Filters in Power BI</vt:lpstr>
      <vt:lpstr>How to add Power BI Filter to a Visual</vt:lpstr>
      <vt:lpstr>How to add Power BI Filter to a Visual</vt:lpstr>
      <vt:lpstr>How to add Power BI Filter to a Visual</vt:lpstr>
      <vt:lpstr>How to add a Power BI Filter to a Page  </vt:lpstr>
      <vt:lpstr>How to add a Power BI Filter to a Page  </vt:lpstr>
      <vt:lpstr>How to add a Power BI Filter to a Page  </vt:lpstr>
      <vt:lpstr>How to add a Power BI Filter to a Page  </vt:lpstr>
      <vt:lpstr>Power BI – Slicer </vt:lpstr>
      <vt:lpstr>Step 1: Under the visualizations, section. Click on the Slicer option.  </vt:lpstr>
      <vt:lpstr>Step 2: An empty slicer is created in the report space of Power BI.</vt:lpstr>
      <vt:lpstr>Step 3: We have only one section, in Power BI slicers i.e. Field. We can add various columns of our dataset in the slicer. For example, Employee Name and Salary.</vt:lpstr>
      <vt:lpstr>Formatting a Slicer In Power BI</vt:lpstr>
      <vt:lpstr>Slicer Settings  </vt:lpstr>
      <vt:lpstr>ACTIVITY</vt:lpstr>
      <vt:lpstr>Day 16: Power BI – Customizing Interactive Dashboard</vt:lpstr>
      <vt:lpstr>CUSTOMIZING REPORT FOR STAKEHOLDERS</vt:lpstr>
      <vt:lpstr>Customize Visual Appearance  </vt:lpstr>
      <vt:lpstr>Data Labels  </vt:lpstr>
      <vt:lpstr>Axis Titles  </vt:lpstr>
      <vt:lpstr>Legend  </vt:lpstr>
      <vt:lpstr>Background and Borders  </vt:lpstr>
      <vt:lpstr>Themes</vt:lpstr>
      <vt:lpstr>To apply a theme</vt:lpstr>
      <vt:lpstr>Customize Visual Appearance  </vt:lpstr>
      <vt:lpstr>Export a Power BI report to PowerPoint#  </vt:lpstr>
      <vt:lpstr>PowerPoint Presentation</vt:lpstr>
      <vt:lpstr>PowerPoint Presentation</vt:lpstr>
      <vt:lpstr>PowerPoint Presentation</vt:lpstr>
      <vt:lpstr>How to embed Power BI in updatable PowerPoint slides?</vt:lpstr>
      <vt:lpstr>ACTIVITY</vt:lpstr>
      <vt:lpstr>Day 17: Python Basics</vt:lpstr>
      <vt:lpstr>What is Python?</vt:lpstr>
      <vt:lpstr>Variables, Objects, and Classes  </vt:lpstr>
      <vt:lpstr>Variables, Objects, and Classes (cont.)</vt:lpstr>
      <vt:lpstr>Basic Syntax Rules  </vt:lpstr>
      <vt:lpstr>Basic Syntax Rules </vt:lpstr>
      <vt:lpstr>Basic Syntax Rules (cont.)</vt:lpstr>
      <vt:lpstr>Common Data Types and Operators</vt:lpstr>
      <vt:lpstr>Input/Output</vt:lpstr>
      <vt:lpstr>If-else Statements</vt:lpstr>
      <vt:lpstr>For Loops</vt:lpstr>
      <vt:lpstr>While Loops</vt:lpstr>
      <vt:lpstr>Day 18: Python NumPy and Modeling</vt:lpstr>
      <vt:lpstr>Numerical Python (NumPy)</vt:lpstr>
      <vt:lpstr>What you’ll find in NumPy</vt:lpstr>
      <vt:lpstr>The NumPy ndarray: A multi-dimensional array object</vt:lpstr>
      <vt:lpstr>Ndarray vs. lists</vt:lpstr>
      <vt:lpstr>Creating a NumPy array</vt:lpstr>
      <vt:lpstr>PowerPoint Presentation</vt:lpstr>
      <vt:lpstr>Differences between lists and ndarrays</vt:lpstr>
      <vt:lpstr>Pandas</vt:lpstr>
      <vt:lpstr>Indices in a pandas series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Participants to create DA&amp; VI WITH their own Data and present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Faculty development Program</dc:title>
  <dc:creator>Microsoft Office User</dc:creator>
  <cp:lastModifiedBy>R.RAVICHANDRAN</cp:lastModifiedBy>
  <cp:revision>668</cp:revision>
  <dcterms:created xsi:type="dcterms:W3CDTF">2024-12-22T11:52:12Z</dcterms:created>
  <dcterms:modified xsi:type="dcterms:W3CDTF">2025-03-21T19:08:17Z</dcterms:modified>
</cp:coreProperties>
</file>